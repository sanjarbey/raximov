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335" r:id="rId2"/>
    <p:sldId id="424" r:id="rId3"/>
    <p:sldId id="425" r:id="rId4"/>
    <p:sldId id="426" r:id="rId5"/>
    <p:sldId id="429" r:id="rId6"/>
    <p:sldId id="428" r:id="rId7"/>
    <p:sldId id="418" r:id="rId8"/>
    <p:sldId id="347" r:id="rId9"/>
    <p:sldId id="330" r:id="rId10"/>
    <p:sldId id="430" r:id="rId11"/>
    <p:sldId id="348" r:id="rId12"/>
    <p:sldId id="331" r:id="rId13"/>
    <p:sldId id="392" r:id="rId14"/>
    <p:sldId id="332" r:id="rId15"/>
    <p:sldId id="333" r:id="rId16"/>
    <p:sldId id="395" r:id="rId17"/>
    <p:sldId id="277" r:id="rId18"/>
    <p:sldId id="290" r:id="rId19"/>
    <p:sldId id="408" r:id="rId20"/>
    <p:sldId id="417" r:id="rId21"/>
    <p:sldId id="411" r:id="rId22"/>
    <p:sldId id="412" r:id="rId23"/>
    <p:sldId id="336" r:id="rId24"/>
    <p:sldId id="419" r:id="rId25"/>
    <p:sldId id="291" r:id="rId26"/>
    <p:sldId id="409" r:id="rId27"/>
    <p:sldId id="410" r:id="rId28"/>
    <p:sldId id="338" r:id="rId29"/>
    <p:sldId id="339" r:id="rId30"/>
    <p:sldId id="340" r:id="rId31"/>
    <p:sldId id="341" r:id="rId32"/>
    <p:sldId id="393" r:id="rId33"/>
    <p:sldId id="414" r:id="rId34"/>
    <p:sldId id="415" r:id="rId35"/>
    <p:sldId id="352" r:id="rId36"/>
    <p:sldId id="353" r:id="rId37"/>
    <p:sldId id="354" r:id="rId38"/>
    <p:sldId id="355" r:id="rId39"/>
    <p:sldId id="356" r:id="rId40"/>
    <p:sldId id="416" r:id="rId41"/>
    <p:sldId id="357" r:id="rId42"/>
    <p:sldId id="365" r:id="rId43"/>
    <p:sldId id="366" r:id="rId44"/>
    <p:sldId id="367" r:id="rId45"/>
    <p:sldId id="368" r:id="rId46"/>
    <p:sldId id="369" r:id="rId47"/>
    <p:sldId id="371" r:id="rId48"/>
    <p:sldId id="372" r:id="rId49"/>
    <p:sldId id="373" r:id="rId50"/>
    <p:sldId id="423" r:id="rId51"/>
    <p:sldId id="394" r:id="rId52"/>
    <p:sldId id="402" r:id="rId53"/>
    <p:sldId id="403" r:id="rId54"/>
    <p:sldId id="404" r:id="rId55"/>
    <p:sldId id="405" r:id="rId56"/>
    <p:sldId id="406" r:id="rId57"/>
    <p:sldId id="433" r:id="rId58"/>
    <p:sldId id="435" r:id="rId59"/>
    <p:sldId id="436" r:id="rId60"/>
    <p:sldId id="431" r:id="rId61"/>
    <p:sldId id="432" r:id="rId62"/>
    <p:sldId id="437" r:id="rId63"/>
    <p:sldId id="438" r:id="rId64"/>
    <p:sldId id="439" r:id="rId65"/>
    <p:sldId id="440" r:id="rId66"/>
    <p:sldId id="441" r:id="rId67"/>
    <p:sldId id="442" r:id="rId68"/>
    <p:sldId id="446" r:id="rId69"/>
    <p:sldId id="447" r:id="rId70"/>
    <p:sldId id="443" r:id="rId71"/>
    <p:sldId id="445" r:id="rId72"/>
    <p:sldId id="444" r:id="rId73"/>
    <p:sldId id="448" r:id="rId74"/>
    <p:sldId id="450" r:id="rId75"/>
    <p:sldId id="451" r:id="rId76"/>
    <p:sldId id="454" r:id="rId77"/>
    <p:sldId id="455" r:id="rId78"/>
    <p:sldId id="350" r:id="rId79"/>
    <p:sldId id="456" r:id="rId80"/>
    <p:sldId id="457" r:id="rId81"/>
    <p:sldId id="458" r:id="rId82"/>
    <p:sldId id="459" r:id="rId83"/>
    <p:sldId id="460" r:id="rId84"/>
    <p:sldId id="390" r:id="rId8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CCFF66"/>
    <a:srgbClr val="CCFFCC"/>
    <a:srgbClr val="FFFFCC"/>
    <a:srgbClr val="5F5F5F"/>
    <a:srgbClr val="FFFFFF"/>
    <a:srgbClr val="0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9" autoAdjust="0"/>
    <p:restoredTop sz="94660" autoAdjust="0"/>
  </p:normalViewPr>
  <p:slideViewPr>
    <p:cSldViewPr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5.xml"/><Relationship Id="rId2" Type="http://schemas.openxmlformats.org/officeDocument/2006/relationships/slide" Target="slides/slide14.xml"/><Relationship Id="rId1" Type="http://schemas.openxmlformats.org/officeDocument/2006/relationships/slide" Target="slides/slide9.xml"/><Relationship Id="rId5" Type="http://schemas.openxmlformats.org/officeDocument/2006/relationships/slide" Target="slides/slide25.xml"/><Relationship Id="rId4" Type="http://schemas.openxmlformats.org/officeDocument/2006/relationships/slide" Target="slides/slide1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0" y="3733800"/>
            <a:ext cx="9144000" cy="8382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71011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0" y="4572000"/>
            <a:ext cx="6934200" cy="685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71012" name="Rectangle 1028"/>
          <p:cNvSpPr>
            <a:spLocks noGrp="1" noChangeArrowheads="1"/>
          </p:cNvSpPr>
          <p:nvPr>
            <p:ph type="dt" sz="half" idx="2"/>
          </p:nvPr>
        </p:nvSpPr>
        <p:spPr>
          <a:xfrm>
            <a:off x="0" y="6689725"/>
            <a:ext cx="2133600" cy="168275"/>
          </a:xfrm>
        </p:spPr>
        <p:txBody>
          <a:bodyPr/>
          <a:lstStyle>
            <a:lvl1pPr>
              <a:defRPr b="0"/>
            </a:lvl1pPr>
          </a:lstStyle>
          <a:p>
            <a:endParaRPr lang="ru-RU"/>
          </a:p>
        </p:txBody>
      </p:sp>
      <p:sp>
        <p:nvSpPr>
          <p:cNvPr id="171013" name="Rectangle 1029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b="0"/>
            </a:lvl1pPr>
          </a:lstStyle>
          <a:p>
            <a:endParaRPr lang="ru-RU"/>
          </a:p>
        </p:txBody>
      </p:sp>
      <p:sp>
        <p:nvSpPr>
          <p:cNvPr id="171014" name="Rectangle 103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689725"/>
            <a:ext cx="2133600" cy="168275"/>
          </a:xfrm>
        </p:spPr>
        <p:txBody>
          <a:bodyPr/>
          <a:lstStyle>
            <a:lvl1pPr>
              <a:defRPr b="0"/>
            </a:lvl1pPr>
          </a:lstStyle>
          <a:p>
            <a:fld id="{D5886BE3-1C4D-4F70-AAAF-A8AD7E4CE774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C3CC73-FF8B-4D99-B39A-93408F7F5013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5540C5-4F64-4BF9-A39A-69656CD3A2F4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066800" y="990600"/>
            <a:ext cx="37719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91100" y="990600"/>
            <a:ext cx="37719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9E3DAB-2553-4E70-ADB1-228430A21A65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759B48-C8E2-45FF-87E3-58BB3FB02AC9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3616E7-2BA5-45CB-BCFA-EDC065BF7107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316CD1-6C48-4664-A9AF-C68139E74C63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6CAA77-483D-412A-BE0A-596B5B665B10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37DA7F-59A7-4B07-A644-6A4BE4C9F6A1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4AFA27-17AA-4571-8CFE-E686BEC9FADE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38950" y="152400"/>
            <a:ext cx="1924050" cy="6096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066800" y="152400"/>
            <a:ext cx="5619750" cy="60960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1AAFFF-F25E-4BCF-B201-97F81CBE7CA0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162800" cy="685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1066800" y="990600"/>
            <a:ext cx="7696200" cy="5257800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661150"/>
            <a:ext cx="2133600" cy="1968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689725"/>
            <a:ext cx="2895600" cy="168275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0400" y="6689725"/>
            <a:ext cx="2133600" cy="136525"/>
          </a:xfrm>
        </p:spPr>
        <p:txBody>
          <a:bodyPr/>
          <a:lstStyle>
            <a:lvl1pPr>
              <a:defRPr/>
            </a:lvl1pPr>
          </a:lstStyle>
          <a:p>
            <a:fld id="{317AE8EA-2A2B-40D9-B11C-95F0AF29C2FB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760913" y="2362200"/>
            <a:ext cx="3770312" cy="17859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760913" y="4300538"/>
            <a:ext cx="3770312" cy="178593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>
          <a:xfrm>
            <a:off x="2438400" y="6248400"/>
            <a:ext cx="2130425" cy="4746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84138" y="6242050"/>
            <a:ext cx="587375" cy="4889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9A0885-B37E-4C6A-A180-0550F00A2D3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2663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152400"/>
            <a:ext cx="7162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990600"/>
            <a:ext cx="76962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699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61150"/>
            <a:ext cx="2133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1699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89725"/>
            <a:ext cx="28956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1699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89725"/>
            <a:ext cx="21336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Arial" charset="0"/>
              </a:defRPr>
            </a:lvl1pPr>
          </a:lstStyle>
          <a:p>
            <a:fld id="{3C6EB1F2-965B-4FF1-B0B1-579EAE0DA112}" type="slidenum">
              <a:rPr lang="ru-RU"/>
              <a:pPr/>
              <a:t>‹#›</a:t>
            </a:fld>
            <a:endParaRPr lang="ru-R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ransition spd="med">
    <p:fade thruBlk="1"/>
  </p:transition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http://www.insapov.ru/wp-content/images/85_2.gif" TargetMode="Externa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http://www.insapov.ru/wp-content/images/85_3.gif" TargetMode="External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hyperlink" Target="http://www.solomil.ru/image/image020.jpg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://consulting.ru/pic2/econs_wp_3310/365006392.gif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://consulting.ru/pic2/econs_wp_3655/680004586.gif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hyperlink" Target="http://ru.wikipedia.org/w/index.php?title=IDEF6&amp;action=edit&amp;redlink=1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9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" y="2133600"/>
            <a:ext cx="6705600" cy="838200"/>
          </a:xfrm>
        </p:spPr>
        <p:txBody>
          <a:bodyPr/>
          <a:lstStyle/>
          <a:p>
            <a:r>
              <a:rPr lang="ru-RU">
                <a:solidFill>
                  <a:srgbClr val="000000"/>
                </a:solidFill>
              </a:rPr>
              <a:t>Бизнес-моделирование</a:t>
            </a:r>
          </a:p>
        </p:txBody>
      </p:sp>
      <p:sp>
        <p:nvSpPr>
          <p:cNvPr id="952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657600"/>
            <a:ext cx="6934200" cy="685800"/>
          </a:xfrm>
        </p:spPr>
        <p:txBody>
          <a:bodyPr/>
          <a:lstStyle/>
          <a:p>
            <a:r>
              <a:rPr lang="ru-RU">
                <a:solidFill>
                  <a:srgbClr val="000000"/>
                </a:solidFill>
              </a:rPr>
              <a:t>Методология </a:t>
            </a:r>
            <a:r>
              <a:rPr lang="en-US">
                <a:solidFill>
                  <a:srgbClr val="000000"/>
                </a:solidFill>
              </a:rPr>
              <a:t>SADT </a:t>
            </a:r>
            <a:r>
              <a:rPr lang="ru-RU">
                <a:solidFill>
                  <a:srgbClr val="000000"/>
                </a:solidFill>
              </a:rPr>
              <a:t>и </a:t>
            </a:r>
            <a:r>
              <a:rPr lang="en-US">
                <a:solidFill>
                  <a:srgbClr val="000000"/>
                </a:solidFill>
              </a:rPr>
              <a:t>IDEF0</a:t>
            </a:r>
            <a:endParaRPr lang="ru-RU">
              <a:solidFill>
                <a:srgbClr val="000000"/>
              </a:solidFill>
            </a:endParaRPr>
          </a:p>
        </p:txBody>
      </p:sp>
      <p:pic>
        <p:nvPicPr>
          <p:cNvPr id="95238" name="Picture 6" descr="j0283209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762000"/>
            <a:ext cx="2159000" cy="2087563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3E47A-FC1A-430B-8920-DA771B53F233}" type="slidenum">
              <a:rPr lang="ru-RU" altLang="en-US"/>
              <a:pPr>
                <a:defRPr/>
              </a:pPr>
              <a:t>2</a:t>
            </a:fld>
            <a:endParaRPr lang="ru-RU" altLang="en-US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1318300" y="1568450"/>
            <a:ext cx="7162800" cy="685800"/>
          </a:xfrm>
        </p:spPr>
        <p:txBody>
          <a:bodyPr/>
          <a:lstStyle/>
          <a:p>
            <a:pPr algn="ctr" eaLnBrk="1" hangingPunct="1"/>
            <a:r>
              <a:rPr lang="ru-RU" altLang="ru-RU" sz="3800" b="1" dirty="0" smtClean="0">
                <a:solidFill>
                  <a:srgbClr val="800000"/>
                </a:solidFill>
              </a:rPr>
              <a:t>Жизненный цикл программного обеспечения (</a:t>
            </a:r>
            <a:r>
              <a:rPr lang="ru-RU" altLang="ru-RU" sz="3800" b="1" dirty="0" err="1" smtClean="0">
                <a:solidFill>
                  <a:srgbClr val="800000"/>
                </a:solidFill>
              </a:rPr>
              <a:t>ЖЦ</a:t>
            </a:r>
            <a:r>
              <a:rPr lang="ru-RU" altLang="ru-RU" sz="3800" b="1" dirty="0" smtClean="0">
                <a:solidFill>
                  <a:srgbClr val="800000"/>
                </a:solidFill>
              </a:rPr>
              <a:t> ПО)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1600" y="2348880"/>
            <a:ext cx="7696200" cy="5257800"/>
          </a:xfrm>
        </p:spPr>
        <p:txBody>
          <a:bodyPr/>
          <a:lstStyle/>
          <a:p>
            <a:pPr eaLnBrk="1" hangingPunct="1"/>
            <a:endParaRPr lang="ru-RU" altLang="ru-RU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dirty="0" err="1" smtClean="0">
                <a:solidFill>
                  <a:schemeClr val="bg1">
                    <a:lumMod val="50000"/>
                  </a:schemeClr>
                </a:solidFill>
              </a:rPr>
              <a:t>ЖЦ</a:t>
            </a:r>
            <a:r>
              <a:rPr lang="ru-RU" altLang="ru-RU" dirty="0" smtClean="0">
                <a:solidFill>
                  <a:schemeClr val="bg1">
                    <a:lumMod val="50000"/>
                  </a:schemeClr>
                </a:solidFill>
              </a:rPr>
              <a:t> ПО определяется как период времени, который начинается с момента принятия решения о необходимости создания ПО и заканчивается в момент его полного изъятия их эксплуатации.</a:t>
            </a:r>
          </a:p>
        </p:txBody>
      </p:sp>
    </p:spTree>
    <p:extLst>
      <p:ext uri="{BB962C8B-B14F-4D97-AF65-F5344CB8AC3E}">
        <p14:creationId xmlns:p14="http://schemas.microsoft.com/office/powerpoint/2010/main" val="322894370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143D31-5569-49AE-965C-C24733485FF1}" type="slidenum">
              <a:rPr lang="ru-RU" altLang="en-US"/>
              <a:pPr>
                <a:defRPr/>
              </a:pPr>
              <a:t>3</a:t>
            </a:fld>
            <a:endParaRPr lang="ru-RU" altLang="en-US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1225550"/>
            <a:ext cx="7778492" cy="685800"/>
          </a:xfrm>
        </p:spPr>
        <p:txBody>
          <a:bodyPr/>
          <a:lstStyle/>
          <a:p>
            <a:pPr eaLnBrk="1" hangingPunct="1"/>
            <a:r>
              <a:rPr lang="ru-RU" altLang="ru-RU" dirty="0" smtClean="0">
                <a:solidFill>
                  <a:srgbClr val="800000"/>
                </a:solidFill>
              </a:rPr>
              <a:t>Обычно в состав </a:t>
            </a:r>
            <a:r>
              <a:rPr lang="ru-RU" altLang="ru-RU" dirty="0" err="1" smtClean="0">
                <a:solidFill>
                  <a:srgbClr val="800000"/>
                </a:solidFill>
              </a:rPr>
              <a:t>ЖЦ</a:t>
            </a:r>
            <a:r>
              <a:rPr lang="ru-RU" altLang="ru-RU" dirty="0" smtClean="0">
                <a:solidFill>
                  <a:srgbClr val="800000"/>
                </a:solidFill>
              </a:rPr>
              <a:t> включаются следующие стадии</a:t>
            </a:r>
            <a:r>
              <a:rPr lang="ru-RU" altLang="ru-RU" dirty="0" smtClean="0">
                <a:solidFill>
                  <a:schemeClr val="bg1">
                    <a:lumMod val="50000"/>
                  </a:schemeClr>
                </a:solidFill>
              </a:rPr>
              <a:t>: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8808" y="2348880"/>
            <a:ext cx="7696200" cy="525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dirty="0" smtClean="0"/>
              <a:t>1. </a:t>
            </a:r>
            <a:r>
              <a:rPr lang="ru-RU" altLang="ru-RU" dirty="0" smtClean="0">
                <a:solidFill>
                  <a:srgbClr val="FF0000"/>
                </a:solidFill>
              </a:rPr>
              <a:t>Формирование требований к ПО;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dirty="0" smtClean="0">
                <a:solidFill>
                  <a:schemeClr val="bg1">
                    <a:lumMod val="50000"/>
                  </a:schemeClr>
                </a:solidFill>
              </a:rPr>
              <a:t>2. Проектирование;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dirty="0" smtClean="0">
                <a:solidFill>
                  <a:schemeClr val="bg1">
                    <a:lumMod val="50000"/>
                  </a:schemeClr>
                </a:solidFill>
              </a:rPr>
              <a:t>3. Реализация;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dirty="0" smtClean="0">
                <a:solidFill>
                  <a:schemeClr val="bg1">
                    <a:lumMod val="50000"/>
                  </a:schemeClr>
                </a:solidFill>
              </a:rPr>
              <a:t>4. Тестирование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dirty="0" smtClean="0">
                <a:solidFill>
                  <a:schemeClr val="bg1">
                    <a:lumMod val="50000"/>
                  </a:schemeClr>
                </a:solidFill>
              </a:rPr>
              <a:t>5. Ввод в действие;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dirty="0" smtClean="0">
                <a:solidFill>
                  <a:schemeClr val="bg1">
                    <a:lumMod val="50000"/>
                  </a:schemeClr>
                </a:solidFill>
              </a:rPr>
              <a:t>6. Эксплуатация и сопровождения.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dirty="0" smtClean="0">
                <a:solidFill>
                  <a:schemeClr val="bg1">
                    <a:lumMod val="50000"/>
                  </a:schemeClr>
                </a:solidFill>
              </a:rPr>
              <a:t>7. Снятие к эксплуатации</a:t>
            </a:r>
          </a:p>
        </p:txBody>
      </p:sp>
    </p:spTree>
    <p:extLst>
      <p:ext uri="{BB962C8B-B14F-4D97-AF65-F5344CB8AC3E}">
        <p14:creationId xmlns:p14="http://schemas.microsoft.com/office/powerpoint/2010/main" val="310865160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Бизнес-процесс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990600"/>
            <a:ext cx="8079432" cy="5606752"/>
          </a:xfrm>
        </p:spPr>
        <p:txBody>
          <a:bodyPr/>
          <a:lstStyle/>
          <a:p>
            <a:pPr algn="just"/>
            <a:r>
              <a:rPr lang="ru-RU" altLang="ru-RU" dirty="0"/>
              <a:t>Под бизнес-процессом понимается совокупность увязанных в единое целое действий, выполнение которых позволяет получить конечный результат (товар или услугу)</a:t>
            </a:r>
            <a:r>
              <a:rPr lang="ru-RU" altLang="ru-RU" i="1" dirty="0"/>
              <a:t>.</a:t>
            </a:r>
            <a:r>
              <a:rPr lang="ru-RU" altLang="ru-RU" sz="4400" dirty="0"/>
              <a:t> </a:t>
            </a:r>
            <a:endParaRPr lang="ru-RU" altLang="ru-RU" sz="4400" dirty="0" smtClean="0"/>
          </a:p>
          <a:p>
            <a:pPr algn="just"/>
            <a:endParaRPr lang="ru-RU" altLang="ru-RU" sz="4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100" dirty="0" smtClean="0"/>
              <a:t>      Классифицировать </a:t>
            </a:r>
            <a:r>
              <a:rPr lang="ru-RU" altLang="ru-RU" sz="2100" dirty="0"/>
              <a:t>бизнес-процессы можно следующим образом:</a:t>
            </a:r>
          </a:p>
          <a:p>
            <a:pPr lvl="2" eaLnBrk="1" hangingPunct="1">
              <a:lnSpc>
                <a:spcPct val="90000"/>
              </a:lnSpc>
            </a:pPr>
            <a:r>
              <a:rPr lang="ru-RU" altLang="ru-RU" i="1" dirty="0"/>
              <a:t>основные;</a:t>
            </a:r>
          </a:p>
          <a:p>
            <a:pPr lvl="2" eaLnBrk="1" hangingPunct="1">
              <a:lnSpc>
                <a:spcPct val="90000"/>
              </a:lnSpc>
            </a:pPr>
            <a:r>
              <a:rPr lang="ru-RU" altLang="ru-RU" i="1" dirty="0"/>
              <a:t>вспомогательные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624638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3200" i="1" dirty="0"/>
              <a:t>Основные бизнес-процессы </a:t>
            </a:r>
            <a:r>
              <a:rPr lang="ru-RU" altLang="ru-RU" sz="3200" dirty="0"/>
              <a:t>- это процессы, которые создают то главное, ради которого и существует предприятие (конечный товар или услугу). </a:t>
            </a:r>
            <a:endParaRPr lang="ru-RU" altLang="ru-RU" sz="32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3200" dirty="0" smtClean="0"/>
              <a:t>В </a:t>
            </a:r>
            <a:r>
              <a:rPr lang="ru-RU" altLang="ru-RU" sz="3200" dirty="0"/>
              <a:t>большинстве случаев они отражают: материально-техническое снабжение, производство, сбыт готовой продукции, послепродажные услуги и т. д. </a:t>
            </a:r>
            <a:endParaRPr lang="en-US" altLang="ru-RU" sz="3200" dirty="0"/>
          </a:p>
        </p:txBody>
      </p:sp>
    </p:spTree>
    <p:extLst>
      <p:ext uri="{BB962C8B-B14F-4D97-AF65-F5344CB8AC3E}">
        <p14:creationId xmlns:p14="http://schemas.microsoft.com/office/powerpoint/2010/main" val="376264004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F3F996-012A-4634-9B8D-CF5FE409E686}" type="slidenum">
              <a:rPr lang="ru-RU" altLang="en-US"/>
              <a:pPr>
                <a:defRPr/>
              </a:pPr>
              <a:t>6</a:t>
            </a:fld>
            <a:endParaRPr lang="ru-RU" altLang="en-US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980728"/>
            <a:ext cx="7546032" cy="540003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1800" dirty="0" smtClean="0"/>
              <a:t>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dirty="0" smtClean="0"/>
              <a:t>Вспомогательные бизнес-процессы, как правило, соответствуют управленческой деятельности: управление персоналом, техническим развитием, инфраструктурные услуги для внутренних управленческих подразделений, планирование, учет, процессы на складе, маркетинг, финансовая деятельность </a:t>
            </a:r>
            <a:r>
              <a:rPr lang="ru-RU" altLang="ru-RU" dirty="0" err="1" smtClean="0"/>
              <a:t>и.д</a:t>
            </a:r>
            <a:r>
              <a:rPr lang="ru-RU" altLang="ru-RU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787938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>
                <a:solidFill>
                  <a:srgbClr val="990000"/>
                </a:solidFill>
                <a:latin typeface="Arial" charset="0"/>
              </a:rPr>
              <a:t>Бизнес-моделирование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 - деятельность по выявлению и описанию существующих бизнес-процессов, а также проектированию новых процессов.</a:t>
            </a:r>
          </a:p>
          <a:p>
            <a:pPr>
              <a:buFontTx/>
              <a:buNone/>
            </a:pPr>
            <a:endParaRPr lang="ru-RU"/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CC"/>
            </a:gs>
            <a:gs pos="100000">
              <a:srgbClr val="CCFF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497888" cy="685800"/>
          </a:xfrm>
        </p:spPr>
        <p:txBody>
          <a:bodyPr/>
          <a:lstStyle/>
          <a:p>
            <a:pPr algn="ctr"/>
            <a:r>
              <a:rPr lang="ru-RU" sz="2400" b="1" i="1">
                <a:solidFill>
                  <a:srgbClr val="000000"/>
                </a:solidFill>
                <a:latin typeface="Arial" charset="0"/>
                <a:cs typeface="Arial" charset="0"/>
              </a:rPr>
              <a:t>Цели описания и формализации бизнес-процессов предприятия:</a:t>
            </a:r>
            <a:r>
              <a:rPr lang="ru-RU" sz="2400">
                <a:solidFill>
                  <a:srgbClr val="000000"/>
                </a:solidFill>
                <a:latin typeface="Arial" charset="0"/>
                <a:cs typeface="Arial" charset="0"/>
              </a:rPr>
              <a:t/>
            </a:r>
            <a:br>
              <a:rPr lang="ru-RU" sz="2400">
                <a:solidFill>
                  <a:srgbClr val="000000"/>
                </a:solidFill>
                <a:latin typeface="Arial" charset="0"/>
                <a:cs typeface="Arial" charset="0"/>
              </a:rPr>
            </a:br>
            <a:endParaRPr lang="ru-RU" sz="240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914400"/>
            <a:ext cx="7696200" cy="5257800"/>
          </a:xfrm>
        </p:spPr>
        <p:txBody>
          <a:bodyPr/>
          <a:lstStyle/>
          <a:p>
            <a:pPr fontAlgn="t">
              <a:lnSpc>
                <a:spcPct val="90000"/>
              </a:lnSpc>
            </a:pPr>
            <a:r>
              <a:rPr lang="ru-RU" sz="2400" b="0">
                <a:solidFill>
                  <a:srgbClr val="000000"/>
                </a:solidFill>
                <a:latin typeface="Arial" charset="0"/>
                <a:cs typeface="Arial" charset="0"/>
              </a:rPr>
              <a:t>Определение  перечня функций, подфункций, работ  в составе процесса  и  их взаимосвязей;</a:t>
            </a:r>
          </a:p>
          <a:p>
            <a:pPr fontAlgn="t">
              <a:lnSpc>
                <a:spcPct val="90000"/>
              </a:lnSpc>
            </a:pPr>
            <a:r>
              <a:rPr lang="ru-RU" sz="2400" b="0">
                <a:solidFill>
                  <a:srgbClr val="000000"/>
                </a:solidFill>
                <a:latin typeface="Arial" charset="0"/>
                <a:cs typeface="Arial" charset="0"/>
              </a:rPr>
              <a:t>Описание организационной структуры, знаний и полномочий, бизнес-ролей или должностей персонала;</a:t>
            </a:r>
          </a:p>
          <a:p>
            <a:pPr fontAlgn="t">
              <a:lnSpc>
                <a:spcPct val="90000"/>
              </a:lnSpc>
            </a:pPr>
            <a:r>
              <a:rPr lang="ru-RU" sz="2400" b="0">
                <a:solidFill>
                  <a:srgbClr val="000000"/>
                </a:solidFill>
                <a:latin typeface="Arial" charset="0"/>
                <a:cs typeface="Arial" charset="0"/>
              </a:rPr>
              <a:t>Описание материалов, продуктов, услуг и ресурсов, используемых в процессах;</a:t>
            </a:r>
          </a:p>
          <a:p>
            <a:pPr fontAlgn="t">
              <a:lnSpc>
                <a:spcPct val="90000"/>
              </a:lnSpc>
            </a:pPr>
            <a:r>
              <a:rPr lang="ru-RU" sz="2400" b="0">
                <a:solidFill>
                  <a:srgbClr val="000000"/>
                </a:solidFill>
                <a:latin typeface="Arial" charset="0"/>
                <a:cs typeface="Arial" charset="0"/>
              </a:rPr>
              <a:t>Описание технических ресурсов предприятия;</a:t>
            </a:r>
          </a:p>
          <a:p>
            <a:pPr fontAlgn="t">
              <a:lnSpc>
                <a:spcPct val="90000"/>
              </a:lnSpc>
            </a:pPr>
            <a:r>
              <a:rPr lang="ru-RU" sz="2400" b="0">
                <a:solidFill>
                  <a:srgbClr val="000000"/>
                </a:solidFill>
                <a:latin typeface="Arial" charset="0"/>
                <a:cs typeface="Arial" charset="0"/>
              </a:rPr>
              <a:t>Описание процессов управления данными и документами;</a:t>
            </a:r>
          </a:p>
          <a:p>
            <a:pPr fontAlgn="t">
              <a:lnSpc>
                <a:spcPct val="90000"/>
              </a:lnSpc>
            </a:pPr>
            <a:r>
              <a:rPr lang="ru-RU" sz="2400" b="0">
                <a:solidFill>
                  <a:srgbClr val="000000"/>
                </a:solidFill>
                <a:latin typeface="Arial" charset="0"/>
                <a:cs typeface="Arial" charset="0"/>
              </a:rPr>
              <a:t>Создание документов, содержащих информацию об организационной структуре процесса: штатных расписаний, должностных инструкций и пр.;</a:t>
            </a:r>
          </a:p>
          <a:p>
            <a:pPr fontAlgn="t">
              <a:lnSpc>
                <a:spcPct val="90000"/>
              </a:lnSpc>
            </a:pPr>
            <a:r>
              <a:rPr lang="ru-RU" sz="2400" b="0">
                <a:solidFill>
                  <a:srgbClr val="000000"/>
                </a:solidFill>
                <a:latin typeface="Arial" charset="0"/>
                <a:cs typeface="Arial" charset="0"/>
              </a:rPr>
              <a:t>Создание основы для проведения анализа и последующего реинжиниринга процессов предприятия.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sz="2400" b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>
                <a:solidFill>
                  <a:srgbClr val="000000"/>
                </a:solidFill>
              </a:rPr>
              <a:t>Наиболее распространенные типы диаграмм</a:t>
            </a:r>
          </a:p>
        </p:txBody>
      </p:sp>
      <p:sp>
        <p:nvSpPr>
          <p:cNvPr id="901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066800" y="1219200"/>
            <a:ext cx="7696200" cy="5257800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b="0" dirty="0" err="1">
                <a:solidFill>
                  <a:srgbClr val="FF3300"/>
                </a:solidFill>
              </a:rPr>
              <a:t>SADT</a:t>
            </a:r>
            <a:r>
              <a:rPr lang="ru-RU" b="0" dirty="0">
                <a:solidFill>
                  <a:srgbClr val="000000"/>
                </a:solidFill>
              </a:rPr>
              <a:t> (</a:t>
            </a:r>
            <a:r>
              <a:rPr lang="en-US" b="0" dirty="0">
                <a:solidFill>
                  <a:srgbClr val="000000"/>
                </a:solidFill>
              </a:rPr>
              <a:t>Structured Analysis and Design Technique</a:t>
            </a:r>
            <a:r>
              <a:rPr lang="ru-RU" b="0" dirty="0">
                <a:solidFill>
                  <a:srgbClr val="000000"/>
                </a:solidFill>
              </a:rPr>
              <a:t>) - модели и соответствующие функциональные диаграммы;</a:t>
            </a:r>
            <a:endParaRPr lang="en-US" b="0" dirty="0">
              <a:solidFill>
                <a:srgbClr val="000000"/>
              </a:solidFill>
            </a:endParaRPr>
          </a:p>
          <a:p>
            <a:pPr>
              <a:spcBef>
                <a:spcPct val="60000"/>
              </a:spcBef>
            </a:pPr>
            <a:r>
              <a:rPr lang="en-US" b="0" dirty="0" err="1">
                <a:solidFill>
                  <a:srgbClr val="FF3300"/>
                </a:solidFill>
              </a:rPr>
              <a:t>DFD</a:t>
            </a:r>
            <a:r>
              <a:rPr lang="ru-RU" b="0" dirty="0">
                <a:solidFill>
                  <a:srgbClr val="000000"/>
                </a:solidFill>
              </a:rPr>
              <a:t> (</a:t>
            </a:r>
            <a:r>
              <a:rPr lang="en-US" b="0" dirty="0">
                <a:solidFill>
                  <a:srgbClr val="000000"/>
                </a:solidFill>
              </a:rPr>
              <a:t>Data Flow Diagrams</a:t>
            </a:r>
            <a:r>
              <a:rPr lang="ru-RU" b="0" dirty="0">
                <a:solidFill>
                  <a:srgbClr val="000000"/>
                </a:solidFill>
              </a:rPr>
              <a:t>) - диаграммы потоков данных;</a:t>
            </a:r>
          </a:p>
          <a:p>
            <a:pPr>
              <a:spcBef>
                <a:spcPct val="60000"/>
              </a:spcBef>
            </a:pPr>
            <a:r>
              <a:rPr lang="en-US" b="0" dirty="0" err="1">
                <a:solidFill>
                  <a:srgbClr val="FF3300"/>
                </a:solidFill>
              </a:rPr>
              <a:t>WFD</a:t>
            </a:r>
            <a:r>
              <a:rPr lang="en-US" b="0" dirty="0">
                <a:solidFill>
                  <a:srgbClr val="000000"/>
                </a:solidFill>
              </a:rPr>
              <a:t> (Work Flow Diagram)  - </a:t>
            </a:r>
            <a:r>
              <a:rPr lang="ru-RU" b="0" dirty="0">
                <a:solidFill>
                  <a:srgbClr val="000000"/>
                </a:solidFill>
              </a:rPr>
              <a:t>диаграммы потока событий;</a:t>
            </a:r>
            <a:endParaRPr lang="en-US" b="0" dirty="0">
              <a:solidFill>
                <a:srgbClr val="000000"/>
              </a:solidFill>
            </a:endParaRPr>
          </a:p>
          <a:p>
            <a:pPr>
              <a:spcBef>
                <a:spcPct val="60000"/>
              </a:spcBef>
            </a:pPr>
            <a:r>
              <a:rPr lang="en-US" b="0" dirty="0" err="1">
                <a:solidFill>
                  <a:srgbClr val="FF3300"/>
                </a:solidFill>
              </a:rPr>
              <a:t>ERD</a:t>
            </a:r>
            <a:r>
              <a:rPr lang="ru-RU" b="0" dirty="0">
                <a:solidFill>
                  <a:srgbClr val="000000"/>
                </a:solidFill>
              </a:rPr>
              <a:t> (</a:t>
            </a:r>
            <a:r>
              <a:rPr lang="en-US" b="0" dirty="0">
                <a:solidFill>
                  <a:srgbClr val="000000"/>
                </a:solidFill>
              </a:rPr>
              <a:t>Entity</a:t>
            </a:r>
            <a:r>
              <a:rPr lang="ru-RU" b="0" dirty="0">
                <a:solidFill>
                  <a:srgbClr val="000000"/>
                </a:solidFill>
              </a:rPr>
              <a:t>-</a:t>
            </a:r>
            <a:r>
              <a:rPr lang="en-US" b="0" dirty="0">
                <a:solidFill>
                  <a:srgbClr val="000000"/>
                </a:solidFill>
              </a:rPr>
              <a:t>Relationship Diagrams</a:t>
            </a:r>
            <a:r>
              <a:rPr lang="ru-RU" b="0" dirty="0">
                <a:solidFill>
                  <a:srgbClr val="000000"/>
                </a:solidFill>
              </a:rPr>
              <a:t>) - диаграммы «сущность-связь».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91E933-6F96-40B7-8C51-63E507CD7599}" type="slidenum">
              <a:rPr lang="ru-RU" altLang="en-US"/>
              <a:pPr>
                <a:defRPr/>
              </a:pPr>
              <a:t>10</a:t>
            </a:fld>
            <a:endParaRPr lang="ru-RU" alt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89682"/>
            <a:ext cx="8784976" cy="730250"/>
          </a:xfrm>
        </p:spPr>
        <p:txBody>
          <a:bodyPr/>
          <a:lstStyle/>
          <a:p>
            <a:pPr eaLnBrk="1" hangingPunct="1"/>
            <a:r>
              <a:rPr lang="ru-RU" altLang="ru-RU" sz="2800" dirty="0" smtClean="0">
                <a:solidFill>
                  <a:srgbClr val="FF0000"/>
                </a:solidFill>
              </a:rPr>
              <a:t>Используются различные нотации, описывающих функциональную структуру системы и отношения между данными, такие как: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799" y="1916832"/>
            <a:ext cx="7631113" cy="417599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ru-RU" sz="2100" i="1" dirty="0" err="1" smtClean="0">
                <a:solidFill>
                  <a:srgbClr val="FF0000"/>
                </a:solidFill>
              </a:rPr>
              <a:t>DFD</a:t>
            </a:r>
            <a:r>
              <a:rPr lang="ru-RU" altLang="ru-RU" sz="2100" i="1" dirty="0" smtClean="0"/>
              <a:t> (</a:t>
            </a:r>
            <a:r>
              <a:rPr lang="en-US" altLang="ru-RU" sz="2100" i="1" dirty="0" smtClean="0"/>
              <a:t>Data Flow Diagrams</a:t>
            </a:r>
            <a:r>
              <a:rPr lang="ru-RU" altLang="ru-RU" sz="2100" i="1" dirty="0" smtClean="0"/>
              <a:t>) – </a:t>
            </a:r>
            <a:r>
              <a:rPr lang="ru-RU" altLang="ru-RU" sz="2100" dirty="0" smtClean="0"/>
              <a:t>диаграммы потоков данных;</a:t>
            </a:r>
            <a:endParaRPr lang="ru-RU" altLang="ru-RU" sz="2100" i="1" dirty="0" smtClean="0"/>
          </a:p>
          <a:p>
            <a:pPr eaLnBrk="1" hangingPunct="1">
              <a:lnSpc>
                <a:spcPct val="90000"/>
              </a:lnSpc>
            </a:pPr>
            <a:r>
              <a:rPr lang="ru-RU" altLang="ru-RU" sz="2100" i="1" dirty="0" smtClean="0"/>
              <a:t> </a:t>
            </a:r>
            <a:r>
              <a:rPr lang="en-US" altLang="ru-RU" sz="2100" i="1" dirty="0" err="1" smtClean="0">
                <a:solidFill>
                  <a:srgbClr val="FF0000"/>
                </a:solidFill>
              </a:rPr>
              <a:t>SADT</a:t>
            </a:r>
            <a:r>
              <a:rPr lang="ru-RU" altLang="ru-RU" sz="2100" i="1" dirty="0" smtClean="0">
                <a:solidFill>
                  <a:srgbClr val="FF0000"/>
                </a:solidFill>
              </a:rPr>
              <a:t> </a:t>
            </a:r>
            <a:r>
              <a:rPr lang="ru-RU" altLang="ru-RU" sz="2100" i="1" dirty="0" smtClean="0"/>
              <a:t>(</a:t>
            </a:r>
            <a:r>
              <a:rPr lang="en-US" altLang="ru-RU" sz="2100" i="1" dirty="0" smtClean="0"/>
              <a:t>Structured Analysis and Design </a:t>
            </a:r>
            <a:r>
              <a:rPr lang="en-US" altLang="ru-RU" sz="2100" i="1" dirty="0" err="1" smtClean="0"/>
              <a:t>Tecnique</a:t>
            </a:r>
            <a:r>
              <a:rPr lang="ru-RU" altLang="ru-RU" sz="2100" i="1" dirty="0" smtClean="0"/>
              <a:t>  – </a:t>
            </a:r>
            <a:r>
              <a:rPr lang="ru-RU" altLang="ru-RU" sz="2100" dirty="0" smtClean="0"/>
              <a:t>метод структурного анализа и проектирования) </a:t>
            </a:r>
            <a:r>
              <a:rPr lang="ru-RU" altLang="ru-RU" sz="2100" i="1" dirty="0" smtClean="0"/>
              <a:t>–</a:t>
            </a:r>
            <a:r>
              <a:rPr lang="ru-RU" altLang="ru-RU" sz="2100" dirty="0" smtClean="0"/>
              <a:t> модели и соответствующие функциональные диаграммы;</a:t>
            </a:r>
            <a:endParaRPr lang="en-US" altLang="ru-RU" sz="2100" i="1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ru-RU" sz="2100" i="1" dirty="0" err="1" smtClean="0">
                <a:solidFill>
                  <a:srgbClr val="FF0000"/>
                </a:solidFill>
              </a:rPr>
              <a:t>ERD</a:t>
            </a:r>
            <a:r>
              <a:rPr lang="en-US" altLang="ru-RU" sz="2100" i="1" dirty="0" smtClean="0">
                <a:solidFill>
                  <a:srgbClr val="FF0000"/>
                </a:solidFill>
              </a:rPr>
              <a:t> (</a:t>
            </a:r>
            <a:r>
              <a:rPr lang="en-US" altLang="ru-RU" sz="2100" i="1" dirty="0" smtClean="0"/>
              <a:t>Entity-Relationship Diagrams)  – </a:t>
            </a:r>
            <a:r>
              <a:rPr lang="ru-RU" altLang="ru-RU" sz="2100" dirty="0" smtClean="0"/>
              <a:t>диаграммы</a:t>
            </a:r>
            <a:r>
              <a:rPr lang="en-US" altLang="ru-RU" sz="2100" dirty="0" smtClean="0"/>
              <a:t> "</a:t>
            </a:r>
            <a:r>
              <a:rPr lang="ru-RU" altLang="ru-RU" sz="2100" dirty="0" smtClean="0"/>
              <a:t>сущность</a:t>
            </a:r>
            <a:r>
              <a:rPr lang="en-US" altLang="ru-RU" sz="2100" dirty="0" smtClean="0"/>
              <a:t>-</a:t>
            </a:r>
            <a:r>
              <a:rPr lang="ru-RU" altLang="ru-RU" sz="2100" dirty="0" smtClean="0"/>
              <a:t>связь</a:t>
            </a:r>
            <a:r>
              <a:rPr lang="en-US" altLang="ru-RU" sz="2100" dirty="0" smtClean="0"/>
              <a:t>";</a:t>
            </a:r>
            <a:endParaRPr lang="en-US" altLang="ru-RU" sz="2100" i="1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ru-RU" sz="2100" i="1" dirty="0" smtClean="0">
                <a:solidFill>
                  <a:srgbClr val="FF0000"/>
                </a:solidFill>
              </a:rPr>
              <a:t>STD </a:t>
            </a:r>
            <a:r>
              <a:rPr lang="en-US" altLang="ru-RU" sz="2100" i="1" dirty="0" smtClean="0"/>
              <a:t>(State Transition Diagrams) –</a:t>
            </a:r>
            <a:r>
              <a:rPr lang="en-US" altLang="ru-RU" sz="2100" dirty="0" smtClean="0"/>
              <a:t> </a:t>
            </a:r>
            <a:r>
              <a:rPr lang="en-US" altLang="ru-RU" sz="2100" dirty="0" err="1" smtClean="0"/>
              <a:t>диаграммы</a:t>
            </a:r>
            <a:r>
              <a:rPr lang="en-US" altLang="ru-RU" sz="2100" dirty="0" smtClean="0"/>
              <a:t> </a:t>
            </a:r>
            <a:r>
              <a:rPr lang="en-US" altLang="ru-RU" sz="2100" dirty="0" err="1" smtClean="0"/>
              <a:t>перехода</a:t>
            </a:r>
            <a:r>
              <a:rPr lang="en-US" altLang="ru-RU" sz="2100" dirty="0" smtClean="0"/>
              <a:t> </a:t>
            </a:r>
            <a:r>
              <a:rPr lang="en-US" altLang="ru-RU" sz="2100" dirty="0" err="1" smtClean="0"/>
              <a:t>состояний</a:t>
            </a:r>
            <a:r>
              <a:rPr lang="en-US" altLang="ru-RU" sz="2100" dirty="0" smtClean="0"/>
              <a:t>;</a:t>
            </a:r>
            <a:endParaRPr lang="ru-RU" altLang="ru-RU" sz="2100" i="1" dirty="0" smtClean="0"/>
          </a:p>
          <a:p>
            <a:pPr eaLnBrk="1" hangingPunct="1">
              <a:lnSpc>
                <a:spcPct val="90000"/>
              </a:lnSpc>
            </a:pPr>
            <a:r>
              <a:rPr lang="ru-RU" altLang="ru-RU" sz="2100" i="1" dirty="0" smtClean="0"/>
              <a:t>Семейство</a:t>
            </a:r>
            <a:r>
              <a:rPr lang="en-US" altLang="ru-RU" sz="2100" i="1" dirty="0" smtClean="0"/>
              <a:t> </a:t>
            </a:r>
            <a:r>
              <a:rPr lang="en-US" altLang="ru-RU" sz="2100" i="1" dirty="0" err="1" smtClean="0">
                <a:solidFill>
                  <a:srgbClr val="FF0000"/>
                </a:solidFill>
              </a:rPr>
              <a:t>IDEF</a:t>
            </a:r>
            <a:r>
              <a:rPr lang="en-US" altLang="ru-RU" sz="2100" i="1" dirty="0" smtClean="0">
                <a:solidFill>
                  <a:srgbClr val="FF0000"/>
                </a:solidFill>
              </a:rPr>
              <a:t> </a:t>
            </a:r>
            <a:r>
              <a:rPr lang="en-US" altLang="ru-RU" sz="2100" i="1" dirty="0" smtClean="0"/>
              <a:t>(Integration Definition for </a:t>
            </a:r>
            <a:r>
              <a:rPr lang="en-US" altLang="ru-RU" sz="2100" i="1" dirty="0" err="1" smtClean="0"/>
              <a:t>Functin</a:t>
            </a:r>
            <a:r>
              <a:rPr lang="en-US" altLang="ru-RU" sz="2100" i="1" dirty="0" smtClean="0"/>
              <a:t> Modeling) -</a:t>
            </a:r>
            <a:r>
              <a:rPr lang="en-US" altLang="ru-RU" sz="2100" dirty="0" smtClean="0"/>
              <a:t> </a:t>
            </a:r>
            <a:r>
              <a:rPr lang="ru-RU" altLang="ru-RU" sz="2100" dirty="0" smtClean="0"/>
              <a:t>методология</a:t>
            </a:r>
            <a:r>
              <a:rPr lang="en-US" altLang="ru-RU" sz="2100" dirty="0" smtClean="0"/>
              <a:t> </a:t>
            </a:r>
            <a:r>
              <a:rPr lang="ru-RU" altLang="ru-RU" sz="2100" dirty="0" smtClean="0"/>
              <a:t>функционального</a:t>
            </a:r>
            <a:r>
              <a:rPr lang="en-US" altLang="ru-RU" sz="2100" dirty="0" smtClean="0"/>
              <a:t> </a:t>
            </a:r>
            <a:r>
              <a:rPr lang="ru-RU" altLang="ru-RU" sz="2100" dirty="0" smtClean="0"/>
              <a:t>моделирования</a:t>
            </a:r>
            <a:r>
              <a:rPr lang="en-US" altLang="ru-RU" sz="2100" dirty="0" smtClean="0"/>
              <a:t>.</a:t>
            </a:r>
            <a:endParaRPr lang="ru-RU" altLang="ru-RU" sz="2100" dirty="0" smtClean="0"/>
          </a:p>
        </p:txBody>
      </p:sp>
    </p:spTree>
    <p:extLst>
      <p:ext uri="{BB962C8B-B14F-4D97-AF65-F5344CB8AC3E}">
        <p14:creationId xmlns:p14="http://schemas.microsoft.com/office/powerpoint/2010/main" val="367619625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Rectangle 1028"/>
          <p:cNvSpPr>
            <a:spLocks noGrp="1" noChangeArrowheads="1"/>
          </p:cNvSpPr>
          <p:nvPr>
            <p:ph type="ctrTitle"/>
          </p:nvPr>
        </p:nvSpPr>
        <p:spPr>
          <a:xfrm>
            <a:off x="533400" y="1600200"/>
            <a:ext cx="8305800" cy="838200"/>
          </a:xfrm>
        </p:spPr>
        <p:txBody>
          <a:bodyPr/>
          <a:lstStyle/>
          <a:p>
            <a:r>
              <a:rPr lang="ru-RU" sz="3600" b="1">
                <a:solidFill>
                  <a:srgbClr val="000000"/>
                </a:solidFill>
                <a:latin typeface="Arial" charset="0"/>
              </a:rPr>
              <a:t>Методология функционального моделирования </a:t>
            </a:r>
            <a:r>
              <a:rPr lang="en-US" sz="3600" b="1">
                <a:solidFill>
                  <a:srgbClr val="000000"/>
                </a:solidFill>
                <a:latin typeface="Arial" charset="0"/>
              </a:rPr>
              <a:t>SADT</a:t>
            </a:r>
            <a:endParaRPr lang="ru-RU" sz="3600" b="1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52400"/>
            <a:ext cx="7848600" cy="685800"/>
          </a:xfrm>
        </p:spPr>
        <p:txBody>
          <a:bodyPr/>
          <a:lstStyle/>
          <a:p>
            <a:pPr algn="ctr"/>
            <a:r>
              <a:rPr lang="ru-RU" sz="2800" b="1">
                <a:solidFill>
                  <a:srgbClr val="000000"/>
                </a:solidFill>
                <a:latin typeface="Arial" charset="0"/>
              </a:rPr>
              <a:t>Методология функционального моделирования </a:t>
            </a:r>
            <a:r>
              <a:rPr lang="en-US" sz="2800" b="1">
                <a:solidFill>
                  <a:srgbClr val="000000"/>
                </a:solidFill>
                <a:latin typeface="Arial" charset="0"/>
              </a:rPr>
              <a:t>SADT</a:t>
            </a:r>
            <a:r>
              <a:rPr lang="ru-RU" sz="2100">
                <a:solidFill>
                  <a:srgbClr val="000000"/>
                </a:solidFill>
                <a:latin typeface="Arial" charset="0"/>
              </a:rPr>
              <a:t> 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066800"/>
            <a:ext cx="7723187" cy="4806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b="0">
                <a:solidFill>
                  <a:srgbClr val="000000"/>
                </a:solidFill>
                <a:latin typeface="Arial" charset="0"/>
              </a:rPr>
              <a:t>Разработана </a:t>
            </a:r>
            <a:r>
              <a:rPr lang="ru-RU">
                <a:solidFill>
                  <a:srgbClr val="000000"/>
                </a:solidFill>
                <a:latin typeface="Arial" charset="0"/>
              </a:rPr>
              <a:t>Дугласом Т. Россом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b="0">
                <a:solidFill>
                  <a:srgbClr val="000000"/>
                </a:solidFill>
                <a:latin typeface="Arial" charset="0"/>
              </a:rPr>
              <a:t>  Исходная работа над SADT началась в </a:t>
            </a:r>
            <a:r>
              <a:rPr lang="ru-RU">
                <a:solidFill>
                  <a:srgbClr val="000000"/>
                </a:solidFill>
                <a:latin typeface="Arial" charset="0"/>
              </a:rPr>
              <a:t>1969 г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ru-RU" b="0">
                <a:solidFill>
                  <a:srgbClr val="000000"/>
                </a:solidFill>
                <a:latin typeface="Arial" charset="0"/>
              </a:rPr>
              <a:t>Первое ее крупное приложение было реализовано в 1973 г. при разработке большого аэрокосмического проекта, когда она была несколько пересмотрена сотрудниками SofTech, Inc. </a:t>
            </a:r>
          </a:p>
          <a:p>
            <a:pPr>
              <a:lnSpc>
                <a:spcPct val="90000"/>
              </a:lnSpc>
            </a:pPr>
            <a:r>
              <a:rPr lang="ru-RU" b="0">
                <a:solidFill>
                  <a:srgbClr val="000000"/>
                </a:solidFill>
                <a:latin typeface="Arial" charset="0"/>
              </a:rPr>
              <a:t>В </a:t>
            </a:r>
            <a:r>
              <a:rPr lang="ru-RU">
                <a:solidFill>
                  <a:srgbClr val="000000"/>
                </a:solidFill>
                <a:latin typeface="Arial" charset="0"/>
              </a:rPr>
              <a:t>1974 г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. SADT была еще улучшена и передана одной из крупнейших европейских телефонных компаний. 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b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2400" b="0">
                <a:solidFill>
                  <a:srgbClr val="000000"/>
                </a:solidFill>
                <a:latin typeface="Arial" charset="0"/>
              </a:rPr>
              <a:t>Появление SADT на рынке произошло в 1975 г. после годичного оформления в виде продукта. </a:t>
            </a:r>
          </a:p>
          <a:p>
            <a:r>
              <a:rPr lang="ru-RU" sz="2400">
                <a:solidFill>
                  <a:srgbClr val="000000"/>
                </a:solidFill>
                <a:latin typeface="Arial" charset="0"/>
              </a:rPr>
              <a:t>1981 г.</a:t>
            </a:r>
            <a:r>
              <a:rPr lang="ru-RU" sz="2400" b="0">
                <a:solidFill>
                  <a:srgbClr val="000000"/>
                </a:solidFill>
                <a:latin typeface="Arial" charset="0"/>
              </a:rPr>
              <a:t> -  программа автоматизации промышленных предприятий </a:t>
            </a:r>
            <a:r>
              <a:rPr lang="ru-RU" sz="2400">
                <a:solidFill>
                  <a:srgbClr val="000000"/>
                </a:solidFill>
                <a:latin typeface="Arial" charset="0"/>
              </a:rPr>
              <a:t>ICAM</a:t>
            </a:r>
            <a:r>
              <a:rPr lang="ru-RU" sz="2400" b="0">
                <a:solidFill>
                  <a:srgbClr val="000000"/>
                </a:solidFill>
                <a:latin typeface="Arial" charset="0"/>
              </a:rPr>
              <a:t> (Integrated Computer Aided Manufacturing), предложенной департаментом Военно-Воздушных Сил США. </a:t>
            </a:r>
          </a:p>
          <a:p>
            <a:r>
              <a:rPr lang="ru-RU" sz="2400" b="0">
                <a:solidFill>
                  <a:srgbClr val="000000"/>
                </a:solidFill>
                <a:latin typeface="Arial" charset="0"/>
              </a:rPr>
              <a:t>Семейство стандартов IDEF унаследовало свое обозначение от названия этой программы (IDEF - ICAM DEFinition).</a:t>
            </a:r>
          </a:p>
          <a:p>
            <a:r>
              <a:rPr lang="ru-RU" sz="2400">
                <a:solidFill>
                  <a:srgbClr val="000000"/>
                </a:solidFill>
                <a:latin typeface="Arial" charset="0"/>
              </a:rPr>
              <a:t>1993 г.</a:t>
            </a:r>
            <a:r>
              <a:rPr lang="ru-RU" sz="2400" b="0">
                <a:solidFill>
                  <a:srgbClr val="000000"/>
                </a:solidFill>
                <a:latin typeface="Arial" charset="0"/>
              </a:rPr>
              <a:t>  - SADT было принято в качестве федерального стандарта США под наименованием IDEF0</a:t>
            </a:r>
            <a:r>
              <a:rPr lang="ru-RU" sz="2400">
                <a:solidFill>
                  <a:srgbClr val="000000"/>
                </a:solidFill>
                <a:latin typeface="Arial" charset="0"/>
              </a:rPr>
              <a:t> </a:t>
            </a:r>
            <a:r>
              <a:rPr lang="ru-RU" sz="2400" b="0">
                <a:solidFill>
                  <a:srgbClr val="000000"/>
                </a:solidFill>
                <a:latin typeface="Arial" charset="0"/>
              </a:rPr>
              <a:t>.</a:t>
            </a:r>
          </a:p>
          <a:p>
            <a:endParaRPr lang="ru-RU" sz="2400"/>
          </a:p>
        </p:txBody>
      </p:sp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1258888" y="1125538"/>
            <a:ext cx="7345362" cy="5351462"/>
          </a:xfrm>
        </p:spPr>
        <p:txBody>
          <a:bodyPr/>
          <a:lstStyle/>
          <a:p>
            <a:pPr>
              <a:buSzPct val="60000"/>
              <a:buFontTx/>
              <a:buBlip>
                <a:blip r:embed="rId2"/>
              </a:buBlip>
            </a:pPr>
            <a:r>
              <a:rPr lang="ru-RU">
                <a:solidFill>
                  <a:srgbClr val="000000"/>
                </a:solidFill>
                <a:latin typeface="Arial" charset="0"/>
              </a:rPr>
              <a:t>Методология </a:t>
            </a:r>
            <a:r>
              <a:rPr lang="en-US">
                <a:solidFill>
                  <a:srgbClr val="000000"/>
                </a:solidFill>
                <a:latin typeface="Arial" charset="0"/>
              </a:rPr>
              <a:t>SADT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 представляет собой совокупность методов, правил и процедур, предназначенных для построения функциональной модели объекта какой-либо предметной области. </a:t>
            </a:r>
          </a:p>
          <a:p>
            <a:pPr>
              <a:buSzPct val="60000"/>
              <a:buFontTx/>
              <a:buNone/>
            </a:pPr>
            <a:endParaRPr lang="ru-RU" b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00175" y="1462088"/>
            <a:ext cx="6926263" cy="3930650"/>
          </a:xfrm>
        </p:spPr>
        <p:txBody>
          <a:bodyPr/>
          <a:lstStyle/>
          <a:p>
            <a:pPr marL="400050" indent="-15875">
              <a:lnSpc>
                <a:spcPct val="90000"/>
              </a:lnSpc>
              <a:buFontTx/>
              <a:buNone/>
            </a:pPr>
            <a:r>
              <a:rPr lang="ru-RU" sz="2900">
                <a:solidFill>
                  <a:srgbClr val="000000"/>
                </a:solidFill>
                <a:latin typeface="Arial" charset="0"/>
              </a:rPr>
              <a:t>Основные элементы этой методологии основываются на следующих принципах:</a:t>
            </a:r>
          </a:p>
          <a:p>
            <a:pPr marL="400050" indent="-15875">
              <a:lnSpc>
                <a:spcPct val="90000"/>
              </a:lnSpc>
              <a:buFontTx/>
              <a:buNone/>
            </a:pPr>
            <a:endParaRPr lang="ru-RU" sz="2900">
              <a:solidFill>
                <a:srgbClr val="000000"/>
              </a:solidFill>
              <a:latin typeface="Arial" charset="0"/>
            </a:endParaRPr>
          </a:p>
          <a:p>
            <a:pPr marL="400050" indent="-15875">
              <a:lnSpc>
                <a:spcPct val="90000"/>
              </a:lnSpc>
              <a:buSzPct val="115000"/>
              <a:buFontTx/>
              <a:buAutoNum type="arabicPeriod"/>
            </a:pPr>
            <a:r>
              <a:rPr lang="ru-RU" sz="2900" b="0">
                <a:solidFill>
                  <a:srgbClr val="000000"/>
                </a:solidFill>
                <a:latin typeface="Arial" charset="0"/>
              </a:rPr>
              <a:t>  Графическое представление блочного моделирования</a:t>
            </a:r>
          </a:p>
          <a:p>
            <a:pPr marL="400050" indent="-15875">
              <a:lnSpc>
                <a:spcPct val="90000"/>
              </a:lnSpc>
              <a:buSzPct val="115000"/>
              <a:buFontTx/>
              <a:buNone/>
            </a:pPr>
            <a:endParaRPr lang="ru-RU" sz="2900" b="0">
              <a:solidFill>
                <a:srgbClr val="000000"/>
              </a:solidFill>
              <a:latin typeface="Arial" charset="0"/>
            </a:endParaRPr>
          </a:p>
          <a:p>
            <a:pPr marL="400050" indent="-15875">
              <a:lnSpc>
                <a:spcPct val="90000"/>
              </a:lnSpc>
              <a:buSzPct val="115000"/>
              <a:buFontTx/>
              <a:buAutoNum type="arabicPeriod" startAt="2"/>
            </a:pPr>
            <a:r>
              <a:rPr lang="ru-RU" sz="2900" b="0">
                <a:solidFill>
                  <a:srgbClr val="000000"/>
                </a:solidFill>
                <a:latin typeface="Arial" charset="0"/>
              </a:rPr>
              <a:t>  Строгость и точность. 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/>
              <a:t>		</a:t>
            </a:r>
            <a:r>
              <a:rPr lang="ru-RU" sz="3200">
                <a:solidFill>
                  <a:srgbClr val="000000"/>
                </a:solidFill>
                <a:cs typeface="Times New Roman" pitchFamily="18" charset="0"/>
              </a:rPr>
              <a:t>Результатом применения методологии SADT является модель, которая состоит из диаграмм, фрагментов текстов и глоссария, имеющих ссылки друг на друга. 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990600" y="1066800"/>
            <a:ext cx="7696200" cy="484822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rgbClr val="000000"/>
                </a:solidFill>
                <a:latin typeface="Arial" charset="0"/>
              </a:rPr>
              <a:t>		</a:t>
            </a:r>
            <a:r>
              <a:rPr lang="ru-RU" sz="3200">
                <a:solidFill>
                  <a:srgbClr val="990000"/>
                </a:solidFill>
                <a:latin typeface="Times New Roman" pitchFamily="18" charset="0"/>
              </a:rPr>
              <a:t>IDEF0</a:t>
            </a:r>
            <a:r>
              <a:rPr lang="ru-RU" sz="3200" b="0">
                <a:solidFill>
                  <a:srgbClr val="000000"/>
                </a:solidFill>
                <a:latin typeface="Times New Roman" pitchFamily="18" charset="0"/>
              </a:rPr>
              <a:t> (Integration Definition for Function Modeling) - методология функционального моделирования, в основе которой лежит представление любой изучаемой и (или) описываемой системы в виде набора взаимодействующих и взаимосвязанных блоков, отображающих процессы, операции, действия. 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ru-RU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 основе методологии лежат четыре основных понятия</a:t>
            </a:r>
            <a:r>
              <a:rPr lang="ru-RU" b="1">
                <a:solidFill>
                  <a:srgbClr val="000000"/>
                </a:solidFill>
                <a:latin typeface="Times New Roman" pitchFamily="18" charset="0"/>
              </a:rPr>
              <a:t>:</a:t>
            </a:r>
            <a:endParaRPr lang="ru-RU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066800"/>
            <a:ext cx="6799263" cy="5138738"/>
          </a:xfrm>
        </p:spPr>
        <p:txBody>
          <a:bodyPr/>
          <a:lstStyle/>
          <a:p>
            <a:pPr marL="571500" indent="-571500">
              <a:buFont typeface="Wingdings" pitchFamily="2" charset="2"/>
              <a:buAutoNum type="arabicPeriod"/>
            </a:pPr>
            <a:r>
              <a:rPr lang="ru-RU" sz="2000" i="1">
                <a:solidFill>
                  <a:srgbClr val="FF3300"/>
                </a:solidFill>
                <a:latin typeface="Arial" charset="0"/>
              </a:rPr>
              <a:t>Понятие функционального блока (</a:t>
            </a:r>
            <a:r>
              <a:rPr lang="en-US" sz="2000" i="1">
                <a:solidFill>
                  <a:srgbClr val="FF3300"/>
                </a:solidFill>
                <a:latin typeface="Arial" charset="0"/>
              </a:rPr>
              <a:t>Activity Box</a:t>
            </a:r>
            <a:r>
              <a:rPr lang="ru-RU" sz="2000" i="1">
                <a:solidFill>
                  <a:srgbClr val="FF3300"/>
                </a:solidFill>
                <a:latin typeface="Arial" charset="0"/>
              </a:rPr>
              <a:t>).</a:t>
            </a:r>
            <a:r>
              <a:rPr lang="ru-RU" sz="1800" i="1">
                <a:solidFill>
                  <a:srgbClr val="FF3300"/>
                </a:solidFill>
                <a:latin typeface="Arial" charset="0"/>
              </a:rPr>
              <a:t> </a:t>
            </a:r>
          </a:p>
          <a:p>
            <a:pPr marL="571500" indent="-571500">
              <a:buFont typeface="Wingdings" pitchFamily="2" charset="2"/>
              <a:buBlip>
                <a:blip r:embed="rId2"/>
              </a:buBlip>
            </a:pPr>
            <a:r>
              <a:rPr lang="ru-RU" sz="2000">
                <a:solidFill>
                  <a:srgbClr val="000000"/>
                </a:solidFill>
                <a:latin typeface="Arial" charset="0"/>
              </a:rPr>
              <a:t>функциональный блок графически изображается в виде прямоугольника</a:t>
            </a:r>
          </a:p>
          <a:p>
            <a:pPr marL="571500" indent="-571500">
              <a:buFont typeface="Wingdings" pitchFamily="2" charset="2"/>
              <a:buBlip>
                <a:blip r:embed="rId2"/>
              </a:buBlip>
            </a:pPr>
            <a:r>
              <a:rPr lang="ru-RU" sz="2000">
                <a:solidFill>
                  <a:srgbClr val="000000"/>
                </a:solidFill>
                <a:latin typeface="Arial" charset="0"/>
              </a:rPr>
              <a:t>представляет собой некоторую конкретную функцию в рамках рассматриваемой системы</a:t>
            </a:r>
          </a:p>
          <a:p>
            <a:pPr marL="571500" indent="-571500">
              <a:buFont typeface="Wingdings" pitchFamily="2" charset="2"/>
              <a:buBlip>
                <a:blip r:embed="rId2"/>
              </a:buBlip>
            </a:pPr>
            <a:r>
              <a:rPr lang="ru-RU" sz="2000">
                <a:solidFill>
                  <a:srgbClr val="000000"/>
                </a:solidFill>
                <a:latin typeface="Arial" charset="0"/>
              </a:rPr>
              <a:t>по требованиям стандарта название каждого функционального блока должно быть сформулировано в глагольном наклонении (например, “производить услуги”, а не “производство услуг”).  </a:t>
            </a:r>
          </a:p>
          <a:p>
            <a:pPr marL="571500" indent="-571500">
              <a:buFont typeface="Wingdings" pitchFamily="2" charset="2"/>
              <a:buBlip>
                <a:blip r:embed="rId2"/>
              </a:buBlip>
            </a:pPr>
            <a:r>
              <a:rPr lang="ru-RU" sz="2000">
                <a:solidFill>
                  <a:srgbClr val="000000"/>
                </a:solidFill>
                <a:latin typeface="Arial" charset="0"/>
              </a:rPr>
              <a:t>Каждый функциональный блок в рамках единой рассматриваемой системы должен иметь свой уникальный идентификационный номер. </a:t>
            </a:r>
          </a:p>
          <a:p>
            <a:pPr marL="571500" indent="-571500">
              <a:buFont typeface="Wingdings" pitchFamily="2" charset="2"/>
              <a:buBlip>
                <a:blip r:embed="rId2"/>
              </a:buBlip>
            </a:pPr>
            <a:endParaRPr lang="ru-RU" sz="20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066800"/>
            <a:ext cx="7696200" cy="5257800"/>
          </a:xfrm>
        </p:spPr>
        <p:txBody>
          <a:bodyPr/>
          <a:lstStyle/>
          <a:p>
            <a:pPr>
              <a:buFontTx/>
              <a:buNone/>
            </a:pPr>
            <a:r>
              <a:rPr lang="ru-RU">
                <a:latin typeface="Times New Roman" pitchFamily="18" charset="0"/>
              </a:rPr>
              <a:t>		</a:t>
            </a:r>
            <a:r>
              <a:rPr lang="ru-RU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Каждая из четырех сторон функционального блока имеет своё определенное значение: </a:t>
            </a:r>
            <a:endParaRPr lang="ru-RU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buFontTx/>
              <a:buNone/>
            </a:pPr>
            <a:endParaRPr lang="ru-RU">
              <a:solidFill>
                <a:srgbClr val="000000"/>
              </a:solidFill>
            </a:endParaRPr>
          </a:p>
        </p:txBody>
      </p:sp>
      <p:grpSp>
        <p:nvGrpSpPr>
          <p:cNvPr id="199686" name="Group 6"/>
          <p:cNvGrpSpPr>
            <a:grpSpLocks/>
          </p:cNvGrpSpPr>
          <p:nvPr/>
        </p:nvGrpSpPr>
        <p:grpSpPr bwMode="auto">
          <a:xfrm>
            <a:off x="1295400" y="2743200"/>
            <a:ext cx="6934200" cy="2933700"/>
            <a:chOff x="816" y="1728"/>
            <a:chExt cx="4368" cy="1848"/>
          </a:xfrm>
        </p:grpSpPr>
        <p:pic>
          <p:nvPicPr>
            <p:cNvPr id="19968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16" y="1728"/>
              <a:ext cx="4368" cy="18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199685" name="Text Box 5"/>
            <p:cNvSpPr txBox="1">
              <a:spLocks noChangeArrowheads="1"/>
            </p:cNvSpPr>
            <p:nvPr/>
          </p:nvSpPr>
          <p:spPr bwMode="auto">
            <a:xfrm>
              <a:off x="3504" y="264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>
                  <a:solidFill>
                    <a:srgbClr val="000000"/>
                  </a:solidFill>
                </a:rPr>
                <a:t>А0</a:t>
              </a: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923" name="Picture 3" descr="http://mpteam.narod.ru/prod015.gif"/>
          <p:cNvPicPr>
            <a:picLocks noChangeAspect="1" noChangeArrowheads="1"/>
          </p:cNvPicPr>
          <p:nvPr/>
        </p:nvPicPr>
        <p:blipFill>
          <a:blip r:embed="rId2" cstate="print"/>
          <a:srcRect l="7198" r="6004"/>
          <a:stretch>
            <a:fillRect/>
          </a:stretch>
        </p:blipFill>
        <p:spPr bwMode="auto">
          <a:xfrm>
            <a:off x="0" y="762000"/>
            <a:ext cx="9144000" cy="4306888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685800"/>
          </a:xfrm>
        </p:spPr>
        <p:txBody>
          <a:bodyPr/>
          <a:lstStyle/>
          <a:p>
            <a:r>
              <a:rPr lang="ru-RU">
                <a:solidFill>
                  <a:srgbClr val="000000"/>
                </a:solidFill>
                <a:cs typeface="Times New Roman" pitchFamily="18" charset="0"/>
              </a:rPr>
              <a:t>Функциональный блок «Обработать заготовку»</a:t>
            </a:r>
            <a:r>
              <a:rPr lang="ru-RU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202757" name="Rectangle 1029"/>
          <p:cNvSpPr>
            <a:spLocks noChangeArrowheads="1"/>
          </p:cNvSpPr>
          <p:nvPr/>
        </p:nvSpPr>
        <p:spPr bwMode="auto">
          <a:xfrm>
            <a:off x="2662238" y="18383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202756" name="Picture 1028" descr="IDEF0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1676400" y="1066800"/>
            <a:ext cx="6019800" cy="5014913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>
                <a:solidFill>
                  <a:srgbClr val="000000"/>
                </a:solidFill>
                <a:cs typeface="Times New Roman" pitchFamily="18" charset="0"/>
              </a:rPr>
              <a:t>Внесение изменений в технологические указания</a:t>
            </a:r>
          </a:p>
        </p:txBody>
      </p:sp>
      <p:sp>
        <p:nvSpPr>
          <p:cNvPr id="203781" name="Rectangle 1029"/>
          <p:cNvSpPr>
            <a:spLocks noChangeArrowheads="1"/>
          </p:cNvSpPr>
          <p:nvPr/>
        </p:nvSpPr>
        <p:spPr bwMode="auto">
          <a:xfrm>
            <a:off x="2676525" y="2162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203780" name="Picture 1028" descr="IDEF0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1143000" y="1066800"/>
            <a:ext cx="7315200" cy="488950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4903788" cy="831850"/>
          </a:xfrm>
          <a:noFill/>
          <a:ln/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www</a:t>
            </a:r>
            <a:r>
              <a:rPr lang="ru-RU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.</a:t>
            </a:r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microafrica</a:t>
            </a:r>
            <a:r>
              <a:rPr lang="ru-RU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.</a:t>
            </a:r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co</a:t>
            </a:r>
            <a:r>
              <a:rPr lang="ru-RU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.</a:t>
            </a:r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za</a:t>
            </a:r>
            <a:r>
              <a:rPr lang="ru-RU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/</a:t>
            </a:r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tass</a:t>
            </a:r>
            <a:r>
              <a:rPr lang="ru-RU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/</a:t>
            </a:r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idef</a:t>
            </a:r>
            <a:r>
              <a:rPr lang="ru-RU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0.</a:t>
            </a:r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htm</a:t>
            </a:r>
            <a:endParaRPr lang="ru-RU" sz="2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</p:txBody>
      </p:sp>
      <p:pic>
        <p:nvPicPr>
          <p:cNvPr id="107525" name="Picture 5" descr="http://www.microafrica.co.za/tass/hammie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66800"/>
            <a:ext cx="9144000" cy="419100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>
                <a:solidFill>
                  <a:srgbClr val="000000"/>
                </a:solidFill>
              </a:rPr>
              <a:t>	</a:t>
            </a:r>
            <a:r>
              <a:rPr lang="ru-RU" b="0">
                <a:solidFill>
                  <a:srgbClr val="000000"/>
                </a:solidFill>
                <a:latin typeface="Times New Roman" pitchFamily="18" charset="0"/>
              </a:rPr>
              <a:t>Блоки размещаются по степени важности, это называется доминированием.Наиболее доминирующий блок (с номером 1) размещается в левом верхнем углу диаграммы, наименее (2,3..– в правом нижнем).</a:t>
            </a:r>
          </a:p>
          <a:p>
            <a:pPr>
              <a:buFontTx/>
              <a:buNone/>
            </a:pPr>
            <a:endParaRPr lang="ru-RU" b="0">
              <a:latin typeface="Times New Roman" pitchFamily="18" charset="0"/>
            </a:endParaRPr>
          </a:p>
          <a:p>
            <a:pPr>
              <a:buFontTx/>
              <a:buNone/>
            </a:pPr>
            <a:endParaRPr lang="ru-RU" b="0">
              <a:latin typeface="Times New Roman" pitchFamily="18" charset="0"/>
            </a:endParaRPr>
          </a:p>
          <a:p>
            <a:pPr>
              <a:buFontTx/>
              <a:buNone/>
            </a:pPr>
            <a:endParaRPr lang="ru-RU" b="0"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458200" cy="685800"/>
          </a:xfrm>
        </p:spPr>
        <p:txBody>
          <a:bodyPr/>
          <a:lstStyle/>
          <a:p>
            <a:r>
              <a:rPr lang="ru-RU">
                <a:solidFill>
                  <a:srgbClr val="800000"/>
                </a:solidFill>
              </a:rPr>
              <a:t>2. Интерфейсная дуга </a:t>
            </a:r>
            <a:r>
              <a:rPr lang="en-US">
                <a:solidFill>
                  <a:srgbClr val="800000"/>
                </a:solidFill>
              </a:rPr>
              <a:t>Arrow</a:t>
            </a:r>
            <a:r>
              <a:rPr lang="ru-RU">
                <a:solidFill>
                  <a:srgbClr val="800000"/>
                </a:solidFill>
              </a:rPr>
              <a:t/>
            </a:r>
            <a:br>
              <a:rPr lang="ru-RU">
                <a:solidFill>
                  <a:srgbClr val="800000"/>
                </a:solidFill>
              </a:rPr>
            </a:br>
            <a:r>
              <a:rPr lang="ru-RU">
                <a:solidFill>
                  <a:srgbClr val="800000"/>
                </a:solidFill>
              </a:rPr>
              <a:t>	</a:t>
            </a:r>
            <a:endParaRPr lang="ru-RU">
              <a:solidFill>
                <a:srgbClr val="000000"/>
              </a:solidFill>
            </a:endParaRPr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066800" y="990600"/>
            <a:ext cx="7696200" cy="5562600"/>
          </a:xfrm>
        </p:spPr>
        <p:txBody>
          <a:bodyPr/>
          <a:lstStyle/>
          <a:p>
            <a:pPr>
              <a:spcBef>
                <a:spcPct val="30000"/>
              </a:spcBef>
            </a:pPr>
            <a:r>
              <a:rPr lang="ru-RU" sz="3000" b="0">
                <a:solidFill>
                  <a:srgbClr val="000000"/>
                </a:solidFill>
                <a:latin typeface="Times New Roman" pitchFamily="18" charset="0"/>
              </a:rPr>
              <a:t>Каждая интерфейсная дуга должна иметь свое уникальное наименование (</a:t>
            </a:r>
            <a:r>
              <a:rPr lang="en-US" sz="3000" b="0">
                <a:solidFill>
                  <a:srgbClr val="000000"/>
                </a:solidFill>
                <a:latin typeface="Times New Roman" pitchFamily="18" charset="0"/>
              </a:rPr>
              <a:t>Arrow Label</a:t>
            </a:r>
            <a:r>
              <a:rPr lang="ru-RU" sz="3000" b="0">
                <a:solidFill>
                  <a:srgbClr val="000000"/>
                </a:solidFill>
                <a:latin typeface="Times New Roman" pitchFamily="18" charset="0"/>
              </a:rPr>
              <a:t>), </a:t>
            </a:r>
            <a:r>
              <a:rPr lang="ru-RU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должно быть выражено </a:t>
            </a:r>
            <a:r>
              <a:rPr lang="ru-RU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существительным</a:t>
            </a:r>
            <a:r>
              <a:rPr lang="ru-RU">
                <a:solidFill>
                  <a:srgbClr val="000000"/>
                </a:solidFill>
                <a:latin typeface="Times New Roman" pitchFamily="18" charset="0"/>
              </a:rPr>
              <a:t>.</a:t>
            </a:r>
            <a:r>
              <a:rPr lang="ru-RU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000" b="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  <a:p>
            <a:pPr>
              <a:spcBef>
                <a:spcPct val="30000"/>
              </a:spcBef>
            </a:pPr>
            <a:r>
              <a:rPr lang="ru-RU" sz="3000" b="0">
                <a:solidFill>
                  <a:srgbClr val="000000"/>
                </a:solidFill>
                <a:latin typeface="Times New Roman" pitchFamily="18" charset="0"/>
              </a:rPr>
              <a:t>Графическим отображением интерфейсной дуги является однонаправленная стрелка.</a:t>
            </a:r>
          </a:p>
          <a:p>
            <a:pPr>
              <a:spcBef>
                <a:spcPct val="30000"/>
              </a:spcBef>
            </a:pPr>
            <a:r>
              <a:rPr lang="ru-RU" sz="3000" b="0">
                <a:solidFill>
                  <a:srgbClr val="000000"/>
                </a:solidFill>
                <a:latin typeface="Times New Roman" pitchFamily="18" charset="0"/>
              </a:rPr>
              <a:t>В зависимости от того, к какой из сторон подходит данная интерфейсная дуга, она носит название «входящей», «исходящей» или «управляющей».</a:t>
            </a:r>
            <a:r>
              <a:rPr lang="ru-RU">
                <a:solidFill>
                  <a:srgbClr val="000000"/>
                </a:solidFill>
                <a:cs typeface="Times New Roman" pitchFamily="18" charset="0"/>
              </a:rPr>
              <a:t> </a:t>
            </a:r>
            <a:endParaRPr lang="ru-RU">
              <a:solidFill>
                <a:srgbClr val="000000"/>
              </a:solidFill>
            </a:endParaRPr>
          </a:p>
          <a:p>
            <a:pPr>
              <a:spcBef>
                <a:spcPct val="45000"/>
              </a:spcBef>
              <a:buFontTx/>
              <a:buNone/>
            </a:pPr>
            <a:endParaRPr lang="ru-RU" sz="3000" b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85725" indent="42863">
              <a:spcBef>
                <a:spcPct val="45000"/>
              </a:spcBef>
              <a:buFontTx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С помощью интерфейсных дуг отображают различные объекты, в той или иной степени определяющие процессы, происходящие в системе. </a:t>
            </a:r>
            <a:endParaRPr lang="en-US" b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5725" indent="42863">
              <a:spcBef>
                <a:spcPct val="45000"/>
              </a:spcBef>
              <a:buFontTx/>
              <a:buNone/>
            </a:pPr>
            <a:r>
              <a:rPr lang="en-US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Такими объектами могут быть элементы реального мира (детали, вагоны, сотрудники и т.д.) или потоки данных и информации (документы, данные, инструкции и т.д.). </a:t>
            </a:r>
            <a:endParaRPr lang="ru-RU" b="0">
              <a:solidFill>
                <a:srgbClr val="000000"/>
              </a:solidFill>
              <a:latin typeface="Times New Roman" pitchFamily="18" charset="0"/>
            </a:endParaRPr>
          </a:p>
          <a:p>
            <a:pPr marL="85725" indent="42863">
              <a:spcBef>
                <a:spcPct val="45000"/>
              </a:spcBef>
              <a:buFontTx/>
              <a:buNone/>
            </a:pPr>
            <a:r>
              <a:rPr lang="ru-RU" b="0">
                <a:solidFill>
                  <a:srgbClr val="000000"/>
                </a:solidFill>
                <a:latin typeface="Times New Roman" pitchFamily="18" charset="0"/>
              </a:rPr>
              <a:t>	</a:t>
            </a:r>
            <a:endParaRPr lang="ru-RU" sz="24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5725" indent="42863">
              <a:buFontTx/>
              <a:buNone/>
            </a:pPr>
            <a:endParaRPr lang="ru-RU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>
                <a:cs typeface="Times New Roman" pitchFamily="18" charset="0"/>
              </a:rPr>
              <a:t>		</a:t>
            </a:r>
            <a:endParaRPr lang="ru-RU">
              <a:solidFill>
                <a:srgbClr val="000000"/>
              </a:solidFill>
            </a:endParaRPr>
          </a:p>
          <a:p>
            <a:pPr>
              <a:buFontTx/>
              <a:buNone/>
            </a:pPr>
            <a:r>
              <a:rPr lang="ru-RU">
                <a:solidFill>
                  <a:srgbClr val="000000"/>
                </a:solidFill>
              </a:rPr>
              <a:t>		</a:t>
            </a:r>
            <a:r>
              <a:rPr lang="ru-RU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Любой функциональный блок по требованиям стандарта должен иметь по </a:t>
            </a:r>
            <a:r>
              <a:rPr lang="ru-RU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крайней мере одну</a:t>
            </a:r>
            <a:r>
              <a:rPr lang="ru-RU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управляющую интерфейсную дугу и одну исходящую, поскольку каждый процесс должен происходить по каким-то правилам, отображаемым управляющей дугой, а также должен выдавать некоторый результат (выходящая дуга).</a:t>
            </a:r>
          </a:p>
          <a:p>
            <a:pPr>
              <a:buFontTx/>
              <a:buNone/>
            </a:pPr>
            <a:endParaRPr lang="ru-RU" b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ru-RU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Типы диаграмм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9250" y="1700213"/>
            <a:ext cx="6985000" cy="4776787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ru-RU">
                <a:solidFill>
                  <a:srgbClr val="000000"/>
                </a:solidFill>
                <a:latin typeface="Arial" charset="0"/>
              </a:rPr>
              <a:t>Контекстная диаграмма 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является вершиной древовидной структуры диаграмм и представляет собой функциональный блок с интерфейсными дугами, простирающимися за пределы рассматриваемой области.</a:t>
            </a:r>
            <a:r>
              <a:rPr lang="ru-RU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b="0">
              <a:solidFill>
                <a:srgbClr val="000000"/>
              </a:solidFill>
              <a:latin typeface="Arial" charset="0"/>
            </a:endParaRPr>
          </a:p>
          <a:p>
            <a:pPr marL="609600" indent="-609600">
              <a:buFontTx/>
              <a:buNone/>
            </a:pPr>
            <a:endParaRPr lang="ru-RU" b="0">
              <a:solidFill>
                <a:srgbClr val="000000"/>
              </a:solidFill>
              <a:latin typeface="Arial" charset="0"/>
            </a:endParaRPr>
          </a:p>
          <a:p>
            <a:pPr marL="609600" indent="-609600">
              <a:buFontTx/>
              <a:buNone/>
            </a:pPr>
            <a:r>
              <a:rPr lang="ru-RU" b="0">
                <a:solidFill>
                  <a:srgbClr val="000000"/>
                </a:solidFill>
                <a:latin typeface="Arial" charset="0"/>
              </a:rPr>
              <a:t>	Диаграмма обозначается идентификатором “А0”. 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 cstate="print"/>
          <a:srcRect l="23473" t="28708" r="4657" b="18570"/>
          <a:stretch>
            <a:fillRect/>
          </a:stretch>
        </p:blipFill>
        <p:spPr bwMode="auto">
          <a:xfrm>
            <a:off x="0" y="836613"/>
            <a:ext cx="8893175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Типы диаграмм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1628775"/>
            <a:ext cx="7134225" cy="4848225"/>
          </a:xfrm>
        </p:spPr>
        <p:txBody>
          <a:bodyPr/>
          <a:lstStyle/>
          <a:p>
            <a:pPr marL="609600" indent="-609600">
              <a:buFontTx/>
              <a:buAutoNum type="arabicPeriod" startAt="2"/>
            </a:pPr>
            <a:r>
              <a:rPr lang="ru-RU">
                <a:solidFill>
                  <a:srgbClr val="000000"/>
                </a:solidFill>
                <a:latin typeface="Arial" charset="0"/>
              </a:rPr>
              <a:t>Диаграмма декомпозиции - 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после описания системы в целом проводится на другой диаграмме разбиение ее на крупные фрагменты (2-8, по умолчанию 4). </a:t>
            </a:r>
          </a:p>
          <a:p>
            <a:pPr marL="609600" indent="-609600">
              <a:buFontTx/>
              <a:buNone/>
            </a:pPr>
            <a:endParaRPr lang="ru-RU" b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2" cstate="print"/>
          <a:srcRect l="23732" t="25627" r="4410" b="22684"/>
          <a:stretch>
            <a:fillRect/>
          </a:stretch>
        </p:blipFill>
        <p:spPr bwMode="auto">
          <a:xfrm>
            <a:off x="85725" y="765175"/>
            <a:ext cx="8986838" cy="485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204" name="Picture 4"/>
          <p:cNvPicPr>
            <a:picLocks noChangeAspect="1" noChangeArrowheads="1"/>
          </p:cNvPicPr>
          <p:nvPr/>
        </p:nvPicPr>
        <p:blipFill>
          <a:blip r:embed="rId2" cstate="print"/>
          <a:srcRect l="2016" t="3209" r="1711" b="4179"/>
          <a:stretch>
            <a:fillRect/>
          </a:stretch>
        </p:blipFill>
        <p:spPr bwMode="auto">
          <a:xfrm>
            <a:off x="0" y="260350"/>
            <a:ext cx="9144000" cy="636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solidFill>
                  <a:srgbClr val="800000"/>
                </a:solidFill>
                <a:latin typeface="Tahoma" pitchFamily="34" charset="0"/>
                <a:cs typeface="Times New Roman" pitchFamily="18" charset="0"/>
              </a:rPr>
              <a:t>Понятие глоссарий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/>
              <a:t>		</a:t>
            </a:r>
            <a:r>
              <a:rPr lang="ru-RU" b="0">
                <a:solidFill>
                  <a:srgbClr val="000000"/>
                </a:solidFill>
                <a:cs typeface="Times New Roman" pitchFamily="18" charset="0"/>
              </a:rPr>
              <a:t>Для каждого из элементов IDEF0: диаграмм, функциональных блоков, интерфейсных дуг существующий стандарт</a:t>
            </a:r>
            <a:r>
              <a:rPr lang="ru-RU" b="0">
                <a:solidFill>
                  <a:srgbClr val="000000"/>
                </a:solidFill>
              </a:rPr>
              <a:t>, </a:t>
            </a:r>
            <a:r>
              <a:rPr lang="ru-RU" b="0">
                <a:solidFill>
                  <a:srgbClr val="000000"/>
                </a:solidFill>
                <a:cs typeface="Times New Roman" pitchFamily="18" charset="0"/>
              </a:rPr>
              <a:t>который подразумевает создание и поддержание набора соответствующих определений, ключевых слов, повествовательных изложений и т.д., которые характеризуют объект, отображенный данным элементом. 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Принципы ограничения сложности IDEF0-диаграмм</a:t>
            </a:r>
            <a:r>
              <a:rPr lang="ru-RU">
                <a:latin typeface="Times New Roman" pitchFamily="18" charset="0"/>
                <a:cs typeface="Times New Roman" pitchFamily="18" charset="0"/>
              </a:rPr>
              <a:t> </a:t>
            </a:r>
            <a:endParaRPr lang="ru-RU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85725" indent="42863">
              <a:buFontTx/>
              <a:buNone/>
            </a:pPr>
            <a:r>
              <a:rPr lang="ru-RU">
                <a:latin typeface="Times New Roman" pitchFamily="18" charset="0"/>
              </a:rPr>
              <a:t>	</a:t>
            </a:r>
          </a:p>
          <a:p>
            <a:pPr marL="85725" indent="42863"/>
            <a:r>
              <a:rPr lang="ru-RU" sz="320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ru-RU" sz="3200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Ограничение количества функциональных блоков на диаграмме тремя-шестью. </a:t>
            </a:r>
            <a:endParaRPr lang="ru-RU" sz="3200" b="0">
              <a:solidFill>
                <a:srgbClr val="000000"/>
              </a:solidFill>
              <a:latin typeface="Times New Roman" pitchFamily="18" charset="0"/>
            </a:endParaRPr>
          </a:p>
          <a:p>
            <a:pPr marL="85725" indent="42863"/>
            <a:endParaRPr lang="ru-RU" sz="3200" b="0">
              <a:solidFill>
                <a:srgbClr val="000000"/>
              </a:solidFill>
              <a:latin typeface="Times New Roman" pitchFamily="18" charset="0"/>
            </a:endParaRPr>
          </a:p>
          <a:p>
            <a:pPr marL="85725" indent="42863"/>
            <a:r>
              <a:rPr lang="ru-RU" sz="3200" b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ru-RU" sz="3200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Ограничение количества подходящих к одному функциональному блоку (выходящих из одного функционального блока) интерфейсных дуг четырьмя.</a:t>
            </a:r>
            <a:br>
              <a:rPr lang="ru-RU" sz="3200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3200" b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681913" cy="685800"/>
          </a:xfrm>
          <a:noFill/>
          <a:ln/>
        </p:spPr>
        <p:txBody>
          <a:bodyPr/>
          <a:lstStyle/>
          <a:p>
            <a:r>
              <a:rPr lang="ru-RU" sz="28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 IDEF0 различают пять типов стрелок: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7938" y="1663700"/>
            <a:ext cx="6926262" cy="3836988"/>
          </a:xfrm>
        </p:spPr>
        <p:txBody>
          <a:bodyPr/>
          <a:lstStyle/>
          <a:p>
            <a:pPr marL="533400" indent="-533400">
              <a:buFontTx/>
              <a:buAutoNum type="arabicPeriod"/>
            </a:pPr>
            <a:r>
              <a:rPr lang="ru-RU">
                <a:solidFill>
                  <a:srgbClr val="000000"/>
                </a:solidFill>
                <a:latin typeface="Arial" charset="0"/>
              </a:rPr>
              <a:t>Вход (Input)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 - материал или информация, которые используются или преобразуется работой для получения результата (выхода). </a:t>
            </a:r>
          </a:p>
          <a:p>
            <a:pPr marL="914400" lvl="1" indent="-457200">
              <a:buFontTx/>
              <a:buBlip>
                <a:blip r:embed="rId2"/>
              </a:buBlip>
            </a:pPr>
            <a:r>
              <a:rPr lang="ru-RU" b="0">
                <a:solidFill>
                  <a:srgbClr val="000000"/>
                </a:solidFill>
                <a:latin typeface="Arial" charset="0"/>
              </a:rPr>
              <a:t>допускается, что работа может не иметь ни одной стрелки входа </a:t>
            </a:r>
          </a:p>
          <a:p>
            <a:pPr marL="914400" lvl="1" indent="-457200">
              <a:buFontTx/>
              <a:buBlip>
                <a:blip r:embed="rId2"/>
              </a:buBlip>
            </a:pPr>
            <a:r>
              <a:rPr lang="ru-RU" b="0">
                <a:solidFill>
                  <a:srgbClr val="000000"/>
                </a:solidFill>
                <a:latin typeface="Arial" charset="0"/>
              </a:rPr>
              <a:t>стрелка входа рисуется как входящая в левую грань работы. 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 IDEF0 различают пять типов стрелок: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1484313"/>
            <a:ext cx="7667625" cy="4992687"/>
          </a:xfrm>
        </p:spPr>
        <p:txBody>
          <a:bodyPr/>
          <a:lstStyle/>
          <a:p>
            <a:pPr marL="609600" indent="-609600">
              <a:buFontTx/>
              <a:buAutoNum type="arabicPeriod" startAt="2"/>
            </a:pPr>
            <a:r>
              <a:rPr lang="ru-RU">
                <a:solidFill>
                  <a:srgbClr val="000000"/>
                </a:solidFill>
                <a:latin typeface="Arial" charset="0"/>
              </a:rPr>
              <a:t>Управление (Control)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 -</a:t>
            </a:r>
            <a:r>
              <a:rPr lang="ru-RU">
                <a:solidFill>
                  <a:srgbClr val="000000"/>
                </a:solidFill>
                <a:latin typeface="Arial" charset="0"/>
              </a:rPr>
              <a:t> 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правила, стратегии, процедуры или стандарты, которыми руководствуется работа. </a:t>
            </a:r>
          </a:p>
          <a:p>
            <a:pPr marL="609600" indent="-609600">
              <a:buFontTx/>
              <a:buBlip>
                <a:blip r:embed="rId2"/>
              </a:buBlip>
            </a:pPr>
            <a:r>
              <a:rPr lang="ru-RU" sz="2000" b="0">
                <a:solidFill>
                  <a:srgbClr val="000000"/>
                </a:solidFill>
                <a:latin typeface="Arial" charset="0"/>
              </a:rPr>
              <a:t>каждая работа должна иметь хотя бы одну стрелку управления</a:t>
            </a:r>
          </a:p>
          <a:p>
            <a:pPr marL="609600" indent="-609600">
              <a:buFontTx/>
              <a:buBlip>
                <a:blip r:embed="rId2"/>
              </a:buBlip>
            </a:pPr>
            <a:r>
              <a:rPr lang="ru-RU" sz="2000" b="0">
                <a:solidFill>
                  <a:srgbClr val="000000"/>
                </a:solidFill>
                <a:latin typeface="Arial" charset="0"/>
              </a:rPr>
              <a:t>стрелка управления рисуется как входящая в верхнюю грань работы. 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 IDEF0 различают пять типов стрелок: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8888" y="1125538"/>
            <a:ext cx="7380287" cy="5135562"/>
          </a:xfrm>
        </p:spPr>
        <p:txBody>
          <a:bodyPr/>
          <a:lstStyle/>
          <a:p>
            <a:pPr marL="609600" indent="-609600">
              <a:buFontTx/>
              <a:buAutoNum type="arabicPeriod" startAt="3"/>
            </a:pPr>
            <a:r>
              <a:rPr lang="ru-RU">
                <a:solidFill>
                  <a:srgbClr val="000000"/>
                </a:solidFill>
                <a:latin typeface="Arial" charset="0"/>
              </a:rPr>
              <a:t>Выход (Output)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 -</a:t>
            </a:r>
            <a:r>
              <a:rPr lang="ru-RU">
                <a:solidFill>
                  <a:srgbClr val="000000"/>
                </a:solidFill>
                <a:latin typeface="Arial" charset="0"/>
              </a:rPr>
              <a:t> 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материал или информация, которые производятся работой. </a:t>
            </a:r>
          </a:p>
          <a:p>
            <a:pPr marL="990600" lvl="1" indent="-533400">
              <a:buFontTx/>
              <a:buBlip>
                <a:blip r:embed="rId2"/>
              </a:buBlip>
            </a:pPr>
            <a:r>
              <a:rPr lang="ru-RU" sz="2000" b="0">
                <a:solidFill>
                  <a:srgbClr val="000000"/>
                </a:solidFill>
                <a:latin typeface="Arial" charset="0"/>
              </a:rPr>
              <a:t>каждая работа должна иметь хотя бы одну стрелку выхода</a:t>
            </a:r>
          </a:p>
          <a:p>
            <a:pPr marL="990600" lvl="1" indent="-533400">
              <a:buFontTx/>
              <a:buBlip>
                <a:blip r:embed="rId2"/>
              </a:buBlip>
            </a:pPr>
            <a:r>
              <a:rPr lang="ru-RU" sz="2000" b="0">
                <a:solidFill>
                  <a:srgbClr val="000000"/>
                </a:solidFill>
                <a:latin typeface="Arial" charset="0"/>
              </a:rPr>
              <a:t>работа без результата не имеет смысла и не должна моделироваться</a:t>
            </a:r>
          </a:p>
          <a:p>
            <a:pPr marL="990600" lvl="1" indent="-533400">
              <a:buFontTx/>
              <a:buBlip>
                <a:blip r:embed="rId2"/>
              </a:buBlip>
            </a:pPr>
            <a:r>
              <a:rPr lang="ru-RU" sz="2000" b="0">
                <a:solidFill>
                  <a:srgbClr val="000000"/>
                </a:solidFill>
                <a:latin typeface="Arial" charset="0"/>
              </a:rPr>
              <a:t>стрелка выхода рисуется как исходящая из правой грани работы. 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8888" y="1412875"/>
            <a:ext cx="7273925" cy="5064125"/>
          </a:xfrm>
        </p:spPr>
        <p:txBody>
          <a:bodyPr/>
          <a:lstStyle/>
          <a:p>
            <a:pPr marL="609600" indent="-609600">
              <a:buFontTx/>
              <a:buAutoNum type="arabicPeriod" startAt="4"/>
            </a:pPr>
            <a:r>
              <a:rPr lang="ru-RU">
                <a:solidFill>
                  <a:srgbClr val="000000"/>
                </a:solidFill>
                <a:latin typeface="Arial" charset="0"/>
              </a:rPr>
              <a:t>Механизм (Mechanism)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 -</a:t>
            </a:r>
            <a:r>
              <a:rPr lang="ru-RU">
                <a:solidFill>
                  <a:srgbClr val="000000"/>
                </a:solidFill>
                <a:latin typeface="Arial" charset="0"/>
              </a:rPr>
              <a:t> ресурсы, которые выполняют работу, например персонал предприятия, станки, устройства и т. д. </a:t>
            </a:r>
          </a:p>
          <a:p>
            <a:pPr marL="990600" lvl="1" indent="-533400">
              <a:buFontTx/>
              <a:buBlip>
                <a:blip r:embed="rId2"/>
              </a:buBlip>
            </a:pPr>
            <a:r>
              <a:rPr lang="ru-RU" b="0">
                <a:solidFill>
                  <a:srgbClr val="000000"/>
                </a:solidFill>
                <a:latin typeface="Arial" charset="0"/>
              </a:rPr>
              <a:t>Стрелка механизма рисуется как входящая в нижнюю грань работы.</a:t>
            </a:r>
            <a:r>
              <a:rPr lang="ru-RU">
                <a:solidFill>
                  <a:srgbClr val="000000"/>
                </a:solidFill>
                <a:latin typeface="Arial" charset="0"/>
              </a:rPr>
              <a:t> </a:t>
            </a:r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 IDEF0 различают пять типов стрелок: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913" y="1341438"/>
            <a:ext cx="7812087" cy="5135562"/>
          </a:xfrm>
        </p:spPr>
        <p:txBody>
          <a:bodyPr/>
          <a:lstStyle/>
          <a:p>
            <a:pPr marL="533400" indent="-533400">
              <a:buFontTx/>
              <a:buAutoNum type="arabicPeriod" startAt="5"/>
            </a:pPr>
            <a:r>
              <a:rPr lang="ru-RU">
                <a:solidFill>
                  <a:srgbClr val="000000"/>
                </a:solidFill>
                <a:latin typeface="Arial" charset="0"/>
              </a:rPr>
              <a:t>Вызов (Call)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 -</a:t>
            </a:r>
            <a:r>
              <a:rPr lang="ru-RU">
                <a:solidFill>
                  <a:srgbClr val="000000"/>
                </a:solidFill>
                <a:latin typeface="Arial" charset="0"/>
              </a:rPr>
              <a:t> специальная стрелка, указывающая на другую модель работы. </a:t>
            </a:r>
          </a:p>
          <a:p>
            <a:pPr marL="914400" lvl="1" indent="-457200">
              <a:buFontTx/>
              <a:buBlip>
                <a:blip r:embed="rId2"/>
              </a:buBlip>
            </a:pPr>
            <a:r>
              <a:rPr lang="ru-RU" sz="2000" b="0">
                <a:solidFill>
                  <a:srgbClr val="000000"/>
                </a:solidFill>
                <a:latin typeface="Arial" charset="0"/>
              </a:rPr>
              <a:t>стрелка вызова рисуется как исходящая из нижней грани работы</a:t>
            </a:r>
          </a:p>
          <a:p>
            <a:pPr marL="914400" lvl="1" indent="-457200">
              <a:buFontTx/>
              <a:buBlip>
                <a:blip r:embed="rId2"/>
              </a:buBlip>
            </a:pPr>
            <a:r>
              <a:rPr lang="ru-RU" sz="2000" b="0">
                <a:solidFill>
                  <a:srgbClr val="000000"/>
                </a:solidFill>
                <a:latin typeface="Arial" charset="0"/>
              </a:rPr>
              <a:t>стрелка вызова используется для указания того, что некоторая работа выполняется за пределами моделируемой системы.</a:t>
            </a:r>
          </a:p>
          <a:p>
            <a:pPr marL="914400" lvl="1" indent="-457200">
              <a:buFontTx/>
              <a:buBlip>
                <a:blip r:embed="rId2"/>
              </a:buBlip>
            </a:pPr>
            <a:r>
              <a:rPr lang="ru-RU" sz="2000" b="0">
                <a:solidFill>
                  <a:srgbClr val="000000"/>
                </a:solidFill>
                <a:latin typeface="Arial" charset="0"/>
              </a:rPr>
              <a:t>используются в механизме слияния и разделения моделей. 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28600"/>
            <a:ext cx="6075363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ru-RU" sz="36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Граничные стрелки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913" y="1412875"/>
            <a:ext cx="7812087" cy="5064125"/>
          </a:xfrm>
        </p:spPr>
        <p:txBody>
          <a:bodyPr/>
          <a:lstStyle/>
          <a:p>
            <a:r>
              <a:rPr lang="ru-RU" sz="2400" b="0">
                <a:solidFill>
                  <a:srgbClr val="000000"/>
                </a:solidFill>
                <a:latin typeface="Arial" charset="0"/>
              </a:rPr>
              <a:t>Стрелки на контекстной диаграмме служат для описания взаимодействия системы с окружающим миром. </a:t>
            </a:r>
          </a:p>
          <a:p>
            <a:r>
              <a:rPr lang="ru-RU" sz="2400" b="0">
                <a:solidFill>
                  <a:srgbClr val="000000"/>
                </a:solidFill>
                <a:latin typeface="Arial" charset="0"/>
              </a:rPr>
              <a:t>Они могут начинаться у границы диаграммы и заканчиваться у работы, или наоборот. Такие стрелки называются </a:t>
            </a:r>
            <a:r>
              <a:rPr lang="ru-RU" sz="2400">
                <a:solidFill>
                  <a:srgbClr val="000000"/>
                </a:solidFill>
                <a:latin typeface="Arial" charset="0"/>
              </a:rPr>
              <a:t>граничными</a:t>
            </a:r>
            <a:r>
              <a:rPr lang="ru-RU" sz="2400" b="0">
                <a:solidFill>
                  <a:srgbClr val="000000"/>
                </a:solidFill>
                <a:latin typeface="Arial" charset="0"/>
              </a:rPr>
              <a:t>. 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8388350" cy="685800"/>
          </a:xfrm>
          <a:noFill/>
          <a:ln/>
        </p:spPr>
        <p:txBody>
          <a:bodyPr/>
          <a:lstStyle/>
          <a:p>
            <a:r>
              <a:rPr lang="ru-RU" sz="2400" b="1">
                <a:solidFill>
                  <a:srgbClr val="000000"/>
                </a:solidFill>
                <a:latin typeface="Arial" charset="0"/>
              </a:rPr>
              <a:t>В IDEF0 различают пять типов взаимодействия между блоками для описания их отношений: 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79563" y="1203325"/>
            <a:ext cx="6799262" cy="4367213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ru-RU">
                <a:solidFill>
                  <a:srgbClr val="000000"/>
                </a:solidFill>
                <a:latin typeface="Arial" charset="0"/>
              </a:rPr>
              <a:t>Связь по входу (output-input)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,</a:t>
            </a:r>
            <a:r>
              <a:rPr lang="ru-RU">
                <a:solidFill>
                  <a:srgbClr val="000000"/>
                </a:solidFill>
                <a:latin typeface="Arial" charset="0"/>
              </a:rPr>
              <a:t> 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когда стрелка выхода вышестоящей работы (далее - просто выход) направляется на вход нижестоящей </a:t>
            </a:r>
          </a:p>
        </p:txBody>
      </p:sp>
      <p:pic>
        <p:nvPicPr>
          <p:cNvPr id="1382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3429000"/>
            <a:ext cx="5138738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2988" y="981075"/>
            <a:ext cx="7720012" cy="1228725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AutoNum type="arabicPeriod" startAt="2"/>
            </a:pPr>
            <a:r>
              <a:rPr lang="ru-RU" sz="2400">
                <a:solidFill>
                  <a:srgbClr val="000000"/>
                </a:solidFill>
                <a:latin typeface="Arial" charset="0"/>
              </a:rPr>
              <a:t>Связь по управлению (output-control), </a:t>
            </a:r>
            <a:r>
              <a:rPr lang="ru-RU" sz="2400" b="0">
                <a:solidFill>
                  <a:srgbClr val="000000"/>
                </a:solidFill>
                <a:latin typeface="Arial" charset="0"/>
              </a:rPr>
              <a:t>когда выход вышестоящей работы направляется на управление нижестоящей. </a:t>
            </a:r>
            <a:endParaRPr lang="en-US" sz="2400" b="0">
              <a:solidFill>
                <a:srgbClr val="000000"/>
              </a:solidFill>
              <a:latin typeface="Arial" charset="0"/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400" b="0">
                <a:solidFill>
                  <a:srgbClr val="000000"/>
                </a:solidFill>
                <a:latin typeface="Arial" charset="0"/>
              </a:rPr>
              <a:t>Связь по управлению показывает доминирование вышестоящей работы. </a:t>
            </a:r>
            <a:endParaRPr lang="en-US" sz="2400" b="0">
              <a:solidFill>
                <a:srgbClr val="000000"/>
              </a:solidFill>
              <a:latin typeface="Arial" charset="0"/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ru-RU" sz="2400" b="0">
                <a:solidFill>
                  <a:srgbClr val="000000"/>
                </a:solidFill>
                <a:latin typeface="Arial" charset="0"/>
              </a:rPr>
              <a:t>Данные или объекты выхода вышестоящей работы не меняются в нижестоящей. </a:t>
            </a:r>
          </a:p>
        </p:txBody>
      </p:sp>
      <p:pic>
        <p:nvPicPr>
          <p:cNvPr id="139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3527425"/>
            <a:ext cx="5943600" cy="333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 thruBlk="1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76375" y="1196975"/>
            <a:ext cx="7445375" cy="4746625"/>
          </a:xfrm>
        </p:spPr>
        <p:txBody>
          <a:bodyPr/>
          <a:lstStyle/>
          <a:p>
            <a:pPr marL="609600" indent="-609600">
              <a:buFontTx/>
              <a:buAutoNum type="arabicPeriod" startAt="3"/>
            </a:pPr>
            <a:r>
              <a:rPr lang="ru-RU">
                <a:solidFill>
                  <a:srgbClr val="000000"/>
                </a:solidFill>
                <a:latin typeface="Arial" charset="0"/>
              </a:rPr>
              <a:t>Обратная связь по входу (output-input feedback), </a:t>
            </a:r>
            <a:r>
              <a:rPr lang="ru-RU" b="0">
                <a:solidFill>
                  <a:srgbClr val="000000"/>
                </a:solidFill>
                <a:latin typeface="Arial" charset="0"/>
              </a:rPr>
              <a:t>когда выход нижестоящей работы направляется на вход вышестоящей.</a:t>
            </a:r>
            <a:r>
              <a:rPr lang="ru-RU">
                <a:solidFill>
                  <a:srgbClr val="000000"/>
                </a:solidFill>
                <a:latin typeface="Arial" charset="0"/>
              </a:rPr>
              <a:t> </a:t>
            </a:r>
          </a:p>
        </p:txBody>
      </p:sp>
      <p:pic>
        <p:nvPicPr>
          <p:cNvPr id="140291" name="Picture 3"/>
          <p:cNvPicPr>
            <a:picLocks noChangeAspect="1" noChangeArrowheads="1"/>
          </p:cNvPicPr>
          <p:nvPr/>
        </p:nvPicPr>
        <p:blipFill>
          <a:blip r:embed="rId2" cstate="print"/>
          <a:srcRect l="53535" t="24696" r="11205" b="52840"/>
          <a:stretch>
            <a:fillRect/>
          </a:stretch>
        </p:blipFill>
        <p:spPr bwMode="auto">
          <a:xfrm>
            <a:off x="1600200" y="3068638"/>
            <a:ext cx="7543800" cy="360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2988" y="981075"/>
            <a:ext cx="7872412" cy="1228725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AutoNum type="arabicPeriod" startAt="4"/>
            </a:pPr>
            <a:r>
              <a:rPr lang="ru-RU" sz="2400">
                <a:solidFill>
                  <a:srgbClr val="000000"/>
                </a:solidFill>
                <a:latin typeface="Arial" charset="0"/>
              </a:rPr>
              <a:t>Обратная связь по управлению (output-control feedback)</a:t>
            </a:r>
            <a:r>
              <a:rPr lang="ru-RU" sz="2400" b="0">
                <a:solidFill>
                  <a:srgbClr val="000000"/>
                </a:solidFill>
                <a:latin typeface="Arial" charset="0"/>
              </a:rPr>
              <a:t>,</a:t>
            </a:r>
            <a:r>
              <a:rPr lang="ru-RU" sz="2400">
                <a:solidFill>
                  <a:srgbClr val="000000"/>
                </a:solidFill>
                <a:latin typeface="Arial" charset="0"/>
              </a:rPr>
              <a:t> </a:t>
            </a:r>
            <a:r>
              <a:rPr lang="ru-RU" sz="2400" b="0">
                <a:solidFill>
                  <a:srgbClr val="000000"/>
                </a:solidFill>
                <a:latin typeface="Arial" charset="0"/>
              </a:rPr>
              <a:t>когда выход нижестоящей работы направляется на управление вышестоящей. Обратная связь по управлению часто свидетельствует об эффективности бизнес - процесса. </a:t>
            </a:r>
          </a:p>
        </p:txBody>
      </p:sp>
      <p:pic>
        <p:nvPicPr>
          <p:cNvPr id="141315" name="Picture 3"/>
          <p:cNvPicPr>
            <a:picLocks noChangeAspect="1" noChangeArrowheads="1"/>
          </p:cNvPicPr>
          <p:nvPr/>
        </p:nvPicPr>
        <p:blipFill>
          <a:blip r:embed="rId2" cstate="print"/>
          <a:srcRect l="45172" t="42371" r="12172" b="23862"/>
          <a:stretch>
            <a:fillRect/>
          </a:stretch>
        </p:blipFill>
        <p:spPr bwMode="auto">
          <a:xfrm>
            <a:off x="2438400" y="2997200"/>
            <a:ext cx="6172200" cy="366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16013" y="981075"/>
            <a:ext cx="7570787" cy="1533525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AutoNum type="arabicPeriod" startAt="5"/>
            </a:pPr>
            <a:r>
              <a:rPr lang="ru-RU" sz="2400">
                <a:solidFill>
                  <a:srgbClr val="000000"/>
                </a:solidFill>
                <a:latin typeface="Arial" charset="0"/>
              </a:rPr>
              <a:t>Связь выход-механизм (output-mechanism)</a:t>
            </a:r>
            <a:r>
              <a:rPr lang="ru-RU" sz="2400" b="0">
                <a:solidFill>
                  <a:srgbClr val="000000"/>
                </a:solidFill>
                <a:latin typeface="Arial" charset="0"/>
              </a:rPr>
              <a:t>,</a:t>
            </a:r>
            <a:r>
              <a:rPr lang="ru-RU" sz="2400">
                <a:solidFill>
                  <a:srgbClr val="000000"/>
                </a:solidFill>
                <a:latin typeface="Arial" charset="0"/>
              </a:rPr>
              <a:t> </a:t>
            </a:r>
            <a:r>
              <a:rPr lang="ru-RU" sz="2400" b="0">
                <a:solidFill>
                  <a:srgbClr val="000000"/>
                </a:solidFill>
                <a:latin typeface="Arial" charset="0"/>
              </a:rPr>
              <a:t>когда выход одной работы направляется на механизм другой. Эта взаимосвязь используется реже остальных и показывает, что одна работа подготавливает ресурсы, необходимые для проведения другой работы</a:t>
            </a:r>
            <a:r>
              <a:rPr lang="en-US" sz="2400" b="0">
                <a:solidFill>
                  <a:srgbClr val="000000"/>
                </a:solidFill>
                <a:latin typeface="Arial" charset="0"/>
              </a:rPr>
              <a:t>.</a:t>
            </a:r>
            <a:r>
              <a:rPr lang="ru-RU" sz="2400" b="0">
                <a:solidFill>
                  <a:srgbClr val="000000"/>
                </a:solidFill>
                <a:latin typeface="Arial" charset="0"/>
              </a:rPr>
              <a:t> </a:t>
            </a:r>
          </a:p>
        </p:txBody>
      </p:sp>
      <p:pic>
        <p:nvPicPr>
          <p:cNvPr id="142339" name="Picture 3"/>
          <p:cNvPicPr>
            <a:picLocks noChangeAspect="1" noChangeArrowheads="1"/>
          </p:cNvPicPr>
          <p:nvPr/>
        </p:nvPicPr>
        <p:blipFill>
          <a:blip r:embed="rId2" cstate="print"/>
          <a:srcRect l="33464" t="46829" r="41440" b="33099"/>
          <a:stretch>
            <a:fillRect/>
          </a:stretch>
        </p:blipFill>
        <p:spPr bwMode="auto">
          <a:xfrm>
            <a:off x="2971800" y="3644900"/>
            <a:ext cx="5138738" cy="308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ru-RU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Разветвляющиеся и сливающиеся стрелки 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8888" y="990600"/>
            <a:ext cx="7416800" cy="24669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sz="2400" b="0">
                <a:solidFill>
                  <a:srgbClr val="000000"/>
                </a:solidFill>
                <a:latin typeface="Arial" charset="0"/>
              </a:rPr>
              <a:t>    Если стрелка именована до разветвления, а после разветвления ни одна из ветвей не именована, то подразумевается, что каждая ветвь моделирует те же данные или объекты, что и ветвь до разветвления </a:t>
            </a:r>
          </a:p>
          <a:p>
            <a:pPr>
              <a:lnSpc>
                <a:spcPct val="90000"/>
              </a:lnSpc>
            </a:pPr>
            <a:endParaRPr lang="ru-RU" sz="2400" b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144388" name="Picture 4"/>
          <p:cNvPicPr>
            <a:picLocks noChangeAspect="1" noChangeArrowheads="1"/>
          </p:cNvPicPr>
          <p:nvPr/>
        </p:nvPicPr>
        <p:blipFill>
          <a:blip r:embed="rId2" cstate="print"/>
          <a:srcRect l="45172" t="35861" r="27223" b="33887"/>
          <a:stretch>
            <a:fillRect/>
          </a:stretch>
        </p:blipFill>
        <p:spPr bwMode="auto">
          <a:xfrm>
            <a:off x="4114800" y="2722563"/>
            <a:ext cx="5029200" cy="413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Разветвляющиеся и сливающиеся стрелки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685800"/>
            <a:ext cx="3124200" cy="5943600"/>
          </a:xfrm>
        </p:spPr>
        <p:txBody>
          <a:bodyPr/>
          <a:lstStyle/>
          <a:p>
            <a:pPr>
              <a:buFontTx/>
              <a:buNone/>
            </a:pPr>
            <a:r>
              <a:rPr lang="ru-RU" sz="2400" b="0">
                <a:solidFill>
                  <a:srgbClr val="000000"/>
                </a:solidFill>
                <a:latin typeface="Arial" charset="0"/>
              </a:rPr>
              <a:t>   Если какая-либо ветвь после разветвления осталась неименованной, то подразумевается, что она моделирует те же данные или объекты, что и ветвь до разветвления </a:t>
            </a:r>
          </a:p>
        </p:txBody>
      </p:sp>
      <p:pic>
        <p:nvPicPr>
          <p:cNvPr id="145412" name="Picture 4"/>
          <p:cNvPicPr>
            <a:picLocks noChangeAspect="1" noChangeArrowheads="1"/>
          </p:cNvPicPr>
          <p:nvPr/>
        </p:nvPicPr>
        <p:blipFill>
          <a:blip r:embed="rId2" cstate="print"/>
          <a:srcRect l="45172" t="35683" r="13844" b="22748"/>
          <a:stretch>
            <a:fillRect/>
          </a:stretch>
        </p:blipFill>
        <p:spPr bwMode="auto">
          <a:xfrm>
            <a:off x="3505200" y="1143000"/>
            <a:ext cx="5638800" cy="429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4343400" cy="5715000"/>
          </a:xfrm>
        </p:spPr>
        <p:txBody>
          <a:bodyPr/>
          <a:lstStyle/>
          <a:p>
            <a:pPr>
              <a:lnSpc>
                <a:spcPct val="80000"/>
              </a:lnSpc>
              <a:buClr>
                <a:srgbClr val="A50021"/>
              </a:buClr>
              <a:buSzPct val="115000"/>
              <a:buFont typeface="Wingdings" pitchFamily="2" charset="2"/>
              <a:buChar char="§"/>
            </a:pPr>
            <a:r>
              <a:rPr lang="ru-RU" b="0">
                <a:solidFill>
                  <a:srgbClr val="000000"/>
                </a:solidFill>
                <a:latin typeface="Times New Roman" pitchFamily="18" charset="0"/>
              </a:rPr>
              <a:t>Недопустима ситуация, когда стрелка до разветвления не именована, а после разветвления не именована какая-либо из ветвей. </a:t>
            </a:r>
          </a:p>
          <a:p>
            <a:pPr>
              <a:lnSpc>
                <a:spcPct val="80000"/>
              </a:lnSpc>
              <a:buClr>
                <a:srgbClr val="A50021"/>
              </a:buClr>
              <a:buSzPct val="115000"/>
              <a:buFont typeface="Wingdings" pitchFamily="2" charset="2"/>
              <a:buChar char="§"/>
            </a:pPr>
            <a:r>
              <a:rPr lang="ru-RU" b="0">
                <a:solidFill>
                  <a:srgbClr val="000000"/>
                </a:solidFill>
                <a:latin typeface="Times New Roman" pitchFamily="18" charset="0"/>
              </a:rPr>
              <a:t>Ошибкой будет считаться стрелка, которая после слияния не именована, а до слияния не именована какая-либо из ее ветвей. </a:t>
            </a:r>
          </a:p>
        </p:txBody>
      </p:sp>
      <p:pic>
        <p:nvPicPr>
          <p:cNvPr id="146436" name="Picture 4"/>
          <p:cNvPicPr>
            <a:picLocks noChangeAspect="1" noChangeArrowheads="1"/>
          </p:cNvPicPr>
          <p:nvPr/>
        </p:nvPicPr>
        <p:blipFill>
          <a:blip r:embed="rId2" cstate="print"/>
          <a:srcRect l="45172" t="35683" r="27223" b="35329"/>
          <a:stretch>
            <a:fillRect/>
          </a:stretch>
        </p:blipFill>
        <p:spPr bwMode="auto">
          <a:xfrm>
            <a:off x="4648200" y="1752600"/>
            <a:ext cx="4495800" cy="3541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6437" name="Text Box 5"/>
          <p:cNvSpPr txBox="1">
            <a:spLocks noChangeArrowheads="1"/>
          </p:cNvSpPr>
          <p:nvPr/>
        </p:nvSpPr>
        <p:spPr bwMode="auto">
          <a:xfrm>
            <a:off x="4724400" y="46482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>
                <a:solidFill>
                  <a:srgbClr val="FF0000"/>
                </a:solidFill>
              </a:rPr>
              <a:t>Неверно!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800000"/>
                </a:solidFill>
              </a:rPr>
              <a:t>Количественный анализ диаграмм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696200" cy="5257800"/>
          </a:xfrm>
        </p:spPr>
        <p:txBody>
          <a:bodyPr/>
          <a:lstStyle/>
          <a:p>
            <a:r>
              <a:rPr lang="ru-RU" b="0">
                <a:solidFill>
                  <a:srgbClr val="000000"/>
                </a:solidFill>
                <a:latin typeface="Times New Roman" pitchFamily="18" charset="0"/>
              </a:rPr>
              <a:t>Количество блоков на диаграммах нижних уровней должно быть ниже количества диаграмм на родительских, т.е. По мере декомпозиции модели должны упрощаться.</a:t>
            </a:r>
          </a:p>
          <a:p>
            <a:r>
              <a:rPr lang="ru-RU" b="0">
                <a:solidFill>
                  <a:srgbClr val="000000"/>
                </a:solidFill>
                <a:latin typeface="Times New Roman" pitchFamily="18" charset="0"/>
              </a:rPr>
              <a:t>Диаграммы должны быть сбалансированы, количество входящих стрелок и стрелок управления у различных блоков должно быть примерно одинаковым.</a:t>
            </a:r>
          </a:p>
        </p:txBody>
      </p:sp>
      <p:grpSp>
        <p:nvGrpSpPr>
          <p:cNvPr id="216068" name="Group 4"/>
          <p:cNvGrpSpPr>
            <a:grpSpLocks/>
          </p:cNvGrpSpPr>
          <p:nvPr/>
        </p:nvGrpSpPr>
        <p:grpSpPr bwMode="auto">
          <a:xfrm>
            <a:off x="1524000" y="4572000"/>
            <a:ext cx="6515100" cy="2057400"/>
            <a:chOff x="1161" y="2214"/>
            <a:chExt cx="10260" cy="3240"/>
          </a:xfrm>
        </p:grpSpPr>
        <p:sp>
          <p:nvSpPr>
            <p:cNvPr id="216069" name="AutoShape 5"/>
            <p:cNvSpPr>
              <a:spLocks noChangeArrowheads="1"/>
            </p:cNvSpPr>
            <p:nvPr/>
          </p:nvSpPr>
          <p:spPr bwMode="auto">
            <a:xfrm>
              <a:off x="2241" y="2934"/>
              <a:ext cx="2160" cy="1080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70" name="AutoShape 6"/>
            <p:cNvSpPr>
              <a:spLocks noChangeArrowheads="1"/>
            </p:cNvSpPr>
            <p:nvPr/>
          </p:nvSpPr>
          <p:spPr bwMode="auto">
            <a:xfrm>
              <a:off x="5301" y="3654"/>
              <a:ext cx="2160" cy="1080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71" name="Line 7"/>
            <p:cNvSpPr>
              <a:spLocks noChangeShapeType="1"/>
            </p:cNvSpPr>
            <p:nvPr/>
          </p:nvSpPr>
          <p:spPr bwMode="auto">
            <a:xfrm>
              <a:off x="1161" y="311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72" name="Line 8"/>
            <p:cNvSpPr>
              <a:spLocks noChangeShapeType="1"/>
            </p:cNvSpPr>
            <p:nvPr/>
          </p:nvSpPr>
          <p:spPr bwMode="auto">
            <a:xfrm>
              <a:off x="1161" y="329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73" name="Line 9"/>
            <p:cNvSpPr>
              <a:spLocks noChangeShapeType="1"/>
            </p:cNvSpPr>
            <p:nvPr/>
          </p:nvSpPr>
          <p:spPr bwMode="auto">
            <a:xfrm>
              <a:off x="1161" y="347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74" name="Line 10"/>
            <p:cNvSpPr>
              <a:spLocks noChangeShapeType="1"/>
            </p:cNvSpPr>
            <p:nvPr/>
          </p:nvSpPr>
          <p:spPr bwMode="auto">
            <a:xfrm>
              <a:off x="1161" y="365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75" name="Line 11"/>
            <p:cNvSpPr>
              <a:spLocks noChangeShapeType="1"/>
            </p:cNvSpPr>
            <p:nvPr/>
          </p:nvSpPr>
          <p:spPr bwMode="auto">
            <a:xfrm>
              <a:off x="2601" y="221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76" name="Line 12"/>
            <p:cNvSpPr>
              <a:spLocks noChangeShapeType="1"/>
            </p:cNvSpPr>
            <p:nvPr/>
          </p:nvSpPr>
          <p:spPr bwMode="auto">
            <a:xfrm>
              <a:off x="2781" y="221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77" name="Line 13"/>
            <p:cNvSpPr>
              <a:spLocks noChangeShapeType="1"/>
            </p:cNvSpPr>
            <p:nvPr/>
          </p:nvSpPr>
          <p:spPr bwMode="auto">
            <a:xfrm>
              <a:off x="2961" y="221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78" name="Line 14"/>
            <p:cNvSpPr>
              <a:spLocks noChangeShapeType="1"/>
            </p:cNvSpPr>
            <p:nvPr/>
          </p:nvSpPr>
          <p:spPr bwMode="auto">
            <a:xfrm>
              <a:off x="3141" y="221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79" name="Line 15"/>
            <p:cNvSpPr>
              <a:spLocks noChangeShapeType="1"/>
            </p:cNvSpPr>
            <p:nvPr/>
          </p:nvSpPr>
          <p:spPr bwMode="auto">
            <a:xfrm>
              <a:off x="4401" y="3834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80" name="Line 16"/>
            <p:cNvSpPr>
              <a:spLocks noChangeShapeType="1"/>
            </p:cNvSpPr>
            <p:nvPr/>
          </p:nvSpPr>
          <p:spPr bwMode="auto">
            <a:xfrm>
              <a:off x="6201" y="293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81" name="AutoShape 17"/>
            <p:cNvSpPr>
              <a:spLocks noChangeArrowheads="1"/>
            </p:cNvSpPr>
            <p:nvPr/>
          </p:nvSpPr>
          <p:spPr bwMode="auto">
            <a:xfrm>
              <a:off x="8181" y="4374"/>
              <a:ext cx="2160" cy="1080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82" name="Line 18"/>
            <p:cNvSpPr>
              <a:spLocks noChangeShapeType="1"/>
            </p:cNvSpPr>
            <p:nvPr/>
          </p:nvSpPr>
          <p:spPr bwMode="auto">
            <a:xfrm>
              <a:off x="7461" y="455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83" name="Line 19"/>
            <p:cNvSpPr>
              <a:spLocks noChangeShapeType="1"/>
            </p:cNvSpPr>
            <p:nvPr/>
          </p:nvSpPr>
          <p:spPr bwMode="auto">
            <a:xfrm>
              <a:off x="8901" y="365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84" name="Line 20"/>
            <p:cNvSpPr>
              <a:spLocks noChangeShapeType="1"/>
            </p:cNvSpPr>
            <p:nvPr/>
          </p:nvSpPr>
          <p:spPr bwMode="auto">
            <a:xfrm>
              <a:off x="10341" y="455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85" name="Line 21"/>
            <p:cNvSpPr>
              <a:spLocks noChangeShapeType="1"/>
            </p:cNvSpPr>
            <p:nvPr/>
          </p:nvSpPr>
          <p:spPr bwMode="auto">
            <a:xfrm>
              <a:off x="10341" y="473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86" name="Line 22"/>
            <p:cNvSpPr>
              <a:spLocks noChangeShapeType="1"/>
            </p:cNvSpPr>
            <p:nvPr/>
          </p:nvSpPr>
          <p:spPr bwMode="auto">
            <a:xfrm>
              <a:off x="10341" y="491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6087" name="Line 23"/>
            <p:cNvSpPr>
              <a:spLocks noChangeShapeType="1"/>
            </p:cNvSpPr>
            <p:nvPr/>
          </p:nvSpPr>
          <p:spPr bwMode="auto">
            <a:xfrm>
              <a:off x="10341" y="509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16088" name="Text Box 24"/>
          <p:cNvSpPr txBox="1">
            <a:spLocks noChangeArrowheads="1"/>
          </p:cNvSpPr>
          <p:nvPr/>
        </p:nvSpPr>
        <p:spPr bwMode="auto">
          <a:xfrm>
            <a:off x="2057400" y="61722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>
                <a:solidFill>
                  <a:srgbClr val="FF0000"/>
                </a:solidFill>
              </a:rPr>
              <a:t>Ошибка!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229" name="Picture 5"/>
          <p:cNvPicPr>
            <a:picLocks noChangeAspect="1" noChangeArrowheads="1"/>
          </p:cNvPicPr>
          <p:nvPr/>
        </p:nvPicPr>
        <p:blipFill>
          <a:blip r:embed="rId2" cstate="print"/>
          <a:srcRect t="22440" r="83968" b="50000"/>
          <a:stretch>
            <a:fillRect/>
          </a:stretch>
        </p:blipFill>
        <p:spPr bwMode="auto">
          <a:xfrm>
            <a:off x="2339975" y="1052513"/>
            <a:ext cx="4021138" cy="51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fade thruBlk="1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04800"/>
            <a:ext cx="7696200" cy="5257800"/>
          </a:xfrm>
        </p:spPr>
        <p:txBody>
          <a:bodyPr/>
          <a:lstStyle/>
          <a:p>
            <a:r>
              <a:rPr lang="ru-RU">
                <a:solidFill>
                  <a:srgbClr val="000000"/>
                </a:solidFill>
                <a:latin typeface="Arial Unicode MS" pitchFamily="34" charset="-128"/>
              </a:rPr>
              <a:t>IDEF1 – методология моделирования информационных потоков внутри системы, позволяющая отображать и анализировать их структуру и взаимосвязи; </a:t>
            </a:r>
          </a:p>
        </p:txBody>
      </p:sp>
      <p:grpSp>
        <p:nvGrpSpPr>
          <p:cNvPr id="192520" name="Group 8"/>
          <p:cNvGrpSpPr>
            <a:grpSpLocks/>
          </p:cNvGrpSpPr>
          <p:nvPr/>
        </p:nvGrpSpPr>
        <p:grpSpPr bwMode="auto">
          <a:xfrm>
            <a:off x="2892425" y="2259013"/>
            <a:ext cx="2146300" cy="193675"/>
            <a:chOff x="0" y="-50"/>
            <a:chExt cx="1352" cy="122"/>
          </a:xfrm>
        </p:grpSpPr>
        <p:sp>
          <p:nvSpPr>
            <p:cNvPr id="192516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1152" cy="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ru-RU"/>
            </a:p>
          </p:txBody>
        </p:sp>
        <p:sp>
          <p:nvSpPr>
            <p:cNvPr id="192519" name="Rectangle 7"/>
            <p:cNvSpPr>
              <a:spLocks noChangeArrowheads="1"/>
            </p:cNvSpPr>
            <p:nvPr/>
          </p:nvSpPr>
          <p:spPr bwMode="auto">
            <a:xfrm>
              <a:off x="0" y="-50"/>
              <a:ext cx="1352" cy="122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ru-RU"/>
            </a:p>
          </p:txBody>
        </p:sp>
      </p:grpSp>
      <p:pic>
        <p:nvPicPr>
          <p:cNvPr id="192518" name="Picture 6" descr="Картинка 8 из 12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38300" y="2718445"/>
            <a:ext cx="5486400" cy="410527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 thruBlk="1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7696200" cy="3352800"/>
          </a:xfrm>
        </p:spPr>
        <p:txBody>
          <a:bodyPr/>
          <a:lstStyle/>
          <a:p>
            <a:r>
              <a:rPr lang="ru-RU">
                <a:solidFill>
                  <a:srgbClr val="000000"/>
                </a:solidFill>
                <a:latin typeface="Arial Unicode MS" pitchFamily="34" charset="-128"/>
              </a:rPr>
              <a:t>IDEF2 –динамическое моделирование развития систем. </a:t>
            </a:r>
          </a:p>
          <a:p>
            <a:pPr>
              <a:buFontTx/>
              <a:buNone/>
            </a:pPr>
            <a:r>
              <a:rPr lang="ru-RU">
                <a:solidFill>
                  <a:srgbClr val="000000"/>
                </a:solidFill>
                <a:latin typeface="Arial Unicode MS" pitchFamily="34" charset="-128"/>
              </a:rPr>
              <a:t>		В связи с весьма серьезными сложностями анализа динамических систем от этого стандарта практически отказались, и его развитие приостановилось на самом начальном этапе. </a:t>
            </a:r>
          </a:p>
          <a:p>
            <a:pPr>
              <a:buFontTx/>
              <a:buNone/>
            </a:pPr>
            <a:endParaRPr lang="ru-RU">
              <a:latin typeface="Arial Unicode MS" pitchFamily="34" charset="-128"/>
            </a:endParaRPr>
          </a:p>
        </p:txBody>
      </p:sp>
      <p:pic>
        <p:nvPicPr>
          <p:cNvPr id="193540" name="Picture 4" descr="C:\WINDOWS\Рабочий стол\13_04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3352800"/>
            <a:ext cx="5680075" cy="337185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 thruBlk="1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04800"/>
            <a:ext cx="7696200" cy="5257800"/>
          </a:xfrm>
        </p:spPr>
        <p:txBody>
          <a:bodyPr/>
          <a:lstStyle/>
          <a:p>
            <a:r>
              <a:rPr lang="ru-RU">
                <a:solidFill>
                  <a:srgbClr val="000000"/>
                </a:solidFill>
                <a:latin typeface="Arial Unicode MS" pitchFamily="34" charset="-128"/>
              </a:rPr>
              <a:t>IDEF3 – методология документирования процессов, происходящих в системе, которая используется при исследовании технологических процессов на предприятиях. </a:t>
            </a:r>
            <a:endParaRPr lang="ru-RU"/>
          </a:p>
        </p:txBody>
      </p:sp>
      <p:pic>
        <p:nvPicPr>
          <p:cNvPr id="194571" name="Picture 11" descr="Картинка 10 из 66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2667000"/>
            <a:ext cx="5638800" cy="395922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 thruBlk="1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CC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457200"/>
            <a:ext cx="7696200" cy="5257800"/>
          </a:xfrm>
        </p:spPr>
        <p:txBody>
          <a:bodyPr/>
          <a:lstStyle/>
          <a:p>
            <a:pPr marL="533400" indent="-533400"/>
            <a:r>
              <a:rPr lang="ru-RU">
                <a:solidFill>
                  <a:srgbClr val="000000"/>
                </a:solidFill>
                <a:latin typeface="Arial Unicode MS" pitchFamily="34" charset="-128"/>
              </a:rPr>
              <a:t>IDEF4 – методология построения объектно-ориентированных систем (методология описания различных объектов в компании и действий над ними</a:t>
            </a:r>
            <a:r>
              <a:rPr lang="ru-RU" b="0">
                <a:solidFill>
                  <a:srgbClr val="000000"/>
                </a:solidFill>
                <a:latin typeface="Arial Unicode MS" pitchFamily="34" charset="-128"/>
              </a:rPr>
              <a:t>)</a:t>
            </a:r>
            <a:r>
              <a:rPr lang="ru-RU">
                <a:solidFill>
                  <a:srgbClr val="000000"/>
                </a:solidFill>
                <a:latin typeface="Arial Unicode MS" pitchFamily="34" charset="-128"/>
              </a:rPr>
              <a:t>. </a:t>
            </a:r>
            <a:endParaRPr lang="ru-RU">
              <a:latin typeface="Arial Unicode MS" pitchFamily="34" charset="-128"/>
            </a:endParaRPr>
          </a:p>
          <a:p>
            <a:pPr marL="533400" indent="-533400">
              <a:buFontTx/>
              <a:buNone/>
            </a:pPr>
            <a:endParaRPr lang="ru-RU"/>
          </a:p>
          <a:p>
            <a:pPr marL="533400" indent="-533400"/>
            <a:endParaRPr lang="ru-RU"/>
          </a:p>
        </p:txBody>
      </p:sp>
      <p:graphicFrame>
        <p:nvGraphicFramePr>
          <p:cNvPr id="217088" name="Object 0"/>
          <p:cNvGraphicFramePr>
            <a:graphicFrameLocks noChangeAspect="1"/>
          </p:cNvGraphicFramePr>
          <p:nvPr/>
        </p:nvGraphicFramePr>
        <p:xfrm>
          <a:off x="2057400" y="2895600"/>
          <a:ext cx="5010150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97" name="Точечный рисунок" r:id="rId3" imgW="5009524" imgH="3134162" progId="PBrush">
                  <p:embed/>
                </p:oleObj>
              </mc:Choice>
              <mc:Fallback>
                <p:oleObj name="Точечный рисунок" r:id="rId3" imgW="5009524" imgH="3134162" progId="PBrush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895600"/>
                        <a:ext cx="5010150" cy="313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 thruBlk="1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8458200" cy="129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sz="2400">
                <a:solidFill>
                  <a:srgbClr val="000000"/>
                </a:solidFill>
                <a:latin typeface="Arial Unicode MS" pitchFamily="34" charset="-128"/>
              </a:rPr>
              <a:t>IDEF5 – методология онтологического исследования сложных систем.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400">
                <a:solidFill>
                  <a:srgbClr val="000000"/>
                </a:solidFill>
                <a:latin typeface="Arial Unicode MS" pitchFamily="34" charset="-128"/>
              </a:rPr>
              <a:t>		</a:t>
            </a:r>
            <a:r>
              <a:rPr lang="ru-RU" sz="2400" b="0">
                <a:solidFill>
                  <a:srgbClr val="000000"/>
                </a:solidFill>
                <a:latin typeface="Arial Unicode MS" pitchFamily="34" charset="-128"/>
              </a:rPr>
              <a:t>О</a:t>
            </a:r>
            <a:r>
              <a:rPr lang="ru-RU" sz="2400" b="0">
                <a:solidFill>
                  <a:srgbClr val="000000"/>
                </a:solidFill>
                <a:latin typeface="Verdana" pitchFamily="34" charset="0"/>
              </a:rPr>
              <a:t>нтология – раздел философии, который изучает устройство реального мира.</a:t>
            </a:r>
            <a:r>
              <a:rPr lang="ru-RU" sz="2400" b="0">
                <a:latin typeface="Verdana" pitchFamily="34" charset="0"/>
              </a:rPr>
              <a:t> </a:t>
            </a:r>
            <a:endParaRPr lang="en-US" sz="2400" b="0">
              <a:latin typeface="Arial Unicode MS" pitchFamily="34" charset="-128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ru-RU" sz="2400" b="0">
              <a:latin typeface="Arial Unicode MS" pitchFamily="34" charset="-128"/>
            </a:endParaRPr>
          </a:p>
        </p:txBody>
      </p:sp>
      <p:pic>
        <p:nvPicPr>
          <p:cNvPr id="196614" name="Picture 6" descr="Картинка 3 из 9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1828800"/>
            <a:ext cx="4332288" cy="480060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 thruBlk="1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476672"/>
            <a:ext cx="8424936" cy="685800"/>
          </a:xfrm>
        </p:spPr>
        <p:txBody>
          <a:bodyPr/>
          <a:lstStyle/>
          <a:p>
            <a:pPr eaLnBrk="1" hangingPunct="1">
              <a:defRPr/>
            </a:pPr>
            <a:r>
              <a:rPr lang="ru-RU" sz="4000" b="0" i="1" dirty="0" smtClean="0"/>
              <a:t>Диаграммы потоков данных </a:t>
            </a:r>
            <a:r>
              <a:rPr lang="en-US" sz="4000" b="0" i="1" dirty="0" err="1" smtClean="0"/>
              <a:t>DFD</a:t>
            </a:r>
            <a:r>
              <a:rPr lang="ru-RU" sz="4000" b="0" i="1" dirty="0" smtClean="0"/>
              <a:t> (</a:t>
            </a:r>
            <a:r>
              <a:rPr lang="en-US" sz="4000" b="0" i="1" dirty="0" smtClean="0"/>
              <a:t>Data Flow Diagrams</a:t>
            </a:r>
            <a:r>
              <a:rPr lang="ru-RU" sz="4000" b="0" i="1" dirty="0" smtClean="0"/>
              <a:t>)</a:t>
            </a:r>
            <a:br>
              <a:rPr lang="ru-RU" sz="4000" b="0" i="1" dirty="0" smtClean="0"/>
            </a:br>
            <a:endParaRPr lang="ru-RU" sz="4000" b="0" i="1" dirty="0" smtClean="0"/>
          </a:p>
        </p:txBody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84784"/>
            <a:ext cx="9144000" cy="5112866"/>
          </a:xfrm>
          <a:solidFill>
            <a:schemeClr val="tx2"/>
          </a:solidFill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ru-RU" i="1" dirty="0" smtClean="0"/>
              <a:t>   Диаграммы потоков данных </a:t>
            </a:r>
            <a:r>
              <a:rPr lang="ru-RU" dirty="0" smtClean="0"/>
              <a:t>(</a:t>
            </a:r>
            <a:r>
              <a:rPr lang="en-US" dirty="0" err="1" smtClean="0"/>
              <a:t>DFD</a:t>
            </a:r>
            <a:r>
              <a:rPr lang="ru-RU" dirty="0" smtClean="0"/>
              <a:t>) являются средством моделирования функциональных требований к проектируемой системе.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ru-RU" dirty="0" smtClean="0"/>
              <a:t> С их помощью эти требования представляются в виде иерархии функциональных компонентов (процессов), связанных потоками данных.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ru-RU" dirty="0" smtClean="0"/>
              <a:t>Главная цель такого представления — продемонстрировать, как каждый процесс преобразует свои входные данные в выходные, а также выявить отношения между этими процессами. </a:t>
            </a:r>
          </a:p>
        </p:txBody>
      </p:sp>
    </p:spTree>
    <p:extLst>
      <p:ext uri="{BB962C8B-B14F-4D97-AF65-F5344CB8AC3E}">
        <p14:creationId xmlns:p14="http://schemas.microsoft.com/office/powerpoint/2010/main" val="396713716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52400"/>
            <a:ext cx="8424936" cy="685800"/>
          </a:xfrm>
        </p:spPr>
        <p:txBody>
          <a:bodyPr/>
          <a:lstStyle/>
          <a:p>
            <a:pPr algn="ctr" eaLnBrk="1" hangingPunct="1">
              <a:defRPr/>
            </a:pPr>
            <a:r>
              <a:rPr lang="ru-RU" sz="2400" dirty="0" smtClean="0"/>
              <a:t>Основные компоненты диаграмм потоков данных:</a:t>
            </a:r>
            <a:r>
              <a:rPr lang="ru-RU" sz="2400" i="1" dirty="0" smtClean="0"/>
              <a:t/>
            </a:r>
            <a:br>
              <a:rPr lang="ru-RU" sz="2400" i="1" dirty="0" smtClean="0"/>
            </a:br>
            <a:endParaRPr lang="ru-RU" sz="2400" i="1" dirty="0" smtClean="0"/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52736"/>
            <a:ext cx="9144000" cy="5544914"/>
          </a:xfrm>
          <a:solidFill>
            <a:schemeClr val="tx2"/>
          </a:solidFill>
        </p:spPr>
        <p:txBody>
          <a:bodyPr/>
          <a:lstStyle/>
          <a:p>
            <a:pPr eaLnBrk="1" hangingPunct="1">
              <a:defRPr/>
            </a:pPr>
            <a:r>
              <a:rPr lang="ru-RU" sz="1800" i="1" dirty="0" smtClean="0"/>
              <a:t>Внешняя сущность</a:t>
            </a:r>
            <a:r>
              <a:rPr lang="ru-RU" i="1" dirty="0" smtClean="0"/>
              <a:t>. </a:t>
            </a:r>
            <a:r>
              <a:rPr lang="ru-RU" sz="1800" dirty="0" smtClean="0"/>
              <a:t>Материальный объект или физическое лицо, представляющие собой источник или приемник информации. Определение некоторого объекта или системы в качестве внешней сущности указывает на то, что они находятся за пределами границ анализируемой системы. Внешняя сущность обозначается квадратом бросающим на диаграмму тень.</a:t>
            </a:r>
          </a:p>
          <a:p>
            <a:pPr eaLnBrk="1" hangingPunct="1">
              <a:defRPr/>
            </a:pPr>
            <a:endParaRPr lang="ru-RU" sz="1800" dirty="0" smtClean="0"/>
          </a:p>
          <a:p>
            <a:pPr eaLnBrk="1" hangingPunct="1">
              <a:defRPr/>
            </a:pPr>
            <a:endParaRPr lang="ru-RU" sz="1800" dirty="0" smtClean="0"/>
          </a:p>
          <a:p>
            <a:pPr eaLnBrk="1" hangingPunct="1">
              <a:defRPr/>
            </a:pPr>
            <a:r>
              <a:rPr lang="ru-RU" sz="1800" i="1" dirty="0" smtClean="0"/>
              <a:t>Процесс </a:t>
            </a:r>
            <a:r>
              <a:rPr lang="ru-RU" sz="1800" dirty="0" smtClean="0"/>
              <a:t>представляет собой преобразование входных потоков данных в выходные в соответствии с определенным алгоритмом. Процесс изображается в виде квадрата со сглаженными углами разделенного на 3 сектора: поле номера, поле имени, поле физической реализации. </a:t>
            </a:r>
          </a:p>
          <a:p>
            <a:pPr eaLnBrk="1" hangingPunct="1">
              <a:defRPr/>
            </a:pPr>
            <a:endParaRPr lang="ru-RU" sz="1800" dirty="0" smtClean="0"/>
          </a:p>
        </p:txBody>
      </p:sp>
      <p:pic>
        <p:nvPicPr>
          <p:cNvPr id="5530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75" y="2659021"/>
            <a:ext cx="17716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4869160"/>
            <a:ext cx="379095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912620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ru-RU" smtClean="0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246856"/>
            <a:ext cx="8435975" cy="6494512"/>
          </a:xfrm>
          <a:solidFill>
            <a:schemeClr val="tx2"/>
          </a:solidFill>
        </p:spPr>
        <p:txBody>
          <a:bodyPr/>
          <a:lstStyle/>
          <a:p>
            <a:pPr eaLnBrk="1" hangingPunct="1">
              <a:defRPr/>
            </a:pPr>
            <a:r>
              <a:rPr lang="ru-RU" sz="2000" i="1" dirty="0" smtClean="0"/>
              <a:t>Накопитель данных — </a:t>
            </a:r>
            <a:r>
              <a:rPr lang="ru-RU" sz="2000" dirty="0" smtClean="0"/>
              <a:t>это абстрактное устройство для хранения информации, которую можно в любой момент поместить в накопитель и через некоторое время извлечь, причем способы помещения и извлечения могут быть любыми. </a:t>
            </a:r>
          </a:p>
          <a:p>
            <a:pPr eaLnBrk="1" hangingPunct="1">
              <a:defRPr/>
            </a:pPr>
            <a:endParaRPr lang="ru-RU" sz="2000" dirty="0" smtClean="0"/>
          </a:p>
          <a:p>
            <a:pPr eaLnBrk="1" hangingPunct="1">
              <a:defRPr/>
            </a:pPr>
            <a:r>
              <a:rPr lang="ru-RU" sz="2000" i="1" dirty="0" smtClean="0"/>
              <a:t>Поток данных </a:t>
            </a:r>
            <a:r>
              <a:rPr lang="ru-RU" sz="2000" dirty="0" smtClean="0"/>
              <a:t>определяет информацию, передаваемую через не­которое соединение от источника к приемнику. Поток данных на диаграмме изображается линией, оканчиваю­щейся стрелкой, которая показывает направление потока. Каждый поток данных имеет имя, отражающее его содержание.</a:t>
            </a:r>
          </a:p>
          <a:p>
            <a:pPr eaLnBrk="1" hangingPunct="1">
              <a:defRPr/>
            </a:pPr>
            <a:endParaRPr lang="ru-RU" sz="2000" dirty="0" smtClean="0"/>
          </a:p>
        </p:txBody>
      </p:sp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700808"/>
            <a:ext cx="26479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5229225"/>
            <a:ext cx="50292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141167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1168" y="304800"/>
            <a:ext cx="8964488" cy="685800"/>
          </a:xfrm>
        </p:spPr>
        <p:txBody>
          <a:bodyPr/>
          <a:lstStyle/>
          <a:p>
            <a:r>
              <a:rPr lang="ru-RU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tooltip="IDEF6 (страница отсутствует)"/>
              </a:rPr>
              <a:t>IDEF6</a:t>
            </a: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—— </a:t>
            </a:r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проектных действий</a:t>
            </a:r>
            <a:r>
              <a:rPr lang="ru-RU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990600"/>
            <a:ext cx="8496944" cy="5606752"/>
          </a:xfrm>
          <a:solidFill>
            <a:schemeClr val="tx2"/>
          </a:solidFill>
        </p:spPr>
        <p:txBody>
          <a:bodyPr/>
          <a:lstStyle/>
          <a:p>
            <a:pPr algn="just" eaLnBrk="1" hangingPunct="1">
              <a:lnSpc>
                <a:spcPct val="80000"/>
              </a:lnSpc>
              <a:defRPr/>
            </a:pPr>
            <a:r>
              <a:rPr lang="ru-RU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 </a:t>
            </a:r>
            <a:r>
              <a:rPr lang="ru-RU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IDEF6</a:t>
            </a:r>
            <a:r>
              <a:rPr lang="ru-RU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состоит в облегчении получения «знаний о способе» моделирования, их представления и использования при разработке систем управления предприятиями. Под «знаниями о способе» понимаются причины, обстоятельства, скрытые мотивы, которые обуславливают выбранные методы моделирования. 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ru-RU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Проще говоря, «знания о способе» интерпретируются как ответ на вопрос: «почему модель получилась такой, какой получилась?»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ru-RU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IDEF6</a:t>
            </a:r>
            <a:r>
              <a:rPr lang="ru-RU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акцентирует внимание именно на процессе создания модели;</a:t>
            </a:r>
          </a:p>
          <a:p>
            <a:endParaRPr lang="ru-RU" dirty="0"/>
          </a:p>
        </p:txBody>
      </p:sp>
      <p:pic>
        <p:nvPicPr>
          <p:cNvPr id="218114" name="Picture 2" descr="http://900igr.net/up/datas/111098/02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529871"/>
      </p:ext>
    </p:extLst>
  </p:cSld>
  <p:clrMapOvr>
    <a:masterClrMapping/>
  </p:clrMapOvr>
  <p:transition spd="med">
    <p:fade thruBlk="1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186" name="Picture 2" descr="https://present5.com/customparser/15071314_178105537%20---%20dfd_osnovy.ppt/slide_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-136525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40728"/>
      </p:ext>
    </p:extLst>
  </p:cSld>
  <p:clrMapOvr>
    <a:masterClrMapping/>
  </p:clrMapOvr>
  <p:transition spd="med">
    <p:fade thruBlk="1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9425" y="476672"/>
            <a:ext cx="8229600" cy="1118964"/>
          </a:xfrm>
        </p:spPr>
        <p:txBody>
          <a:bodyPr/>
          <a:lstStyle/>
          <a:p>
            <a:pPr>
              <a:defRPr/>
            </a:pPr>
            <a:r>
              <a:rPr lang="ru-RU" i="1" dirty="0">
                <a:effectLst/>
              </a:rPr>
              <a:t>Диаграммы потоков работ </a:t>
            </a:r>
            <a:r>
              <a:rPr lang="en-US" i="1" dirty="0">
                <a:effectLst/>
              </a:rPr>
              <a:t>WFD </a:t>
            </a:r>
            <a:r>
              <a:rPr lang="ru-RU" i="1" dirty="0">
                <a:effectLst/>
              </a:rPr>
              <a:t>(</a:t>
            </a:r>
            <a:r>
              <a:rPr lang="en-US" i="1" dirty="0">
                <a:effectLst/>
              </a:rPr>
              <a:t>Work Flow Diagram</a:t>
            </a:r>
            <a:r>
              <a:rPr lang="ru-RU" i="1" dirty="0">
                <a:effectLst/>
              </a:rPr>
              <a:t>)</a:t>
            </a:r>
            <a:br>
              <a:rPr lang="ru-RU" i="1" dirty="0">
                <a:effectLst/>
              </a:rPr>
            </a:br>
            <a:r>
              <a:rPr lang="ru-RU" dirty="0">
                <a:effectLst/>
              </a:rPr>
              <a:t> 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4801" y="1005322"/>
            <a:ext cx="8489687" cy="5303998"/>
          </a:xfrm>
          <a:solidFill>
            <a:schemeClr val="tx2"/>
          </a:solidFill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ru-RU" sz="2800" dirty="0">
                <a:effectLst/>
              </a:rPr>
              <a:t>При описании бизнес-процессов нижнего уровня используются </a:t>
            </a:r>
            <a:r>
              <a:rPr lang="ru-RU" sz="2800" dirty="0" smtClean="0">
                <a:effectLst/>
              </a:rPr>
              <a:t>другие </a:t>
            </a:r>
            <a:r>
              <a:rPr lang="ru-RU" sz="2800" dirty="0">
                <a:effectLst/>
              </a:rPr>
              <a:t>процессные схемы, под названием </a:t>
            </a:r>
            <a:r>
              <a:rPr lang="en-US" sz="2800" dirty="0">
                <a:effectLst/>
              </a:rPr>
              <a:t>WFD</a:t>
            </a:r>
            <a:r>
              <a:rPr lang="ru-RU" sz="2800" dirty="0">
                <a:effectLst/>
              </a:rPr>
              <a:t> – </a:t>
            </a:r>
            <a:r>
              <a:rPr lang="en-US" sz="2800" dirty="0">
                <a:effectLst/>
              </a:rPr>
              <a:t>Work Flow Diagram</a:t>
            </a:r>
            <a:r>
              <a:rPr lang="ru-RU" sz="2800" dirty="0">
                <a:effectLst/>
              </a:rPr>
              <a:t>, что переводится как диаграмма потоков работ. </a:t>
            </a:r>
            <a:endParaRPr lang="ru-RU" sz="2800" dirty="0" smtClean="0">
              <a:effectLst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ru-RU" sz="2800" dirty="0" smtClean="0">
                <a:effectLst/>
              </a:rPr>
              <a:t>На </a:t>
            </a:r>
            <a:r>
              <a:rPr lang="ru-RU" sz="2800" dirty="0">
                <a:effectLst/>
              </a:rPr>
              <a:t>этой схеме появляются дополнительные объекты, с помощью которых описывается процесс: логические операторы, события начала и окончания процесса, а также элементы, показывающие временные задержки.</a:t>
            </a:r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1280592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88067" name="Picture 3" descr="Диаграмма потоков работ - WF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47663"/>
            <a:ext cx="6405562" cy="581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511319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2960" y="359083"/>
            <a:ext cx="8373616" cy="1935088"/>
          </a:xfrm>
          <a:solidFill>
            <a:schemeClr val="tx2"/>
          </a:solidFill>
        </p:spPr>
        <p:txBody>
          <a:bodyPr/>
          <a:lstStyle/>
          <a:p>
            <a:pPr algn="ctr">
              <a:defRPr/>
            </a:pPr>
            <a:r>
              <a:rPr lang="ru-RU" i="1" dirty="0">
                <a:effectLst/>
              </a:rPr>
              <a:t>.    </a:t>
            </a:r>
            <a:r>
              <a:rPr lang="ru-RU" i="1" dirty="0">
                <a:solidFill>
                  <a:srgbClr val="FF0000"/>
                </a:solidFill>
                <a:effectLst/>
              </a:rPr>
              <a:t>Диаграммы "сущность  ̶  связь" </a:t>
            </a:r>
            <a:r>
              <a:rPr lang="en-US" i="1" dirty="0">
                <a:solidFill>
                  <a:srgbClr val="FF0000"/>
                </a:solidFill>
                <a:effectLst/>
              </a:rPr>
              <a:t>ERD</a:t>
            </a:r>
            <a:r>
              <a:rPr lang="ru-RU" i="1" dirty="0">
                <a:solidFill>
                  <a:srgbClr val="FF0000"/>
                </a:solidFill>
                <a:effectLst/>
              </a:rPr>
              <a:t/>
            </a:r>
            <a:br>
              <a:rPr lang="ru-RU" i="1" dirty="0">
                <a:solidFill>
                  <a:srgbClr val="FF0000"/>
                </a:solidFill>
                <a:effectLst/>
              </a:rPr>
            </a:br>
            <a:r>
              <a:rPr lang="ru-RU" i="1" dirty="0">
                <a:solidFill>
                  <a:srgbClr val="FF0000"/>
                </a:solidFill>
                <a:effectLst/>
              </a:rPr>
              <a:t>(</a:t>
            </a:r>
            <a:r>
              <a:rPr lang="en-US" i="1" dirty="0">
                <a:solidFill>
                  <a:srgbClr val="FF0000"/>
                </a:solidFill>
                <a:effectLst/>
              </a:rPr>
              <a:t>Entity</a:t>
            </a:r>
            <a:r>
              <a:rPr lang="ru-RU" i="1" dirty="0">
                <a:solidFill>
                  <a:srgbClr val="FF0000"/>
                </a:solidFill>
                <a:effectLst/>
              </a:rPr>
              <a:t>  ̶  </a:t>
            </a:r>
            <a:r>
              <a:rPr lang="en-US" i="1" dirty="0" err="1">
                <a:solidFill>
                  <a:srgbClr val="FF0000"/>
                </a:solidFill>
                <a:effectLst/>
              </a:rPr>
              <a:t>Relationchip</a:t>
            </a:r>
            <a:r>
              <a:rPr lang="en-US" i="1" dirty="0">
                <a:solidFill>
                  <a:srgbClr val="FF0000"/>
                </a:solidFill>
                <a:effectLst/>
              </a:rPr>
              <a:t> diagram</a:t>
            </a:r>
            <a:r>
              <a:rPr lang="ru-RU" i="1" dirty="0">
                <a:solidFill>
                  <a:srgbClr val="FF0000"/>
                </a:solidFill>
                <a:effectLst/>
              </a:rPr>
              <a:t>)</a:t>
            </a:r>
            <a:br>
              <a:rPr lang="ru-RU" i="1" dirty="0">
                <a:solidFill>
                  <a:srgbClr val="FF0000"/>
                </a:solidFill>
                <a:effectLst/>
              </a:rPr>
            </a:br>
            <a:r>
              <a:rPr lang="ru-RU" sz="3600" dirty="0">
                <a:effectLst/>
              </a:rPr>
              <a:t> </a:t>
            </a:r>
            <a:br>
              <a:rPr lang="ru-RU" sz="3600" dirty="0">
                <a:effectLst/>
              </a:rPr>
            </a:b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51776" y="2288059"/>
            <a:ext cx="8229600" cy="4530725"/>
          </a:xfrm>
          <a:solidFill>
            <a:schemeClr val="tx2"/>
          </a:solidFill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Диаграммы "сущность-связь" (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ERD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), впервые были введены Питером </a:t>
            </a:r>
            <a:r>
              <a:rPr lang="ru-RU" dirty="0" err="1" smtClean="0">
                <a:solidFill>
                  <a:schemeClr val="bg1">
                    <a:lumMod val="75000"/>
                  </a:schemeClr>
                </a:solidFill>
              </a:rPr>
              <a:t>Ченом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в 1976 г.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Базовыми понятиями 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ERD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являются </a:t>
            </a:r>
            <a:r>
              <a:rPr lang="ru-RU" i="1" dirty="0" smtClean="0">
                <a:solidFill>
                  <a:schemeClr val="bg1">
                    <a:lumMod val="75000"/>
                  </a:schemeClr>
                </a:solidFill>
              </a:rPr>
              <a:t>сущности, атрибуты, связи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16778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99592" y="1124744"/>
            <a:ext cx="8713788" cy="53276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ru-RU" i="1" dirty="0" smtClean="0"/>
              <a:t>Сущностью (</a:t>
            </a:r>
            <a:r>
              <a:rPr lang="en-US" i="1" dirty="0" smtClean="0"/>
              <a:t>Entity</a:t>
            </a:r>
            <a:r>
              <a:rPr lang="ru-RU" i="1" dirty="0" smtClean="0"/>
              <a:t>)</a:t>
            </a:r>
            <a:r>
              <a:rPr lang="ru-RU" dirty="0" smtClean="0"/>
              <a:t> называют совокупность реальных или абстрактных объектов предметной области, обладающих одинаковым набором свойств (атрибутами).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dirty="0" smtClean="0"/>
              <a:t> Сущность – это, как правило, существительное.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dirty="0" smtClean="0"/>
              <a:t>Отдельный элемент совокупности – экземпляр сущности.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882855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9" name="AutoShape 53"/>
          <p:cNvSpPr>
            <a:spLocks noGrp="1" noChangeArrowheads="1"/>
          </p:cNvSpPr>
          <p:nvPr>
            <p:ph type="title"/>
          </p:nvPr>
        </p:nvSpPr>
        <p:spPr>
          <a:xfrm>
            <a:off x="1219200" y="892969"/>
            <a:ext cx="7924800" cy="1143000"/>
          </a:xfrm>
        </p:spPr>
        <p:txBody>
          <a:bodyPr/>
          <a:lstStyle/>
          <a:p>
            <a:pPr>
              <a:defRPr/>
            </a:pPr>
            <a:r>
              <a:rPr lang="ru-RU" sz="32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Класс сущностей и экземпляр сущности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defRPr/>
            </a:pPr>
            <a:r>
              <a:rPr lang="ru-RU" sz="2400"/>
              <a:t>Класс сущностей</a:t>
            </a:r>
          </a:p>
        </p:txBody>
      </p:sp>
      <p:graphicFrame>
        <p:nvGraphicFramePr>
          <p:cNvPr id="29751" name="Group 55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127999023"/>
              </p:ext>
            </p:extLst>
          </p:nvPr>
        </p:nvGraphicFramePr>
        <p:xfrm>
          <a:off x="1000126" y="2997200"/>
          <a:ext cx="3770312" cy="2036441"/>
        </p:xfrm>
        <a:graphic>
          <a:graphicData uri="http://schemas.openxmlformats.org/drawingml/2006/table">
            <a:tbl>
              <a:tblPr/>
              <a:tblGrid>
                <a:gridCol w="3770312"/>
              </a:tblGrid>
              <a:tr h="529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СТУДЕНТ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Фамилия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Год рождения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Место рождения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1149" name="Text Box 39"/>
          <p:cNvSpPr txBox="1">
            <a:spLocks noChangeArrowheads="1"/>
          </p:cNvSpPr>
          <p:nvPr/>
        </p:nvSpPr>
        <p:spPr bwMode="auto">
          <a:xfrm>
            <a:off x="5435600" y="2997200"/>
            <a:ext cx="3311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000"/>
              <a:t>Экземпляр сущности</a:t>
            </a:r>
          </a:p>
        </p:txBody>
      </p:sp>
      <p:graphicFrame>
        <p:nvGraphicFramePr>
          <p:cNvPr id="29766" name="Group 70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734849438"/>
              </p:ext>
            </p:extLst>
          </p:nvPr>
        </p:nvGraphicFramePr>
        <p:xfrm>
          <a:off x="4932363" y="3501008"/>
          <a:ext cx="3311525" cy="2520382"/>
        </p:xfrm>
        <a:graphic>
          <a:graphicData uri="http://schemas.openxmlformats.org/drawingml/2006/table">
            <a:tbl>
              <a:tblPr/>
              <a:tblGrid>
                <a:gridCol w="3311525"/>
              </a:tblGrid>
              <a:tr h="7915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Петров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12.01.1999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Сатка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59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76250"/>
            <a:ext cx="8229600" cy="1081088"/>
          </a:xfrm>
        </p:spPr>
        <p:txBody>
          <a:bodyPr/>
          <a:lstStyle/>
          <a:p>
            <a:pPr>
              <a:defRPr/>
            </a:pPr>
            <a:r>
              <a:rPr lang="ru-RU" sz="2800" dirty="0" smtClean="0">
                <a:solidFill>
                  <a:schemeClr val="bg1">
                    <a:lumMod val="75000"/>
                  </a:schemeClr>
                </a:solidFill>
              </a:rPr>
              <a:t>Для сущностей имеют место следующие соглашения (правила):</a:t>
            </a:r>
            <a:br>
              <a:rPr lang="ru-RU" sz="2800" dirty="0" smtClean="0">
                <a:solidFill>
                  <a:schemeClr val="bg1">
                    <a:lumMod val="75000"/>
                  </a:schemeClr>
                </a:solidFill>
              </a:rPr>
            </a:br>
            <a:endParaRPr lang="ru-RU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43607" y="1600200"/>
            <a:ext cx="7643193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ru-RU" sz="2000" dirty="0" smtClean="0"/>
              <a:t>–  каждая сущность должна иметь уникальное имя. Одно и то же имя должно всегда интерпретироваться единственным образом;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sz="2000" dirty="0" smtClean="0"/>
              <a:t>–  сущность обладает одним или несколькими атрибутами, которые либо принадлежат сущности, либо наследуются через связи с другими сущностями;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sz="2000" dirty="0" smtClean="0"/>
              <a:t>–  совокупность атрибутов сущности с их конкретными значениями однозначно идентифицируют каждый экземпляр сущности;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sz="2000" dirty="0" smtClean="0"/>
              <a:t>–  каждая сущность может обладать любым количеством связей с другими сущностями.</a:t>
            </a:r>
          </a:p>
          <a:p>
            <a:pPr>
              <a:defRPr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8664255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0"/>
            <a:ext cx="7162800" cy="685800"/>
          </a:xfrm>
        </p:spPr>
        <p:txBody>
          <a:bodyPr/>
          <a:lstStyle/>
          <a:p>
            <a:r>
              <a:rPr lang="ru-RU" sz="2800" b="1" dirty="0" smtClean="0">
                <a:solidFill>
                  <a:schemeClr val="bg1">
                    <a:lumMod val="75000"/>
                  </a:schemeClr>
                </a:solidFill>
              </a:rPr>
              <a:t>История</a:t>
            </a:r>
            <a:endParaRPr lang="ru-RU" sz="28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548680"/>
            <a:ext cx="9036496" cy="6309320"/>
          </a:xfrm>
          <a:solidFill>
            <a:schemeClr val="tx2"/>
          </a:solidFill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Нотация </a:t>
            </a:r>
            <a:r>
              <a:rPr lang="ru-RU" sz="2400" b="1" dirty="0" smtClean="0"/>
              <a:t>BPMN </a:t>
            </a:r>
            <a:r>
              <a:rPr lang="ru-RU" sz="2400" b="1" dirty="0"/>
              <a:t>(</a:t>
            </a:r>
            <a:r>
              <a:rPr lang="ru-RU" sz="2400" b="1" dirty="0" err="1"/>
              <a:t>The</a:t>
            </a:r>
            <a:r>
              <a:rPr lang="ru-RU" sz="2400" b="1" dirty="0"/>
              <a:t> </a:t>
            </a:r>
            <a:r>
              <a:rPr lang="ru-RU" sz="2400" b="1" dirty="0" err="1"/>
              <a:t>Business</a:t>
            </a:r>
            <a:r>
              <a:rPr lang="ru-RU" sz="2400" b="1" dirty="0"/>
              <a:t> </a:t>
            </a:r>
            <a:r>
              <a:rPr lang="ru-RU" sz="2400" b="1" dirty="0" err="1"/>
              <a:t>Process</a:t>
            </a:r>
            <a:r>
              <a:rPr lang="ru-RU" sz="2400" b="1" dirty="0"/>
              <a:t> </a:t>
            </a:r>
            <a:r>
              <a:rPr lang="ru-RU" sz="2400" b="1" dirty="0" err="1"/>
              <a:t>Modeling</a:t>
            </a:r>
            <a:r>
              <a:rPr lang="ru-RU" sz="2400" b="1" dirty="0"/>
              <a:t> </a:t>
            </a:r>
            <a:r>
              <a:rPr lang="ru-RU" sz="2400" b="1" dirty="0" err="1"/>
              <a:t>Notation</a:t>
            </a:r>
            <a:r>
              <a:rPr lang="ru-RU" sz="2400" b="1" dirty="0" smtClean="0"/>
              <a:t>) </a:t>
            </a:r>
            <a:r>
              <a:rPr lang="ru-RU" sz="2400" dirty="0" smtClean="0"/>
              <a:t>- </a:t>
            </a:r>
            <a:r>
              <a:rPr lang="ru-RU" sz="2400" dirty="0"/>
              <a:t>это новый стандарт для моделирования бизнес процессов и сетевых услуг, который впервые был выпущен BPMI </a:t>
            </a:r>
            <a:r>
              <a:rPr lang="ru-RU" sz="2400" dirty="0" err="1"/>
              <a:t>Notation</a:t>
            </a:r>
            <a:r>
              <a:rPr lang="ru-RU" sz="2400" dirty="0"/>
              <a:t> </a:t>
            </a:r>
            <a:r>
              <a:rPr lang="ru-RU" sz="2400" dirty="0" err="1"/>
              <a:t>Working</a:t>
            </a:r>
            <a:r>
              <a:rPr lang="ru-RU" sz="2400" dirty="0"/>
              <a:t> </a:t>
            </a:r>
            <a:r>
              <a:rPr lang="ru-RU" sz="2400" dirty="0" err="1"/>
              <a:t>Group</a:t>
            </a:r>
            <a:r>
              <a:rPr lang="ru-RU" sz="2400" dirty="0"/>
              <a:t> в мае 2004 года. </a:t>
            </a:r>
            <a:endParaRPr lang="ru-RU" sz="2400" dirty="0" smtClean="0"/>
          </a:p>
          <a:p>
            <a:r>
              <a:rPr lang="ru-RU" sz="2400" dirty="0" smtClean="0"/>
              <a:t>Последняя </a:t>
            </a:r>
            <a:r>
              <a:rPr lang="ru-RU" sz="2400" dirty="0"/>
              <a:t>версия нотации BPMN 2.0 вышла в 2010 году. Оригинальная спецификация (на английском языке) изготовлена группой компаний «</a:t>
            </a:r>
            <a:r>
              <a:rPr lang="ru-RU" sz="2400" dirty="0" err="1"/>
              <a:t>Object</a:t>
            </a:r>
            <a:r>
              <a:rPr lang="ru-RU" sz="2400" dirty="0"/>
              <a:t> </a:t>
            </a:r>
            <a:r>
              <a:rPr lang="ru-RU" sz="2400" dirty="0" err="1"/>
              <a:t>Management</a:t>
            </a:r>
            <a:r>
              <a:rPr lang="ru-RU" sz="2400" dirty="0"/>
              <a:t> </a:t>
            </a:r>
            <a:r>
              <a:rPr lang="ru-RU" sz="2400" dirty="0" err="1"/>
              <a:t>Group</a:t>
            </a:r>
            <a:r>
              <a:rPr lang="ru-RU" sz="2400" dirty="0" smtClean="0"/>
              <a:t>».</a:t>
            </a:r>
          </a:p>
          <a:p>
            <a:pPr marL="0" indent="0">
              <a:buNone/>
            </a:pPr>
            <a:r>
              <a:rPr lang="ru-RU" sz="3000" dirty="0">
                <a:solidFill>
                  <a:schemeClr val="bg1">
                    <a:lumMod val="75000"/>
                  </a:schemeClr>
                </a:solidFill>
              </a:rPr>
              <a:t>Причины создания</a:t>
            </a:r>
            <a:endParaRPr lang="ru-RU" sz="3000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ru-RU" sz="2400" dirty="0"/>
              <a:t>необходимость построения ПРОСТОГО механизма для проектирования и чтения как простых, так и СЛОЖНЫХ моделей бизнес-процессов. </a:t>
            </a:r>
          </a:p>
          <a:p>
            <a:r>
              <a:rPr lang="ru-RU" sz="2400" dirty="0"/>
              <a:t>С точки зрения легкости чтения и понимания процессов нотация </a:t>
            </a:r>
            <a:r>
              <a:rPr lang="ru-RU" sz="2400" dirty="0" err="1"/>
              <a:t>BPMN</a:t>
            </a:r>
            <a:r>
              <a:rPr lang="ru-RU" sz="2400" dirty="0"/>
              <a:t> 2.0 вне конкуренции. </a:t>
            </a:r>
          </a:p>
          <a:p>
            <a:r>
              <a:rPr lang="ru-RU" sz="2400" dirty="0"/>
              <a:t>Моделирование в </a:t>
            </a:r>
            <a:r>
              <a:rPr lang="ru-RU" sz="2400" dirty="0" err="1"/>
              <a:t>BPMN</a:t>
            </a:r>
            <a:r>
              <a:rPr lang="ru-RU" sz="2400" dirty="0"/>
              <a:t> осуществляется посредством диаграмм с небольшим числом графических элементов. Это помогает пользователям быстро понимать логику процесса.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5853298"/>
      </p:ext>
    </p:extLst>
  </p:cSld>
  <p:clrMapOvr>
    <a:masterClrMapping/>
  </p:clrMapOvr>
  <p:transition spd="med">
    <p:fade thruBlk="1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Назначение нотации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BPMN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838200"/>
            <a:ext cx="8892480" cy="5759152"/>
          </a:xfrm>
          <a:solidFill>
            <a:schemeClr val="tx2"/>
          </a:solidFill>
        </p:spPr>
        <p:txBody>
          <a:bodyPr>
            <a:noAutofit/>
          </a:bodyPr>
          <a:lstStyle/>
          <a:p>
            <a:pPr marL="109728" indent="0" fontAlgn="base">
              <a:buNone/>
            </a:pPr>
            <a:r>
              <a:rPr lang="ru-RU" sz="2000" dirty="0" smtClean="0"/>
              <a:t>BPMN </a:t>
            </a:r>
            <a:r>
              <a:rPr lang="ru-RU" sz="2000" dirty="0"/>
              <a:t>ориентирована </a:t>
            </a:r>
            <a:r>
              <a:rPr lang="ru-RU" sz="2000" dirty="0" smtClean="0"/>
              <a:t>:</a:t>
            </a:r>
          </a:p>
          <a:p>
            <a:pPr fontAlgn="base"/>
            <a:r>
              <a:rPr lang="ru-RU" sz="2000" dirty="0" smtClean="0"/>
              <a:t>на </a:t>
            </a:r>
            <a:r>
              <a:rPr lang="ru-RU" sz="2000" dirty="0"/>
              <a:t>технических специалистов (разработчиков, ответственных за реализацию процессов</a:t>
            </a:r>
            <a:r>
              <a:rPr lang="ru-RU" sz="2000" dirty="0" smtClean="0"/>
              <a:t>),</a:t>
            </a:r>
          </a:p>
          <a:p>
            <a:pPr fontAlgn="base"/>
            <a:r>
              <a:rPr lang="ru-RU" sz="2000" dirty="0" smtClean="0"/>
              <a:t>на </a:t>
            </a:r>
            <a:r>
              <a:rPr lang="ru-RU" sz="2000" dirty="0"/>
              <a:t>бизнес-пользователей (бизнес-аналитиков, создающих и улучшающих процессы) </a:t>
            </a:r>
            <a:endParaRPr lang="ru-RU" sz="2000" dirty="0" smtClean="0"/>
          </a:p>
          <a:p>
            <a:pPr fontAlgn="base"/>
            <a:r>
              <a:rPr lang="ru-RU" sz="2000" dirty="0" smtClean="0"/>
              <a:t>на менеджеров</a:t>
            </a:r>
            <a:r>
              <a:rPr lang="ru-RU" sz="2000" dirty="0"/>
              <a:t>, следящих за процессами и управляющих ими. </a:t>
            </a:r>
            <a:endParaRPr lang="ru-RU" sz="2000" dirty="0" smtClean="0"/>
          </a:p>
          <a:p>
            <a:pPr marL="109728" indent="0" fontAlgn="base">
              <a:buNone/>
            </a:pPr>
            <a:r>
              <a:rPr lang="ru-RU" sz="2000" b="1" dirty="0" smtClean="0">
                <a:solidFill>
                  <a:schemeClr val="accent3">
                    <a:lumMod val="50000"/>
                  </a:schemeClr>
                </a:solidFill>
              </a:rPr>
              <a:t>BPMN служит </a:t>
            </a:r>
            <a:r>
              <a:rPr lang="ru-RU" sz="2000" b="1" dirty="0">
                <a:solidFill>
                  <a:schemeClr val="accent3">
                    <a:lumMod val="50000"/>
                  </a:schemeClr>
                </a:solidFill>
              </a:rPr>
              <a:t>связующим звеном между фазой дизайна бизнес-процесса и фазой его </a:t>
            </a:r>
            <a:r>
              <a:rPr lang="ru-RU" sz="2000" b="1" dirty="0" smtClean="0">
                <a:solidFill>
                  <a:schemeClr val="accent3">
                    <a:lumMod val="50000"/>
                  </a:schemeClr>
                </a:solidFill>
              </a:rPr>
              <a:t>реализации, так как</a:t>
            </a:r>
            <a:endParaRPr lang="ru-RU" sz="2000" b="1" dirty="0">
              <a:solidFill>
                <a:schemeClr val="accent3">
                  <a:lumMod val="50000"/>
                </a:schemeClr>
              </a:solidFill>
            </a:endParaRPr>
          </a:p>
          <a:p>
            <a:pPr fontAlgn="base"/>
            <a:r>
              <a:rPr lang="ru-RU" sz="2000" dirty="0" smtClean="0"/>
              <a:t>модели </a:t>
            </a:r>
            <a:r>
              <a:rPr lang="ru-RU" sz="2000" dirty="0"/>
              <a:t>процессов, описанных в нотации BPMN, являются ИСПОЛНЯЕМЫМИ (т.е. реализуются в любой BPM-системе), а не только документируются. </a:t>
            </a:r>
            <a:endParaRPr lang="ru-RU" sz="2000" dirty="0" smtClean="0"/>
          </a:p>
          <a:p>
            <a:pPr fontAlgn="base"/>
            <a:r>
              <a:rPr lang="ru-RU" sz="2000" dirty="0" smtClean="0"/>
              <a:t>специальные программные решения позволяют преобразовать </a:t>
            </a:r>
            <a:r>
              <a:rPr lang="ru-RU" sz="2000" dirty="0"/>
              <a:t>диаграммы в исполняемые процессы, </a:t>
            </a:r>
            <a:r>
              <a:rPr lang="ru-RU" sz="2000" dirty="0" smtClean="0"/>
              <a:t>затем они могут </a:t>
            </a:r>
            <a:r>
              <a:rPr lang="ru-RU" sz="2000" dirty="0"/>
              <a:t>быть запущенны и работать в реальном времени.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995625782"/>
      </p:ext>
    </p:extLst>
  </p:cSld>
  <p:clrMapOvr>
    <a:masterClrMapping/>
  </p:clrMapOvr>
  <p:transition spd="med">
    <p:fade thruBlk="1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1196" y="1052736"/>
            <a:ext cx="8229600" cy="557808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Пример диаграммы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Объект 3" descr="http://wiki.businessstudio.ru/docs/v4/lib/exe/fetch.php/ru/csdesign/bpmodeling/bpmn_notation/bpmn_notation_020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72816"/>
            <a:ext cx="7704856" cy="4824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8861347"/>
      </p:ext>
    </p:extLst>
  </p:cSld>
  <p:clrMapOvr>
    <a:masterClrMapping/>
  </p:clrMapOvr>
  <p:transition spd="med">
    <p:fade thruBlk="1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www.elma-bpm.ru/images/blogs/ris26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695" y="620688"/>
            <a:ext cx="9222562" cy="568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595257"/>
      </p:ext>
    </p:extLst>
  </p:cSld>
  <p:clrMapOvr>
    <a:masterClrMapping/>
  </p:clrMapOvr>
  <p:transition spd="med">
    <p:fade thruBlk="1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pic>
        <p:nvPicPr>
          <p:cNvPr id="7170" name="Picture 2" descr="http://www.elma-bpm.ru/images/blogs/ris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772816"/>
            <a:ext cx="9391243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74202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1664" y="836712"/>
            <a:ext cx="8569325" cy="2520950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/>
              <a:t/>
            </a:r>
            <a:br>
              <a:rPr lang="ru-RU" dirty="0"/>
            </a:br>
            <a:r>
              <a:rPr lang="en-US" sz="4400" dirty="0">
                <a:solidFill>
                  <a:srgbClr val="C00000"/>
                </a:solidFill>
              </a:rPr>
              <a:t>CASE</a:t>
            </a:r>
            <a:r>
              <a:rPr lang="ru-RU" sz="4400" dirty="0">
                <a:solidFill>
                  <a:srgbClr val="C00000"/>
                </a:solidFill>
              </a:rPr>
              <a:t> - </a:t>
            </a:r>
            <a:r>
              <a:rPr lang="ru-RU" sz="4400" dirty="0" smtClean="0">
                <a:solidFill>
                  <a:srgbClr val="C00000"/>
                </a:solidFill>
              </a:rPr>
              <a:t>технологии</a:t>
            </a:r>
            <a:r>
              <a:rPr lang="ru-RU" dirty="0">
                <a:solidFill>
                  <a:srgbClr val="C00000"/>
                </a:solidFill>
              </a:rPr>
              <a:t/>
            </a:r>
            <a:br>
              <a:rPr lang="ru-RU" dirty="0">
                <a:solidFill>
                  <a:srgbClr val="C00000"/>
                </a:solidFill>
              </a:rPr>
            </a:b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288" y="3212976"/>
            <a:ext cx="835317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ru-RU" sz="3200" dirty="0">
                <a:solidFill>
                  <a:schemeClr val="bg1">
                    <a:lumMod val="75000"/>
                  </a:schemeClr>
                </a:solidFill>
              </a:rPr>
              <a:t>Расшифровка аббревиатуры 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CASE</a:t>
            </a:r>
            <a:r>
              <a:rPr lang="ru-RU" sz="3200" dirty="0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z="3200" b="1" dirty="0">
                <a:solidFill>
                  <a:schemeClr val="bg1">
                    <a:lumMod val="75000"/>
                  </a:schemeClr>
                </a:solidFill>
              </a:rPr>
              <a:t>Computer Aided Software Engineering</a:t>
            </a:r>
            <a:r>
              <a:rPr lang="ru-RU" sz="3200" dirty="0">
                <a:solidFill>
                  <a:schemeClr val="bg1">
                    <a:lumMod val="75000"/>
                  </a:schemeClr>
                </a:solidFill>
              </a:rPr>
              <a:t>.</a:t>
            </a:r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ru-RU" sz="3200" dirty="0">
                <a:solidFill>
                  <a:schemeClr val="bg1">
                    <a:lumMod val="75000"/>
                  </a:schemeClr>
                </a:solidFill>
              </a:rPr>
              <a:t>Можно перевести на русский примерно как «</a:t>
            </a:r>
            <a:r>
              <a:rPr lang="ru-RU" sz="3200" i="1" dirty="0">
                <a:solidFill>
                  <a:schemeClr val="bg1">
                    <a:lumMod val="75000"/>
                  </a:schemeClr>
                </a:solidFill>
              </a:rPr>
              <a:t>разработка программного обеспечения с помощью компьютера»</a:t>
            </a:r>
            <a:r>
              <a:rPr lang="ru-RU" sz="3200" dirty="0">
                <a:solidFill>
                  <a:schemeClr val="bg1">
                    <a:lumMod val="75000"/>
                  </a:schemeClr>
                </a:solidFill>
              </a:rPr>
              <a:t>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59343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250"/>
            <a:ext cx="8363272" cy="5833070"/>
          </a:xfrm>
          <a:solidFill>
            <a:schemeClr val="tx2"/>
          </a:solidFill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Применение 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CASE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-средств оправдано при разработке сложного ПО, когда в одной и той же работе задействованы несколько человек, и когда ставятся задачи:</a:t>
            </a:r>
          </a:p>
          <a:p>
            <a:pPr algn="just" eaLnBrk="1" hangingPunct="1">
              <a:defRPr/>
            </a:pP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повысить производительность труда,</a:t>
            </a:r>
          </a:p>
          <a:p>
            <a:pPr algn="just" eaLnBrk="1" hangingPunct="1">
              <a:defRPr/>
            </a:pP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улучшить качество программных продуктов,</a:t>
            </a:r>
          </a:p>
          <a:p>
            <a:pPr algn="just" eaLnBrk="1" hangingPunct="1">
              <a:defRPr/>
            </a:pP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поддержать унифицированный и согласованный стиль работы</a:t>
            </a:r>
            <a:endParaRPr lang="en-US" dirty="0" smtClean="0">
              <a:solidFill>
                <a:schemeClr val="bg1">
                  <a:lumMod val="75000"/>
                </a:schemeClr>
              </a:solidFill>
            </a:endParaRPr>
          </a:p>
          <a:p>
            <a:pPr algn="just" eaLnBrk="1" hangingPunct="1">
              <a:defRPr/>
            </a:pP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и т.д. и т.п. </a:t>
            </a:r>
          </a:p>
        </p:txBody>
      </p:sp>
    </p:spTree>
    <p:extLst>
      <p:ext uri="{BB962C8B-B14F-4D97-AF65-F5344CB8AC3E}">
        <p14:creationId xmlns:p14="http://schemas.microsoft.com/office/powerpoint/2010/main" val="4072470232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8964" y="332656"/>
            <a:ext cx="8345524" cy="685800"/>
          </a:xfrm>
        </p:spPr>
        <p:txBody>
          <a:bodyPr/>
          <a:lstStyle/>
          <a:p>
            <a:pPr eaLnBrk="1" hangingPunct="1">
              <a:defRPr/>
            </a:pPr>
            <a:r>
              <a:rPr lang="ru-RU" sz="2400" dirty="0" smtClean="0"/>
              <a:t>Современные крупные проекты </a:t>
            </a:r>
            <a:r>
              <a:rPr lang="ru-RU" sz="2400" dirty="0" err="1" smtClean="0"/>
              <a:t>ИС</a:t>
            </a:r>
            <a:r>
              <a:rPr lang="ru-RU" sz="2400" dirty="0" smtClean="0"/>
              <a:t> характеризуются, как правило, следующими особенностями: </a:t>
            </a:r>
            <a:br>
              <a:rPr lang="ru-RU" sz="2400" dirty="0" smtClean="0"/>
            </a:br>
            <a:endParaRPr lang="ru-RU" sz="2400" dirty="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" y="1018456"/>
            <a:ext cx="9144000" cy="5661025"/>
          </a:xfrm>
          <a:solidFill>
            <a:schemeClr val="tx2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ru-RU" sz="2000" dirty="0" smtClean="0">
                <a:solidFill>
                  <a:schemeClr val="bg1">
                    <a:lumMod val="75000"/>
                  </a:schemeClr>
                </a:solidFill>
              </a:rPr>
              <a:t>сложность описания, требующая тщательного моделирования и анализа данных и процессов;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000" dirty="0" smtClean="0">
                <a:solidFill>
                  <a:schemeClr val="bg1">
                    <a:lumMod val="75000"/>
                  </a:schemeClr>
                </a:solidFill>
              </a:rPr>
              <a:t>наличие совокупности тесно взаимодействующих компонентов, имеющих свои локальные задачи и цели функционирования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000" dirty="0" smtClean="0">
                <a:solidFill>
                  <a:schemeClr val="bg1">
                    <a:lumMod val="75000"/>
                  </a:schemeClr>
                </a:solidFill>
              </a:rPr>
              <a:t>отсутствие прямых аналогов, ограничивающее возможность использования каких-либо типовых проектных решений и прикладных систем;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000" dirty="0" smtClean="0">
                <a:solidFill>
                  <a:schemeClr val="bg1">
                    <a:lumMod val="75000"/>
                  </a:schemeClr>
                </a:solidFill>
              </a:rPr>
              <a:t>необходимость интеграции существующих и вновь разрабатываемых приложений;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000" dirty="0" smtClean="0">
                <a:solidFill>
                  <a:schemeClr val="bg1">
                    <a:lumMod val="75000"/>
                  </a:schemeClr>
                </a:solidFill>
              </a:rPr>
              <a:t>функционирование в неоднородной среде на нескольких аппаратных платформах;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000" dirty="0" smtClean="0">
                <a:solidFill>
                  <a:schemeClr val="bg1">
                    <a:lumMod val="75000"/>
                  </a:schemeClr>
                </a:solidFill>
              </a:rPr>
              <a:t>разобщенность и разнородность отдельных групп разработчиков по уровню квалификации и сложившимся традициям использования тех или иных инструментальных средств</a:t>
            </a:r>
            <a:r>
              <a:rPr lang="ru-RU" sz="2400" dirty="0" smtClean="0"/>
              <a:t>;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000" dirty="0" smtClean="0">
                <a:solidFill>
                  <a:schemeClr val="bg1">
                    <a:lumMod val="75000"/>
                  </a:schemeClr>
                </a:solidFill>
              </a:rPr>
              <a:t>существенная временная протяженность проекта, </a:t>
            </a:r>
          </a:p>
        </p:txBody>
      </p:sp>
    </p:spTree>
    <p:extLst>
      <p:ext uri="{BB962C8B-B14F-4D97-AF65-F5344CB8AC3E}">
        <p14:creationId xmlns:p14="http://schemas.microsoft.com/office/powerpoint/2010/main" val="196836415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4" y="1889125"/>
            <a:ext cx="8964612" cy="4968875"/>
          </a:xfrm>
          <a:solidFill>
            <a:schemeClr val="tx2"/>
          </a:solidFill>
        </p:spPr>
        <p:txBody>
          <a:bodyPr/>
          <a:lstStyle/>
          <a:p>
            <a:pPr algn="just" eaLnBrk="1" hangingPunct="1">
              <a:defRPr/>
            </a:pPr>
            <a:r>
              <a:rPr lang="ru-RU" sz="2400" dirty="0" smtClean="0">
                <a:solidFill>
                  <a:schemeClr val="bg1">
                    <a:lumMod val="75000"/>
                  </a:schemeClr>
                </a:solidFill>
              </a:rPr>
              <a:t>анализ и формулировку требований, </a:t>
            </a:r>
          </a:p>
          <a:p>
            <a:pPr algn="just" eaLnBrk="1" hangingPunct="1">
              <a:defRPr/>
            </a:pPr>
            <a:r>
              <a:rPr lang="ru-RU" sz="2400" dirty="0" smtClean="0">
                <a:solidFill>
                  <a:schemeClr val="bg1">
                    <a:lumMod val="75000"/>
                  </a:schemeClr>
                </a:solidFill>
              </a:rPr>
              <a:t>проектирование прикладного ПО и баз данных, </a:t>
            </a:r>
          </a:p>
          <a:p>
            <a:pPr algn="just" eaLnBrk="1" hangingPunct="1">
              <a:defRPr/>
            </a:pPr>
            <a:r>
              <a:rPr lang="ru-RU" sz="2400" dirty="0" smtClean="0">
                <a:solidFill>
                  <a:schemeClr val="bg1">
                    <a:lumMod val="75000"/>
                  </a:schemeClr>
                </a:solidFill>
              </a:rPr>
              <a:t>генерацию кода,</a:t>
            </a:r>
          </a:p>
          <a:p>
            <a:pPr algn="just" eaLnBrk="1" hangingPunct="1">
              <a:defRPr/>
            </a:pPr>
            <a:r>
              <a:rPr lang="ru-RU" sz="2400" dirty="0" smtClean="0">
                <a:solidFill>
                  <a:schemeClr val="bg1">
                    <a:lumMod val="75000"/>
                  </a:schemeClr>
                </a:solidFill>
              </a:rPr>
              <a:t> тестирование, </a:t>
            </a:r>
          </a:p>
          <a:p>
            <a:pPr algn="just" eaLnBrk="1" hangingPunct="1">
              <a:defRPr/>
            </a:pPr>
            <a:r>
              <a:rPr lang="ru-RU" sz="2400" dirty="0" smtClean="0">
                <a:solidFill>
                  <a:schemeClr val="bg1">
                    <a:lumMod val="75000"/>
                  </a:schemeClr>
                </a:solidFill>
              </a:rPr>
              <a:t>документирование,</a:t>
            </a:r>
          </a:p>
          <a:p>
            <a:pPr algn="just" eaLnBrk="1" hangingPunct="1">
              <a:defRPr/>
            </a:pPr>
            <a:r>
              <a:rPr lang="ru-RU" sz="2400" dirty="0" smtClean="0">
                <a:solidFill>
                  <a:schemeClr val="bg1">
                    <a:lumMod val="75000"/>
                  </a:schemeClr>
                </a:solidFill>
              </a:rPr>
              <a:t> обеспечение качества, </a:t>
            </a:r>
          </a:p>
          <a:p>
            <a:pPr algn="just" eaLnBrk="1" hangingPunct="1">
              <a:defRPr/>
            </a:pPr>
            <a:r>
              <a:rPr lang="ru-RU" sz="2400" dirty="0" smtClean="0">
                <a:solidFill>
                  <a:schemeClr val="bg1">
                    <a:lumMod val="75000"/>
                  </a:schemeClr>
                </a:solidFill>
              </a:rPr>
              <a:t>конфигурационное управление</a:t>
            </a:r>
          </a:p>
          <a:p>
            <a:pPr algn="just" eaLnBrk="1" hangingPunct="1">
              <a:defRPr/>
            </a:pPr>
            <a:r>
              <a:rPr lang="ru-RU" sz="2400" dirty="0" smtClean="0">
                <a:solidFill>
                  <a:schemeClr val="bg1">
                    <a:lumMod val="75000"/>
                  </a:schemeClr>
                </a:solidFill>
              </a:rPr>
              <a:t> управление проектом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ru-RU" sz="2400" b="1" dirty="0" err="1" smtClean="0">
                <a:solidFill>
                  <a:schemeClr val="bg1">
                    <a:lumMod val="75000"/>
                  </a:schemeClr>
                </a:solidFill>
              </a:rPr>
              <a:t>CASE</a:t>
            </a:r>
            <a:r>
              <a:rPr lang="ru-RU" sz="2400" b="1" dirty="0" smtClean="0">
                <a:solidFill>
                  <a:schemeClr val="bg1">
                    <a:lumMod val="75000"/>
                  </a:schemeClr>
                </a:solidFill>
              </a:rPr>
              <a:t>-средства вместе с системным ПО и техническими средствами образуют полную среду разработки </a:t>
            </a:r>
            <a:r>
              <a:rPr lang="ru-RU" sz="2400" b="1" dirty="0" err="1" smtClean="0">
                <a:solidFill>
                  <a:schemeClr val="bg1">
                    <a:lumMod val="75000"/>
                  </a:schemeClr>
                </a:solidFill>
              </a:rPr>
              <a:t>ИС</a:t>
            </a:r>
            <a:r>
              <a:rPr lang="ru-RU" sz="2400" b="1" dirty="0" smtClean="0">
                <a:solidFill>
                  <a:schemeClr val="bg1">
                    <a:lumMod val="75000"/>
                  </a:schemeClr>
                </a:solidFill>
              </a:rPr>
              <a:t>.</a:t>
            </a:r>
            <a:r>
              <a:rPr lang="ru-RU" sz="24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ru-RU" dirty="0" smtClean="0"/>
              <a:t> 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0" y="188913"/>
            <a:ext cx="9144000" cy="199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ru-RU" sz="3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Теперь под термином </a:t>
            </a:r>
            <a:r>
              <a:rPr lang="ru-RU" sz="3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CASE</a:t>
            </a:r>
            <a:r>
              <a:rPr lang="ru-RU" sz="3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-средства понимаются программные средства, поддерживающие процессы создания и сопровождения </a:t>
            </a:r>
            <a:r>
              <a:rPr lang="ru-RU" sz="3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ИС</a:t>
            </a:r>
            <a:r>
              <a:rPr lang="ru-RU" sz="3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, включая:</a:t>
            </a:r>
          </a:p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89753546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4573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 altLang="ru-RU" smtClean="0">
              <a:effectLst/>
            </a:endParaRP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>
            <a:lum contrast="-12000"/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6"/>
          <a:stretch>
            <a:fillRect/>
          </a:stretch>
        </p:blipFill>
        <p:spPr bwMode="auto">
          <a:xfrm>
            <a:off x="250825" y="549275"/>
            <a:ext cx="8642350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3090254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>
                <a:solidFill>
                  <a:srgbClr val="000000"/>
                </a:solidFill>
                <a:latin typeface="Arial" charset="0"/>
              </a:rPr>
              <a:t>Инструменты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>
                <a:solidFill>
                  <a:srgbClr val="000000"/>
                </a:solidFill>
                <a:latin typeface="Arial" charset="0"/>
              </a:rPr>
              <a:t>ARIS</a:t>
            </a:r>
          </a:p>
          <a:p>
            <a:r>
              <a:rPr lang="ru-RU" b="0">
                <a:solidFill>
                  <a:srgbClr val="000000"/>
                </a:solidFill>
                <a:latin typeface="Arial" charset="0"/>
              </a:rPr>
              <a:t>BpWin</a:t>
            </a:r>
          </a:p>
          <a:p>
            <a:r>
              <a:rPr lang="ru-RU" b="0">
                <a:solidFill>
                  <a:srgbClr val="000000"/>
                </a:solidFill>
                <a:latin typeface="Arial" charset="0"/>
              </a:rPr>
              <a:t>Fox Manager</a:t>
            </a:r>
          </a:p>
          <a:p>
            <a:r>
              <a:rPr lang="ru-RU" b="0">
                <a:solidFill>
                  <a:srgbClr val="000000"/>
                </a:solidFill>
                <a:latin typeface="Arial" charset="0"/>
              </a:rPr>
              <a:t>Business Studio</a:t>
            </a:r>
          </a:p>
          <a:p>
            <a:r>
              <a:rPr lang="ru-RU" b="0">
                <a:solidFill>
                  <a:srgbClr val="000000"/>
                </a:solidFill>
                <a:latin typeface="Arial" charset="0"/>
              </a:rPr>
              <a:t>Бизнес Инжиниринг Групп. Программы бизнес-моделирования: ОРГ-МАСТЕР®, ОРГ-МАСТЕР®Графикс</a:t>
            </a:r>
          </a:p>
          <a:p>
            <a:r>
              <a:rPr lang="ru-RU" b="0">
                <a:solidFill>
                  <a:srgbClr val="000000"/>
                </a:solidFill>
                <a:latin typeface="Arial" charset="0"/>
              </a:rPr>
              <a:t>Microsoft Office Visio 2003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Номер слайда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F4EFC2-95ED-416E-8B84-3C657B3BC5F0}" type="slidenum">
              <a:rPr lang="ru-RU" altLang="ru-RU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ru-RU" altLang="ru-RU" sz="1400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Инструментальная система </a:t>
            </a:r>
            <a:r>
              <a:rPr lang="en-US" altLang="ru-RU" smtClean="0"/>
              <a:t>ARIS</a:t>
            </a:r>
            <a:endParaRPr lang="ru-RU" altLang="ru-RU" smtClean="0"/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2284413" y="1993900"/>
            <a:ext cx="6630987" cy="379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Tx/>
              <a:buSzTx/>
              <a:buFontTx/>
              <a:buChar char="•"/>
            </a:pPr>
            <a:r>
              <a:rPr lang="ru-RU" altLang="ru-RU" sz="200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101 модель для описания практически всех сторон деятельности современного предприятия</a:t>
            </a:r>
          </a:p>
          <a:p>
            <a:pPr>
              <a:lnSpc>
                <a:spcPct val="90000"/>
              </a:lnSpc>
              <a:buClrTx/>
              <a:buSzTx/>
              <a:buFontTx/>
              <a:buChar char="•"/>
            </a:pPr>
            <a:r>
              <a:rPr lang="ru-RU" altLang="ru-RU" sz="200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Более 250 объектов, описывающих различные аспекты предметных областей  </a:t>
            </a:r>
          </a:p>
          <a:p>
            <a:pPr>
              <a:lnSpc>
                <a:spcPct val="90000"/>
              </a:lnSpc>
              <a:buClrTx/>
              <a:buSzTx/>
              <a:buFontTx/>
              <a:buChar char="•"/>
            </a:pPr>
            <a:r>
              <a:rPr lang="ru-RU" altLang="ru-RU" sz="200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Более 600 различных типов связей, позволяющих описать разнообразные отношения между объектами</a:t>
            </a:r>
          </a:p>
          <a:p>
            <a:pPr>
              <a:lnSpc>
                <a:spcPct val="90000"/>
              </a:lnSpc>
              <a:buClrTx/>
              <a:buSzTx/>
              <a:buFontTx/>
              <a:buChar char="•"/>
            </a:pPr>
            <a:r>
              <a:rPr lang="ru-RU" altLang="ru-RU" sz="200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Встроенные механизмы для управления, проверки, анализа, экспорта/импорта, архивирования  моделей</a:t>
            </a:r>
          </a:p>
        </p:txBody>
      </p:sp>
      <p:grpSp>
        <p:nvGrpSpPr>
          <p:cNvPr id="23557" name="Group 4"/>
          <p:cNvGrpSpPr>
            <a:grpSpLocks/>
          </p:cNvGrpSpPr>
          <p:nvPr/>
        </p:nvGrpSpPr>
        <p:grpSpPr bwMode="auto">
          <a:xfrm>
            <a:off x="239713" y="2297113"/>
            <a:ext cx="1939925" cy="1962150"/>
            <a:chOff x="151" y="1255"/>
            <a:chExt cx="1222" cy="1236"/>
          </a:xfrm>
        </p:grpSpPr>
        <p:sp>
          <p:nvSpPr>
            <p:cNvPr id="23560" name="Rectangle 5"/>
            <p:cNvSpPr>
              <a:spLocks noChangeArrowheads="1"/>
            </p:cNvSpPr>
            <p:nvPr/>
          </p:nvSpPr>
          <p:spPr bwMode="auto">
            <a:xfrm>
              <a:off x="151" y="2410"/>
              <a:ext cx="1215" cy="81"/>
            </a:xfrm>
            <a:prstGeom prst="rect">
              <a:avLst/>
            </a:prstGeom>
            <a:solidFill>
              <a:srgbClr val="FF0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ru-RU" altLang="ru-RU" sz="1800"/>
            </a:p>
          </p:txBody>
        </p:sp>
        <p:sp>
          <p:nvSpPr>
            <p:cNvPr id="23561" name="Freeform 6"/>
            <p:cNvSpPr>
              <a:spLocks/>
            </p:cNvSpPr>
            <p:nvPr/>
          </p:nvSpPr>
          <p:spPr bwMode="auto">
            <a:xfrm>
              <a:off x="290" y="2207"/>
              <a:ext cx="222" cy="264"/>
            </a:xfrm>
            <a:custGeom>
              <a:avLst/>
              <a:gdLst>
                <a:gd name="T0" fmla="*/ 90 w 222"/>
                <a:gd name="T1" fmla="*/ 7 h 264"/>
                <a:gd name="T2" fmla="*/ 83 w 222"/>
                <a:gd name="T3" fmla="*/ 21 h 264"/>
                <a:gd name="T4" fmla="*/ 76 w 222"/>
                <a:gd name="T5" fmla="*/ 41 h 264"/>
                <a:gd name="T6" fmla="*/ 69 w 222"/>
                <a:gd name="T7" fmla="*/ 54 h 264"/>
                <a:gd name="T8" fmla="*/ 62 w 222"/>
                <a:gd name="T9" fmla="*/ 75 h 264"/>
                <a:gd name="T10" fmla="*/ 55 w 222"/>
                <a:gd name="T11" fmla="*/ 95 h 264"/>
                <a:gd name="T12" fmla="*/ 48 w 222"/>
                <a:gd name="T13" fmla="*/ 108 h 264"/>
                <a:gd name="T14" fmla="*/ 42 w 222"/>
                <a:gd name="T15" fmla="*/ 129 h 264"/>
                <a:gd name="T16" fmla="*/ 35 w 222"/>
                <a:gd name="T17" fmla="*/ 149 h 264"/>
                <a:gd name="T18" fmla="*/ 28 w 222"/>
                <a:gd name="T19" fmla="*/ 162 h 264"/>
                <a:gd name="T20" fmla="*/ 21 w 222"/>
                <a:gd name="T21" fmla="*/ 183 h 264"/>
                <a:gd name="T22" fmla="*/ 14 w 222"/>
                <a:gd name="T23" fmla="*/ 203 h 264"/>
                <a:gd name="T24" fmla="*/ 7 w 222"/>
                <a:gd name="T25" fmla="*/ 216 h 264"/>
                <a:gd name="T26" fmla="*/ 0 w 222"/>
                <a:gd name="T27" fmla="*/ 250 h 264"/>
                <a:gd name="T28" fmla="*/ 14 w 222"/>
                <a:gd name="T29" fmla="*/ 264 h 264"/>
                <a:gd name="T30" fmla="*/ 35 w 222"/>
                <a:gd name="T31" fmla="*/ 257 h 264"/>
                <a:gd name="T32" fmla="*/ 48 w 222"/>
                <a:gd name="T33" fmla="*/ 230 h 264"/>
                <a:gd name="T34" fmla="*/ 55 w 222"/>
                <a:gd name="T35" fmla="*/ 216 h 264"/>
                <a:gd name="T36" fmla="*/ 62 w 222"/>
                <a:gd name="T37" fmla="*/ 210 h 264"/>
                <a:gd name="T38" fmla="*/ 215 w 222"/>
                <a:gd name="T39" fmla="*/ 196 h 264"/>
                <a:gd name="T40" fmla="*/ 208 w 222"/>
                <a:gd name="T41" fmla="*/ 183 h 264"/>
                <a:gd name="T42" fmla="*/ 201 w 222"/>
                <a:gd name="T43" fmla="*/ 162 h 264"/>
                <a:gd name="T44" fmla="*/ 194 w 222"/>
                <a:gd name="T45" fmla="*/ 149 h 264"/>
                <a:gd name="T46" fmla="*/ 187 w 222"/>
                <a:gd name="T47" fmla="*/ 129 h 264"/>
                <a:gd name="T48" fmla="*/ 180 w 222"/>
                <a:gd name="T49" fmla="*/ 108 h 264"/>
                <a:gd name="T50" fmla="*/ 173 w 222"/>
                <a:gd name="T51" fmla="*/ 95 h 264"/>
                <a:gd name="T52" fmla="*/ 167 w 222"/>
                <a:gd name="T53" fmla="*/ 75 h 264"/>
                <a:gd name="T54" fmla="*/ 118 w 222"/>
                <a:gd name="T55" fmla="*/ 68 h 264"/>
                <a:gd name="T56" fmla="*/ 125 w 222"/>
                <a:gd name="T57" fmla="*/ 81 h 264"/>
                <a:gd name="T58" fmla="*/ 132 w 222"/>
                <a:gd name="T59" fmla="*/ 102 h 264"/>
                <a:gd name="T60" fmla="*/ 139 w 222"/>
                <a:gd name="T61" fmla="*/ 115 h 264"/>
                <a:gd name="T62" fmla="*/ 146 w 222"/>
                <a:gd name="T63" fmla="*/ 135 h 264"/>
                <a:gd name="T64" fmla="*/ 153 w 222"/>
                <a:gd name="T65" fmla="*/ 149 h 264"/>
                <a:gd name="T66" fmla="*/ 76 w 222"/>
                <a:gd name="T67" fmla="*/ 156 h 264"/>
                <a:gd name="T68" fmla="*/ 83 w 222"/>
                <a:gd name="T69" fmla="*/ 149 h 264"/>
                <a:gd name="T70" fmla="*/ 90 w 222"/>
                <a:gd name="T71" fmla="*/ 129 h 264"/>
                <a:gd name="T72" fmla="*/ 97 w 222"/>
                <a:gd name="T73" fmla="*/ 108 h 264"/>
                <a:gd name="T74" fmla="*/ 104 w 222"/>
                <a:gd name="T75" fmla="*/ 88 h 264"/>
                <a:gd name="T76" fmla="*/ 167 w 222"/>
                <a:gd name="T77" fmla="*/ 68 h 264"/>
                <a:gd name="T78" fmla="*/ 160 w 222"/>
                <a:gd name="T79" fmla="*/ 54 h 264"/>
                <a:gd name="T80" fmla="*/ 153 w 222"/>
                <a:gd name="T81" fmla="*/ 41 h 264"/>
                <a:gd name="T82" fmla="*/ 146 w 222"/>
                <a:gd name="T83" fmla="*/ 21 h 264"/>
                <a:gd name="T84" fmla="*/ 139 w 222"/>
                <a:gd name="T85" fmla="*/ 7 h 264"/>
                <a:gd name="T86" fmla="*/ 90 w 222"/>
                <a:gd name="T87" fmla="*/ 0 h 26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22"/>
                <a:gd name="T133" fmla="*/ 0 h 264"/>
                <a:gd name="T134" fmla="*/ 222 w 222"/>
                <a:gd name="T135" fmla="*/ 264 h 26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22" h="264">
                  <a:moveTo>
                    <a:pt x="90" y="0"/>
                  </a:moveTo>
                  <a:lnTo>
                    <a:pt x="90" y="7"/>
                  </a:lnTo>
                  <a:lnTo>
                    <a:pt x="83" y="7"/>
                  </a:lnTo>
                  <a:lnTo>
                    <a:pt x="83" y="21"/>
                  </a:lnTo>
                  <a:lnTo>
                    <a:pt x="76" y="21"/>
                  </a:lnTo>
                  <a:lnTo>
                    <a:pt x="76" y="41"/>
                  </a:lnTo>
                  <a:lnTo>
                    <a:pt x="69" y="41"/>
                  </a:lnTo>
                  <a:lnTo>
                    <a:pt x="69" y="54"/>
                  </a:lnTo>
                  <a:lnTo>
                    <a:pt x="62" y="54"/>
                  </a:lnTo>
                  <a:lnTo>
                    <a:pt x="62" y="75"/>
                  </a:lnTo>
                  <a:lnTo>
                    <a:pt x="55" y="75"/>
                  </a:lnTo>
                  <a:lnTo>
                    <a:pt x="55" y="95"/>
                  </a:lnTo>
                  <a:lnTo>
                    <a:pt x="48" y="95"/>
                  </a:lnTo>
                  <a:lnTo>
                    <a:pt x="48" y="108"/>
                  </a:lnTo>
                  <a:lnTo>
                    <a:pt x="42" y="108"/>
                  </a:lnTo>
                  <a:lnTo>
                    <a:pt x="42" y="129"/>
                  </a:lnTo>
                  <a:lnTo>
                    <a:pt x="35" y="129"/>
                  </a:lnTo>
                  <a:lnTo>
                    <a:pt x="35" y="149"/>
                  </a:lnTo>
                  <a:lnTo>
                    <a:pt x="28" y="149"/>
                  </a:lnTo>
                  <a:lnTo>
                    <a:pt x="28" y="162"/>
                  </a:lnTo>
                  <a:lnTo>
                    <a:pt x="21" y="162"/>
                  </a:lnTo>
                  <a:lnTo>
                    <a:pt x="21" y="183"/>
                  </a:lnTo>
                  <a:lnTo>
                    <a:pt x="14" y="183"/>
                  </a:lnTo>
                  <a:lnTo>
                    <a:pt x="14" y="203"/>
                  </a:lnTo>
                  <a:lnTo>
                    <a:pt x="7" y="203"/>
                  </a:lnTo>
                  <a:lnTo>
                    <a:pt x="7" y="216"/>
                  </a:lnTo>
                  <a:lnTo>
                    <a:pt x="0" y="216"/>
                  </a:lnTo>
                  <a:lnTo>
                    <a:pt x="0" y="250"/>
                  </a:lnTo>
                  <a:lnTo>
                    <a:pt x="7" y="250"/>
                  </a:lnTo>
                  <a:lnTo>
                    <a:pt x="14" y="264"/>
                  </a:lnTo>
                  <a:lnTo>
                    <a:pt x="35" y="264"/>
                  </a:lnTo>
                  <a:lnTo>
                    <a:pt x="35" y="257"/>
                  </a:lnTo>
                  <a:lnTo>
                    <a:pt x="48" y="250"/>
                  </a:lnTo>
                  <a:lnTo>
                    <a:pt x="48" y="230"/>
                  </a:lnTo>
                  <a:lnTo>
                    <a:pt x="55" y="230"/>
                  </a:lnTo>
                  <a:lnTo>
                    <a:pt x="55" y="216"/>
                  </a:lnTo>
                  <a:lnTo>
                    <a:pt x="62" y="216"/>
                  </a:lnTo>
                  <a:lnTo>
                    <a:pt x="62" y="210"/>
                  </a:lnTo>
                  <a:lnTo>
                    <a:pt x="222" y="210"/>
                  </a:lnTo>
                  <a:lnTo>
                    <a:pt x="215" y="196"/>
                  </a:lnTo>
                  <a:lnTo>
                    <a:pt x="215" y="183"/>
                  </a:lnTo>
                  <a:lnTo>
                    <a:pt x="208" y="183"/>
                  </a:lnTo>
                  <a:lnTo>
                    <a:pt x="208" y="162"/>
                  </a:lnTo>
                  <a:lnTo>
                    <a:pt x="201" y="162"/>
                  </a:lnTo>
                  <a:lnTo>
                    <a:pt x="201" y="149"/>
                  </a:lnTo>
                  <a:lnTo>
                    <a:pt x="194" y="149"/>
                  </a:lnTo>
                  <a:lnTo>
                    <a:pt x="194" y="129"/>
                  </a:lnTo>
                  <a:lnTo>
                    <a:pt x="187" y="129"/>
                  </a:lnTo>
                  <a:lnTo>
                    <a:pt x="187" y="108"/>
                  </a:lnTo>
                  <a:lnTo>
                    <a:pt x="180" y="108"/>
                  </a:lnTo>
                  <a:lnTo>
                    <a:pt x="180" y="95"/>
                  </a:lnTo>
                  <a:lnTo>
                    <a:pt x="173" y="95"/>
                  </a:lnTo>
                  <a:lnTo>
                    <a:pt x="173" y="75"/>
                  </a:lnTo>
                  <a:lnTo>
                    <a:pt x="167" y="75"/>
                  </a:lnTo>
                  <a:lnTo>
                    <a:pt x="167" y="68"/>
                  </a:lnTo>
                  <a:lnTo>
                    <a:pt x="118" y="68"/>
                  </a:lnTo>
                  <a:lnTo>
                    <a:pt x="118" y="81"/>
                  </a:lnTo>
                  <a:lnTo>
                    <a:pt x="125" y="81"/>
                  </a:lnTo>
                  <a:lnTo>
                    <a:pt x="125" y="102"/>
                  </a:lnTo>
                  <a:lnTo>
                    <a:pt x="132" y="102"/>
                  </a:lnTo>
                  <a:lnTo>
                    <a:pt x="132" y="115"/>
                  </a:lnTo>
                  <a:lnTo>
                    <a:pt x="139" y="115"/>
                  </a:lnTo>
                  <a:lnTo>
                    <a:pt x="139" y="135"/>
                  </a:lnTo>
                  <a:lnTo>
                    <a:pt x="146" y="135"/>
                  </a:lnTo>
                  <a:lnTo>
                    <a:pt x="146" y="149"/>
                  </a:lnTo>
                  <a:lnTo>
                    <a:pt x="153" y="149"/>
                  </a:lnTo>
                  <a:lnTo>
                    <a:pt x="153" y="156"/>
                  </a:lnTo>
                  <a:lnTo>
                    <a:pt x="76" y="156"/>
                  </a:lnTo>
                  <a:lnTo>
                    <a:pt x="76" y="149"/>
                  </a:lnTo>
                  <a:lnTo>
                    <a:pt x="83" y="149"/>
                  </a:lnTo>
                  <a:lnTo>
                    <a:pt x="83" y="129"/>
                  </a:lnTo>
                  <a:lnTo>
                    <a:pt x="90" y="129"/>
                  </a:lnTo>
                  <a:lnTo>
                    <a:pt x="90" y="108"/>
                  </a:lnTo>
                  <a:lnTo>
                    <a:pt x="97" y="108"/>
                  </a:lnTo>
                  <a:lnTo>
                    <a:pt x="97" y="88"/>
                  </a:lnTo>
                  <a:lnTo>
                    <a:pt x="104" y="88"/>
                  </a:lnTo>
                  <a:lnTo>
                    <a:pt x="104" y="68"/>
                  </a:lnTo>
                  <a:lnTo>
                    <a:pt x="167" y="68"/>
                  </a:lnTo>
                  <a:lnTo>
                    <a:pt x="167" y="54"/>
                  </a:lnTo>
                  <a:lnTo>
                    <a:pt x="160" y="54"/>
                  </a:lnTo>
                  <a:lnTo>
                    <a:pt x="160" y="41"/>
                  </a:lnTo>
                  <a:lnTo>
                    <a:pt x="153" y="41"/>
                  </a:lnTo>
                  <a:lnTo>
                    <a:pt x="153" y="21"/>
                  </a:lnTo>
                  <a:lnTo>
                    <a:pt x="146" y="21"/>
                  </a:lnTo>
                  <a:lnTo>
                    <a:pt x="146" y="7"/>
                  </a:lnTo>
                  <a:lnTo>
                    <a:pt x="139" y="7"/>
                  </a:lnTo>
                  <a:lnTo>
                    <a:pt x="139" y="0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62" name="Freeform 7"/>
            <p:cNvSpPr>
              <a:spLocks/>
            </p:cNvSpPr>
            <p:nvPr/>
          </p:nvSpPr>
          <p:spPr bwMode="auto">
            <a:xfrm>
              <a:off x="623" y="2207"/>
              <a:ext cx="188" cy="264"/>
            </a:xfrm>
            <a:custGeom>
              <a:avLst/>
              <a:gdLst>
                <a:gd name="T0" fmla="*/ 21 w 188"/>
                <a:gd name="T1" fmla="*/ 7 h 264"/>
                <a:gd name="T2" fmla="*/ 7 w 188"/>
                <a:gd name="T3" fmla="*/ 14 h 264"/>
                <a:gd name="T4" fmla="*/ 0 w 188"/>
                <a:gd name="T5" fmla="*/ 54 h 264"/>
                <a:gd name="T6" fmla="*/ 104 w 188"/>
                <a:gd name="T7" fmla="*/ 61 h 264"/>
                <a:gd name="T8" fmla="*/ 125 w 188"/>
                <a:gd name="T9" fmla="*/ 75 h 264"/>
                <a:gd name="T10" fmla="*/ 125 w 188"/>
                <a:gd name="T11" fmla="*/ 88 h 264"/>
                <a:gd name="T12" fmla="*/ 111 w 188"/>
                <a:gd name="T13" fmla="*/ 108 h 264"/>
                <a:gd name="T14" fmla="*/ 56 w 188"/>
                <a:gd name="T15" fmla="*/ 54 h 264"/>
                <a:gd name="T16" fmla="*/ 0 w 188"/>
                <a:gd name="T17" fmla="*/ 156 h 264"/>
                <a:gd name="T18" fmla="*/ 70 w 188"/>
                <a:gd name="T19" fmla="*/ 169 h 264"/>
                <a:gd name="T20" fmla="*/ 84 w 188"/>
                <a:gd name="T21" fmla="*/ 183 h 264"/>
                <a:gd name="T22" fmla="*/ 97 w 188"/>
                <a:gd name="T23" fmla="*/ 196 h 264"/>
                <a:gd name="T24" fmla="*/ 104 w 188"/>
                <a:gd name="T25" fmla="*/ 210 h 264"/>
                <a:gd name="T26" fmla="*/ 118 w 188"/>
                <a:gd name="T27" fmla="*/ 223 h 264"/>
                <a:gd name="T28" fmla="*/ 132 w 188"/>
                <a:gd name="T29" fmla="*/ 250 h 264"/>
                <a:gd name="T30" fmla="*/ 139 w 188"/>
                <a:gd name="T31" fmla="*/ 257 h 264"/>
                <a:gd name="T32" fmla="*/ 153 w 188"/>
                <a:gd name="T33" fmla="*/ 264 h 264"/>
                <a:gd name="T34" fmla="*/ 174 w 188"/>
                <a:gd name="T35" fmla="*/ 257 h 264"/>
                <a:gd name="T36" fmla="*/ 188 w 188"/>
                <a:gd name="T37" fmla="*/ 223 h 264"/>
                <a:gd name="T38" fmla="*/ 174 w 188"/>
                <a:gd name="T39" fmla="*/ 210 h 264"/>
                <a:gd name="T40" fmla="*/ 160 w 188"/>
                <a:gd name="T41" fmla="*/ 196 h 264"/>
                <a:gd name="T42" fmla="*/ 153 w 188"/>
                <a:gd name="T43" fmla="*/ 183 h 264"/>
                <a:gd name="T44" fmla="*/ 139 w 188"/>
                <a:gd name="T45" fmla="*/ 169 h 264"/>
                <a:gd name="T46" fmla="*/ 125 w 188"/>
                <a:gd name="T47" fmla="*/ 156 h 264"/>
                <a:gd name="T48" fmla="*/ 153 w 188"/>
                <a:gd name="T49" fmla="*/ 142 h 264"/>
                <a:gd name="T50" fmla="*/ 167 w 188"/>
                <a:gd name="T51" fmla="*/ 129 h 264"/>
                <a:gd name="T52" fmla="*/ 174 w 188"/>
                <a:gd name="T53" fmla="*/ 115 h 264"/>
                <a:gd name="T54" fmla="*/ 188 w 188"/>
                <a:gd name="T55" fmla="*/ 54 h 264"/>
                <a:gd name="T56" fmla="*/ 181 w 188"/>
                <a:gd name="T57" fmla="*/ 41 h 264"/>
                <a:gd name="T58" fmla="*/ 174 w 188"/>
                <a:gd name="T59" fmla="*/ 27 h 264"/>
                <a:gd name="T60" fmla="*/ 153 w 188"/>
                <a:gd name="T61" fmla="*/ 14 h 264"/>
                <a:gd name="T62" fmla="*/ 146 w 188"/>
                <a:gd name="T63" fmla="*/ 7 h 264"/>
                <a:gd name="T64" fmla="*/ 118 w 188"/>
                <a:gd name="T65" fmla="*/ 0 h 26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8"/>
                <a:gd name="T100" fmla="*/ 0 h 264"/>
                <a:gd name="T101" fmla="*/ 188 w 188"/>
                <a:gd name="T102" fmla="*/ 264 h 26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8" h="264">
                  <a:moveTo>
                    <a:pt x="21" y="0"/>
                  </a:moveTo>
                  <a:lnTo>
                    <a:pt x="21" y="7"/>
                  </a:lnTo>
                  <a:lnTo>
                    <a:pt x="7" y="7"/>
                  </a:lnTo>
                  <a:lnTo>
                    <a:pt x="7" y="14"/>
                  </a:lnTo>
                  <a:lnTo>
                    <a:pt x="0" y="14"/>
                  </a:lnTo>
                  <a:lnTo>
                    <a:pt x="0" y="54"/>
                  </a:lnTo>
                  <a:lnTo>
                    <a:pt x="104" y="54"/>
                  </a:lnTo>
                  <a:lnTo>
                    <a:pt x="104" y="61"/>
                  </a:lnTo>
                  <a:lnTo>
                    <a:pt x="118" y="61"/>
                  </a:lnTo>
                  <a:lnTo>
                    <a:pt x="125" y="75"/>
                  </a:lnTo>
                  <a:lnTo>
                    <a:pt x="132" y="88"/>
                  </a:lnTo>
                  <a:lnTo>
                    <a:pt x="125" y="88"/>
                  </a:lnTo>
                  <a:lnTo>
                    <a:pt x="125" y="102"/>
                  </a:lnTo>
                  <a:lnTo>
                    <a:pt x="111" y="108"/>
                  </a:lnTo>
                  <a:lnTo>
                    <a:pt x="56" y="108"/>
                  </a:lnTo>
                  <a:lnTo>
                    <a:pt x="56" y="54"/>
                  </a:lnTo>
                  <a:lnTo>
                    <a:pt x="0" y="54"/>
                  </a:lnTo>
                  <a:lnTo>
                    <a:pt x="0" y="156"/>
                  </a:lnTo>
                  <a:lnTo>
                    <a:pt x="63" y="156"/>
                  </a:lnTo>
                  <a:lnTo>
                    <a:pt x="70" y="169"/>
                  </a:lnTo>
                  <a:lnTo>
                    <a:pt x="77" y="183"/>
                  </a:lnTo>
                  <a:lnTo>
                    <a:pt x="84" y="183"/>
                  </a:lnTo>
                  <a:lnTo>
                    <a:pt x="90" y="196"/>
                  </a:lnTo>
                  <a:lnTo>
                    <a:pt x="97" y="196"/>
                  </a:lnTo>
                  <a:lnTo>
                    <a:pt x="97" y="210"/>
                  </a:lnTo>
                  <a:lnTo>
                    <a:pt x="104" y="210"/>
                  </a:lnTo>
                  <a:lnTo>
                    <a:pt x="111" y="223"/>
                  </a:lnTo>
                  <a:lnTo>
                    <a:pt x="118" y="223"/>
                  </a:lnTo>
                  <a:lnTo>
                    <a:pt x="125" y="237"/>
                  </a:lnTo>
                  <a:lnTo>
                    <a:pt x="132" y="250"/>
                  </a:lnTo>
                  <a:lnTo>
                    <a:pt x="139" y="250"/>
                  </a:lnTo>
                  <a:lnTo>
                    <a:pt x="139" y="257"/>
                  </a:lnTo>
                  <a:lnTo>
                    <a:pt x="153" y="257"/>
                  </a:lnTo>
                  <a:lnTo>
                    <a:pt x="153" y="264"/>
                  </a:lnTo>
                  <a:lnTo>
                    <a:pt x="174" y="264"/>
                  </a:lnTo>
                  <a:lnTo>
                    <a:pt x="174" y="257"/>
                  </a:lnTo>
                  <a:lnTo>
                    <a:pt x="188" y="250"/>
                  </a:lnTo>
                  <a:lnTo>
                    <a:pt x="188" y="223"/>
                  </a:lnTo>
                  <a:lnTo>
                    <a:pt x="181" y="223"/>
                  </a:lnTo>
                  <a:lnTo>
                    <a:pt x="174" y="210"/>
                  </a:lnTo>
                  <a:lnTo>
                    <a:pt x="167" y="210"/>
                  </a:lnTo>
                  <a:lnTo>
                    <a:pt x="160" y="196"/>
                  </a:lnTo>
                  <a:lnTo>
                    <a:pt x="153" y="196"/>
                  </a:lnTo>
                  <a:lnTo>
                    <a:pt x="153" y="183"/>
                  </a:lnTo>
                  <a:lnTo>
                    <a:pt x="146" y="183"/>
                  </a:lnTo>
                  <a:lnTo>
                    <a:pt x="139" y="169"/>
                  </a:lnTo>
                  <a:lnTo>
                    <a:pt x="132" y="169"/>
                  </a:lnTo>
                  <a:lnTo>
                    <a:pt x="125" y="156"/>
                  </a:lnTo>
                  <a:lnTo>
                    <a:pt x="139" y="149"/>
                  </a:lnTo>
                  <a:lnTo>
                    <a:pt x="153" y="142"/>
                  </a:lnTo>
                  <a:lnTo>
                    <a:pt x="167" y="135"/>
                  </a:lnTo>
                  <a:lnTo>
                    <a:pt x="167" y="129"/>
                  </a:lnTo>
                  <a:lnTo>
                    <a:pt x="174" y="129"/>
                  </a:lnTo>
                  <a:lnTo>
                    <a:pt x="174" y="115"/>
                  </a:lnTo>
                  <a:lnTo>
                    <a:pt x="188" y="108"/>
                  </a:lnTo>
                  <a:lnTo>
                    <a:pt x="188" y="54"/>
                  </a:lnTo>
                  <a:lnTo>
                    <a:pt x="181" y="54"/>
                  </a:lnTo>
                  <a:lnTo>
                    <a:pt x="181" y="41"/>
                  </a:lnTo>
                  <a:lnTo>
                    <a:pt x="174" y="41"/>
                  </a:lnTo>
                  <a:lnTo>
                    <a:pt x="174" y="27"/>
                  </a:lnTo>
                  <a:lnTo>
                    <a:pt x="160" y="27"/>
                  </a:lnTo>
                  <a:lnTo>
                    <a:pt x="153" y="14"/>
                  </a:lnTo>
                  <a:lnTo>
                    <a:pt x="146" y="14"/>
                  </a:lnTo>
                  <a:lnTo>
                    <a:pt x="146" y="7"/>
                  </a:lnTo>
                  <a:lnTo>
                    <a:pt x="118" y="7"/>
                  </a:lnTo>
                  <a:lnTo>
                    <a:pt x="118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63" name="Freeform 8"/>
            <p:cNvSpPr>
              <a:spLocks/>
            </p:cNvSpPr>
            <p:nvPr/>
          </p:nvSpPr>
          <p:spPr bwMode="auto">
            <a:xfrm>
              <a:off x="922" y="2207"/>
              <a:ext cx="55" cy="264"/>
            </a:xfrm>
            <a:custGeom>
              <a:avLst/>
              <a:gdLst>
                <a:gd name="T0" fmla="*/ 14 w 55"/>
                <a:gd name="T1" fmla="*/ 0 h 264"/>
                <a:gd name="T2" fmla="*/ 14 w 55"/>
                <a:gd name="T3" fmla="*/ 7 h 264"/>
                <a:gd name="T4" fmla="*/ 0 w 55"/>
                <a:gd name="T5" fmla="*/ 14 h 264"/>
                <a:gd name="T6" fmla="*/ 0 w 55"/>
                <a:gd name="T7" fmla="*/ 250 h 264"/>
                <a:gd name="T8" fmla="*/ 7 w 55"/>
                <a:gd name="T9" fmla="*/ 250 h 264"/>
                <a:gd name="T10" fmla="*/ 14 w 55"/>
                <a:gd name="T11" fmla="*/ 264 h 264"/>
                <a:gd name="T12" fmla="*/ 35 w 55"/>
                <a:gd name="T13" fmla="*/ 264 h 264"/>
                <a:gd name="T14" fmla="*/ 35 w 55"/>
                <a:gd name="T15" fmla="*/ 257 h 264"/>
                <a:gd name="T16" fmla="*/ 48 w 55"/>
                <a:gd name="T17" fmla="*/ 257 h 264"/>
                <a:gd name="T18" fmla="*/ 48 w 55"/>
                <a:gd name="T19" fmla="*/ 243 h 264"/>
                <a:gd name="T20" fmla="*/ 55 w 55"/>
                <a:gd name="T21" fmla="*/ 243 h 264"/>
                <a:gd name="T22" fmla="*/ 55 w 55"/>
                <a:gd name="T23" fmla="*/ 21 h 264"/>
                <a:gd name="T24" fmla="*/ 48 w 55"/>
                <a:gd name="T25" fmla="*/ 21 h 264"/>
                <a:gd name="T26" fmla="*/ 48 w 55"/>
                <a:gd name="T27" fmla="*/ 7 h 264"/>
                <a:gd name="T28" fmla="*/ 35 w 55"/>
                <a:gd name="T29" fmla="*/ 7 h 264"/>
                <a:gd name="T30" fmla="*/ 35 w 55"/>
                <a:gd name="T31" fmla="*/ 0 h 264"/>
                <a:gd name="T32" fmla="*/ 14 w 55"/>
                <a:gd name="T33" fmla="*/ 0 h 26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5"/>
                <a:gd name="T52" fmla="*/ 0 h 264"/>
                <a:gd name="T53" fmla="*/ 55 w 55"/>
                <a:gd name="T54" fmla="*/ 264 h 26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5" h="264">
                  <a:moveTo>
                    <a:pt x="14" y="0"/>
                  </a:moveTo>
                  <a:lnTo>
                    <a:pt x="14" y="7"/>
                  </a:lnTo>
                  <a:lnTo>
                    <a:pt x="0" y="14"/>
                  </a:lnTo>
                  <a:lnTo>
                    <a:pt x="0" y="250"/>
                  </a:lnTo>
                  <a:lnTo>
                    <a:pt x="7" y="250"/>
                  </a:lnTo>
                  <a:lnTo>
                    <a:pt x="14" y="264"/>
                  </a:lnTo>
                  <a:lnTo>
                    <a:pt x="35" y="264"/>
                  </a:lnTo>
                  <a:lnTo>
                    <a:pt x="35" y="257"/>
                  </a:lnTo>
                  <a:lnTo>
                    <a:pt x="48" y="257"/>
                  </a:lnTo>
                  <a:lnTo>
                    <a:pt x="48" y="243"/>
                  </a:lnTo>
                  <a:lnTo>
                    <a:pt x="55" y="243"/>
                  </a:lnTo>
                  <a:lnTo>
                    <a:pt x="55" y="21"/>
                  </a:lnTo>
                  <a:lnTo>
                    <a:pt x="48" y="21"/>
                  </a:lnTo>
                  <a:lnTo>
                    <a:pt x="48" y="7"/>
                  </a:lnTo>
                  <a:lnTo>
                    <a:pt x="35" y="7"/>
                  </a:lnTo>
                  <a:lnTo>
                    <a:pt x="35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64" name="Freeform 9"/>
            <p:cNvSpPr>
              <a:spLocks/>
            </p:cNvSpPr>
            <p:nvPr/>
          </p:nvSpPr>
          <p:spPr bwMode="auto">
            <a:xfrm>
              <a:off x="1082" y="2207"/>
              <a:ext cx="187" cy="264"/>
            </a:xfrm>
            <a:custGeom>
              <a:avLst/>
              <a:gdLst>
                <a:gd name="T0" fmla="*/ 62 w 187"/>
                <a:gd name="T1" fmla="*/ 7 h 264"/>
                <a:gd name="T2" fmla="*/ 48 w 187"/>
                <a:gd name="T3" fmla="*/ 14 h 264"/>
                <a:gd name="T4" fmla="*/ 34 w 187"/>
                <a:gd name="T5" fmla="*/ 27 h 264"/>
                <a:gd name="T6" fmla="*/ 20 w 187"/>
                <a:gd name="T7" fmla="*/ 34 h 264"/>
                <a:gd name="T8" fmla="*/ 13 w 187"/>
                <a:gd name="T9" fmla="*/ 48 h 264"/>
                <a:gd name="T10" fmla="*/ 6 w 187"/>
                <a:gd name="T11" fmla="*/ 108 h 264"/>
                <a:gd name="T12" fmla="*/ 20 w 187"/>
                <a:gd name="T13" fmla="*/ 122 h 264"/>
                <a:gd name="T14" fmla="*/ 34 w 187"/>
                <a:gd name="T15" fmla="*/ 135 h 264"/>
                <a:gd name="T16" fmla="*/ 41 w 187"/>
                <a:gd name="T17" fmla="*/ 142 h 264"/>
                <a:gd name="T18" fmla="*/ 69 w 187"/>
                <a:gd name="T19" fmla="*/ 149 h 264"/>
                <a:gd name="T20" fmla="*/ 90 w 187"/>
                <a:gd name="T21" fmla="*/ 156 h 264"/>
                <a:gd name="T22" fmla="*/ 111 w 187"/>
                <a:gd name="T23" fmla="*/ 162 h 264"/>
                <a:gd name="T24" fmla="*/ 125 w 187"/>
                <a:gd name="T25" fmla="*/ 196 h 264"/>
                <a:gd name="T26" fmla="*/ 97 w 187"/>
                <a:gd name="T27" fmla="*/ 210 h 264"/>
                <a:gd name="T28" fmla="*/ 76 w 187"/>
                <a:gd name="T29" fmla="*/ 203 h 264"/>
                <a:gd name="T30" fmla="*/ 41 w 187"/>
                <a:gd name="T31" fmla="*/ 196 h 264"/>
                <a:gd name="T32" fmla="*/ 20 w 187"/>
                <a:gd name="T33" fmla="*/ 203 h 264"/>
                <a:gd name="T34" fmla="*/ 6 w 187"/>
                <a:gd name="T35" fmla="*/ 216 h 264"/>
                <a:gd name="T36" fmla="*/ 0 w 187"/>
                <a:gd name="T37" fmla="*/ 230 h 264"/>
                <a:gd name="T38" fmla="*/ 6 w 187"/>
                <a:gd name="T39" fmla="*/ 243 h 264"/>
                <a:gd name="T40" fmla="*/ 13 w 187"/>
                <a:gd name="T41" fmla="*/ 250 h 264"/>
                <a:gd name="T42" fmla="*/ 27 w 187"/>
                <a:gd name="T43" fmla="*/ 257 h 264"/>
                <a:gd name="T44" fmla="*/ 69 w 187"/>
                <a:gd name="T45" fmla="*/ 264 h 264"/>
                <a:gd name="T46" fmla="*/ 125 w 187"/>
                <a:gd name="T47" fmla="*/ 257 h 264"/>
                <a:gd name="T48" fmla="*/ 145 w 187"/>
                <a:gd name="T49" fmla="*/ 250 h 264"/>
                <a:gd name="T50" fmla="*/ 159 w 187"/>
                <a:gd name="T51" fmla="*/ 237 h 264"/>
                <a:gd name="T52" fmla="*/ 173 w 187"/>
                <a:gd name="T53" fmla="*/ 223 h 264"/>
                <a:gd name="T54" fmla="*/ 180 w 187"/>
                <a:gd name="T55" fmla="*/ 210 h 264"/>
                <a:gd name="T56" fmla="*/ 187 w 187"/>
                <a:gd name="T57" fmla="*/ 156 h 264"/>
                <a:gd name="T58" fmla="*/ 180 w 187"/>
                <a:gd name="T59" fmla="*/ 135 h 264"/>
                <a:gd name="T60" fmla="*/ 173 w 187"/>
                <a:gd name="T61" fmla="*/ 129 h 264"/>
                <a:gd name="T62" fmla="*/ 159 w 187"/>
                <a:gd name="T63" fmla="*/ 115 h 264"/>
                <a:gd name="T64" fmla="*/ 152 w 187"/>
                <a:gd name="T65" fmla="*/ 108 h 264"/>
                <a:gd name="T66" fmla="*/ 125 w 187"/>
                <a:gd name="T67" fmla="*/ 102 h 264"/>
                <a:gd name="T68" fmla="*/ 104 w 187"/>
                <a:gd name="T69" fmla="*/ 95 h 264"/>
                <a:gd name="T70" fmla="*/ 83 w 187"/>
                <a:gd name="T71" fmla="*/ 88 h 264"/>
                <a:gd name="T72" fmla="*/ 69 w 187"/>
                <a:gd name="T73" fmla="*/ 61 h 264"/>
                <a:gd name="T74" fmla="*/ 159 w 187"/>
                <a:gd name="T75" fmla="*/ 54 h 264"/>
                <a:gd name="T76" fmla="*/ 173 w 187"/>
                <a:gd name="T77" fmla="*/ 41 h 264"/>
                <a:gd name="T78" fmla="*/ 166 w 187"/>
                <a:gd name="T79" fmla="*/ 27 h 264"/>
                <a:gd name="T80" fmla="*/ 152 w 187"/>
                <a:gd name="T81" fmla="*/ 14 h 264"/>
                <a:gd name="T82" fmla="*/ 62 w 187"/>
                <a:gd name="T83" fmla="*/ 0 h 2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87"/>
                <a:gd name="T127" fmla="*/ 0 h 264"/>
                <a:gd name="T128" fmla="*/ 187 w 187"/>
                <a:gd name="T129" fmla="*/ 264 h 2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87" h="264">
                  <a:moveTo>
                    <a:pt x="62" y="0"/>
                  </a:moveTo>
                  <a:lnTo>
                    <a:pt x="62" y="7"/>
                  </a:lnTo>
                  <a:lnTo>
                    <a:pt x="48" y="7"/>
                  </a:lnTo>
                  <a:lnTo>
                    <a:pt x="48" y="14"/>
                  </a:lnTo>
                  <a:lnTo>
                    <a:pt x="34" y="21"/>
                  </a:lnTo>
                  <a:lnTo>
                    <a:pt x="34" y="27"/>
                  </a:lnTo>
                  <a:lnTo>
                    <a:pt x="20" y="27"/>
                  </a:lnTo>
                  <a:lnTo>
                    <a:pt x="20" y="34"/>
                  </a:lnTo>
                  <a:lnTo>
                    <a:pt x="13" y="34"/>
                  </a:lnTo>
                  <a:lnTo>
                    <a:pt x="13" y="48"/>
                  </a:lnTo>
                  <a:lnTo>
                    <a:pt x="6" y="48"/>
                  </a:lnTo>
                  <a:lnTo>
                    <a:pt x="6" y="108"/>
                  </a:lnTo>
                  <a:lnTo>
                    <a:pt x="20" y="108"/>
                  </a:lnTo>
                  <a:lnTo>
                    <a:pt x="20" y="122"/>
                  </a:lnTo>
                  <a:lnTo>
                    <a:pt x="27" y="122"/>
                  </a:lnTo>
                  <a:lnTo>
                    <a:pt x="34" y="135"/>
                  </a:lnTo>
                  <a:lnTo>
                    <a:pt x="41" y="135"/>
                  </a:lnTo>
                  <a:lnTo>
                    <a:pt x="41" y="142"/>
                  </a:lnTo>
                  <a:lnTo>
                    <a:pt x="69" y="142"/>
                  </a:lnTo>
                  <a:lnTo>
                    <a:pt x="69" y="149"/>
                  </a:lnTo>
                  <a:lnTo>
                    <a:pt x="90" y="149"/>
                  </a:lnTo>
                  <a:lnTo>
                    <a:pt x="90" y="156"/>
                  </a:lnTo>
                  <a:lnTo>
                    <a:pt x="111" y="156"/>
                  </a:lnTo>
                  <a:lnTo>
                    <a:pt x="111" y="162"/>
                  </a:lnTo>
                  <a:lnTo>
                    <a:pt x="125" y="162"/>
                  </a:lnTo>
                  <a:lnTo>
                    <a:pt x="125" y="196"/>
                  </a:lnTo>
                  <a:lnTo>
                    <a:pt x="111" y="203"/>
                  </a:lnTo>
                  <a:lnTo>
                    <a:pt x="97" y="210"/>
                  </a:lnTo>
                  <a:lnTo>
                    <a:pt x="76" y="210"/>
                  </a:lnTo>
                  <a:lnTo>
                    <a:pt x="76" y="203"/>
                  </a:lnTo>
                  <a:lnTo>
                    <a:pt x="41" y="203"/>
                  </a:lnTo>
                  <a:lnTo>
                    <a:pt x="41" y="196"/>
                  </a:lnTo>
                  <a:lnTo>
                    <a:pt x="20" y="196"/>
                  </a:lnTo>
                  <a:lnTo>
                    <a:pt x="20" y="203"/>
                  </a:lnTo>
                  <a:lnTo>
                    <a:pt x="6" y="203"/>
                  </a:lnTo>
                  <a:lnTo>
                    <a:pt x="6" y="216"/>
                  </a:lnTo>
                  <a:lnTo>
                    <a:pt x="0" y="216"/>
                  </a:lnTo>
                  <a:lnTo>
                    <a:pt x="0" y="230"/>
                  </a:lnTo>
                  <a:lnTo>
                    <a:pt x="6" y="230"/>
                  </a:lnTo>
                  <a:lnTo>
                    <a:pt x="6" y="243"/>
                  </a:lnTo>
                  <a:lnTo>
                    <a:pt x="13" y="243"/>
                  </a:lnTo>
                  <a:lnTo>
                    <a:pt x="13" y="250"/>
                  </a:lnTo>
                  <a:lnTo>
                    <a:pt x="27" y="250"/>
                  </a:lnTo>
                  <a:lnTo>
                    <a:pt x="27" y="257"/>
                  </a:lnTo>
                  <a:lnTo>
                    <a:pt x="69" y="257"/>
                  </a:lnTo>
                  <a:lnTo>
                    <a:pt x="69" y="264"/>
                  </a:lnTo>
                  <a:lnTo>
                    <a:pt x="125" y="264"/>
                  </a:lnTo>
                  <a:lnTo>
                    <a:pt x="125" y="257"/>
                  </a:lnTo>
                  <a:lnTo>
                    <a:pt x="145" y="257"/>
                  </a:lnTo>
                  <a:lnTo>
                    <a:pt x="145" y="250"/>
                  </a:lnTo>
                  <a:lnTo>
                    <a:pt x="159" y="243"/>
                  </a:lnTo>
                  <a:lnTo>
                    <a:pt x="159" y="237"/>
                  </a:lnTo>
                  <a:lnTo>
                    <a:pt x="173" y="230"/>
                  </a:lnTo>
                  <a:lnTo>
                    <a:pt x="173" y="223"/>
                  </a:lnTo>
                  <a:lnTo>
                    <a:pt x="180" y="223"/>
                  </a:lnTo>
                  <a:lnTo>
                    <a:pt x="180" y="210"/>
                  </a:lnTo>
                  <a:lnTo>
                    <a:pt x="187" y="210"/>
                  </a:lnTo>
                  <a:lnTo>
                    <a:pt x="187" y="156"/>
                  </a:lnTo>
                  <a:lnTo>
                    <a:pt x="180" y="156"/>
                  </a:lnTo>
                  <a:lnTo>
                    <a:pt x="180" y="135"/>
                  </a:lnTo>
                  <a:lnTo>
                    <a:pt x="173" y="135"/>
                  </a:lnTo>
                  <a:lnTo>
                    <a:pt x="173" y="129"/>
                  </a:lnTo>
                  <a:lnTo>
                    <a:pt x="159" y="129"/>
                  </a:lnTo>
                  <a:lnTo>
                    <a:pt x="159" y="115"/>
                  </a:lnTo>
                  <a:lnTo>
                    <a:pt x="152" y="115"/>
                  </a:lnTo>
                  <a:lnTo>
                    <a:pt x="152" y="108"/>
                  </a:lnTo>
                  <a:lnTo>
                    <a:pt x="125" y="108"/>
                  </a:lnTo>
                  <a:lnTo>
                    <a:pt x="125" y="102"/>
                  </a:lnTo>
                  <a:lnTo>
                    <a:pt x="104" y="102"/>
                  </a:lnTo>
                  <a:lnTo>
                    <a:pt x="104" y="95"/>
                  </a:lnTo>
                  <a:lnTo>
                    <a:pt x="83" y="95"/>
                  </a:lnTo>
                  <a:lnTo>
                    <a:pt x="83" y="88"/>
                  </a:lnTo>
                  <a:lnTo>
                    <a:pt x="69" y="88"/>
                  </a:lnTo>
                  <a:lnTo>
                    <a:pt x="69" y="61"/>
                  </a:lnTo>
                  <a:lnTo>
                    <a:pt x="83" y="54"/>
                  </a:lnTo>
                  <a:lnTo>
                    <a:pt x="159" y="54"/>
                  </a:lnTo>
                  <a:lnTo>
                    <a:pt x="159" y="48"/>
                  </a:lnTo>
                  <a:lnTo>
                    <a:pt x="173" y="41"/>
                  </a:lnTo>
                  <a:lnTo>
                    <a:pt x="173" y="27"/>
                  </a:lnTo>
                  <a:lnTo>
                    <a:pt x="166" y="27"/>
                  </a:lnTo>
                  <a:lnTo>
                    <a:pt x="159" y="14"/>
                  </a:lnTo>
                  <a:lnTo>
                    <a:pt x="152" y="14"/>
                  </a:lnTo>
                  <a:lnTo>
                    <a:pt x="145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65" name="Freeform 10"/>
            <p:cNvSpPr>
              <a:spLocks/>
            </p:cNvSpPr>
            <p:nvPr/>
          </p:nvSpPr>
          <p:spPr bwMode="auto">
            <a:xfrm>
              <a:off x="457" y="2417"/>
              <a:ext cx="62" cy="54"/>
            </a:xfrm>
            <a:custGeom>
              <a:avLst/>
              <a:gdLst>
                <a:gd name="T0" fmla="*/ 0 w 62"/>
                <a:gd name="T1" fmla="*/ 0 h 54"/>
                <a:gd name="T2" fmla="*/ 0 w 62"/>
                <a:gd name="T3" fmla="*/ 20 h 54"/>
                <a:gd name="T4" fmla="*/ 6 w 62"/>
                <a:gd name="T5" fmla="*/ 20 h 54"/>
                <a:gd name="T6" fmla="*/ 6 w 62"/>
                <a:gd name="T7" fmla="*/ 40 h 54"/>
                <a:gd name="T8" fmla="*/ 20 w 62"/>
                <a:gd name="T9" fmla="*/ 40 h 54"/>
                <a:gd name="T10" fmla="*/ 27 w 62"/>
                <a:gd name="T11" fmla="*/ 54 h 54"/>
                <a:gd name="T12" fmla="*/ 48 w 62"/>
                <a:gd name="T13" fmla="*/ 54 h 54"/>
                <a:gd name="T14" fmla="*/ 48 w 62"/>
                <a:gd name="T15" fmla="*/ 47 h 54"/>
                <a:gd name="T16" fmla="*/ 62 w 62"/>
                <a:gd name="T17" fmla="*/ 40 h 54"/>
                <a:gd name="T18" fmla="*/ 62 w 62"/>
                <a:gd name="T19" fmla="*/ 6 h 54"/>
                <a:gd name="T20" fmla="*/ 55 w 62"/>
                <a:gd name="T21" fmla="*/ 6 h 54"/>
                <a:gd name="T22" fmla="*/ 55 w 62"/>
                <a:gd name="T23" fmla="*/ 0 h 54"/>
                <a:gd name="T24" fmla="*/ 0 w 62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2"/>
                <a:gd name="T40" fmla="*/ 0 h 54"/>
                <a:gd name="T41" fmla="*/ 62 w 62"/>
                <a:gd name="T42" fmla="*/ 54 h 5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2" h="54">
                  <a:moveTo>
                    <a:pt x="0" y="0"/>
                  </a:moveTo>
                  <a:lnTo>
                    <a:pt x="0" y="20"/>
                  </a:lnTo>
                  <a:lnTo>
                    <a:pt x="6" y="20"/>
                  </a:lnTo>
                  <a:lnTo>
                    <a:pt x="6" y="40"/>
                  </a:lnTo>
                  <a:lnTo>
                    <a:pt x="20" y="40"/>
                  </a:lnTo>
                  <a:lnTo>
                    <a:pt x="27" y="54"/>
                  </a:lnTo>
                  <a:lnTo>
                    <a:pt x="48" y="54"/>
                  </a:lnTo>
                  <a:lnTo>
                    <a:pt x="48" y="47"/>
                  </a:lnTo>
                  <a:lnTo>
                    <a:pt x="62" y="40"/>
                  </a:lnTo>
                  <a:lnTo>
                    <a:pt x="62" y="6"/>
                  </a:lnTo>
                  <a:lnTo>
                    <a:pt x="55" y="6"/>
                  </a:lnTo>
                  <a:lnTo>
                    <a:pt x="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66" name="Freeform 11"/>
            <p:cNvSpPr>
              <a:spLocks/>
            </p:cNvSpPr>
            <p:nvPr/>
          </p:nvSpPr>
          <p:spPr bwMode="auto">
            <a:xfrm>
              <a:off x="623" y="2363"/>
              <a:ext cx="56" cy="108"/>
            </a:xfrm>
            <a:custGeom>
              <a:avLst/>
              <a:gdLst>
                <a:gd name="T0" fmla="*/ 0 w 56"/>
                <a:gd name="T1" fmla="*/ 0 h 108"/>
                <a:gd name="T2" fmla="*/ 0 w 56"/>
                <a:gd name="T3" fmla="*/ 94 h 108"/>
                <a:gd name="T4" fmla="*/ 7 w 56"/>
                <a:gd name="T5" fmla="*/ 94 h 108"/>
                <a:gd name="T6" fmla="*/ 7 w 56"/>
                <a:gd name="T7" fmla="*/ 101 h 108"/>
                <a:gd name="T8" fmla="*/ 21 w 56"/>
                <a:gd name="T9" fmla="*/ 101 h 108"/>
                <a:gd name="T10" fmla="*/ 21 w 56"/>
                <a:gd name="T11" fmla="*/ 108 h 108"/>
                <a:gd name="T12" fmla="*/ 42 w 56"/>
                <a:gd name="T13" fmla="*/ 108 h 108"/>
                <a:gd name="T14" fmla="*/ 42 w 56"/>
                <a:gd name="T15" fmla="*/ 101 h 108"/>
                <a:gd name="T16" fmla="*/ 56 w 56"/>
                <a:gd name="T17" fmla="*/ 94 h 108"/>
                <a:gd name="T18" fmla="*/ 56 w 56"/>
                <a:gd name="T19" fmla="*/ 0 h 108"/>
                <a:gd name="T20" fmla="*/ 0 w 56"/>
                <a:gd name="T21" fmla="*/ 0 h 10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6"/>
                <a:gd name="T34" fmla="*/ 0 h 108"/>
                <a:gd name="T35" fmla="*/ 56 w 56"/>
                <a:gd name="T36" fmla="*/ 108 h 10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6" h="108">
                  <a:moveTo>
                    <a:pt x="0" y="0"/>
                  </a:moveTo>
                  <a:lnTo>
                    <a:pt x="0" y="94"/>
                  </a:lnTo>
                  <a:lnTo>
                    <a:pt x="7" y="94"/>
                  </a:lnTo>
                  <a:lnTo>
                    <a:pt x="7" y="101"/>
                  </a:lnTo>
                  <a:lnTo>
                    <a:pt x="21" y="101"/>
                  </a:lnTo>
                  <a:lnTo>
                    <a:pt x="21" y="108"/>
                  </a:lnTo>
                  <a:lnTo>
                    <a:pt x="42" y="108"/>
                  </a:lnTo>
                  <a:lnTo>
                    <a:pt x="42" y="101"/>
                  </a:lnTo>
                  <a:lnTo>
                    <a:pt x="56" y="94"/>
                  </a:lnTo>
                  <a:lnTo>
                    <a:pt x="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67" name="Rectangle 12"/>
            <p:cNvSpPr>
              <a:spLocks noChangeArrowheads="1"/>
            </p:cNvSpPr>
            <p:nvPr/>
          </p:nvSpPr>
          <p:spPr bwMode="auto">
            <a:xfrm>
              <a:off x="1207" y="2261"/>
              <a:ext cx="27" cy="7"/>
            </a:xfrm>
            <a:prstGeom prst="rect">
              <a:avLst/>
            </a:pr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ru-RU" altLang="ru-RU" sz="1800"/>
            </a:p>
          </p:txBody>
        </p:sp>
        <p:sp>
          <p:nvSpPr>
            <p:cNvPr id="23568" name="Freeform 13"/>
            <p:cNvSpPr>
              <a:spLocks/>
            </p:cNvSpPr>
            <p:nvPr/>
          </p:nvSpPr>
          <p:spPr bwMode="auto">
            <a:xfrm>
              <a:off x="269" y="2201"/>
              <a:ext cx="222" cy="256"/>
            </a:xfrm>
            <a:custGeom>
              <a:avLst/>
              <a:gdLst>
                <a:gd name="T0" fmla="*/ 97 w 222"/>
                <a:gd name="T1" fmla="*/ 6 h 256"/>
                <a:gd name="T2" fmla="*/ 83 w 222"/>
                <a:gd name="T3" fmla="*/ 20 h 256"/>
                <a:gd name="T4" fmla="*/ 76 w 222"/>
                <a:gd name="T5" fmla="*/ 40 h 256"/>
                <a:gd name="T6" fmla="*/ 69 w 222"/>
                <a:gd name="T7" fmla="*/ 60 h 256"/>
                <a:gd name="T8" fmla="*/ 63 w 222"/>
                <a:gd name="T9" fmla="*/ 81 h 256"/>
                <a:gd name="T10" fmla="*/ 56 w 222"/>
                <a:gd name="T11" fmla="*/ 101 h 256"/>
                <a:gd name="T12" fmla="*/ 49 w 222"/>
                <a:gd name="T13" fmla="*/ 121 h 256"/>
                <a:gd name="T14" fmla="*/ 42 w 222"/>
                <a:gd name="T15" fmla="*/ 135 h 256"/>
                <a:gd name="T16" fmla="*/ 35 w 222"/>
                <a:gd name="T17" fmla="*/ 155 h 256"/>
                <a:gd name="T18" fmla="*/ 28 w 222"/>
                <a:gd name="T19" fmla="*/ 175 h 256"/>
                <a:gd name="T20" fmla="*/ 21 w 222"/>
                <a:gd name="T21" fmla="*/ 195 h 256"/>
                <a:gd name="T22" fmla="*/ 14 w 222"/>
                <a:gd name="T23" fmla="*/ 216 h 256"/>
                <a:gd name="T24" fmla="*/ 7 w 222"/>
                <a:gd name="T25" fmla="*/ 229 h 256"/>
                <a:gd name="T26" fmla="*/ 0 w 222"/>
                <a:gd name="T27" fmla="*/ 243 h 256"/>
                <a:gd name="T28" fmla="*/ 14 w 222"/>
                <a:gd name="T29" fmla="*/ 256 h 256"/>
                <a:gd name="T30" fmla="*/ 49 w 222"/>
                <a:gd name="T31" fmla="*/ 243 h 256"/>
                <a:gd name="T32" fmla="*/ 56 w 222"/>
                <a:gd name="T33" fmla="*/ 229 h 256"/>
                <a:gd name="T34" fmla="*/ 63 w 222"/>
                <a:gd name="T35" fmla="*/ 216 h 256"/>
                <a:gd name="T36" fmla="*/ 69 w 222"/>
                <a:gd name="T37" fmla="*/ 209 h 256"/>
                <a:gd name="T38" fmla="*/ 222 w 222"/>
                <a:gd name="T39" fmla="*/ 195 h 256"/>
                <a:gd name="T40" fmla="*/ 215 w 222"/>
                <a:gd name="T41" fmla="*/ 175 h 256"/>
                <a:gd name="T42" fmla="*/ 208 w 222"/>
                <a:gd name="T43" fmla="*/ 155 h 256"/>
                <a:gd name="T44" fmla="*/ 201 w 222"/>
                <a:gd name="T45" fmla="*/ 135 h 256"/>
                <a:gd name="T46" fmla="*/ 194 w 222"/>
                <a:gd name="T47" fmla="*/ 121 h 256"/>
                <a:gd name="T48" fmla="*/ 188 w 222"/>
                <a:gd name="T49" fmla="*/ 101 h 256"/>
                <a:gd name="T50" fmla="*/ 181 w 222"/>
                <a:gd name="T51" fmla="*/ 81 h 256"/>
                <a:gd name="T52" fmla="*/ 174 w 222"/>
                <a:gd name="T53" fmla="*/ 67 h 256"/>
                <a:gd name="T54" fmla="*/ 125 w 222"/>
                <a:gd name="T55" fmla="*/ 87 h 256"/>
                <a:gd name="T56" fmla="*/ 132 w 222"/>
                <a:gd name="T57" fmla="*/ 108 h 256"/>
                <a:gd name="T58" fmla="*/ 139 w 222"/>
                <a:gd name="T59" fmla="*/ 128 h 256"/>
                <a:gd name="T60" fmla="*/ 146 w 222"/>
                <a:gd name="T61" fmla="*/ 148 h 256"/>
                <a:gd name="T62" fmla="*/ 153 w 222"/>
                <a:gd name="T63" fmla="*/ 155 h 256"/>
                <a:gd name="T64" fmla="*/ 83 w 222"/>
                <a:gd name="T65" fmla="*/ 148 h 256"/>
                <a:gd name="T66" fmla="*/ 90 w 222"/>
                <a:gd name="T67" fmla="*/ 128 h 256"/>
                <a:gd name="T68" fmla="*/ 97 w 222"/>
                <a:gd name="T69" fmla="*/ 108 h 256"/>
                <a:gd name="T70" fmla="*/ 104 w 222"/>
                <a:gd name="T71" fmla="*/ 87 h 256"/>
                <a:gd name="T72" fmla="*/ 111 w 222"/>
                <a:gd name="T73" fmla="*/ 67 h 256"/>
                <a:gd name="T74" fmla="*/ 167 w 222"/>
                <a:gd name="T75" fmla="*/ 54 h 256"/>
                <a:gd name="T76" fmla="*/ 160 w 222"/>
                <a:gd name="T77" fmla="*/ 40 h 256"/>
                <a:gd name="T78" fmla="*/ 153 w 222"/>
                <a:gd name="T79" fmla="*/ 20 h 256"/>
                <a:gd name="T80" fmla="*/ 146 w 222"/>
                <a:gd name="T81" fmla="*/ 6 h 256"/>
                <a:gd name="T82" fmla="*/ 97 w 222"/>
                <a:gd name="T83" fmla="*/ 0 h 25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22"/>
                <a:gd name="T127" fmla="*/ 0 h 256"/>
                <a:gd name="T128" fmla="*/ 222 w 222"/>
                <a:gd name="T129" fmla="*/ 256 h 25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22" h="256">
                  <a:moveTo>
                    <a:pt x="97" y="0"/>
                  </a:moveTo>
                  <a:lnTo>
                    <a:pt x="97" y="6"/>
                  </a:lnTo>
                  <a:lnTo>
                    <a:pt x="83" y="13"/>
                  </a:lnTo>
                  <a:lnTo>
                    <a:pt x="83" y="20"/>
                  </a:lnTo>
                  <a:lnTo>
                    <a:pt x="76" y="20"/>
                  </a:lnTo>
                  <a:lnTo>
                    <a:pt x="76" y="40"/>
                  </a:lnTo>
                  <a:lnTo>
                    <a:pt x="69" y="40"/>
                  </a:lnTo>
                  <a:lnTo>
                    <a:pt x="69" y="60"/>
                  </a:lnTo>
                  <a:lnTo>
                    <a:pt x="63" y="60"/>
                  </a:lnTo>
                  <a:lnTo>
                    <a:pt x="63" y="81"/>
                  </a:lnTo>
                  <a:lnTo>
                    <a:pt x="56" y="81"/>
                  </a:lnTo>
                  <a:lnTo>
                    <a:pt x="56" y="101"/>
                  </a:lnTo>
                  <a:lnTo>
                    <a:pt x="49" y="101"/>
                  </a:lnTo>
                  <a:lnTo>
                    <a:pt x="49" y="121"/>
                  </a:lnTo>
                  <a:lnTo>
                    <a:pt x="42" y="121"/>
                  </a:lnTo>
                  <a:lnTo>
                    <a:pt x="42" y="135"/>
                  </a:lnTo>
                  <a:lnTo>
                    <a:pt x="35" y="135"/>
                  </a:lnTo>
                  <a:lnTo>
                    <a:pt x="35" y="155"/>
                  </a:lnTo>
                  <a:lnTo>
                    <a:pt x="28" y="155"/>
                  </a:lnTo>
                  <a:lnTo>
                    <a:pt x="28" y="175"/>
                  </a:lnTo>
                  <a:lnTo>
                    <a:pt x="21" y="175"/>
                  </a:lnTo>
                  <a:lnTo>
                    <a:pt x="21" y="195"/>
                  </a:lnTo>
                  <a:lnTo>
                    <a:pt x="14" y="195"/>
                  </a:lnTo>
                  <a:lnTo>
                    <a:pt x="14" y="216"/>
                  </a:lnTo>
                  <a:lnTo>
                    <a:pt x="7" y="216"/>
                  </a:lnTo>
                  <a:lnTo>
                    <a:pt x="7" y="229"/>
                  </a:lnTo>
                  <a:lnTo>
                    <a:pt x="0" y="229"/>
                  </a:lnTo>
                  <a:lnTo>
                    <a:pt x="0" y="243"/>
                  </a:lnTo>
                  <a:lnTo>
                    <a:pt x="7" y="243"/>
                  </a:lnTo>
                  <a:lnTo>
                    <a:pt x="14" y="256"/>
                  </a:lnTo>
                  <a:lnTo>
                    <a:pt x="49" y="256"/>
                  </a:lnTo>
                  <a:lnTo>
                    <a:pt x="49" y="243"/>
                  </a:lnTo>
                  <a:lnTo>
                    <a:pt x="56" y="243"/>
                  </a:lnTo>
                  <a:lnTo>
                    <a:pt x="56" y="229"/>
                  </a:lnTo>
                  <a:lnTo>
                    <a:pt x="63" y="229"/>
                  </a:lnTo>
                  <a:lnTo>
                    <a:pt x="63" y="216"/>
                  </a:lnTo>
                  <a:lnTo>
                    <a:pt x="69" y="216"/>
                  </a:lnTo>
                  <a:lnTo>
                    <a:pt x="69" y="209"/>
                  </a:lnTo>
                  <a:lnTo>
                    <a:pt x="222" y="209"/>
                  </a:lnTo>
                  <a:lnTo>
                    <a:pt x="222" y="195"/>
                  </a:lnTo>
                  <a:lnTo>
                    <a:pt x="215" y="195"/>
                  </a:lnTo>
                  <a:lnTo>
                    <a:pt x="215" y="175"/>
                  </a:lnTo>
                  <a:lnTo>
                    <a:pt x="208" y="175"/>
                  </a:lnTo>
                  <a:lnTo>
                    <a:pt x="208" y="155"/>
                  </a:lnTo>
                  <a:lnTo>
                    <a:pt x="201" y="155"/>
                  </a:lnTo>
                  <a:lnTo>
                    <a:pt x="201" y="135"/>
                  </a:lnTo>
                  <a:lnTo>
                    <a:pt x="194" y="135"/>
                  </a:lnTo>
                  <a:lnTo>
                    <a:pt x="194" y="121"/>
                  </a:lnTo>
                  <a:lnTo>
                    <a:pt x="188" y="121"/>
                  </a:lnTo>
                  <a:lnTo>
                    <a:pt x="188" y="101"/>
                  </a:lnTo>
                  <a:lnTo>
                    <a:pt x="181" y="101"/>
                  </a:lnTo>
                  <a:lnTo>
                    <a:pt x="181" y="81"/>
                  </a:lnTo>
                  <a:lnTo>
                    <a:pt x="174" y="81"/>
                  </a:lnTo>
                  <a:lnTo>
                    <a:pt x="174" y="67"/>
                  </a:lnTo>
                  <a:lnTo>
                    <a:pt x="125" y="67"/>
                  </a:lnTo>
                  <a:lnTo>
                    <a:pt x="125" y="87"/>
                  </a:lnTo>
                  <a:lnTo>
                    <a:pt x="132" y="87"/>
                  </a:lnTo>
                  <a:lnTo>
                    <a:pt x="132" y="108"/>
                  </a:lnTo>
                  <a:lnTo>
                    <a:pt x="139" y="108"/>
                  </a:lnTo>
                  <a:lnTo>
                    <a:pt x="139" y="128"/>
                  </a:lnTo>
                  <a:lnTo>
                    <a:pt x="146" y="128"/>
                  </a:lnTo>
                  <a:lnTo>
                    <a:pt x="146" y="148"/>
                  </a:lnTo>
                  <a:lnTo>
                    <a:pt x="153" y="148"/>
                  </a:lnTo>
                  <a:lnTo>
                    <a:pt x="153" y="155"/>
                  </a:lnTo>
                  <a:lnTo>
                    <a:pt x="83" y="155"/>
                  </a:lnTo>
                  <a:lnTo>
                    <a:pt x="83" y="148"/>
                  </a:lnTo>
                  <a:lnTo>
                    <a:pt x="90" y="148"/>
                  </a:lnTo>
                  <a:lnTo>
                    <a:pt x="90" y="128"/>
                  </a:lnTo>
                  <a:lnTo>
                    <a:pt x="97" y="128"/>
                  </a:lnTo>
                  <a:lnTo>
                    <a:pt x="97" y="108"/>
                  </a:lnTo>
                  <a:lnTo>
                    <a:pt x="104" y="108"/>
                  </a:lnTo>
                  <a:lnTo>
                    <a:pt x="104" y="87"/>
                  </a:lnTo>
                  <a:lnTo>
                    <a:pt x="111" y="87"/>
                  </a:lnTo>
                  <a:lnTo>
                    <a:pt x="111" y="67"/>
                  </a:lnTo>
                  <a:lnTo>
                    <a:pt x="174" y="67"/>
                  </a:lnTo>
                  <a:lnTo>
                    <a:pt x="167" y="54"/>
                  </a:lnTo>
                  <a:lnTo>
                    <a:pt x="167" y="40"/>
                  </a:lnTo>
                  <a:lnTo>
                    <a:pt x="160" y="40"/>
                  </a:lnTo>
                  <a:lnTo>
                    <a:pt x="160" y="20"/>
                  </a:lnTo>
                  <a:lnTo>
                    <a:pt x="153" y="20"/>
                  </a:lnTo>
                  <a:lnTo>
                    <a:pt x="153" y="6"/>
                  </a:lnTo>
                  <a:lnTo>
                    <a:pt x="146" y="6"/>
                  </a:lnTo>
                  <a:lnTo>
                    <a:pt x="146" y="0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A6B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69" name="Freeform 14"/>
            <p:cNvSpPr>
              <a:spLocks/>
            </p:cNvSpPr>
            <p:nvPr/>
          </p:nvSpPr>
          <p:spPr bwMode="auto">
            <a:xfrm>
              <a:off x="609" y="2201"/>
              <a:ext cx="188" cy="256"/>
            </a:xfrm>
            <a:custGeom>
              <a:avLst/>
              <a:gdLst>
                <a:gd name="T0" fmla="*/ 14 w 188"/>
                <a:gd name="T1" fmla="*/ 6 h 256"/>
                <a:gd name="T2" fmla="*/ 0 w 188"/>
                <a:gd name="T3" fmla="*/ 54 h 256"/>
                <a:gd name="T4" fmla="*/ 104 w 188"/>
                <a:gd name="T5" fmla="*/ 60 h 256"/>
                <a:gd name="T6" fmla="*/ 125 w 188"/>
                <a:gd name="T7" fmla="*/ 74 h 256"/>
                <a:gd name="T8" fmla="*/ 125 w 188"/>
                <a:gd name="T9" fmla="*/ 87 h 256"/>
                <a:gd name="T10" fmla="*/ 111 w 188"/>
                <a:gd name="T11" fmla="*/ 108 h 256"/>
                <a:gd name="T12" fmla="*/ 56 w 188"/>
                <a:gd name="T13" fmla="*/ 54 h 256"/>
                <a:gd name="T14" fmla="*/ 0 w 188"/>
                <a:gd name="T15" fmla="*/ 155 h 256"/>
                <a:gd name="T16" fmla="*/ 70 w 188"/>
                <a:gd name="T17" fmla="*/ 168 h 256"/>
                <a:gd name="T18" fmla="*/ 84 w 188"/>
                <a:gd name="T19" fmla="*/ 182 h 256"/>
                <a:gd name="T20" fmla="*/ 98 w 188"/>
                <a:gd name="T21" fmla="*/ 195 h 256"/>
                <a:gd name="T22" fmla="*/ 104 w 188"/>
                <a:gd name="T23" fmla="*/ 209 h 256"/>
                <a:gd name="T24" fmla="*/ 118 w 188"/>
                <a:gd name="T25" fmla="*/ 222 h 256"/>
                <a:gd name="T26" fmla="*/ 132 w 188"/>
                <a:gd name="T27" fmla="*/ 249 h 256"/>
                <a:gd name="T28" fmla="*/ 139 w 188"/>
                <a:gd name="T29" fmla="*/ 256 h 256"/>
                <a:gd name="T30" fmla="*/ 174 w 188"/>
                <a:gd name="T31" fmla="*/ 249 h 256"/>
                <a:gd name="T32" fmla="*/ 188 w 188"/>
                <a:gd name="T33" fmla="*/ 216 h 256"/>
                <a:gd name="T34" fmla="*/ 174 w 188"/>
                <a:gd name="T35" fmla="*/ 202 h 256"/>
                <a:gd name="T36" fmla="*/ 160 w 188"/>
                <a:gd name="T37" fmla="*/ 189 h 256"/>
                <a:gd name="T38" fmla="*/ 146 w 188"/>
                <a:gd name="T39" fmla="*/ 175 h 256"/>
                <a:gd name="T40" fmla="*/ 132 w 188"/>
                <a:gd name="T41" fmla="*/ 162 h 256"/>
                <a:gd name="T42" fmla="*/ 125 w 188"/>
                <a:gd name="T43" fmla="*/ 155 h 256"/>
                <a:gd name="T44" fmla="*/ 153 w 188"/>
                <a:gd name="T45" fmla="*/ 141 h 256"/>
                <a:gd name="T46" fmla="*/ 167 w 188"/>
                <a:gd name="T47" fmla="*/ 128 h 256"/>
                <a:gd name="T48" fmla="*/ 174 w 188"/>
                <a:gd name="T49" fmla="*/ 114 h 256"/>
                <a:gd name="T50" fmla="*/ 188 w 188"/>
                <a:gd name="T51" fmla="*/ 60 h 256"/>
                <a:gd name="T52" fmla="*/ 181 w 188"/>
                <a:gd name="T53" fmla="*/ 47 h 256"/>
                <a:gd name="T54" fmla="*/ 174 w 188"/>
                <a:gd name="T55" fmla="*/ 33 h 256"/>
                <a:gd name="T56" fmla="*/ 167 w 188"/>
                <a:gd name="T57" fmla="*/ 20 h 256"/>
                <a:gd name="T58" fmla="*/ 160 w 188"/>
                <a:gd name="T59" fmla="*/ 13 h 256"/>
                <a:gd name="T60" fmla="*/ 146 w 188"/>
                <a:gd name="T61" fmla="*/ 6 h 256"/>
                <a:gd name="T62" fmla="*/ 111 w 188"/>
                <a:gd name="T63" fmla="*/ 0 h 25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88"/>
                <a:gd name="T97" fmla="*/ 0 h 256"/>
                <a:gd name="T98" fmla="*/ 188 w 188"/>
                <a:gd name="T99" fmla="*/ 256 h 25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88" h="256">
                  <a:moveTo>
                    <a:pt x="14" y="0"/>
                  </a:moveTo>
                  <a:lnTo>
                    <a:pt x="14" y="6"/>
                  </a:lnTo>
                  <a:lnTo>
                    <a:pt x="0" y="13"/>
                  </a:lnTo>
                  <a:lnTo>
                    <a:pt x="0" y="54"/>
                  </a:lnTo>
                  <a:lnTo>
                    <a:pt x="104" y="54"/>
                  </a:lnTo>
                  <a:lnTo>
                    <a:pt x="104" y="60"/>
                  </a:lnTo>
                  <a:lnTo>
                    <a:pt x="118" y="60"/>
                  </a:lnTo>
                  <a:lnTo>
                    <a:pt x="125" y="74"/>
                  </a:lnTo>
                  <a:lnTo>
                    <a:pt x="132" y="87"/>
                  </a:lnTo>
                  <a:lnTo>
                    <a:pt x="125" y="87"/>
                  </a:lnTo>
                  <a:lnTo>
                    <a:pt x="125" y="101"/>
                  </a:lnTo>
                  <a:lnTo>
                    <a:pt x="111" y="108"/>
                  </a:lnTo>
                  <a:lnTo>
                    <a:pt x="56" y="108"/>
                  </a:lnTo>
                  <a:lnTo>
                    <a:pt x="56" y="54"/>
                  </a:lnTo>
                  <a:lnTo>
                    <a:pt x="0" y="54"/>
                  </a:lnTo>
                  <a:lnTo>
                    <a:pt x="0" y="155"/>
                  </a:lnTo>
                  <a:lnTo>
                    <a:pt x="63" y="155"/>
                  </a:lnTo>
                  <a:lnTo>
                    <a:pt x="70" y="168"/>
                  </a:lnTo>
                  <a:lnTo>
                    <a:pt x="77" y="182"/>
                  </a:lnTo>
                  <a:lnTo>
                    <a:pt x="84" y="182"/>
                  </a:lnTo>
                  <a:lnTo>
                    <a:pt x="91" y="195"/>
                  </a:lnTo>
                  <a:lnTo>
                    <a:pt x="98" y="195"/>
                  </a:lnTo>
                  <a:lnTo>
                    <a:pt x="98" y="209"/>
                  </a:lnTo>
                  <a:lnTo>
                    <a:pt x="104" y="209"/>
                  </a:lnTo>
                  <a:lnTo>
                    <a:pt x="111" y="222"/>
                  </a:lnTo>
                  <a:lnTo>
                    <a:pt x="118" y="222"/>
                  </a:lnTo>
                  <a:lnTo>
                    <a:pt x="125" y="236"/>
                  </a:lnTo>
                  <a:lnTo>
                    <a:pt x="132" y="249"/>
                  </a:lnTo>
                  <a:lnTo>
                    <a:pt x="139" y="249"/>
                  </a:lnTo>
                  <a:lnTo>
                    <a:pt x="139" y="256"/>
                  </a:lnTo>
                  <a:lnTo>
                    <a:pt x="174" y="256"/>
                  </a:lnTo>
                  <a:lnTo>
                    <a:pt x="174" y="249"/>
                  </a:lnTo>
                  <a:lnTo>
                    <a:pt x="188" y="243"/>
                  </a:lnTo>
                  <a:lnTo>
                    <a:pt x="188" y="216"/>
                  </a:lnTo>
                  <a:lnTo>
                    <a:pt x="181" y="216"/>
                  </a:lnTo>
                  <a:lnTo>
                    <a:pt x="174" y="202"/>
                  </a:lnTo>
                  <a:lnTo>
                    <a:pt x="167" y="202"/>
                  </a:lnTo>
                  <a:lnTo>
                    <a:pt x="160" y="189"/>
                  </a:lnTo>
                  <a:lnTo>
                    <a:pt x="153" y="189"/>
                  </a:lnTo>
                  <a:lnTo>
                    <a:pt x="146" y="175"/>
                  </a:lnTo>
                  <a:lnTo>
                    <a:pt x="139" y="175"/>
                  </a:lnTo>
                  <a:lnTo>
                    <a:pt x="132" y="162"/>
                  </a:lnTo>
                  <a:lnTo>
                    <a:pt x="125" y="162"/>
                  </a:lnTo>
                  <a:lnTo>
                    <a:pt x="125" y="155"/>
                  </a:lnTo>
                  <a:lnTo>
                    <a:pt x="139" y="148"/>
                  </a:lnTo>
                  <a:lnTo>
                    <a:pt x="153" y="141"/>
                  </a:lnTo>
                  <a:lnTo>
                    <a:pt x="167" y="135"/>
                  </a:lnTo>
                  <a:lnTo>
                    <a:pt x="167" y="128"/>
                  </a:lnTo>
                  <a:lnTo>
                    <a:pt x="174" y="128"/>
                  </a:lnTo>
                  <a:lnTo>
                    <a:pt x="174" y="114"/>
                  </a:lnTo>
                  <a:lnTo>
                    <a:pt x="188" y="108"/>
                  </a:lnTo>
                  <a:lnTo>
                    <a:pt x="188" y="60"/>
                  </a:lnTo>
                  <a:lnTo>
                    <a:pt x="181" y="60"/>
                  </a:lnTo>
                  <a:lnTo>
                    <a:pt x="181" y="47"/>
                  </a:lnTo>
                  <a:lnTo>
                    <a:pt x="174" y="47"/>
                  </a:lnTo>
                  <a:lnTo>
                    <a:pt x="174" y="33"/>
                  </a:lnTo>
                  <a:lnTo>
                    <a:pt x="167" y="33"/>
                  </a:lnTo>
                  <a:lnTo>
                    <a:pt x="167" y="20"/>
                  </a:lnTo>
                  <a:lnTo>
                    <a:pt x="160" y="20"/>
                  </a:lnTo>
                  <a:lnTo>
                    <a:pt x="160" y="13"/>
                  </a:lnTo>
                  <a:lnTo>
                    <a:pt x="146" y="13"/>
                  </a:lnTo>
                  <a:lnTo>
                    <a:pt x="146" y="6"/>
                  </a:lnTo>
                  <a:lnTo>
                    <a:pt x="111" y="6"/>
                  </a:lnTo>
                  <a:lnTo>
                    <a:pt x="111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A6B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70" name="Freeform 15"/>
            <p:cNvSpPr>
              <a:spLocks/>
            </p:cNvSpPr>
            <p:nvPr/>
          </p:nvSpPr>
          <p:spPr bwMode="auto">
            <a:xfrm>
              <a:off x="901" y="2201"/>
              <a:ext cx="56" cy="256"/>
            </a:xfrm>
            <a:custGeom>
              <a:avLst/>
              <a:gdLst>
                <a:gd name="T0" fmla="*/ 21 w 56"/>
                <a:gd name="T1" fmla="*/ 0 h 256"/>
                <a:gd name="T2" fmla="*/ 21 w 56"/>
                <a:gd name="T3" fmla="*/ 6 h 256"/>
                <a:gd name="T4" fmla="*/ 7 w 56"/>
                <a:gd name="T5" fmla="*/ 6 h 256"/>
                <a:gd name="T6" fmla="*/ 7 w 56"/>
                <a:gd name="T7" fmla="*/ 13 h 256"/>
                <a:gd name="T8" fmla="*/ 0 w 56"/>
                <a:gd name="T9" fmla="*/ 13 h 256"/>
                <a:gd name="T10" fmla="*/ 0 w 56"/>
                <a:gd name="T11" fmla="*/ 249 h 256"/>
                <a:gd name="T12" fmla="*/ 7 w 56"/>
                <a:gd name="T13" fmla="*/ 249 h 256"/>
                <a:gd name="T14" fmla="*/ 7 w 56"/>
                <a:gd name="T15" fmla="*/ 256 h 256"/>
                <a:gd name="T16" fmla="*/ 49 w 56"/>
                <a:gd name="T17" fmla="*/ 256 h 256"/>
                <a:gd name="T18" fmla="*/ 49 w 56"/>
                <a:gd name="T19" fmla="*/ 249 h 256"/>
                <a:gd name="T20" fmla="*/ 56 w 56"/>
                <a:gd name="T21" fmla="*/ 249 h 256"/>
                <a:gd name="T22" fmla="*/ 56 w 56"/>
                <a:gd name="T23" fmla="*/ 13 h 256"/>
                <a:gd name="T24" fmla="*/ 49 w 56"/>
                <a:gd name="T25" fmla="*/ 13 h 256"/>
                <a:gd name="T26" fmla="*/ 49 w 56"/>
                <a:gd name="T27" fmla="*/ 6 h 256"/>
                <a:gd name="T28" fmla="*/ 35 w 56"/>
                <a:gd name="T29" fmla="*/ 6 h 256"/>
                <a:gd name="T30" fmla="*/ 35 w 56"/>
                <a:gd name="T31" fmla="*/ 0 h 256"/>
                <a:gd name="T32" fmla="*/ 21 w 56"/>
                <a:gd name="T33" fmla="*/ 0 h 25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6"/>
                <a:gd name="T52" fmla="*/ 0 h 256"/>
                <a:gd name="T53" fmla="*/ 56 w 56"/>
                <a:gd name="T54" fmla="*/ 256 h 25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6" h="256">
                  <a:moveTo>
                    <a:pt x="21" y="0"/>
                  </a:moveTo>
                  <a:lnTo>
                    <a:pt x="21" y="6"/>
                  </a:lnTo>
                  <a:lnTo>
                    <a:pt x="7" y="6"/>
                  </a:lnTo>
                  <a:lnTo>
                    <a:pt x="7" y="13"/>
                  </a:lnTo>
                  <a:lnTo>
                    <a:pt x="0" y="13"/>
                  </a:lnTo>
                  <a:lnTo>
                    <a:pt x="0" y="249"/>
                  </a:lnTo>
                  <a:lnTo>
                    <a:pt x="7" y="249"/>
                  </a:lnTo>
                  <a:lnTo>
                    <a:pt x="7" y="256"/>
                  </a:lnTo>
                  <a:lnTo>
                    <a:pt x="49" y="256"/>
                  </a:lnTo>
                  <a:lnTo>
                    <a:pt x="49" y="249"/>
                  </a:lnTo>
                  <a:lnTo>
                    <a:pt x="56" y="249"/>
                  </a:lnTo>
                  <a:lnTo>
                    <a:pt x="56" y="13"/>
                  </a:lnTo>
                  <a:lnTo>
                    <a:pt x="49" y="13"/>
                  </a:lnTo>
                  <a:lnTo>
                    <a:pt x="49" y="6"/>
                  </a:lnTo>
                  <a:lnTo>
                    <a:pt x="35" y="6"/>
                  </a:lnTo>
                  <a:lnTo>
                    <a:pt x="35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A6B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71" name="Freeform 16"/>
            <p:cNvSpPr>
              <a:spLocks/>
            </p:cNvSpPr>
            <p:nvPr/>
          </p:nvSpPr>
          <p:spPr bwMode="auto">
            <a:xfrm>
              <a:off x="1068" y="2201"/>
              <a:ext cx="187" cy="256"/>
            </a:xfrm>
            <a:custGeom>
              <a:avLst/>
              <a:gdLst>
                <a:gd name="T0" fmla="*/ 62 w 187"/>
                <a:gd name="T1" fmla="*/ 6 h 256"/>
                <a:gd name="T2" fmla="*/ 41 w 187"/>
                <a:gd name="T3" fmla="*/ 13 h 256"/>
                <a:gd name="T4" fmla="*/ 27 w 187"/>
                <a:gd name="T5" fmla="*/ 27 h 256"/>
                <a:gd name="T6" fmla="*/ 14 w 187"/>
                <a:gd name="T7" fmla="*/ 47 h 256"/>
                <a:gd name="T8" fmla="*/ 7 w 187"/>
                <a:gd name="T9" fmla="*/ 108 h 256"/>
                <a:gd name="T10" fmla="*/ 14 w 187"/>
                <a:gd name="T11" fmla="*/ 121 h 256"/>
                <a:gd name="T12" fmla="*/ 27 w 187"/>
                <a:gd name="T13" fmla="*/ 135 h 256"/>
                <a:gd name="T14" fmla="*/ 41 w 187"/>
                <a:gd name="T15" fmla="*/ 141 h 256"/>
                <a:gd name="T16" fmla="*/ 62 w 187"/>
                <a:gd name="T17" fmla="*/ 148 h 256"/>
                <a:gd name="T18" fmla="*/ 90 w 187"/>
                <a:gd name="T19" fmla="*/ 155 h 256"/>
                <a:gd name="T20" fmla="*/ 118 w 187"/>
                <a:gd name="T21" fmla="*/ 168 h 256"/>
                <a:gd name="T22" fmla="*/ 125 w 187"/>
                <a:gd name="T23" fmla="*/ 195 h 256"/>
                <a:gd name="T24" fmla="*/ 97 w 187"/>
                <a:gd name="T25" fmla="*/ 209 h 256"/>
                <a:gd name="T26" fmla="*/ 69 w 187"/>
                <a:gd name="T27" fmla="*/ 202 h 256"/>
                <a:gd name="T28" fmla="*/ 41 w 187"/>
                <a:gd name="T29" fmla="*/ 195 h 256"/>
                <a:gd name="T30" fmla="*/ 14 w 187"/>
                <a:gd name="T31" fmla="*/ 202 h 256"/>
                <a:gd name="T32" fmla="*/ 7 w 187"/>
                <a:gd name="T33" fmla="*/ 216 h 256"/>
                <a:gd name="T34" fmla="*/ 0 w 187"/>
                <a:gd name="T35" fmla="*/ 229 h 256"/>
                <a:gd name="T36" fmla="*/ 14 w 187"/>
                <a:gd name="T37" fmla="*/ 243 h 256"/>
                <a:gd name="T38" fmla="*/ 145 w 187"/>
                <a:gd name="T39" fmla="*/ 256 h 256"/>
                <a:gd name="T40" fmla="*/ 159 w 187"/>
                <a:gd name="T41" fmla="*/ 243 h 256"/>
                <a:gd name="T42" fmla="*/ 166 w 187"/>
                <a:gd name="T43" fmla="*/ 236 h 256"/>
                <a:gd name="T44" fmla="*/ 173 w 187"/>
                <a:gd name="T45" fmla="*/ 222 h 256"/>
                <a:gd name="T46" fmla="*/ 187 w 187"/>
                <a:gd name="T47" fmla="*/ 202 h 256"/>
                <a:gd name="T48" fmla="*/ 180 w 187"/>
                <a:gd name="T49" fmla="*/ 155 h 256"/>
                <a:gd name="T50" fmla="*/ 173 w 187"/>
                <a:gd name="T51" fmla="*/ 141 h 256"/>
                <a:gd name="T52" fmla="*/ 159 w 187"/>
                <a:gd name="T53" fmla="*/ 114 h 256"/>
                <a:gd name="T54" fmla="*/ 145 w 187"/>
                <a:gd name="T55" fmla="*/ 108 h 256"/>
                <a:gd name="T56" fmla="*/ 125 w 187"/>
                <a:gd name="T57" fmla="*/ 101 h 256"/>
                <a:gd name="T58" fmla="*/ 104 w 187"/>
                <a:gd name="T59" fmla="*/ 94 h 256"/>
                <a:gd name="T60" fmla="*/ 83 w 187"/>
                <a:gd name="T61" fmla="*/ 87 h 256"/>
                <a:gd name="T62" fmla="*/ 62 w 187"/>
                <a:gd name="T63" fmla="*/ 74 h 256"/>
                <a:gd name="T64" fmla="*/ 76 w 187"/>
                <a:gd name="T65" fmla="*/ 54 h 256"/>
                <a:gd name="T66" fmla="*/ 166 w 187"/>
                <a:gd name="T67" fmla="*/ 47 h 256"/>
                <a:gd name="T68" fmla="*/ 159 w 187"/>
                <a:gd name="T69" fmla="*/ 20 h 256"/>
                <a:gd name="T70" fmla="*/ 145 w 187"/>
                <a:gd name="T71" fmla="*/ 13 h 256"/>
                <a:gd name="T72" fmla="*/ 62 w 187"/>
                <a:gd name="T73" fmla="*/ 0 h 25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87"/>
                <a:gd name="T112" fmla="*/ 0 h 256"/>
                <a:gd name="T113" fmla="*/ 187 w 187"/>
                <a:gd name="T114" fmla="*/ 256 h 25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87" h="256">
                  <a:moveTo>
                    <a:pt x="62" y="0"/>
                  </a:moveTo>
                  <a:lnTo>
                    <a:pt x="62" y="6"/>
                  </a:lnTo>
                  <a:lnTo>
                    <a:pt x="41" y="6"/>
                  </a:lnTo>
                  <a:lnTo>
                    <a:pt x="41" y="13"/>
                  </a:lnTo>
                  <a:lnTo>
                    <a:pt x="27" y="20"/>
                  </a:lnTo>
                  <a:lnTo>
                    <a:pt x="27" y="27"/>
                  </a:lnTo>
                  <a:lnTo>
                    <a:pt x="14" y="33"/>
                  </a:lnTo>
                  <a:lnTo>
                    <a:pt x="14" y="47"/>
                  </a:lnTo>
                  <a:lnTo>
                    <a:pt x="7" y="47"/>
                  </a:lnTo>
                  <a:lnTo>
                    <a:pt x="7" y="108"/>
                  </a:lnTo>
                  <a:lnTo>
                    <a:pt x="14" y="108"/>
                  </a:lnTo>
                  <a:lnTo>
                    <a:pt x="14" y="121"/>
                  </a:lnTo>
                  <a:lnTo>
                    <a:pt x="20" y="121"/>
                  </a:lnTo>
                  <a:lnTo>
                    <a:pt x="27" y="135"/>
                  </a:lnTo>
                  <a:lnTo>
                    <a:pt x="41" y="135"/>
                  </a:lnTo>
                  <a:lnTo>
                    <a:pt x="41" y="141"/>
                  </a:lnTo>
                  <a:lnTo>
                    <a:pt x="62" y="141"/>
                  </a:lnTo>
                  <a:lnTo>
                    <a:pt x="62" y="148"/>
                  </a:lnTo>
                  <a:lnTo>
                    <a:pt x="90" y="148"/>
                  </a:lnTo>
                  <a:lnTo>
                    <a:pt x="90" y="155"/>
                  </a:lnTo>
                  <a:lnTo>
                    <a:pt x="111" y="155"/>
                  </a:lnTo>
                  <a:lnTo>
                    <a:pt x="118" y="168"/>
                  </a:lnTo>
                  <a:lnTo>
                    <a:pt x="125" y="168"/>
                  </a:lnTo>
                  <a:lnTo>
                    <a:pt x="125" y="195"/>
                  </a:lnTo>
                  <a:lnTo>
                    <a:pt x="111" y="202"/>
                  </a:lnTo>
                  <a:lnTo>
                    <a:pt x="97" y="209"/>
                  </a:lnTo>
                  <a:lnTo>
                    <a:pt x="69" y="209"/>
                  </a:lnTo>
                  <a:lnTo>
                    <a:pt x="69" y="202"/>
                  </a:lnTo>
                  <a:lnTo>
                    <a:pt x="41" y="202"/>
                  </a:lnTo>
                  <a:lnTo>
                    <a:pt x="41" y="195"/>
                  </a:lnTo>
                  <a:lnTo>
                    <a:pt x="14" y="195"/>
                  </a:lnTo>
                  <a:lnTo>
                    <a:pt x="14" y="202"/>
                  </a:lnTo>
                  <a:lnTo>
                    <a:pt x="7" y="202"/>
                  </a:lnTo>
                  <a:lnTo>
                    <a:pt x="7" y="216"/>
                  </a:lnTo>
                  <a:lnTo>
                    <a:pt x="0" y="216"/>
                  </a:lnTo>
                  <a:lnTo>
                    <a:pt x="0" y="229"/>
                  </a:lnTo>
                  <a:lnTo>
                    <a:pt x="7" y="229"/>
                  </a:lnTo>
                  <a:lnTo>
                    <a:pt x="14" y="243"/>
                  </a:lnTo>
                  <a:lnTo>
                    <a:pt x="20" y="256"/>
                  </a:lnTo>
                  <a:lnTo>
                    <a:pt x="145" y="256"/>
                  </a:lnTo>
                  <a:lnTo>
                    <a:pt x="145" y="249"/>
                  </a:lnTo>
                  <a:lnTo>
                    <a:pt x="159" y="243"/>
                  </a:lnTo>
                  <a:lnTo>
                    <a:pt x="159" y="236"/>
                  </a:lnTo>
                  <a:lnTo>
                    <a:pt x="166" y="236"/>
                  </a:lnTo>
                  <a:lnTo>
                    <a:pt x="166" y="222"/>
                  </a:lnTo>
                  <a:lnTo>
                    <a:pt x="173" y="222"/>
                  </a:lnTo>
                  <a:lnTo>
                    <a:pt x="173" y="209"/>
                  </a:lnTo>
                  <a:lnTo>
                    <a:pt x="187" y="202"/>
                  </a:lnTo>
                  <a:lnTo>
                    <a:pt x="187" y="155"/>
                  </a:lnTo>
                  <a:lnTo>
                    <a:pt x="180" y="155"/>
                  </a:lnTo>
                  <a:lnTo>
                    <a:pt x="180" y="141"/>
                  </a:lnTo>
                  <a:lnTo>
                    <a:pt x="173" y="141"/>
                  </a:lnTo>
                  <a:lnTo>
                    <a:pt x="166" y="128"/>
                  </a:lnTo>
                  <a:lnTo>
                    <a:pt x="159" y="114"/>
                  </a:lnTo>
                  <a:lnTo>
                    <a:pt x="145" y="114"/>
                  </a:lnTo>
                  <a:lnTo>
                    <a:pt x="145" y="108"/>
                  </a:lnTo>
                  <a:lnTo>
                    <a:pt x="125" y="108"/>
                  </a:lnTo>
                  <a:lnTo>
                    <a:pt x="125" y="101"/>
                  </a:lnTo>
                  <a:lnTo>
                    <a:pt x="104" y="101"/>
                  </a:lnTo>
                  <a:lnTo>
                    <a:pt x="104" y="94"/>
                  </a:lnTo>
                  <a:lnTo>
                    <a:pt x="83" y="94"/>
                  </a:lnTo>
                  <a:lnTo>
                    <a:pt x="83" y="87"/>
                  </a:lnTo>
                  <a:lnTo>
                    <a:pt x="69" y="87"/>
                  </a:lnTo>
                  <a:lnTo>
                    <a:pt x="62" y="74"/>
                  </a:lnTo>
                  <a:lnTo>
                    <a:pt x="62" y="60"/>
                  </a:lnTo>
                  <a:lnTo>
                    <a:pt x="76" y="54"/>
                  </a:lnTo>
                  <a:lnTo>
                    <a:pt x="90" y="47"/>
                  </a:lnTo>
                  <a:lnTo>
                    <a:pt x="166" y="47"/>
                  </a:lnTo>
                  <a:lnTo>
                    <a:pt x="166" y="20"/>
                  </a:lnTo>
                  <a:lnTo>
                    <a:pt x="159" y="20"/>
                  </a:lnTo>
                  <a:lnTo>
                    <a:pt x="159" y="13"/>
                  </a:lnTo>
                  <a:lnTo>
                    <a:pt x="145" y="13"/>
                  </a:lnTo>
                  <a:lnTo>
                    <a:pt x="139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6B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72" name="Freeform 17"/>
            <p:cNvSpPr>
              <a:spLocks/>
            </p:cNvSpPr>
            <p:nvPr/>
          </p:nvSpPr>
          <p:spPr bwMode="auto">
            <a:xfrm>
              <a:off x="1179" y="2248"/>
              <a:ext cx="48" cy="13"/>
            </a:xfrm>
            <a:custGeom>
              <a:avLst/>
              <a:gdLst>
                <a:gd name="T0" fmla="*/ 0 w 48"/>
                <a:gd name="T1" fmla="*/ 0 h 13"/>
                <a:gd name="T2" fmla="*/ 7 w 48"/>
                <a:gd name="T3" fmla="*/ 13 h 13"/>
                <a:gd name="T4" fmla="*/ 41 w 48"/>
                <a:gd name="T5" fmla="*/ 13 h 13"/>
                <a:gd name="T6" fmla="*/ 41 w 48"/>
                <a:gd name="T7" fmla="*/ 7 h 13"/>
                <a:gd name="T8" fmla="*/ 48 w 48"/>
                <a:gd name="T9" fmla="*/ 7 h 13"/>
                <a:gd name="T10" fmla="*/ 48 w 48"/>
                <a:gd name="T11" fmla="*/ 0 h 13"/>
                <a:gd name="T12" fmla="*/ 0 w 48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13"/>
                <a:gd name="T23" fmla="*/ 48 w 48"/>
                <a:gd name="T24" fmla="*/ 13 h 1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13">
                  <a:moveTo>
                    <a:pt x="0" y="0"/>
                  </a:moveTo>
                  <a:lnTo>
                    <a:pt x="7" y="13"/>
                  </a:lnTo>
                  <a:lnTo>
                    <a:pt x="41" y="13"/>
                  </a:lnTo>
                  <a:lnTo>
                    <a:pt x="41" y="7"/>
                  </a:lnTo>
                  <a:lnTo>
                    <a:pt x="48" y="7"/>
                  </a:lnTo>
                  <a:lnTo>
                    <a:pt x="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B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73" name="Freeform 18"/>
            <p:cNvSpPr>
              <a:spLocks/>
            </p:cNvSpPr>
            <p:nvPr/>
          </p:nvSpPr>
          <p:spPr bwMode="auto">
            <a:xfrm>
              <a:off x="443" y="2410"/>
              <a:ext cx="55" cy="47"/>
            </a:xfrm>
            <a:custGeom>
              <a:avLst/>
              <a:gdLst>
                <a:gd name="T0" fmla="*/ 0 w 55"/>
                <a:gd name="T1" fmla="*/ 0 h 47"/>
                <a:gd name="T2" fmla="*/ 0 w 55"/>
                <a:gd name="T3" fmla="*/ 13 h 47"/>
                <a:gd name="T4" fmla="*/ 7 w 55"/>
                <a:gd name="T5" fmla="*/ 13 h 47"/>
                <a:gd name="T6" fmla="*/ 7 w 55"/>
                <a:gd name="T7" fmla="*/ 40 h 47"/>
                <a:gd name="T8" fmla="*/ 20 w 55"/>
                <a:gd name="T9" fmla="*/ 40 h 47"/>
                <a:gd name="T10" fmla="*/ 20 w 55"/>
                <a:gd name="T11" fmla="*/ 47 h 47"/>
                <a:gd name="T12" fmla="*/ 55 w 55"/>
                <a:gd name="T13" fmla="*/ 47 h 47"/>
                <a:gd name="T14" fmla="*/ 55 w 55"/>
                <a:gd name="T15" fmla="*/ 7 h 47"/>
                <a:gd name="T16" fmla="*/ 48 w 55"/>
                <a:gd name="T17" fmla="*/ 7 h 47"/>
                <a:gd name="T18" fmla="*/ 48 w 55"/>
                <a:gd name="T19" fmla="*/ 0 h 47"/>
                <a:gd name="T20" fmla="*/ 0 w 55"/>
                <a:gd name="T21" fmla="*/ 0 h 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5"/>
                <a:gd name="T34" fmla="*/ 0 h 47"/>
                <a:gd name="T35" fmla="*/ 55 w 55"/>
                <a:gd name="T36" fmla="*/ 47 h 4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5" h="47">
                  <a:moveTo>
                    <a:pt x="0" y="0"/>
                  </a:moveTo>
                  <a:lnTo>
                    <a:pt x="0" y="13"/>
                  </a:lnTo>
                  <a:lnTo>
                    <a:pt x="7" y="13"/>
                  </a:lnTo>
                  <a:lnTo>
                    <a:pt x="7" y="40"/>
                  </a:lnTo>
                  <a:lnTo>
                    <a:pt x="20" y="40"/>
                  </a:lnTo>
                  <a:lnTo>
                    <a:pt x="20" y="47"/>
                  </a:lnTo>
                  <a:lnTo>
                    <a:pt x="55" y="47"/>
                  </a:lnTo>
                  <a:lnTo>
                    <a:pt x="55" y="7"/>
                  </a:lnTo>
                  <a:lnTo>
                    <a:pt x="48" y="7"/>
                  </a:lnTo>
                  <a:lnTo>
                    <a:pt x="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B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74" name="Freeform 19"/>
            <p:cNvSpPr>
              <a:spLocks/>
            </p:cNvSpPr>
            <p:nvPr/>
          </p:nvSpPr>
          <p:spPr bwMode="auto">
            <a:xfrm>
              <a:off x="609" y="2356"/>
              <a:ext cx="56" cy="101"/>
            </a:xfrm>
            <a:custGeom>
              <a:avLst/>
              <a:gdLst>
                <a:gd name="T0" fmla="*/ 0 w 56"/>
                <a:gd name="T1" fmla="*/ 0 h 101"/>
                <a:gd name="T2" fmla="*/ 0 w 56"/>
                <a:gd name="T3" fmla="*/ 94 h 101"/>
                <a:gd name="T4" fmla="*/ 7 w 56"/>
                <a:gd name="T5" fmla="*/ 94 h 101"/>
                <a:gd name="T6" fmla="*/ 7 w 56"/>
                <a:gd name="T7" fmla="*/ 101 h 101"/>
                <a:gd name="T8" fmla="*/ 49 w 56"/>
                <a:gd name="T9" fmla="*/ 101 h 101"/>
                <a:gd name="T10" fmla="*/ 49 w 56"/>
                <a:gd name="T11" fmla="*/ 94 h 101"/>
                <a:gd name="T12" fmla="*/ 56 w 56"/>
                <a:gd name="T13" fmla="*/ 94 h 101"/>
                <a:gd name="T14" fmla="*/ 56 w 56"/>
                <a:gd name="T15" fmla="*/ 0 h 101"/>
                <a:gd name="T16" fmla="*/ 0 w 56"/>
                <a:gd name="T17" fmla="*/ 0 h 1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6"/>
                <a:gd name="T28" fmla="*/ 0 h 101"/>
                <a:gd name="T29" fmla="*/ 56 w 56"/>
                <a:gd name="T30" fmla="*/ 101 h 10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6" h="101">
                  <a:moveTo>
                    <a:pt x="0" y="0"/>
                  </a:moveTo>
                  <a:lnTo>
                    <a:pt x="0" y="94"/>
                  </a:lnTo>
                  <a:lnTo>
                    <a:pt x="7" y="94"/>
                  </a:lnTo>
                  <a:lnTo>
                    <a:pt x="7" y="101"/>
                  </a:lnTo>
                  <a:lnTo>
                    <a:pt x="49" y="101"/>
                  </a:lnTo>
                  <a:lnTo>
                    <a:pt x="49" y="94"/>
                  </a:lnTo>
                  <a:lnTo>
                    <a:pt x="56" y="94"/>
                  </a:lnTo>
                  <a:lnTo>
                    <a:pt x="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B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75" name="Rectangle 20"/>
            <p:cNvSpPr>
              <a:spLocks noChangeArrowheads="1"/>
            </p:cNvSpPr>
            <p:nvPr/>
          </p:nvSpPr>
          <p:spPr bwMode="auto">
            <a:xfrm>
              <a:off x="1061" y="1606"/>
              <a:ext cx="277" cy="500"/>
            </a:xfrm>
            <a:prstGeom prst="rect">
              <a:avLst/>
            </a:prstGeom>
            <a:solidFill>
              <a:srgbClr val="FF0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ru-RU" altLang="ru-RU" sz="1800"/>
            </a:p>
          </p:txBody>
        </p:sp>
        <p:sp>
          <p:nvSpPr>
            <p:cNvPr id="23576" name="Freeform 21"/>
            <p:cNvSpPr>
              <a:spLocks/>
            </p:cNvSpPr>
            <p:nvPr/>
          </p:nvSpPr>
          <p:spPr bwMode="auto">
            <a:xfrm>
              <a:off x="1338" y="1606"/>
              <a:ext cx="35" cy="534"/>
            </a:xfrm>
            <a:custGeom>
              <a:avLst/>
              <a:gdLst>
                <a:gd name="T0" fmla="*/ 35 w 35"/>
                <a:gd name="T1" fmla="*/ 41 h 534"/>
                <a:gd name="T2" fmla="*/ 0 w 35"/>
                <a:gd name="T3" fmla="*/ 0 h 534"/>
                <a:gd name="T4" fmla="*/ 0 w 35"/>
                <a:gd name="T5" fmla="*/ 500 h 534"/>
                <a:gd name="T6" fmla="*/ 35 w 35"/>
                <a:gd name="T7" fmla="*/ 534 h 534"/>
                <a:gd name="T8" fmla="*/ 35 w 35"/>
                <a:gd name="T9" fmla="*/ 41 h 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34"/>
                <a:gd name="T17" fmla="*/ 35 w 35"/>
                <a:gd name="T18" fmla="*/ 534 h 5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34">
                  <a:moveTo>
                    <a:pt x="35" y="41"/>
                  </a:moveTo>
                  <a:lnTo>
                    <a:pt x="0" y="0"/>
                  </a:lnTo>
                  <a:lnTo>
                    <a:pt x="0" y="500"/>
                  </a:lnTo>
                  <a:lnTo>
                    <a:pt x="35" y="534"/>
                  </a:lnTo>
                  <a:lnTo>
                    <a:pt x="35" y="41"/>
                  </a:lnTo>
                  <a:close/>
                </a:path>
              </a:pathLst>
            </a:cu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77" name="Freeform 22"/>
            <p:cNvSpPr>
              <a:spLocks/>
            </p:cNvSpPr>
            <p:nvPr/>
          </p:nvSpPr>
          <p:spPr bwMode="auto">
            <a:xfrm>
              <a:off x="1061" y="2106"/>
              <a:ext cx="312" cy="34"/>
            </a:xfrm>
            <a:custGeom>
              <a:avLst/>
              <a:gdLst>
                <a:gd name="T0" fmla="*/ 277 w 312"/>
                <a:gd name="T1" fmla="*/ 0 h 34"/>
                <a:gd name="T2" fmla="*/ 0 w 312"/>
                <a:gd name="T3" fmla="*/ 0 h 34"/>
                <a:gd name="T4" fmla="*/ 34 w 312"/>
                <a:gd name="T5" fmla="*/ 34 h 34"/>
                <a:gd name="T6" fmla="*/ 312 w 312"/>
                <a:gd name="T7" fmla="*/ 34 h 34"/>
                <a:gd name="T8" fmla="*/ 277 w 312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2"/>
                <a:gd name="T16" fmla="*/ 0 h 34"/>
                <a:gd name="T17" fmla="*/ 312 w 312"/>
                <a:gd name="T18" fmla="*/ 34 h 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2" h="34">
                  <a:moveTo>
                    <a:pt x="277" y="0"/>
                  </a:moveTo>
                  <a:lnTo>
                    <a:pt x="0" y="0"/>
                  </a:lnTo>
                  <a:lnTo>
                    <a:pt x="34" y="34"/>
                  </a:lnTo>
                  <a:lnTo>
                    <a:pt x="312" y="34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78" name="Rectangle 23"/>
            <p:cNvSpPr>
              <a:spLocks noChangeArrowheads="1"/>
            </p:cNvSpPr>
            <p:nvPr/>
          </p:nvSpPr>
          <p:spPr bwMode="auto">
            <a:xfrm>
              <a:off x="158" y="1606"/>
              <a:ext cx="278" cy="500"/>
            </a:xfrm>
            <a:prstGeom prst="rect">
              <a:avLst/>
            </a:prstGeom>
            <a:solidFill>
              <a:srgbClr val="FF0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ru-RU" altLang="ru-RU" sz="1800"/>
            </a:p>
          </p:txBody>
        </p:sp>
        <p:sp>
          <p:nvSpPr>
            <p:cNvPr id="23579" name="Freeform 24"/>
            <p:cNvSpPr>
              <a:spLocks/>
            </p:cNvSpPr>
            <p:nvPr/>
          </p:nvSpPr>
          <p:spPr bwMode="auto">
            <a:xfrm>
              <a:off x="436" y="1606"/>
              <a:ext cx="34" cy="534"/>
            </a:xfrm>
            <a:custGeom>
              <a:avLst/>
              <a:gdLst>
                <a:gd name="T0" fmla="*/ 34 w 34"/>
                <a:gd name="T1" fmla="*/ 41 h 534"/>
                <a:gd name="T2" fmla="*/ 0 w 34"/>
                <a:gd name="T3" fmla="*/ 0 h 534"/>
                <a:gd name="T4" fmla="*/ 0 w 34"/>
                <a:gd name="T5" fmla="*/ 500 h 534"/>
                <a:gd name="T6" fmla="*/ 34 w 34"/>
                <a:gd name="T7" fmla="*/ 534 h 534"/>
                <a:gd name="T8" fmla="*/ 34 w 34"/>
                <a:gd name="T9" fmla="*/ 41 h 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34"/>
                <a:gd name="T17" fmla="*/ 34 w 34"/>
                <a:gd name="T18" fmla="*/ 534 h 5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34">
                  <a:moveTo>
                    <a:pt x="34" y="41"/>
                  </a:moveTo>
                  <a:lnTo>
                    <a:pt x="0" y="0"/>
                  </a:lnTo>
                  <a:lnTo>
                    <a:pt x="0" y="500"/>
                  </a:lnTo>
                  <a:lnTo>
                    <a:pt x="34" y="534"/>
                  </a:lnTo>
                  <a:lnTo>
                    <a:pt x="34" y="41"/>
                  </a:lnTo>
                  <a:close/>
                </a:path>
              </a:pathLst>
            </a:cu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80" name="Freeform 25"/>
            <p:cNvSpPr>
              <a:spLocks/>
            </p:cNvSpPr>
            <p:nvPr/>
          </p:nvSpPr>
          <p:spPr bwMode="auto">
            <a:xfrm>
              <a:off x="158" y="2106"/>
              <a:ext cx="312" cy="34"/>
            </a:xfrm>
            <a:custGeom>
              <a:avLst/>
              <a:gdLst>
                <a:gd name="T0" fmla="*/ 278 w 312"/>
                <a:gd name="T1" fmla="*/ 0 h 34"/>
                <a:gd name="T2" fmla="*/ 0 w 312"/>
                <a:gd name="T3" fmla="*/ 0 h 34"/>
                <a:gd name="T4" fmla="*/ 35 w 312"/>
                <a:gd name="T5" fmla="*/ 34 h 34"/>
                <a:gd name="T6" fmla="*/ 312 w 312"/>
                <a:gd name="T7" fmla="*/ 34 h 34"/>
                <a:gd name="T8" fmla="*/ 278 w 312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2"/>
                <a:gd name="T16" fmla="*/ 0 h 34"/>
                <a:gd name="T17" fmla="*/ 312 w 312"/>
                <a:gd name="T18" fmla="*/ 34 h 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2" h="34">
                  <a:moveTo>
                    <a:pt x="278" y="0"/>
                  </a:moveTo>
                  <a:lnTo>
                    <a:pt x="0" y="0"/>
                  </a:lnTo>
                  <a:lnTo>
                    <a:pt x="35" y="34"/>
                  </a:lnTo>
                  <a:lnTo>
                    <a:pt x="312" y="34"/>
                  </a:lnTo>
                  <a:lnTo>
                    <a:pt x="278" y="0"/>
                  </a:lnTo>
                  <a:close/>
                </a:path>
              </a:pathLst>
            </a:cu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81" name="Freeform 26"/>
            <p:cNvSpPr>
              <a:spLocks/>
            </p:cNvSpPr>
            <p:nvPr/>
          </p:nvSpPr>
          <p:spPr bwMode="auto">
            <a:xfrm>
              <a:off x="977" y="1606"/>
              <a:ext cx="35" cy="534"/>
            </a:xfrm>
            <a:custGeom>
              <a:avLst/>
              <a:gdLst>
                <a:gd name="T0" fmla="*/ 35 w 35"/>
                <a:gd name="T1" fmla="*/ 34 h 534"/>
                <a:gd name="T2" fmla="*/ 0 w 35"/>
                <a:gd name="T3" fmla="*/ 0 h 534"/>
                <a:gd name="T4" fmla="*/ 0 w 35"/>
                <a:gd name="T5" fmla="*/ 500 h 534"/>
                <a:gd name="T6" fmla="*/ 35 w 35"/>
                <a:gd name="T7" fmla="*/ 534 h 534"/>
                <a:gd name="T8" fmla="*/ 35 w 35"/>
                <a:gd name="T9" fmla="*/ 34 h 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34"/>
                <a:gd name="T17" fmla="*/ 35 w 35"/>
                <a:gd name="T18" fmla="*/ 534 h 5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34">
                  <a:moveTo>
                    <a:pt x="35" y="34"/>
                  </a:moveTo>
                  <a:lnTo>
                    <a:pt x="0" y="0"/>
                  </a:lnTo>
                  <a:lnTo>
                    <a:pt x="0" y="500"/>
                  </a:lnTo>
                  <a:lnTo>
                    <a:pt x="35" y="534"/>
                  </a:lnTo>
                  <a:lnTo>
                    <a:pt x="35" y="34"/>
                  </a:lnTo>
                  <a:close/>
                </a:path>
              </a:pathLst>
            </a:cu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82" name="Freeform 27"/>
            <p:cNvSpPr>
              <a:spLocks/>
            </p:cNvSpPr>
            <p:nvPr/>
          </p:nvSpPr>
          <p:spPr bwMode="auto">
            <a:xfrm>
              <a:off x="519" y="2106"/>
              <a:ext cx="493" cy="34"/>
            </a:xfrm>
            <a:custGeom>
              <a:avLst/>
              <a:gdLst>
                <a:gd name="T0" fmla="*/ 458 w 493"/>
                <a:gd name="T1" fmla="*/ 0 h 34"/>
                <a:gd name="T2" fmla="*/ 0 w 493"/>
                <a:gd name="T3" fmla="*/ 0 h 34"/>
                <a:gd name="T4" fmla="*/ 35 w 493"/>
                <a:gd name="T5" fmla="*/ 34 h 34"/>
                <a:gd name="T6" fmla="*/ 493 w 493"/>
                <a:gd name="T7" fmla="*/ 34 h 34"/>
                <a:gd name="T8" fmla="*/ 458 w 493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3"/>
                <a:gd name="T16" fmla="*/ 0 h 34"/>
                <a:gd name="T17" fmla="*/ 493 w 493"/>
                <a:gd name="T18" fmla="*/ 34 h 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3" h="34">
                  <a:moveTo>
                    <a:pt x="458" y="0"/>
                  </a:moveTo>
                  <a:lnTo>
                    <a:pt x="0" y="0"/>
                  </a:lnTo>
                  <a:lnTo>
                    <a:pt x="35" y="34"/>
                  </a:lnTo>
                  <a:lnTo>
                    <a:pt x="493" y="34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83" name="Rectangle 28"/>
            <p:cNvSpPr>
              <a:spLocks noChangeArrowheads="1"/>
            </p:cNvSpPr>
            <p:nvPr/>
          </p:nvSpPr>
          <p:spPr bwMode="auto">
            <a:xfrm>
              <a:off x="519" y="1606"/>
              <a:ext cx="458" cy="500"/>
            </a:xfrm>
            <a:prstGeom prst="rect">
              <a:avLst/>
            </a:prstGeom>
            <a:solidFill>
              <a:srgbClr val="A6B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ru-RU" altLang="ru-RU" sz="1800"/>
            </a:p>
          </p:txBody>
        </p:sp>
        <p:sp>
          <p:nvSpPr>
            <p:cNvPr id="23584" name="Freeform 29"/>
            <p:cNvSpPr>
              <a:spLocks/>
            </p:cNvSpPr>
            <p:nvPr/>
          </p:nvSpPr>
          <p:spPr bwMode="auto">
            <a:xfrm>
              <a:off x="158" y="1255"/>
              <a:ext cx="1180" cy="277"/>
            </a:xfrm>
            <a:custGeom>
              <a:avLst/>
              <a:gdLst>
                <a:gd name="T0" fmla="*/ 1180 w 1180"/>
                <a:gd name="T1" fmla="*/ 277 h 277"/>
                <a:gd name="T2" fmla="*/ 590 w 1180"/>
                <a:gd name="T3" fmla="*/ 0 h 277"/>
                <a:gd name="T4" fmla="*/ 0 w 1180"/>
                <a:gd name="T5" fmla="*/ 277 h 277"/>
                <a:gd name="T6" fmla="*/ 1180 w 1180"/>
                <a:gd name="T7" fmla="*/ 277 h 27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80"/>
                <a:gd name="T13" fmla="*/ 0 h 277"/>
                <a:gd name="T14" fmla="*/ 1180 w 1180"/>
                <a:gd name="T15" fmla="*/ 277 h 27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80" h="277">
                  <a:moveTo>
                    <a:pt x="1180" y="277"/>
                  </a:moveTo>
                  <a:lnTo>
                    <a:pt x="590" y="0"/>
                  </a:lnTo>
                  <a:lnTo>
                    <a:pt x="0" y="277"/>
                  </a:lnTo>
                  <a:lnTo>
                    <a:pt x="1180" y="277"/>
                  </a:lnTo>
                  <a:close/>
                </a:path>
              </a:pathLst>
            </a:custGeom>
            <a:solidFill>
              <a:srgbClr val="FF0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85" name="Freeform 30"/>
            <p:cNvSpPr>
              <a:spLocks/>
            </p:cNvSpPr>
            <p:nvPr/>
          </p:nvSpPr>
          <p:spPr bwMode="auto">
            <a:xfrm>
              <a:off x="158" y="1532"/>
              <a:ext cx="1215" cy="34"/>
            </a:xfrm>
            <a:custGeom>
              <a:avLst/>
              <a:gdLst>
                <a:gd name="T0" fmla="*/ 1180 w 1215"/>
                <a:gd name="T1" fmla="*/ 0 h 34"/>
                <a:gd name="T2" fmla="*/ 0 w 1215"/>
                <a:gd name="T3" fmla="*/ 0 h 34"/>
                <a:gd name="T4" fmla="*/ 35 w 1215"/>
                <a:gd name="T5" fmla="*/ 34 h 34"/>
                <a:gd name="T6" fmla="*/ 1215 w 1215"/>
                <a:gd name="T7" fmla="*/ 34 h 34"/>
                <a:gd name="T8" fmla="*/ 1180 w 1215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15"/>
                <a:gd name="T16" fmla="*/ 0 h 34"/>
                <a:gd name="T17" fmla="*/ 1215 w 1215"/>
                <a:gd name="T18" fmla="*/ 34 h 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15" h="34">
                  <a:moveTo>
                    <a:pt x="1180" y="0"/>
                  </a:moveTo>
                  <a:lnTo>
                    <a:pt x="0" y="0"/>
                  </a:lnTo>
                  <a:lnTo>
                    <a:pt x="35" y="34"/>
                  </a:lnTo>
                  <a:lnTo>
                    <a:pt x="1215" y="34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86" name="Rectangle 31"/>
            <p:cNvSpPr>
              <a:spLocks noChangeArrowheads="1"/>
            </p:cNvSpPr>
            <p:nvPr/>
          </p:nvSpPr>
          <p:spPr bwMode="auto">
            <a:xfrm>
              <a:off x="693" y="1498"/>
              <a:ext cx="111" cy="108"/>
            </a:xfrm>
            <a:prstGeom prst="rect">
              <a:avLst/>
            </a:prstGeom>
            <a:solidFill>
              <a:srgbClr val="A6B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ru-RU" altLang="ru-RU" sz="1800"/>
            </a:p>
          </p:txBody>
        </p:sp>
        <p:sp>
          <p:nvSpPr>
            <p:cNvPr id="23587" name="Rectangle 32"/>
            <p:cNvSpPr>
              <a:spLocks noChangeArrowheads="1"/>
            </p:cNvSpPr>
            <p:nvPr/>
          </p:nvSpPr>
          <p:spPr bwMode="auto">
            <a:xfrm>
              <a:off x="401" y="1802"/>
              <a:ext cx="118" cy="108"/>
            </a:xfrm>
            <a:prstGeom prst="rect">
              <a:avLst/>
            </a:prstGeom>
            <a:solidFill>
              <a:srgbClr val="A6B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ru-RU" altLang="ru-RU" sz="1800"/>
            </a:p>
          </p:txBody>
        </p:sp>
        <p:sp>
          <p:nvSpPr>
            <p:cNvPr id="23588" name="Rectangle 33"/>
            <p:cNvSpPr>
              <a:spLocks noChangeArrowheads="1"/>
            </p:cNvSpPr>
            <p:nvPr/>
          </p:nvSpPr>
          <p:spPr bwMode="auto">
            <a:xfrm>
              <a:off x="977" y="1802"/>
              <a:ext cx="111" cy="108"/>
            </a:xfrm>
            <a:prstGeom prst="rect">
              <a:avLst/>
            </a:prstGeom>
            <a:solidFill>
              <a:srgbClr val="A6B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ru-RU" altLang="ru-RU" sz="1800"/>
            </a:p>
          </p:txBody>
        </p:sp>
        <p:sp>
          <p:nvSpPr>
            <p:cNvPr id="23589" name="Rectangle 34"/>
            <p:cNvSpPr>
              <a:spLocks noChangeArrowheads="1"/>
            </p:cNvSpPr>
            <p:nvPr/>
          </p:nvSpPr>
          <p:spPr bwMode="auto">
            <a:xfrm>
              <a:off x="804" y="1552"/>
              <a:ext cx="41" cy="54"/>
            </a:xfrm>
            <a:prstGeom prst="rect">
              <a:avLst/>
            </a:pr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ru-RU" altLang="ru-RU" sz="1800"/>
            </a:p>
          </p:txBody>
        </p:sp>
        <p:sp>
          <p:nvSpPr>
            <p:cNvPr id="23590" name="Rectangle 35"/>
            <p:cNvSpPr>
              <a:spLocks noChangeArrowheads="1"/>
            </p:cNvSpPr>
            <p:nvPr/>
          </p:nvSpPr>
          <p:spPr bwMode="auto">
            <a:xfrm>
              <a:off x="463" y="1910"/>
              <a:ext cx="56" cy="41"/>
            </a:xfrm>
            <a:prstGeom prst="rect">
              <a:avLst/>
            </a:pr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ru-RU" altLang="ru-RU" sz="1800"/>
            </a:p>
          </p:txBody>
        </p:sp>
        <p:sp>
          <p:nvSpPr>
            <p:cNvPr id="23591" name="Rectangle 36"/>
            <p:cNvSpPr>
              <a:spLocks noChangeArrowheads="1"/>
            </p:cNvSpPr>
            <p:nvPr/>
          </p:nvSpPr>
          <p:spPr bwMode="auto">
            <a:xfrm>
              <a:off x="1005" y="1910"/>
              <a:ext cx="56" cy="41"/>
            </a:xfrm>
            <a:prstGeom prst="rect">
              <a:avLst/>
            </a:prstGeom>
            <a:solidFill>
              <a:srgbClr val="003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ru-RU" altLang="ru-RU" sz="1800"/>
            </a:p>
          </p:txBody>
        </p:sp>
      </p:grpSp>
      <p:sp>
        <p:nvSpPr>
          <p:cNvPr id="23558" name="Text Box 37"/>
          <p:cNvSpPr txBox="1">
            <a:spLocks noChangeArrowheads="1"/>
          </p:cNvSpPr>
          <p:nvPr/>
        </p:nvSpPr>
        <p:spPr bwMode="auto">
          <a:xfrm>
            <a:off x="533400" y="4876800"/>
            <a:ext cx="56546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2400" b="1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Разработчик </a:t>
            </a:r>
            <a:r>
              <a:rPr lang="en-US" altLang="ru-RU" sz="2400" b="1" dirty="0" err="1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ARIS</a:t>
            </a:r>
            <a:r>
              <a:rPr lang="en-US" altLang="ru-RU" sz="2400" b="1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 – </a:t>
            </a:r>
            <a:r>
              <a:rPr lang="ru-RU" altLang="ru-RU" sz="2400" b="1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компания </a:t>
            </a:r>
            <a:r>
              <a:rPr lang="de-DE" altLang="ru-RU" sz="2400" b="1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IDS Scheer AG</a:t>
            </a:r>
            <a:r>
              <a:rPr lang="ru-RU" altLang="ru-RU" sz="2400" b="1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, г. </a:t>
            </a:r>
            <a:r>
              <a:rPr lang="de-DE" altLang="ru-RU" sz="2400" b="1" dirty="0" err="1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Саарбрюкен</a:t>
            </a:r>
            <a:r>
              <a:rPr lang="de-DE" altLang="ru-RU" sz="2400" b="1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, </a:t>
            </a:r>
            <a:r>
              <a:rPr lang="de-DE" altLang="ru-RU" sz="2400" b="1" dirty="0" err="1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Германия</a:t>
            </a:r>
            <a:endParaRPr lang="ru-RU" altLang="ru-RU" sz="2400" b="1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23559" name="Picture 38" descr="IDS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838700"/>
            <a:ext cx="2438400" cy="8667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54137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Номер слайда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116625-5D1E-4865-A0F4-762CCF4FB623}" type="slidenum">
              <a:rPr lang="ru-RU" altLang="ru-RU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ru-RU" altLang="ru-RU" sz="1400" smtClean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124075" y="214313"/>
            <a:ext cx="6819900" cy="550862"/>
          </a:xfrm>
        </p:spPr>
        <p:txBody>
          <a:bodyPr/>
          <a:lstStyle/>
          <a:p>
            <a:pPr eaLnBrk="1" hangingPunct="1"/>
            <a:r>
              <a:rPr lang="ru-RU" altLang="ru-RU" sz="4000" smtClean="0"/>
              <a:t>Уровни описания </a:t>
            </a:r>
            <a:r>
              <a:rPr lang="en-US" altLang="ru-RU" sz="4000" smtClean="0"/>
              <a:t>ARIS</a:t>
            </a:r>
            <a:endParaRPr lang="ru-RU" altLang="ru-RU" sz="4000" smtClean="0"/>
          </a:p>
        </p:txBody>
      </p:sp>
      <p:sp>
        <p:nvSpPr>
          <p:cNvPr id="26628" name="Text Box 3"/>
          <p:cNvSpPr txBox="1">
            <a:spLocks noChangeArrowheads="1"/>
          </p:cNvSpPr>
          <p:nvPr/>
        </p:nvSpPr>
        <p:spPr bwMode="auto">
          <a:xfrm>
            <a:off x="179388" y="1341438"/>
            <a:ext cx="3641725" cy="22467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ru-RU" altLang="ru-RU" sz="2000" dirty="0" smtClean="0">
                <a:solidFill>
                  <a:schemeClr val="bg1">
                    <a:lumMod val="75000"/>
                  </a:schemeClr>
                </a:solidFill>
                <a:latin typeface="Arial Narrow" pitchFamily="34" charset="0"/>
              </a:rPr>
              <a:t>Схема создания и использования моделей  объекта, отражающая уровни детализации, его различные состояния с момента возникновения    необходимости  и заканчивая его дальнейшим  развитием.</a:t>
            </a:r>
            <a:endParaRPr lang="en-US" altLang="ru-RU" sz="2000" dirty="0" smtClean="0">
              <a:solidFill>
                <a:schemeClr val="bg1">
                  <a:lumMod val="7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179388" y="5589588"/>
            <a:ext cx="3744912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Альтернатива – выдергивание отдельных процессов из клубка «спагетти диаграмм»!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27088" y="4221163"/>
            <a:ext cx="2430462" cy="1223962"/>
            <a:chOff x="3787" y="3385"/>
            <a:chExt cx="1531" cy="771"/>
          </a:xfrm>
        </p:grpSpPr>
        <p:pic>
          <p:nvPicPr>
            <p:cNvPr id="26633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5" y="3493"/>
              <a:ext cx="1133" cy="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34" name="Line 7"/>
            <p:cNvSpPr>
              <a:spLocks noChangeShapeType="1"/>
            </p:cNvSpPr>
            <p:nvPr/>
          </p:nvSpPr>
          <p:spPr bwMode="auto">
            <a:xfrm flipH="1">
              <a:off x="3833" y="3475"/>
              <a:ext cx="953" cy="68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6635" name="Line 8"/>
            <p:cNvSpPr>
              <a:spLocks noChangeShapeType="1"/>
            </p:cNvSpPr>
            <p:nvPr/>
          </p:nvSpPr>
          <p:spPr bwMode="auto">
            <a:xfrm>
              <a:off x="3787" y="3385"/>
              <a:ext cx="998" cy="77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2663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025" y="1196975"/>
            <a:ext cx="5010150" cy="53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AutoShape 10"/>
          <p:cNvSpPr>
            <a:spLocks/>
          </p:cNvSpPr>
          <p:nvPr/>
        </p:nvSpPr>
        <p:spPr bwMode="auto">
          <a:xfrm>
            <a:off x="7308850" y="1268413"/>
            <a:ext cx="503238" cy="4968875"/>
          </a:xfrm>
          <a:prstGeom prst="rightBrace">
            <a:avLst>
              <a:gd name="adj1" fmla="val 8228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20083124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Номер слайда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E71058-6093-4209-94AE-288148BB03C9}" type="slidenum">
              <a:rPr lang="ru-RU" altLang="ru-RU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ru-RU" altLang="ru-RU" sz="1400" smtClean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1" y="332656"/>
            <a:ext cx="8548687" cy="911225"/>
          </a:xfrm>
        </p:spPr>
        <p:txBody>
          <a:bodyPr/>
          <a:lstStyle/>
          <a:p>
            <a:pPr eaLnBrk="1" hangingPunct="1"/>
            <a:r>
              <a:rPr lang="ru-RU" altLang="ru-RU" sz="2800" dirty="0" smtClean="0">
                <a:solidFill>
                  <a:schemeClr val="bg1">
                    <a:lumMod val="75000"/>
                  </a:schemeClr>
                </a:solidFill>
              </a:rPr>
              <a:t>Диаграмма взаимодействия в бизнес-процессе «обработка заказа»</a:t>
            </a:r>
            <a:r>
              <a:rPr lang="ru-RU" altLang="ru-RU" sz="40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31748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520" y="1628800"/>
            <a:ext cx="8892480" cy="4173537"/>
          </a:xfrm>
          <a:noFill/>
        </p:spPr>
      </p:pic>
    </p:spTree>
    <p:extLst>
      <p:ext uri="{BB962C8B-B14F-4D97-AF65-F5344CB8AC3E}">
        <p14:creationId xmlns:p14="http://schemas.microsoft.com/office/powerpoint/2010/main" val="145825746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Номер слайда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98A906-EA72-4331-AAC6-40154A31C0A9}" type="slidenum">
              <a:rPr lang="ru-RU" altLang="ru-RU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ru-RU" altLang="ru-RU" sz="1400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809625"/>
          </a:xfrm>
        </p:spPr>
        <p:txBody>
          <a:bodyPr/>
          <a:lstStyle/>
          <a:p>
            <a:pPr eaLnBrk="1" hangingPunct="1"/>
            <a:r>
              <a:rPr lang="ru-RU" altLang="ru-RU" sz="2800" b="1" i="1" smtClean="0"/>
              <a:t>Примеры использования ARIS</a:t>
            </a:r>
            <a:br>
              <a:rPr lang="ru-RU" altLang="ru-RU" sz="2800" b="1" i="1" smtClean="0"/>
            </a:br>
            <a:endParaRPr lang="ru-RU" altLang="ru-RU" sz="2800" b="1" i="1" smtClean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20687"/>
            <a:ext cx="9144000" cy="6069037"/>
          </a:xfrm>
          <a:solidFill>
            <a:schemeClr val="tx2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ru-RU" altLang="ru-RU" sz="2200" b="0" dirty="0" smtClean="0">
                <a:solidFill>
                  <a:schemeClr val="bg1">
                    <a:lumMod val="75000"/>
                  </a:schemeClr>
                </a:solidFill>
              </a:rPr>
              <a:t>Фирма Мерседес-</a:t>
            </a:r>
            <a:r>
              <a:rPr lang="ru-RU" altLang="ru-RU" sz="2200" b="0" dirty="0" err="1" smtClean="0">
                <a:solidFill>
                  <a:schemeClr val="bg1">
                    <a:lumMod val="75000"/>
                  </a:schemeClr>
                </a:solidFill>
              </a:rPr>
              <a:t>Бенц</a:t>
            </a:r>
            <a:r>
              <a:rPr lang="ru-RU" altLang="ru-RU" sz="2200" b="0" dirty="0" smtClean="0">
                <a:solidFill>
                  <a:schemeClr val="bg1">
                    <a:lumMod val="75000"/>
                  </a:schemeClr>
                </a:solidFill>
              </a:rPr>
              <a:t> применяет </a:t>
            </a:r>
            <a:r>
              <a:rPr lang="ru-RU" altLang="ru-RU" sz="2200" b="0" dirty="0" err="1" smtClean="0">
                <a:solidFill>
                  <a:schemeClr val="bg1">
                    <a:lumMod val="75000"/>
                  </a:schemeClr>
                </a:solidFill>
              </a:rPr>
              <a:t>ARIS</a:t>
            </a:r>
            <a:r>
              <a:rPr lang="ru-RU" altLang="ru-RU" sz="2200" b="0" dirty="0" smtClean="0">
                <a:solidFill>
                  <a:schemeClr val="bg1">
                    <a:lumMod val="75000"/>
                  </a:schemeClr>
                </a:solidFill>
              </a:rPr>
              <a:t>  с 1995 года для анализа и совершенствования деятельности в области производства легковых автомобилей. Поводом для её приобретения  послужила </a:t>
            </a:r>
            <a:r>
              <a:rPr lang="ru-RU" altLang="ru-RU" sz="2200" b="0" dirty="0" err="1" smtClean="0">
                <a:solidFill>
                  <a:schemeClr val="bg1">
                    <a:lumMod val="75000"/>
                  </a:schemeClr>
                </a:solidFill>
              </a:rPr>
              <a:t>возраствющая</a:t>
            </a:r>
            <a:r>
              <a:rPr lang="ru-RU" altLang="ru-RU" sz="2200" b="0" dirty="0" smtClean="0">
                <a:solidFill>
                  <a:schemeClr val="bg1">
                    <a:lumMod val="75000"/>
                  </a:schemeClr>
                </a:solidFill>
              </a:rPr>
              <a:t> конкуренция на рынке легковых автомобилей и острая необходимость в повышении конкурентоспособности предприятия.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ru-RU" altLang="ru-RU" sz="2200" b="0" dirty="0" smtClean="0">
                <a:solidFill>
                  <a:schemeClr val="bg1">
                    <a:lumMod val="75000"/>
                  </a:schemeClr>
                </a:solidFill>
              </a:rPr>
              <a:t>Автомобилестроительная компания Фольксваген успешно использовала систему </a:t>
            </a:r>
            <a:r>
              <a:rPr lang="ru-RU" altLang="ru-RU" sz="2200" b="0" dirty="0" err="1" smtClean="0">
                <a:solidFill>
                  <a:schemeClr val="bg1">
                    <a:lumMod val="75000"/>
                  </a:schemeClr>
                </a:solidFill>
              </a:rPr>
              <a:t>ARIS</a:t>
            </a:r>
            <a:r>
              <a:rPr lang="ru-RU" altLang="ru-RU" sz="2200" b="0" dirty="0" smtClean="0">
                <a:solidFill>
                  <a:schemeClr val="bg1">
                    <a:lumMod val="75000"/>
                  </a:schemeClr>
                </a:solidFill>
              </a:rPr>
              <a:t> для реализации эффективной программы лизинга в двух дочерних подразделениях Фольксваген Лизинг и Фольксваген Банк. Весь процесс разработки  данной программы был полностью осуществлен  в системе </a:t>
            </a:r>
            <a:r>
              <a:rPr lang="ru-RU" altLang="ru-RU" sz="2200" b="0" dirty="0" err="1" smtClean="0">
                <a:solidFill>
                  <a:schemeClr val="bg1">
                    <a:lumMod val="75000"/>
                  </a:schemeClr>
                </a:solidFill>
              </a:rPr>
              <a:t>ARIS</a:t>
            </a:r>
            <a:r>
              <a:rPr lang="ru-RU" altLang="ru-RU" sz="2200" b="0" dirty="0" smtClean="0">
                <a:solidFill>
                  <a:schemeClr val="bg1">
                    <a:lumMod val="75000"/>
                  </a:schemeClr>
                </a:solidFill>
              </a:rPr>
              <a:t>  и продолжался почти  5 месяцев при участии от 6 до 20 специалистов на разных этапах составления проекта.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ru-RU" altLang="ru-RU" sz="2200" b="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ru-RU" altLang="ru-RU" sz="22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ru-RU" altLang="ru-RU" sz="2200" b="0" dirty="0" smtClean="0">
                <a:solidFill>
                  <a:schemeClr val="bg1">
                    <a:lumMod val="75000"/>
                  </a:schemeClr>
                </a:solidFill>
              </a:rPr>
              <a:t>    Окончательным этапом разработки стали расчет  экономических показателей реализации проекта и обучение будущих участников данной программы, что также было организовано с применением инструментария </a:t>
            </a:r>
            <a:r>
              <a:rPr lang="ru-RU" altLang="ru-RU" sz="2200" b="0" dirty="0" err="1" smtClean="0">
                <a:solidFill>
                  <a:schemeClr val="bg1">
                    <a:lumMod val="75000"/>
                  </a:schemeClr>
                </a:solidFill>
              </a:rPr>
              <a:t>ARIS</a:t>
            </a:r>
            <a:r>
              <a:rPr lang="ru-RU" altLang="ru-RU" sz="2200" b="0" dirty="0" smtClean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u-RU" altLang="ru-RU" sz="2200" dirty="0" smtClean="0"/>
          </a:p>
        </p:txBody>
      </p:sp>
    </p:spTree>
    <p:extLst>
      <p:ext uri="{BB962C8B-B14F-4D97-AF65-F5344CB8AC3E}">
        <p14:creationId xmlns:p14="http://schemas.microsoft.com/office/powerpoint/2010/main" val="39473636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5A60CD-EEFE-4F51-8713-78A3D462F82C}" type="slidenum">
              <a:rPr lang="ru-RU" altLang="ru-RU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ru-RU" altLang="ru-RU" sz="1400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363856" y="146031"/>
            <a:ext cx="8600632" cy="2276475"/>
          </a:xfrm>
          <a:solidFill>
            <a:schemeClr val="bg2">
              <a:lumMod val="10000"/>
              <a:lumOff val="9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ru-RU" altLang="ru-RU" sz="2400" dirty="0" smtClean="0">
                <a:solidFill>
                  <a:schemeClr val="bg1">
                    <a:lumMod val="75000"/>
                  </a:schemeClr>
                </a:solidFill>
              </a:rPr>
              <a:t>История использования процессной платформы ARIS для совершенствования бизнеса и повышения его эффективности в РФ насчитывает уже </a:t>
            </a:r>
            <a:r>
              <a:rPr lang="en-US" altLang="ru-RU" sz="2400" dirty="0" smtClean="0">
                <a:solidFill>
                  <a:schemeClr val="bg1">
                    <a:lumMod val="75000"/>
                  </a:schemeClr>
                </a:solidFill>
              </a:rPr>
              <a:t>25</a:t>
            </a:r>
            <a:r>
              <a:rPr lang="ru-RU" altLang="ru-RU" sz="2400" dirty="0" smtClean="0">
                <a:solidFill>
                  <a:schemeClr val="bg1">
                    <a:lumMod val="75000"/>
                  </a:schemeClr>
                </a:solidFill>
              </a:rPr>
              <a:t> лет. За эти годы процессные методы управления с помощью инструментов ARIS внедрили у себя:</a:t>
            </a:r>
            <a:r>
              <a:rPr lang="ru-RU" altLang="ru-RU" sz="2400" dirty="0" smtClean="0"/>
              <a:t/>
            </a:r>
            <a:br>
              <a:rPr lang="ru-RU" altLang="ru-RU" sz="2400" dirty="0" smtClean="0"/>
            </a:br>
            <a:endParaRPr lang="ru-RU" altLang="ru-RU" sz="2400" dirty="0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4312" y="2564904"/>
            <a:ext cx="8229600" cy="4525962"/>
          </a:xfrm>
        </p:spPr>
        <p:txBody>
          <a:bodyPr/>
          <a:lstStyle/>
          <a:p>
            <a:pPr marL="457200" indent="-457200" eaLnBrk="1" hangingPunct="1">
              <a:lnSpc>
                <a:spcPct val="80000"/>
              </a:lnSpc>
            </a:pPr>
            <a:r>
              <a:rPr lang="ru-RU" altLang="ru-RU" sz="2800" dirty="0" smtClean="0"/>
              <a:t> </a:t>
            </a:r>
            <a:r>
              <a:rPr lang="ru-RU" altLang="ru-RU" sz="2800" dirty="0" smtClean="0">
                <a:solidFill>
                  <a:schemeClr val="bg1">
                    <a:lumMod val="75000"/>
                  </a:schemeClr>
                </a:solidFill>
              </a:rPr>
              <a:t>«Роснефть», 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ru-RU" altLang="ru-RU" sz="2800" dirty="0" smtClean="0">
                <a:solidFill>
                  <a:schemeClr val="bg1">
                    <a:lumMod val="75000"/>
                  </a:schemeClr>
                </a:solidFill>
              </a:rPr>
              <a:t>Международный московский банк,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ru-RU" altLang="ru-RU" sz="2800" dirty="0" smtClean="0">
                <a:solidFill>
                  <a:schemeClr val="bg1">
                    <a:lumMod val="75000"/>
                  </a:schemeClr>
                </a:solidFill>
              </a:rPr>
              <a:t> «ВымпелКом», 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ru-RU" altLang="ru-RU" sz="2800" dirty="0" smtClean="0">
                <a:solidFill>
                  <a:schemeClr val="bg1">
                    <a:lumMod val="75000"/>
                  </a:schemeClr>
                </a:solidFill>
              </a:rPr>
              <a:t>«</a:t>
            </a:r>
            <a:r>
              <a:rPr lang="ru-RU" altLang="ru-RU" sz="2800" dirty="0" err="1" smtClean="0">
                <a:solidFill>
                  <a:schemeClr val="bg1">
                    <a:lumMod val="75000"/>
                  </a:schemeClr>
                </a:solidFill>
              </a:rPr>
              <a:t>ДаймлерКрайслер</a:t>
            </a:r>
            <a:r>
              <a:rPr lang="ru-RU" altLang="ru-RU" sz="2800" dirty="0" smtClean="0">
                <a:solidFill>
                  <a:schemeClr val="bg1">
                    <a:lumMod val="75000"/>
                  </a:schemeClr>
                </a:solidFill>
              </a:rPr>
              <a:t> Автомобили Рус», 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ru-RU" altLang="ru-RU" sz="2800" dirty="0" smtClean="0">
                <a:solidFill>
                  <a:schemeClr val="bg1">
                    <a:lumMod val="75000"/>
                  </a:schemeClr>
                </a:solidFill>
              </a:rPr>
              <a:t>ЛУКОЙЛ, 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ru-RU" altLang="ru-RU" sz="2800" dirty="0" err="1" smtClean="0">
                <a:solidFill>
                  <a:schemeClr val="bg1">
                    <a:lumMod val="75000"/>
                  </a:schemeClr>
                </a:solidFill>
              </a:rPr>
              <a:t>AVON</a:t>
            </a:r>
            <a:r>
              <a:rPr lang="ru-RU" altLang="ru-RU" sz="2800" dirty="0" smtClean="0">
                <a:solidFill>
                  <a:schemeClr val="bg1">
                    <a:lumMod val="75000"/>
                  </a:schemeClr>
                </a:solidFill>
              </a:rPr>
              <a:t> Россия, 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ru-RU" altLang="ru-RU" sz="2800" dirty="0" err="1" smtClean="0">
                <a:solidFill>
                  <a:schemeClr val="bg1">
                    <a:lumMod val="75000"/>
                  </a:schemeClr>
                </a:solidFill>
              </a:rPr>
              <a:t>Siemens</a:t>
            </a:r>
            <a:r>
              <a:rPr lang="ru-RU" altLang="ru-RU" sz="2800" dirty="0" smtClean="0">
                <a:solidFill>
                  <a:schemeClr val="bg1">
                    <a:lumMod val="75000"/>
                  </a:schemeClr>
                </a:solidFill>
              </a:rPr>
              <a:t> Россия </a:t>
            </a:r>
            <a:endParaRPr lang="en-US" altLang="ru-RU" sz="28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457200" indent="-457200" eaLnBrk="1" hangingPunct="1">
              <a:lnSpc>
                <a:spcPct val="80000"/>
              </a:lnSpc>
            </a:pPr>
            <a:r>
              <a:rPr lang="ru-RU" altLang="ru-RU" sz="2800" dirty="0" smtClean="0">
                <a:solidFill>
                  <a:schemeClr val="bg1">
                    <a:lumMod val="75000"/>
                  </a:schemeClr>
                </a:solidFill>
              </a:rPr>
              <a:t>«Норильский никель»</a:t>
            </a:r>
            <a:endParaRPr lang="en-US" altLang="ru-RU" sz="28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457200" indent="-457200" eaLnBrk="1" hangingPunct="1">
              <a:lnSpc>
                <a:spcPct val="80000"/>
              </a:lnSpc>
            </a:pPr>
            <a:endParaRPr lang="ru-RU" altLang="ru-RU" sz="2800" dirty="0" smtClean="0"/>
          </a:p>
          <a:p>
            <a:pPr marL="457200" indent="-457200" eaLnBrk="1" hangingPunct="1">
              <a:lnSpc>
                <a:spcPct val="80000"/>
              </a:lnSpc>
            </a:pPr>
            <a:endParaRPr lang="ru-RU" alt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10532699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>
                <a:solidFill>
                  <a:srgbClr val="000000"/>
                </a:solidFill>
                <a:latin typeface="Arial" charset="0"/>
              </a:rPr>
              <a:t>ПО моделирования и описание бизнес-процессов</a:t>
            </a:r>
          </a:p>
        </p:txBody>
      </p:sp>
      <p:graphicFrame>
        <p:nvGraphicFramePr>
          <p:cNvPr id="164233" name="Group 393"/>
          <p:cNvGraphicFramePr>
            <a:graphicFrameLocks noGrp="1"/>
          </p:cNvGraphicFramePr>
          <p:nvPr>
            <p:ph idx="1"/>
          </p:nvPr>
        </p:nvGraphicFramePr>
        <p:xfrm>
          <a:off x="1066800" y="908050"/>
          <a:ext cx="7696200" cy="5892804"/>
        </p:xfrm>
        <a:graphic>
          <a:graphicData uri="http://schemas.openxmlformats.org/drawingml/2006/table">
            <a:tbl>
              <a:tblPr/>
              <a:tblGrid>
                <a:gridCol w="3217863"/>
                <a:gridCol w="1196975"/>
                <a:gridCol w="1506537"/>
                <a:gridCol w="1774825"/>
              </a:tblGrid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Показатель </a:t>
                      </a:r>
                      <a:endParaRPr kumimoji="0" 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421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BPWin, ERWin </a:t>
                      </a:r>
                      <a:endParaRPr kumimoji="0" 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421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Rational Suite </a:t>
                      </a:r>
                      <a:endParaRPr kumimoji="0" 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421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ARIS </a:t>
                      </a:r>
                      <a:endParaRPr kumimoji="0" lang="ru-RU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4212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Контроль синтаксиса модели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Да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Нет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Визуализация модели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3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Стандарты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IDEF0, IDF3,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DFD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UML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UML, EPC, ERM,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DFD-частично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Динамическое моделирование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Нет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Нет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Оптимизация модели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Нет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Нет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Функионально-стоимостной анализ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2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Генерация программного кода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Да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Нет  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Стоимость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Средняя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Средняя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 Средняя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Распространенность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5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2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2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Доступность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5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3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3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Библиотека элементов ОБП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Да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Нет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 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Групповая работа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Да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Да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Да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name="01090029">
  <a:themeElements>
    <a:clrScheme name="01090029 12">
      <a:dk1>
        <a:srgbClr val="777777"/>
      </a:dk1>
      <a:lt1>
        <a:srgbClr val="969696"/>
      </a:lt1>
      <a:dk2>
        <a:srgbClr val="686B5D"/>
      </a:dk2>
      <a:lt2>
        <a:srgbClr val="FFFFCC"/>
      </a:lt2>
      <a:accent1>
        <a:srgbClr val="909082"/>
      </a:accent1>
      <a:accent2>
        <a:srgbClr val="809EA8"/>
      </a:accent2>
      <a:accent3>
        <a:srgbClr val="B9BAB6"/>
      </a:accent3>
      <a:accent4>
        <a:srgbClr val="7F7F7F"/>
      </a:accent4>
      <a:accent5>
        <a:srgbClr val="C6C6C1"/>
      </a:accent5>
      <a:accent6>
        <a:srgbClr val="738F98"/>
      </a:accent6>
      <a:hlink>
        <a:srgbClr val="FFCC66"/>
      </a:hlink>
      <a:folHlink>
        <a:srgbClr val="E9DCB9"/>
      </a:folHlink>
    </a:clrScheme>
    <a:fontScheme name="01090029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0109002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02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02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02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02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02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02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02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02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029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029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029 12">
        <a:dk1>
          <a:srgbClr val="777777"/>
        </a:dk1>
        <a:lt1>
          <a:srgbClr val="969696"/>
        </a:lt1>
        <a:dk2>
          <a:srgbClr val="686B5D"/>
        </a:dk2>
        <a:lt2>
          <a:srgbClr val="FFFFCC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01072140</Template>
  <TotalTime>1510</TotalTime>
  <Words>2702</Words>
  <Application>Microsoft Office PowerPoint</Application>
  <PresentationFormat>Экран (4:3)</PresentationFormat>
  <Paragraphs>324</Paragraphs>
  <Slides>84</Slides>
  <Notes>0</Notes>
  <HiddenSlides>2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84</vt:i4>
      </vt:variant>
    </vt:vector>
  </HeadingPairs>
  <TitlesOfParts>
    <vt:vector size="94" baseType="lpstr">
      <vt:lpstr>Arial Unicode MS</vt:lpstr>
      <vt:lpstr>Arial</vt:lpstr>
      <vt:lpstr>Arial Black</vt:lpstr>
      <vt:lpstr>Arial Narrow</vt:lpstr>
      <vt:lpstr>Tahoma</vt:lpstr>
      <vt:lpstr>Times New Roman</vt:lpstr>
      <vt:lpstr>Verdana</vt:lpstr>
      <vt:lpstr>Wingdings</vt:lpstr>
      <vt:lpstr>01090029</vt:lpstr>
      <vt:lpstr>Точечный рисунок</vt:lpstr>
      <vt:lpstr>Бизнес-моделирование</vt:lpstr>
      <vt:lpstr>Жизненный цикл программного обеспечения (ЖЦ ПО)</vt:lpstr>
      <vt:lpstr>Обычно в состав ЖЦ включаются следующие стадии:</vt:lpstr>
      <vt:lpstr>Бизнес-процесс</vt:lpstr>
      <vt:lpstr>Презентация PowerPoint</vt:lpstr>
      <vt:lpstr>Презентация PowerPoint</vt:lpstr>
      <vt:lpstr>Презентация PowerPoint</vt:lpstr>
      <vt:lpstr>Цели описания и формализации бизнес-процессов предприятия: </vt:lpstr>
      <vt:lpstr>Наиболее распространенные типы диаграмм</vt:lpstr>
      <vt:lpstr>Используются различные нотации, описывающих функциональную структуру системы и отношения между данными, такие как:</vt:lpstr>
      <vt:lpstr>Методология функционального моделирования SADT</vt:lpstr>
      <vt:lpstr>Методология функционального моделирования SADT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 основе методологии лежат четыре основных понятия:</vt:lpstr>
      <vt:lpstr>Презентация PowerPoint</vt:lpstr>
      <vt:lpstr>Презентация PowerPoint</vt:lpstr>
      <vt:lpstr>Функциональный блок «Обработать заготовку» </vt:lpstr>
      <vt:lpstr>Внесение изменений в технологические указания</vt:lpstr>
      <vt:lpstr>www.microafrica.co.za/tass/idef0.htm</vt:lpstr>
      <vt:lpstr>Презентация PowerPoint</vt:lpstr>
      <vt:lpstr>2. Интерфейсная дуга Arrow  </vt:lpstr>
      <vt:lpstr>Презентация PowerPoint</vt:lpstr>
      <vt:lpstr>Презентация PowerPoint</vt:lpstr>
      <vt:lpstr>Типы диаграмм</vt:lpstr>
      <vt:lpstr>Презентация PowerPoint</vt:lpstr>
      <vt:lpstr>Типы диаграмм</vt:lpstr>
      <vt:lpstr>Презентация PowerPoint</vt:lpstr>
      <vt:lpstr>Презентация PowerPoint</vt:lpstr>
      <vt:lpstr>Понятие глоссарий</vt:lpstr>
      <vt:lpstr>Принципы ограничения сложности IDEF0-диаграмм </vt:lpstr>
      <vt:lpstr>В IDEF0 различают пять типов стрелок:</vt:lpstr>
      <vt:lpstr>В IDEF0 различают пять типов стрелок:</vt:lpstr>
      <vt:lpstr>В IDEF0 различают пять типов стрелок:</vt:lpstr>
      <vt:lpstr>Презентация PowerPoint</vt:lpstr>
      <vt:lpstr>В IDEF0 различают пять типов стрелок:</vt:lpstr>
      <vt:lpstr>Презентация PowerPoint</vt:lpstr>
      <vt:lpstr>Граничные стрелки</vt:lpstr>
      <vt:lpstr>В IDEF0 различают пять типов взаимодействия между блоками для описания их отношений: </vt:lpstr>
      <vt:lpstr>Презентация PowerPoint</vt:lpstr>
      <vt:lpstr>Презентация PowerPoint</vt:lpstr>
      <vt:lpstr>Презентация PowerPoint</vt:lpstr>
      <vt:lpstr>Презентация PowerPoint</vt:lpstr>
      <vt:lpstr>Разветвляющиеся и сливающиеся стрелки </vt:lpstr>
      <vt:lpstr>Разветвляющиеся и сливающиеся стрелки</vt:lpstr>
      <vt:lpstr>Презентация PowerPoint</vt:lpstr>
      <vt:lpstr>Количественный анализ диаграмм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Диаграммы потоков данных DFD (Data Flow Diagrams) </vt:lpstr>
      <vt:lpstr>Основные компоненты диаграмм потоков данных: </vt:lpstr>
      <vt:lpstr>Презентация PowerPoint</vt:lpstr>
      <vt:lpstr>IDEF6 —— Обоснование проектных действий.</vt:lpstr>
      <vt:lpstr>Презентация PowerPoint</vt:lpstr>
      <vt:lpstr>Диаграммы потоков работ WFD (Work Flow Diagram)   </vt:lpstr>
      <vt:lpstr>Презентация PowerPoint</vt:lpstr>
      <vt:lpstr>.    Диаграммы "сущность  ̶  связь" ERD (Entity  ̶  Relationchip diagram)   </vt:lpstr>
      <vt:lpstr>Презентация PowerPoint</vt:lpstr>
      <vt:lpstr>Класс сущностей и экземпляр сущности</vt:lpstr>
      <vt:lpstr>Для сущностей имеют место следующие соглашения (правила): </vt:lpstr>
      <vt:lpstr>История</vt:lpstr>
      <vt:lpstr>Назначение нотации BPMN</vt:lpstr>
      <vt:lpstr>Пример диаграммы</vt:lpstr>
      <vt:lpstr>Презентация PowerPoint</vt:lpstr>
      <vt:lpstr>Пример</vt:lpstr>
      <vt:lpstr> CASE - технологии </vt:lpstr>
      <vt:lpstr>Презентация PowerPoint</vt:lpstr>
      <vt:lpstr>Современные крупные проекты ИС характеризуются, как правило, следующими особенностями:  </vt:lpstr>
      <vt:lpstr>Презентация PowerPoint</vt:lpstr>
      <vt:lpstr>Презентация PowerPoint</vt:lpstr>
      <vt:lpstr>Инструменты</vt:lpstr>
      <vt:lpstr>Инструментальная система ARIS</vt:lpstr>
      <vt:lpstr>Уровни описания ARIS</vt:lpstr>
      <vt:lpstr>Диаграмма взаимодействия в бизнес-процессе «обработка заказа» </vt:lpstr>
      <vt:lpstr>Примеры использования ARIS </vt:lpstr>
      <vt:lpstr>История использования процессной платформы ARIS для совершенствования бизнеса и повышения его эффективности в РФ насчитывает уже 25 лет. За эти годы процессные методы управления с помощью инструментов ARIS внедрили у себя: </vt:lpstr>
      <vt:lpstr>ПО моделирования и описание бизнес-процессов</vt:lpstr>
    </vt:vector>
  </TitlesOfParts>
  <Company>Cramar Research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CASE-ТЕХНОЛОГИИ</dc:title>
  <dc:creator>Yuri Kravchenko</dc:creator>
  <cp:lastModifiedBy>Наталия Мелихова</cp:lastModifiedBy>
  <cp:revision>105</cp:revision>
  <dcterms:created xsi:type="dcterms:W3CDTF">2006-03-09T18:50:51Z</dcterms:created>
  <dcterms:modified xsi:type="dcterms:W3CDTF">2021-09-22T11:30:25Z</dcterms:modified>
</cp:coreProperties>
</file>