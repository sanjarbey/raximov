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Semi Bold"/>
      <p:regular r:id="rId17"/>
    </p:embeddedFont>
    <p:embeddedFont>
      <p:font typeface="DM Sans Semi Bold"/>
      <p:regular r:id="rId18"/>
    </p:embeddedFont>
    <p:embeddedFont>
      <p:font typeface="DM Sans Semi Bold"/>
      <p:regular r:id="rId19"/>
    </p:embeddedFont>
    <p:embeddedFont>
      <p:font typeface="DM Sans Semi Bold"/>
      <p:regular r:id="rId20"/>
    </p:embeddedFont>
    <p:embeddedFont>
      <p:font typeface="Inter Medium"/>
      <p:regular r:id="rId21"/>
    </p:embeddedFont>
    <p:embeddedFont>
      <p:font typeface="Inter Medium"/>
      <p:regular r:id="rId22"/>
    </p:embeddedFont>
    <p:embeddedFont>
      <p:font typeface="Inter Medium"/>
      <p:regular r:id="rId23"/>
    </p:embeddedFont>
    <p:embeddedFont>
      <p:font typeface="Inter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494723"/>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Ijtimoiy tarmoqlarning salbiy oqibatlari</a:t>
            </a:r>
            <a:endParaRPr lang="en-US" sz="3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5430" y="402550"/>
            <a:ext cx="8960763" cy="457438"/>
          </a:xfrm>
          <a:prstGeom prst="rect">
            <a:avLst/>
          </a:prstGeom>
          <a:noFill/>
          <a:ln/>
        </p:spPr>
        <p:txBody>
          <a:bodyPr wrap="none" lIns="0" tIns="0" rIns="0" bIns="0" rtlCol="0" anchor="t"/>
          <a:lstStyle/>
          <a:p>
            <a:pPr algn="l" indent="0" marL="0">
              <a:lnSpc>
                <a:spcPts val="3600"/>
              </a:lnSpc>
              <a:buNone/>
            </a:pPr>
            <a:r>
              <a:rPr lang="en-US" sz="2850" dirty="0">
                <a:solidFill>
                  <a:srgbClr val="030303"/>
                </a:solidFill>
                <a:latin typeface="DM Sans Semi Bold" pitchFamily="34" charset="0"/>
                <a:ea typeface="DM Sans Semi Bold" pitchFamily="34" charset="-122"/>
                <a:cs typeface="DM Sans Semi Bold" pitchFamily="34" charset="-120"/>
              </a:rPr>
              <a:t>Ijtimoiy tarmoqlar: zamonaviy hayotning ikki qirrasi</a:t>
            </a:r>
            <a:endParaRPr lang="en-US" sz="2850" dirty="0"/>
          </a:p>
        </p:txBody>
      </p:sp>
      <p:sp>
        <p:nvSpPr>
          <p:cNvPr id="3" name="Text 1"/>
          <p:cNvSpPr/>
          <p:nvPr/>
        </p:nvSpPr>
        <p:spPr>
          <a:xfrm>
            <a:off x="585430" y="1211223"/>
            <a:ext cx="6551295" cy="1170384"/>
          </a:xfrm>
          <a:prstGeom prst="rect">
            <a:avLst/>
          </a:prstGeom>
          <a:noFill/>
          <a:ln/>
        </p:spPr>
        <p:txBody>
          <a:bodyPr wrap="square" lIns="0" tIns="0" rIns="0" bIns="0" rtlCol="0" anchor="t"/>
          <a:lstStyle/>
          <a:p>
            <a:pPr algn="l" indent="0" marL="0">
              <a:lnSpc>
                <a:spcPts val="1800"/>
              </a:lnSpc>
              <a:buNone/>
            </a:pPr>
            <a:r>
              <a:rPr lang="en-US" sz="1150" dirty="0">
                <a:solidFill>
                  <a:srgbClr val="464646"/>
                </a:solidFill>
                <a:latin typeface="Inter Medium" pitchFamily="34" charset="0"/>
                <a:ea typeface="Inter Medium" pitchFamily="34" charset="-122"/>
                <a:cs typeface="Inter Medium" pitchFamily="34" charset="-120"/>
              </a:rPr>
              <a:t>Bugungi kunda </a:t>
            </a:r>
            <a:pPr algn="l" indent="0" marL="0">
              <a:lnSpc>
                <a:spcPts val="1800"/>
              </a:lnSpc>
              <a:buNone/>
            </a:pPr>
            <a:r>
              <a:rPr lang="en-US" sz="1150" b="1" dirty="0">
                <a:solidFill>
                  <a:srgbClr val="464646"/>
                </a:solidFill>
                <a:latin typeface="Inter Medium" pitchFamily="34" charset="0"/>
                <a:ea typeface="Inter Medium" pitchFamily="34" charset="-122"/>
                <a:cs typeface="Inter Medium" pitchFamily="34" charset="-120"/>
              </a:rPr>
              <a:t>4,5 milliarddan ortiq odam</a:t>
            </a:r>
            <a:pPr algn="l" indent="0" marL="0">
              <a:lnSpc>
                <a:spcPts val="1800"/>
              </a:lnSpc>
              <a:buNone/>
            </a:pPr>
            <a:r>
              <a:rPr lang="en-US" sz="1150" dirty="0">
                <a:solidFill>
                  <a:srgbClr val="464646"/>
                </a:solidFill>
                <a:latin typeface="Inter Medium" pitchFamily="34" charset="0"/>
                <a:ea typeface="Inter Medium" pitchFamily="34" charset="-122"/>
                <a:cs typeface="Inter Medium" pitchFamily="34" charset="-120"/>
              </a:rPr>
              <a:t> ijtimoiy tarmoqlardan faol foydalanmoqda. Bu raqam har yili ortib bormoqda, ammo ularning salbiy ta’siri tobora ko‘paymoqda. Ijtimoiy tarmoqlar odamlarni bir-biriga bog‘lab, axborot almashish va muloqot qilish uchun cheksiz imkoniyatlar yaratgan bo‘lsa-da, ularning ortib borayotgan qaramlik va zararli oqibatlari jamiyat uchun jiddiy xavf tug‘dirmoqda.</a:t>
            </a:r>
            <a:endParaRPr lang="en-US" sz="1150" dirty="0"/>
          </a:p>
        </p:txBody>
      </p:sp>
      <p:sp>
        <p:nvSpPr>
          <p:cNvPr id="4" name="Text 2"/>
          <p:cNvSpPr/>
          <p:nvPr/>
        </p:nvSpPr>
        <p:spPr>
          <a:xfrm>
            <a:off x="585430" y="2513290"/>
            <a:ext cx="6551295" cy="936308"/>
          </a:xfrm>
          <a:prstGeom prst="rect">
            <a:avLst/>
          </a:prstGeom>
          <a:noFill/>
          <a:ln/>
        </p:spPr>
        <p:txBody>
          <a:bodyPr wrap="square" lIns="0" tIns="0" rIns="0" bIns="0" rtlCol="0" anchor="t"/>
          <a:lstStyle/>
          <a:p>
            <a:pPr algn="l" indent="0" marL="0">
              <a:lnSpc>
                <a:spcPts val="1800"/>
              </a:lnSpc>
              <a:buNone/>
            </a:pPr>
            <a:r>
              <a:rPr lang="en-US" sz="1150" dirty="0">
                <a:solidFill>
                  <a:srgbClr val="464646"/>
                </a:solidFill>
                <a:latin typeface="Inter Medium" pitchFamily="34" charset="0"/>
                <a:ea typeface="Inter Medium" pitchFamily="34" charset="-122"/>
                <a:cs typeface="Inter Medium" pitchFamily="34" charset="-120"/>
              </a:rPr>
              <a:t>Xususan, </a:t>
            </a:r>
            <a:pPr algn="l" indent="0" marL="0">
              <a:lnSpc>
                <a:spcPts val="1800"/>
              </a:lnSpc>
              <a:buNone/>
            </a:pPr>
            <a:r>
              <a:rPr lang="en-US" sz="1150" b="1" dirty="0">
                <a:solidFill>
                  <a:srgbClr val="464646"/>
                </a:solidFill>
                <a:latin typeface="Inter Medium" pitchFamily="34" charset="0"/>
                <a:ea typeface="Inter Medium" pitchFamily="34" charset="-122"/>
                <a:cs typeface="Inter Medium" pitchFamily="34" charset="-120"/>
              </a:rPr>
              <a:t>yoshlar orasida 95%</a:t>
            </a:r>
            <a:pPr algn="l" indent="0" marL="0">
              <a:lnSpc>
                <a:spcPts val="1800"/>
              </a:lnSpc>
              <a:buNone/>
            </a:pPr>
            <a:r>
              <a:rPr lang="en-US" sz="1150" dirty="0">
                <a:solidFill>
                  <a:srgbClr val="464646"/>
                </a:solidFill>
                <a:latin typeface="Inter Medium" pitchFamily="34" charset="0"/>
                <a:ea typeface="Inter Medium" pitchFamily="34" charset="-122"/>
                <a:cs typeface="Inter Medium" pitchFamily="34" charset="-120"/>
              </a:rPr>
              <a:t> ijtimoiy tarmoqlardan faol foydalanadi va ularning uchdan bir qismi doimiy ravishda onlayn holatda bo'lib, virtual dunyoga bog'lanib qolishgan. Bu esa ularning real hayotdan uzoqlashishiga, ijtimoiy ko‘nikmalarning pasayishiga va turli ruhiy muammolarning paydo bo‘lishiga olib keladi.</a:t>
            </a:r>
            <a:endParaRPr lang="en-US" sz="1150" dirty="0"/>
          </a:p>
        </p:txBody>
      </p:sp>
      <p:pic>
        <p:nvPicPr>
          <p:cNvPr id="5" name="Image 0" descr="preencoded.png">    </p:cNvPr>
          <p:cNvPicPr>
            <a:picLocks noChangeAspect="1"/>
          </p:cNvPicPr>
          <p:nvPr/>
        </p:nvPicPr>
        <p:blipFill>
          <a:blip r:embed="rId1"/>
          <a:stretch>
            <a:fillRect/>
          </a:stretch>
        </p:blipFill>
        <p:spPr>
          <a:xfrm>
            <a:off x="7501295" y="1244203"/>
            <a:ext cx="6551295" cy="6551295"/>
          </a:xfrm>
          <a:prstGeom prst="rect">
            <a:avLst/>
          </a:prstGeom>
        </p:spPr>
      </p:pic>
      <p:sp>
        <p:nvSpPr>
          <p:cNvPr id="6" name="Shape 3"/>
          <p:cNvSpPr/>
          <p:nvPr/>
        </p:nvSpPr>
        <p:spPr>
          <a:xfrm>
            <a:off x="585430" y="8124825"/>
            <a:ext cx="13459539" cy="855821"/>
          </a:xfrm>
          <a:prstGeom prst="roundRect">
            <a:avLst>
              <a:gd name="adj" fmla="val 2566"/>
            </a:avLst>
          </a:prstGeom>
          <a:solidFill>
            <a:srgbClr val="BEF3E2"/>
          </a:solidFill>
          <a:ln/>
        </p:spPr>
      </p:sp>
      <p:pic>
        <p:nvPicPr>
          <p:cNvPr id="7" name="Image 1" descr="preencoded.png">    </p:cNvPr>
          <p:cNvPicPr>
            <a:picLocks noChangeAspect="1"/>
          </p:cNvPicPr>
          <p:nvPr/>
        </p:nvPicPr>
        <p:blipFill>
          <a:blip r:embed="rId2"/>
          <a:stretch>
            <a:fillRect/>
          </a:stretch>
        </p:blipFill>
        <p:spPr>
          <a:xfrm>
            <a:off x="731758" y="8347234"/>
            <a:ext cx="182880" cy="146328"/>
          </a:xfrm>
          <a:prstGeom prst="rect">
            <a:avLst/>
          </a:prstGeom>
        </p:spPr>
      </p:pic>
      <p:sp>
        <p:nvSpPr>
          <p:cNvPr id="8" name="Text 4"/>
          <p:cNvSpPr/>
          <p:nvPr/>
        </p:nvSpPr>
        <p:spPr>
          <a:xfrm>
            <a:off x="1060966" y="8307705"/>
            <a:ext cx="12837676" cy="468154"/>
          </a:xfrm>
          <a:prstGeom prst="rect">
            <a:avLst/>
          </a:prstGeom>
          <a:noFill/>
          <a:ln/>
        </p:spPr>
        <p:txBody>
          <a:bodyPr wrap="square" lIns="0" tIns="0" rIns="0" bIns="0" rtlCol="0" anchor="t"/>
          <a:lstStyle/>
          <a:p>
            <a:pPr algn="l" indent="0" marL="0">
              <a:lnSpc>
                <a:spcPts val="1800"/>
              </a:lnSpc>
              <a:buNone/>
            </a:pPr>
            <a:r>
              <a:rPr lang="en-US" sz="1150" dirty="0">
                <a:solidFill>
                  <a:srgbClr val="000000"/>
                </a:solidFill>
                <a:latin typeface="Inter Medium" pitchFamily="34" charset="0"/>
                <a:ea typeface="Inter Medium" pitchFamily="34" charset="-122"/>
                <a:cs typeface="Inter Medium" pitchFamily="34" charset="-120"/>
              </a:rPr>
              <a:t>Ijtimoiy tarmoqlar global miqyosda qamrovga ega bo‘lib, millionlab odamlarning kundalik hayotiga singib ketgan. Ammo bu qulayliklar bilan birga, ularning salbiy jihatlari ham mavjudligini tan olish va ularga qarshi kurashish zarur.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96472"/>
            <a:ext cx="114409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Kognitiv buzilishlar: "raqamli miya parchalanishi"</a:t>
            </a:r>
            <a:endParaRPr lang="en-US" sz="3900" dirty="0"/>
          </a:p>
        </p:txBody>
      </p:sp>
      <p:sp>
        <p:nvSpPr>
          <p:cNvPr id="3" name="Shape 1"/>
          <p:cNvSpPr/>
          <p:nvPr/>
        </p:nvSpPr>
        <p:spPr>
          <a:xfrm>
            <a:off x="793790" y="2611041"/>
            <a:ext cx="4215289" cy="4321969"/>
          </a:xfrm>
          <a:prstGeom prst="roundRect">
            <a:avLst>
              <a:gd name="adj" fmla="val 2603"/>
            </a:avLst>
          </a:prstGeom>
          <a:solidFill>
            <a:srgbClr val="FFFFFF"/>
          </a:solidFill>
          <a:ln/>
        </p:spPr>
      </p:sp>
      <p:sp>
        <p:nvSpPr>
          <p:cNvPr id="4" name="Shape 2"/>
          <p:cNvSpPr/>
          <p:nvPr/>
        </p:nvSpPr>
        <p:spPr>
          <a:xfrm>
            <a:off x="793790" y="2588181"/>
            <a:ext cx="4215289" cy="91440"/>
          </a:xfrm>
          <a:prstGeom prst="roundRect">
            <a:avLst>
              <a:gd name="adj" fmla="val 32558"/>
            </a:avLst>
          </a:prstGeom>
          <a:solidFill>
            <a:srgbClr val="1C9770"/>
          </a:solidFill>
          <a:ln/>
        </p:spPr>
      </p:sp>
      <p:sp>
        <p:nvSpPr>
          <p:cNvPr id="5" name="Shape 3"/>
          <p:cNvSpPr/>
          <p:nvPr/>
        </p:nvSpPr>
        <p:spPr>
          <a:xfrm>
            <a:off x="2603778" y="2313384"/>
            <a:ext cx="595313" cy="595313"/>
          </a:xfrm>
          <a:prstGeom prst="roundRect">
            <a:avLst>
              <a:gd name="adj" fmla="val 153600"/>
            </a:avLst>
          </a:prstGeom>
          <a:solidFill>
            <a:srgbClr val="1C9770"/>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82372" y="2491978"/>
            <a:ext cx="238125" cy="238125"/>
          </a:xfrm>
          <a:prstGeom prst="rect">
            <a:avLst/>
          </a:prstGeom>
        </p:spPr>
      </p:pic>
      <p:sp>
        <p:nvSpPr>
          <p:cNvPr id="7" name="Text 4"/>
          <p:cNvSpPr/>
          <p:nvPr/>
        </p:nvSpPr>
        <p:spPr>
          <a:xfrm>
            <a:off x="1015008" y="3107174"/>
            <a:ext cx="2818924"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Miya chirishi (Brain Rot)</a:t>
            </a:r>
            <a:endParaRPr lang="en-US" sz="1950" dirty="0"/>
          </a:p>
        </p:txBody>
      </p:sp>
      <p:sp>
        <p:nvSpPr>
          <p:cNvPr id="8" name="Text 5"/>
          <p:cNvSpPr/>
          <p:nvPr/>
        </p:nvSpPr>
        <p:spPr>
          <a:xfrm>
            <a:off x="1015008" y="3536394"/>
            <a:ext cx="3772853" cy="285785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Oksford lug‘ati 2024-yilda "brain rot" (miya chirishi) iborasini yil iborasi deb e’lon qildi. Bu ibora ijtimoiy tarmoqlarning miyaga salbiy ta’sirini, ayniqsa kognitiv qobiliyatlarning pasayishini ifodalaydi. Bu kognitiv pasayish diqqatni jamlash, xotira va tanqidiy fikrlash qobiliyatlarini susaytiradi.</a:t>
            </a:r>
            <a:endParaRPr lang="en-US" sz="1550" dirty="0"/>
          </a:p>
        </p:txBody>
      </p:sp>
      <p:sp>
        <p:nvSpPr>
          <p:cNvPr id="9" name="Shape 6"/>
          <p:cNvSpPr/>
          <p:nvPr/>
        </p:nvSpPr>
        <p:spPr>
          <a:xfrm>
            <a:off x="5207437" y="2611041"/>
            <a:ext cx="4215408" cy="4321969"/>
          </a:xfrm>
          <a:prstGeom prst="roundRect">
            <a:avLst>
              <a:gd name="adj" fmla="val 2603"/>
            </a:avLst>
          </a:prstGeom>
          <a:solidFill>
            <a:srgbClr val="FFFFFF"/>
          </a:solidFill>
          <a:ln/>
        </p:spPr>
      </p:sp>
      <p:sp>
        <p:nvSpPr>
          <p:cNvPr id="10" name="Shape 7"/>
          <p:cNvSpPr/>
          <p:nvPr/>
        </p:nvSpPr>
        <p:spPr>
          <a:xfrm>
            <a:off x="5207437" y="2588181"/>
            <a:ext cx="4215408" cy="91440"/>
          </a:xfrm>
          <a:prstGeom prst="roundRect">
            <a:avLst>
              <a:gd name="adj" fmla="val 32558"/>
            </a:avLst>
          </a:prstGeom>
          <a:solidFill>
            <a:srgbClr val="1C9770"/>
          </a:solidFill>
          <a:ln/>
        </p:spPr>
      </p:sp>
      <p:sp>
        <p:nvSpPr>
          <p:cNvPr id="11" name="Shape 8"/>
          <p:cNvSpPr/>
          <p:nvPr/>
        </p:nvSpPr>
        <p:spPr>
          <a:xfrm>
            <a:off x="7017425" y="2313384"/>
            <a:ext cx="595313" cy="595313"/>
          </a:xfrm>
          <a:prstGeom prst="roundRect">
            <a:avLst>
              <a:gd name="adj" fmla="val 153600"/>
            </a:avLst>
          </a:prstGeom>
          <a:solidFill>
            <a:srgbClr val="1C9770"/>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96018" y="2491978"/>
            <a:ext cx="238125" cy="238125"/>
          </a:xfrm>
          <a:prstGeom prst="rect">
            <a:avLst/>
          </a:prstGeom>
        </p:spPr>
      </p:pic>
      <p:sp>
        <p:nvSpPr>
          <p:cNvPr id="13" name="Text 9"/>
          <p:cNvSpPr/>
          <p:nvPr/>
        </p:nvSpPr>
        <p:spPr>
          <a:xfrm>
            <a:off x="5428655" y="3107174"/>
            <a:ext cx="3772972"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Kulrang modda hajmining kamayishi</a:t>
            </a:r>
            <a:endParaRPr lang="en-US" sz="1950" dirty="0"/>
          </a:p>
        </p:txBody>
      </p:sp>
      <p:sp>
        <p:nvSpPr>
          <p:cNvPr id="14" name="Text 10"/>
          <p:cNvSpPr/>
          <p:nvPr/>
        </p:nvSpPr>
        <p:spPr>
          <a:xfrm>
            <a:off x="5428655" y="3846552"/>
            <a:ext cx="3772972" cy="2540318"/>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Tadqiqotlar shuni ko‘rsatadiki, ijtimoiy tarmoqlardan haddan tashqari foydalanish miyadagi kulrang modda hajmini kamaytiradi. Kulrang modda miyaning asosiy qismi bo‘lib, uning qisqarishi fikrlash jarayonlari, qaror qabul qilish va hissiy nazoratga salbiy ta’sir ko‘rsatadi.</a:t>
            </a:r>
            <a:endParaRPr lang="en-US" sz="1550" dirty="0"/>
          </a:p>
        </p:txBody>
      </p:sp>
      <p:sp>
        <p:nvSpPr>
          <p:cNvPr id="15" name="Shape 11"/>
          <p:cNvSpPr/>
          <p:nvPr/>
        </p:nvSpPr>
        <p:spPr>
          <a:xfrm>
            <a:off x="9621203" y="2611041"/>
            <a:ext cx="4215289" cy="4321969"/>
          </a:xfrm>
          <a:prstGeom prst="roundRect">
            <a:avLst>
              <a:gd name="adj" fmla="val 2603"/>
            </a:avLst>
          </a:prstGeom>
          <a:solidFill>
            <a:srgbClr val="FFFFFF"/>
          </a:solidFill>
          <a:ln/>
        </p:spPr>
      </p:sp>
      <p:sp>
        <p:nvSpPr>
          <p:cNvPr id="16" name="Shape 12"/>
          <p:cNvSpPr/>
          <p:nvPr/>
        </p:nvSpPr>
        <p:spPr>
          <a:xfrm>
            <a:off x="9621203" y="2588181"/>
            <a:ext cx="4215289" cy="91440"/>
          </a:xfrm>
          <a:prstGeom prst="roundRect">
            <a:avLst>
              <a:gd name="adj" fmla="val 32558"/>
            </a:avLst>
          </a:prstGeom>
          <a:solidFill>
            <a:srgbClr val="1C9770"/>
          </a:solidFill>
          <a:ln/>
        </p:spPr>
      </p:sp>
      <p:sp>
        <p:nvSpPr>
          <p:cNvPr id="17" name="Shape 13"/>
          <p:cNvSpPr/>
          <p:nvPr/>
        </p:nvSpPr>
        <p:spPr>
          <a:xfrm>
            <a:off x="11431191" y="2313384"/>
            <a:ext cx="595313" cy="595313"/>
          </a:xfrm>
          <a:prstGeom prst="roundRect">
            <a:avLst>
              <a:gd name="adj" fmla="val 153600"/>
            </a:avLst>
          </a:prstGeom>
          <a:solidFill>
            <a:srgbClr val="1C9770"/>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09784" y="2491978"/>
            <a:ext cx="238125" cy="238125"/>
          </a:xfrm>
          <a:prstGeom prst="rect">
            <a:avLst/>
          </a:prstGeom>
        </p:spPr>
      </p:pic>
      <p:sp>
        <p:nvSpPr>
          <p:cNvPr id="19" name="Text 14"/>
          <p:cNvSpPr/>
          <p:nvPr/>
        </p:nvSpPr>
        <p:spPr>
          <a:xfrm>
            <a:off x="9842421" y="3107174"/>
            <a:ext cx="344483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Diqqat va xotira muammolari</a:t>
            </a:r>
            <a:endParaRPr lang="en-US" sz="1950" dirty="0"/>
          </a:p>
        </p:txBody>
      </p:sp>
      <p:sp>
        <p:nvSpPr>
          <p:cNvPr id="20" name="Text 15"/>
          <p:cNvSpPr/>
          <p:nvPr/>
        </p:nvSpPr>
        <p:spPr>
          <a:xfrm>
            <a:off x="9842421" y="3536394"/>
            <a:ext cx="3772853" cy="317539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Doimiy ravishda yangi axborot oqimi va qisqa muddatli kontent iste’moli natijasida diqqatni jamlash qobiliyati susayadi. Xotira zaiflashadi, chunki miya bir vaqtning o‘zida juda ko‘p axborotni qayta ishlashga harakat qiladi va bu chuqur tahlil qilishga xalaqit beradi. Tafakkur sayozlashib, murakkab masalalarni hal qilish qobiliyati pasayadi.</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8883" y="404813"/>
            <a:ext cx="9828490" cy="460177"/>
          </a:xfrm>
          <a:prstGeom prst="rect">
            <a:avLst/>
          </a:prstGeom>
          <a:noFill/>
          <a:ln/>
        </p:spPr>
        <p:txBody>
          <a:bodyPr wrap="none" lIns="0" tIns="0" rIns="0" bIns="0" rtlCol="0" anchor="t"/>
          <a:lstStyle/>
          <a:p>
            <a:pPr algn="l" indent="0" marL="0">
              <a:lnSpc>
                <a:spcPts val="3600"/>
              </a:lnSpc>
              <a:buNone/>
            </a:pPr>
            <a:r>
              <a:rPr lang="en-US" sz="2850" dirty="0">
                <a:solidFill>
                  <a:srgbClr val="030303"/>
                </a:solidFill>
                <a:latin typeface="DM Sans Semi Bold" pitchFamily="34" charset="0"/>
                <a:ea typeface="DM Sans Semi Bold" pitchFamily="34" charset="-122"/>
                <a:cs typeface="DM Sans Semi Bold" pitchFamily="34" charset="-120"/>
              </a:rPr>
              <a:t>Ruhiy salomatlikka ta’siri: xavotir, tushkunlik va yolg‘izlik</a:t>
            </a:r>
            <a:endParaRPr lang="en-US" sz="2850" dirty="0"/>
          </a:p>
        </p:txBody>
      </p:sp>
      <p:sp>
        <p:nvSpPr>
          <p:cNvPr id="3" name="Shape 1"/>
          <p:cNvSpPr/>
          <p:nvPr/>
        </p:nvSpPr>
        <p:spPr>
          <a:xfrm>
            <a:off x="588883" y="1329690"/>
            <a:ext cx="73581" cy="73581"/>
          </a:xfrm>
          <a:prstGeom prst="roundRect">
            <a:avLst>
              <a:gd name="adj" fmla="val 621356"/>
            </a:avLst>
          </a:prstGeom>
          <a:solidFill>
            <a:srgbClr val="1C9770"/>
          </a:solidFill>
          <a:ln/>
        </p:spPr>
      </p:sp>
      <p:sp>
        <p:nvSpPr>
          <p:cNvPr id="4" name="Text 2"/>
          <p:cNvSpPr/>
          <p:nvPr/>
        </p:nvSpPr>
        <p:spPr>
          <a:xfrm>
            <a:off x="809625" y="1251466"/>
            <a:ext cx="1840468" cy="230029"/>
          </a:xfrm>
          <a:prstGeom prst="rect">
            <a:avLst/>
          </a:prstGeom>
          <a:noFill/>
          <a:ln/>
        </p:spPr>
        <p:txBody>
          <a:bodyPr wrap="none" lIns="0" tIns="0" rIns="0" bIns="0" rtlCol="0" anchor="t"/>
          <a:lstStyle/>
          <a:p>
            <a:pPr algn="l" indent="0" marL="0">
              <a:lnSpc>
                <a:spcPts val="1800"/>
              </a:lnSpc>
              <a:buNone/>
            </a:pPr>
            <a:r>
              <a:rPr lang="en-US" sz="1400" dirty="0">
                <a:solidFill>
                  <a:srgbClr val="464646"/>
                </a:solidFill>
                <a:latin typeface="DM Sans Semi Bold" pitchFamily="34" charset="0"/>
                <a:ea typeface="DM Sans Semi Bold" pitchFamily="34" charset="-122"/>
                <a:cs typeface="DM Sans Semi Bold" pitchFamily="34" charset="-120"/>
              </a:rPr>
              <a:t>Bolalar uchun xavf</a:t>
            </a:r>
            <a:endParaRPr lang="en-US" sz="1400" dirty="0"/>
          </a:p>
        </p:txBody>
      </p:sp>
      <p:sp>
        <p:nvSpPr>
          <p:cNvPr id="5" name="Text 3"/>
          <p:cNvSpPr/>
          <p:nvPr/>
        </p:nvSpPr>
        <p:spPr>
          <a:xfrm>
            <a:off x="809625" y="1628656"/>
            <a:ext cx="6326029" cy="706874"/>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AQSH Sog‘liqni saqlash vazirligi ijtimoiy tarmoqlarni bolalar sog‘lig‘i uchun jiddiy xavf deb baholadi. Ularning rivojlanayotgan miyasi va ruhiy holati uchun bu platformalar salbiy oqibatlarga olib kelishi mumkin.</a:t>
            </a:r>
            <a:endParaRPr lang="en-US" sz="1150" dirty="0"/>
          </a:p>
        </p:txBody>
      </p:sp>
      <p:sp>
        <p:nvSpPr>
          <p:cNvPr id="6" name="Shape 4"/>
          <p:cNvSpPr/>
          <p:nvPr/>
        </p:nvSpPr>
        <p:spPr>
          <a:xfrm>
            <a:off x="588883" y="2708196"/>
            <a:ext cx="73581" cy="73581"/>
          </a:xfrm>
          <a:prstGeom prst="roundRect">
            <a:avLst>
              <a:gd name="adj" fmla="val 621356"/>
            </a:avLst>
          </a:prstGeom>
          <a:solidFill>
            <a:srgbClr val="1C9770"/>
          </a:solidFill>
          <a:ln/>
        </p:spPr>
      </p:sp>
      <p:sp>
        <p:nvSpPr>
          <p:cNvPr id="7" name="Text 5"/>
          <p:cNvSpPr/>
          <p:nvPr/>
        </p:nvSpPr>
        <p:spPr>
          <a:xfrm>
            <a:off x="809625" y="2629972"/>
            <a:ext cx="3405902" cy="230029"/>
          </a:xfrm>
          <a:prstGeom prst="rect">
            <a:avLst/>
          </a:prstGeom>
          <a:noFill/>
          <a:ln/>
        </p:spPr>
        <p:txBody>
          <a:bodyPr wrap="none" lIns="0" tIns="0" rIns="0" bIns="0" rtlCol="0" anchor="t"/>
          <a:lstStyle/>
          <a:p>
            <a:pPr algn="l" indent="0" marL="0">
              <a:lnSpc>
                <a:spcPts val="1800"/>
              </a:lnSpc>
              <a:buNone/>
            </a:pPr>
            <a:r>
              <a:rPr lang="en-US" sz="1400" dirty="0">
                <a:solidFill>
                  <a:srgbClr val="464646"/>
                </a:solidFill>
                <a:latin typeface="DM Sans Semi Bold" pitchFamily="34" charset="0"/>
                <a:ea typeface="DM Sans Semi Bold" pitchFamily="34" charset="-122"/>
                <a:cs typeface="DM Sans Semi Bold" pitchFamily="34" charset="-120"/>
              </a:rPr>
              <a:t>FOMO sindromi va past o‘zini baholash</a:t>
            </a:r>
            <a:endParaRPr lang="en-US" sz="1400" dirty="0"/>
          </a:p>
        </p:txBody>
      </p:sp>
      <p:sp>
        <p:nvSpPr>
          <p:cNvPr id="8" name="Text 6"/>
          <p:cNvSpPr/>
          <p:nvPr/>
        </p:nvSpPr>
        <p:spPr>
          <a:xfrm>
            <a:off x="809625" y="3007162"/>
            <a:ext cx="6326029" cy="942499"/>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Yoshlar orasida </a:t>
            </a:r>
            <a:pPr algn="l" indent="0" marL="0">
              <a:lnSpc>
                <a:spcPts val="1850"/>
              </a:lnSpc>
              <a:buNone/>
            </a:pPr>
            <a:r>
              <a:rPr lang="en-US" sz="1150" b="1" dirty="0">
                <a:solidFill>
                  <a:srgbClr val="464646"/>
                </a:solidFill>
                <a:latin typeface="Inter Medium" pitchFamily="34" charset="0"/>
                <a:ea typeface="Inter Medium" pitchFamily="34" charset="-122"/>
                <a:cs typeface="Inter Medium" pitchFamily="34" charset="-120"/>
              </a:rPr>
              <a:t>FOMO (Fear Of Missing Out – nimadandir qolib ketish qo‘rquvi)</a:t>
            </a:r>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 sindromi, ya’ni doimiy ravishda boshqalarning hayotini kuzatish va o‘zini ular bilan solishtirish natijasida paydo bo‘ladigan xavotir kuchaymoqda. Bu esa o‘zini past baholash, ishonchsizlik va tushkunlikka olib keladi.</a:t>
            </a:r>
            <a:endParaRPr lang="en-US" sz="1150" dirty="0"/>
          </a:p>
        </p:txBody>
      </p:sp>
      <p:sp>
        <p:nvSpPr>
          <p:cNvPr id="9" name="Shape 7"/>
          <p:cNvSpPr/>
          <p:nvPr/>
        </p:nvSpPr>
        <p:spPr>
          <a:xfrm>
            <a:off x="588883" y="4322326"/>
            <a:ext cx="73581" cy="73581"/>
          </a:xfrm>
          <a:prstGeom prst="roundRect">
            <a:avLst>
              <a:gd name="adj" fmla="val 621356"/>
            </a:avLst>
          </a:prstGeom>
          <a:solidFill>
            <a:srgbClr val="1C9770"/>
          </a:solidFill>
          <a:ln/>
        </p:spPr>
      </p:sp>
      <p:sp>
        <p:nvSpPr>
          <p:cNvPr id="10" name="Text 8"/>
          <p:cNvSpPr/>
          <p:nvPr/>
        </p:nvSpPr>
        <p:spPr>
          <a:xfrm>
            <a:off x="809625" y="4244102"/>
            <a:ext cx="2115264" cy="230029"/>
          </a:xfrm>
          <a:prstGeom prst="rect">
            <a:avLst/>
          </a:prstGeom>
          <a:noFill/>
          <a:ln/>
        </p:spPr>
        <p:txBody>
          <a:bodyPr wrap="none" lIns="0" tIns="0" rIns="0" bIns="0" rtlCol="0" anchor="t"/>
          <a:lstStyle/>
          <a:p>
            <a:pPr algn="l" indent="0" marL="0">
              <a:lnSpc>
                <a:spcPts val="1800"/>
              </a:lnSpc>
              <a:buNone/>
            </a:pPr>
            <a:r>
              <a:rPr lang="en-US" sz="1400" dirty="0">
                <a:solidFill>
                  <a:srgbClr val="464646"/>
                </a:solidFill>
                <a:latin typeface="DM Sans Semi Bold" pitchFamily="34" charset="0"/>
                <a:ea typeface="DM Sans Semi Bold" pitchFamily="34" charset="-122"/>
                <a:cs typeface="DM Sans Semi Bold" pitchFamily="34" charset="-120"/>
              </a:rPr>
              <a:t>Yolg‘izlikning kuchayishi</a:t>
            </a:r>
            <a:endParaRPr lang="en-US" sz="1400" dirty="0"/>
          </a:p>
        </p:txBody>
      </p:sp>
      <p:sp>
        <p:nvSpPr>
          <p:cNvPr id="11" name="Text 9"/>
          <p:cNvSpPr/>
          <p:nvPr/>
        </p:nvSpPr>
        <p:spPr>
          <a:xfrm>
            <a:off x="809625" y="4621292"/>
            <a:ext cx="6326029" cy="706874"/>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Ijtimoiy tarmoqlar odamlarni virtual tarzda bog‘lagani bilan, real hayotdagi muloqotlarning kamayishi natijasida yolg‘izlik tuyg‘usi kuchaymoqda. Ijtimoiy tarmoqlarda ko‘rsatilgan mukammal hayotlar haqiqiy hayotdan ajratadi va ruhiy bosimni oshiradi.</a:t>
            </a:r>
            <a:endParaRPr lang="en-US" sz="1150" dirty="0"/>
          </a:p>
        </p:txBody>
      </p:sp>
      <p:pic>
        <p:nvPicPr>
          <p:cNvPr id="12" name="Image 0" descr="preencoded.png">    </p:cNvPr>
          <p:cNvPicPr>
            <a:picLocks noChangeAspect="1"/>
          </p:cNvPicPr>
          <p:nvPr/>
        </p:nvPicPr>
        <p:blipFill>
          <a:blip r:embed="rId1"/>
          <a:stretch>
            <a:fillRect/>
          </a:stretch>
        </p:blipFill>
        <p:spPr>
          <a:xfrm>
            <a:off x="7502366" y="1251466"/>
            <a:ext cx="6546771" cy="6546771"/>
          </a:xfrm>
          <a:prstGeom prst="rect">
            <a:avLst/>
          </a:prstGeom>
        </p:spPr>
      </p:pic>
      <p:sp>
        <p:nvSpPr>
          <p:cNvPr id="13" name="Text 10"/>
          <p:cNvSpPr/>
          <p:nvPr/>
        </p:nvSpPr>
        <p:spPr>
          <a:xfrm>
            <a:off x="7502366" y="7963853"/>
            <a:ext cx="6546771" cy="471249"/>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Ijtimoiy tarmoqlardagi "mukammal" hayot tasvirlari yoshlarda o'z hayotlaridan norozilik va kamchilik hissini uyg'otishi mumkin, bu esa depressiya va xavotirga olib keladi.</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42023"/>
            <a:ext cx="8877895"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Ijtimoiy munosabatlarning zaiflashuvi</a:t>
            </a:r>
            <a:endParaRPr lang="en-US" sz="3900" dirty="0"/>
          </a:p>
        </p:txBody>
      </p:sp>
      <p:pic>
        <p:nvPicPr>
          <p:cNvPr id="3" name="Image 0" descr="preencoded.png">    </p:cNvPr>
          <p:cNvPicPr>
            <a:picLocks noChangeAspect="1"/>
          </p:cNvPicPr>
          <p:nvPr/>
        </p:nvPicPr>
        <p:blipFill>
          <a:blip r:embed="rId1"/>
          <a:stretch>
            <a:fillRect/>
          </a:stretch>
        </p:blipFill>
        <p:spPr>
          <a:xfrm>
            <a:off x="793790" y="1958935"/>
            <a:ext cx="4347567" cy="793790"/>
          </a:xfrm>
          <a:prstGeom prst="rect">
            <a:avLst/>
          </a:prstGeom>
        </p:spPr>
      </p:pic>
      <p:sp>
        <p:nvSpPr>
          <p:cNvPr id="4" name="Text 1"/>
          <p:cNvSpPr/>
          <p:nvPr/>
        </p:nvSpPr>
        <p:spPr>
          <a:xfrm>
            <a:off x="992148" y="2951083"/>
            <a:ext cx="3950851"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Yuzma-yuz muloqotning kamayishi</a:t>
            </a:r>
            <a:endParaRPr lang="en-US" sz="1950" dirty="0"/>
          </a:p>
        </p:txBody>
      </p:sp>
      <p:sp>
        <p:nvSpPr>
          <p:cNvPr id="5" name="Text 2"/>
          <p:cNvSpPr/>
          <p:nvPr/>
        </p:nvSpPr>
        <p:spPr>
          <a:xfrm>
            <a:off x="992148" y="3690461"/>
            <a:ext cx="3950851" cy="2540318"/>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Ijtimoiy tarmoqlar yuzma-yuz muloqotlar o‘rnini egallamoqda. Bu esa insoniy mehr-muhabbatni, empatiyani va tushunishni kamaytiradi. Real hayotdagi muloqotlar orqali shakllanadigan hissiy bog‘lanishlar virtual aloqalar bilan almashtirilishi natijasida odamlar o‘rtasidagi chinakam yaqinlik yo‘qoladi.</a:t>
            </a:r>
            <a:endParaRPr lang="en-US" sz="1550" dirty="0"/>
          </a:p>
        </p:txBody>
      </p:sp>
      <p:pic>
        <p:nvPicPr>
          <p:cNvPr id="6" name="Image 1" descr="preencoded.png">    </p:cNvPr>
          <p:cNvPicPr>
            <a:picLocks noChangeAspect="1"/>
          </p:cNvPicPr>
          <p:nvPr/>
        </p:nvPicPr>
        <p:blipFill>
          <a:blip r:embed="rId2"/>
          <a:stretch>
            <a:fillRect/>
          </a:stretch>
        </p:blipFill>
        <p:spPr>
          <a:xfrm>
            <a:off x="5141357" y="1958935"/>
            <a:ext cx="4347567" cy="793790"/>
          </a:xfrm>
          <a:prstGeom prst="rect">
            <a:avLst/>
          </a:prstGeom>
        </p:spPr>
      </p:pic>
      <p:sp>
        <p:nvSpPr>
          <p:cNvPr id="7" name="Text 3"/>
          <p:cNvSpPr/>
          <p:nvPr/>
        </p:nvSpPr>
        <p:spPr>
          <a:xfrm>
            <a:off x="5339715" y="2951083"/>
            <a:ext cx="3950851"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Oilaviy va do‘stlik aloqalarining yuzakiligi</a:t>
            </a:r>
            <a:endParaRPr lang="en-US" sz="1950" dirty="0"/>
          </a:p>
        </p:txBody>
      </p:sp>
      <p:sp>
        <p:nvSpPr>
          <p:cNvPr id="8" name="Text 4"/>
          <p:cNvSpPr/>
          <p:nvPr/>
        </p:nvSpPr>
        <p:spPr>
          <a:xfrm>
            <a:off x="5339715" y="3690461"/>
            <a:ext cx="3950851" cy="1905238"/>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Oilaviy va do‘stlik munosabatlari yuzaki bo‘lib qoladi. Haqiqiy hissiy bog‘lanishlar zaiflashib, odamlar virtual olamga sho‘ng‘ib ketadi. Bu esa o‘zaro ishonch, sadoqat va qo‘llab-quvvatlashning pasayishiga olib keladi.</a:t>
            </a:r>
            <a:endParaRPr lang="en-US" sz="1550" dirty="0"/>
          </a:p>
        </p:txBody>
      </p:sp>
      <p:pic>
        <p:nvPicPr>
          <p:cNvPr id="9" name="Image 2" descr="preencoded.png">    </p:cNvPr>
          <p:cNvPicPr>
            <a:picLocks noChangeAspect="1"/>
          </p:cNvPicPr>
          <p:nvPr/>
        </p:nvPicPr>
        <p:blipFill>
          <a:blip r:embed="rId3"/>
          <a:stretch>
            <a:fillRect/>
          </a:stretch>
        </p:blipFill>
        <p:spPr>
          <a:xfrm>
            <a:off x="9488924" y="1958935"/>
            <a:ext cx="4347567" cy="793790"/>
          </a:xfrm>
          <a:prstGeom prst="rect">
            <a:avLst/>
          </a:prstGeom>
        </p:spPr>
      </p:pic>
      <p:sp>
        <p:nvSpPr>
          <p:cNvPr id="10" name="Text 5"/>
          <p:cNvSpPr/>
          <p:nvPr/>
        </p:nvSpPr>
        <p:spPr>
          <a:xfrm>
            <a:off x="9687282" y="2951083"/>
            <a:ext cx="2651522"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Izolyatsiya va yolg‘izlik</a:t>
            </a:r>
            <a:endParaRPr lang="en-US" sz="1950" dirty="0"/>
          </a:p>
        </p:txBody>
      </p:sp>
      <p:sp>
        <p:nvSpPr>
          <p:cNvPr id="11" name="Text 6"/>
          <p:cNvSpPr/>
          <p:nvPr/>
        </p:nvSpPr>
        <p:spPr>
          <a:xfrm>
            <a:off x="9687282" y="3380303"/>
            <a:ext cx="3950851" cy="1905238"/>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Ijtimoiy tarmoqlar birlashtiruvchi vosita bo'lishi kerak bo'lsa-da, ko'pincha bu izolyatsiya va yolg'izlikka olib keladi. Odalar virtual dunyoga haddan tashqari ko'p vaqt ajratib, real hayotdagi ijtimoiy tadbirlardan chetda qolishadi.</a:t>
            </a:r>
            <a:endParaRPr lang="en-US" sz="1550" dirty="0"/>
          </a:p>
        </p:txBody>
      </p:sp>
      <p:sp>
        <p:nvSpPr>
          <p:cNvPr id="12" name="Text 7"/>
          <p:cNvSpPr/>
          <p:nvPr/>
        </p:nvSpPr>
        <p:spPr>
          <a:xfrm>
            <a:off x="793790" y="665237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Ijtimoiy tarmoqlarning kundalik hayotimizga chuqur kirib borishi real munosabatlarga jiddiy ta'sir ko'rsatmoqda. Yuzma-yuz muloqotning kamayishi, oilaviy rishtalarning zaiflashishi va do'stlik munosabatlarining yuzakilashishi kabi muammolar tobora o'tkirlashmoqda.</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4483" y="429339"/>
            <a:ext cx="9407128" cy="487799"/>
          </a:xfrm>
          <a:prstGeom prst="rect">
            <a:avLst/>
          </a:prstGeom>
          <a:noFill/>
          <a:ln/>
        </p:spPr>
        <p:txBody>
          <a:bodyPr wrap="none" lIns="0" tIns="0" rIns="0" bIns="0" rtlCol="0" anchor="t"/>
          <a:lstStyle/>
          <a:p>
            <a:pPr algn="l" indent="0" marL="0">
              <a:lnSpc>
                <a:spcPts val="3800"/>
              </a:lnSpc>
              <a:buNone/>
            </a:pPr>
            <a:r>
              <a:rPr lang="en-US" sz="3050" dirty="0">
                <a:solidFill>
                  <a:srgbClr val="030303"/>
                </a:solidFill>
                <a:latin typeface="DM Sans Semi Bold" pitchFamily="34" charset="0"/>
                <a:ea typeface="DM Sans Semi Bold" pitchFamily="34" charset="-122"/>
                <a:cs typeface="DM Sans Semi Bold" pitchFamily="34" charset="-120"/>
              </a:rPr>
              <a:t>Axborotning noto‘g‘ri tarqalishi va yolg‘on xabarlar</a:t>
            </a:r>
            <a:endParaRPr lang="en-US" sz="3050" dirty="0"/>
          </a:p>
        </p:txBody>
      </p:sp>
      <p:sp>
        <p:nvSpPr>
          <p:cNvPr id="3" name="Text 1"/>
          <p:cNvSpPr/>
          <p:nvPr/>
        </p:nvSpPr>
        <p:spPr>
          <a:xfrm>
            <a:off x="624483" y="1291709"/>
            <a:ext cx="6500336" cy="998696"/>
          </a:xfrm>
          <a:prstGeom prst="rect">
            <a:avLst/>
          </a:prstGeom>
          <a:noFill/>
          <a:ln/>
        </p:spPr>
        <p:txBody>
          <a:bodyPr wrap="square" lIns="0" tIns="0" rIns="0" bIns="0" rtlCol="0" anchor="t"/>
          <a:lstStyle/>
          <a:p>
            <a:pPr algn="l" indent="0" marL="0">
              <a:lnSpc>
                <a:spcPts val="1950"/>
              </a:lnSpc>
              <a:buNone/>
            </a:pPr>
            <a:r>
              <a:rPr lang="en-US" sz="1200" dirty="0">
                <a:solidFill>
                  <a:srgbClr val="464646"/>
                </a:solidFill>
                <a:latin typeface="Inter Medium" pitchFamily="34" charset="0"/>
                <a:ea typeface="Inter Medium" pitchFamily="34" charset="-122"/>
                <a:cs typeface="Inter Medium" pitchFamily="34" charset="-120"/>
              </a:rPr>
              <a:t>Ijtimoiy tarmoqlarning eng jiddiy salbiy oqibatlaridan biri – bu </a:t>
            </a:r>
            <a:pPr algn="l" indent="0" marL="0">
              <a:lnSpc>
                <a:spcPts val="1950"/>
              </a:lnSpc>
              <a:buNone/>
            </a:pPr>
            <a:r>
              <a:rPr lang="en-US" sz="1200" b="1" dirty="0">
                <a:solidFill>
                  <a:srgbClr val="464646"/>
                </a:solidFill>
                <a:latin typeface="Inter Medium" pitchFamily="34" charset="0"/>
                <a:ea typeface="Inter Medium" pitchFamily="34" charset="-122"/>
                <a:cs typeface="Inter Medium" pitchFamily="34" charset="-120"/>
              </a:rPr>
              <a:t>mish-mishlar, yolg‘on va tarafkash axborotlarning keng tarqalishi</a:t>
            </a:r>
            <a:pPr algn="l" indent="0" marL="0">
              <a:lnSpc>
                <a:spcPts val="1950"/>
              </a:lnSpc>
              <a:buNone/>
            </a:pPr>
            <a:r>
              <a:rPr lang="en-US" sz="1200" dirty="0">
                <a:solidFill>
                  <a:srgbClr val="464646"/>
                </a:solidFill>
                <a:latin typeface="Inter Medium" pitchFamily="34" charset="0"/>
                <a:ea typeface="Inter Medium" pitchFamily="34" charset="-122"/>
                <a:cs typeface="Inter Medium" pitchFamily="34" charset="-120"/>
              </a:rPr>
              <a:t>. Algoritmlar foydalanuvchilarning qiziqishlariga asoslanib kontentni taqdim etishi tufayli, odamlar ko‘pincha o‘zlarining mavjud fikrlarini tasdiqlovchi ma’lumotlar bilan cheklanib qolishadi.</a:t>
            </a:r>
            <a:endParaRPr lang="en-US" sz="1200" dirty="0"/>
          </a:p>
        </p:txBody>
      </p:sp>
      <p:sp>
        <p:nvSpPr>
          <p:cNvPr id="4" name="Shape 2"/>
          <p:cNvSpPr/>
          <p:nvPr/>
        </p:nvSpPr>
        <p:spPr>
          <a:xfrm>
            <a:off x="624483" y="2548950"/>
            <a:ext cx="77986" cy="77986"/>
          </a:xfrm>
          <a:prstGeom prst="roundRect">
            <a:avLst>
              <a:gd name="adj" fmla="val 586259"/>
            </a:avLst>
          </a:prstGeom>
          <a:solidFill>
            <a:srgbClr val="1C9770"/>
          </a:solidFill>
          <a:ln/>
        </p:spPr>
      </p:sp>
      <p:sp>
        <p:nvSpPr>
          <p:cNvPr id="5" name="Text 3"/>
          <p:cNvSpPr/>
          <p:nvPr/>
        </p:nvSpPr>
        <p:spPr>
          <a:xfrm>
            <a:off x="858560" y="2466023"/>
            <a:ext cx="3635454" cy="243840"/>
          </a:xfrm>
          <a:prstGeom prst="rect">
            <a:avLst/>
          </a:prstGeom>
          <a:noFill/>
          <a:ln/>
        </p:spPr>
        <p:txBody>
          <a:bodyPr wrap="none" lIns="0" tIns="0" rIns="0" bIns="0" rtlCol="0" anchor="t"/>
          <a:lstStyle/>
          <a:p>
            <a:pPr algn="l" indent="0" marL="0">
              <a:lnSpc>
                <a:spcPts val="1900"/>
              </a:lnSpc>
              <a:buNone/>
            </a:pPr>
            <a:r>
              <a:rPr lang="en-US" sz="1500" dirty="0">
                <a:solidFill>
                  <a:srgbClr val="464646"/>
                </a:solidFill>
                <a:latin typeface="DM Sans Semi Bold" pitchFamily="34" charset="0"/>
                <a:ea typeface="DM Sans Semi Bold" pitchFamily="34" charset="-122"/>
                <a:cs typeface="DM Sans Semi Bold" pitchFamily="34" charset="-120"/>
              </a:rPr>
              <a:t>Soxta ma’lumotlarning jamiyatga ta’siri</a:t>
            </a:r>
            <a:endParaRPr lang="en-US" sz="1500" dirty="0"/>
          </a:p>
        </p:txBody>
      </p:sp>
      <p:sp>
        <p:nvSpPr>
          <p:cNvPr id="6" name="Text 4"/>
          <p:cNvSpPr/>
          <p:nvPr/>
        </p:nvSpPr>
        <p:spPr>
          <a:xfrm>
            <a:off x="858560" y="2865953"/>
            <a:ext cx="6266259" cy="998696"/>
          </a:xfrm>
          <a:prstGeom prst="rect">
            <a:avLst/>
          </a:prstGeom>
          <a:noFill/>
          <a:ln/>
        </p:spPr>
        <p:txBody>
          <a:bodyPr wrap="square" lIns="0" tIns="0" rIns="0" bIns="0" rtlCol="0" anchor="t"/>
          <a:lstStyle/>
          <a:p>
            <a:pPr algn="l" indent="0" marL="0">
              <a:lnSpc>
                <a:spcPts val="1950"/>
              </a:lnSpc>
              <a:buNone/>
            </a:pPr>
            <a:r>
              <a:rPr lang="en-US" sz="1200" dirty="0">
                <a:solidFill>
                  <a:srgbClr val="464646"/>
                </a:solidFill>
                <a:latin typeface="Inter Medium" pitchFamily="34" charset="0"/>
                <a:ea typeface="Inter Medium" pitchFamily="34" charset="-122"/>
                <a:cs typeface="Inter Medium" pitchFamily="34" charset="-120"/>
              </a:rPr>
              <a:t>Soxta ma’lumotlar jamiyatda nizolar va qarama-qarshiliklarni kuchaytirib, noto‘g‘ri tushunchalarning ildiz otishiga sabab bo‘ladi. Bu siyosiy qutblanishni oshirishi, ijtimoiy tartibsizliklarni keltirib chiqarishi va hatto jamoat salomatligi inqirozlariga olib kelishi mumkin.</a:t>
            </a:r>
            <a:endParaRPr lang="en-US" sz="1200" dirty="0"/>
          </a:p>
        </p:txBody>
      </p:sp>
      <p:sp>
        <p:nvSpPr>
          <p:cNvPr id="7" name="Shape 5"/>
          <p:cNvSpPr/>
          <p:nvPr/>
        </p:nvSpPr>
        <p:spPr>
          <a:xfrm>
            <a:off x="624483" y="4259759"/>
            <a:ext cx="77986" cy="77986"/>
          </a:xfrm>
          <a:prstGeom prst="roundRect">
            <a:avLst>
              <a:gd name="adj" fmla="val 586259"/>
            </a:avLst>
          </a:prstGeom>
          <a:solidFill>
            <a:srgbClr val="1C9770"/>
          </a:solidFill>
          <a:ln/>
        </p:spPr>
      </p:sp>
      <p:sp>
        <p:nvSpPr>
          <p:cNvPr id="8" name="Text 6"/>
          <p:cNvSpPr/>
          <p:nvPr/>
        </p:nvSpPr>
        <p:spPr>
          <a:xfrm>
            <a:off x="858560" y="4176832"/>
            <a:ext cx="3568065" cy="243840"/>
          </a:xfrm>
          <a:prstGeom prst="rect">
            <a:avLst/>
          </a:prstGeom>
          <a:noFill/>
          <a:ln/>
        </p:spPr>
        <p:txBody>
          <a:bodyPr wrap="none" lIns="0" tIns="0" rIns="0" bIns="0" rtlCol="0" anchor="t"/>
          <a:lstStyle/>
          <a:p>
            <a:pPr algn="l" indent="0" marL="0">
              <a:lnSpc>
                <a:spcPts val="1900"/>
              </a:lnSpc>
              <a:buNone/>
            </a:pPr>
            <a:r>
              <a:rPr lang="en-US" sz="1500" dirty="0">
                <a:solidFill>
                  <a:srgbClr val="464646"/>
                </a:solidFill>
                <a:latin typeface="DM Sans Semi Bold" pitchFamily="34" charset="0"/>
                <a:ea typeface="DM Sans Semi Bold" pitchFamily="34" charset="-122"/>
                <a:cs typeface="DM Sans Semi Bold" pitchFamily="34" charset="-120"/>
              </a:rPr>
              <a:t>Soxta profillar va o‘zini namoyish etish</a:t>
            </a:r>
            <a:endParaRPr lang="en-US" sz="1500" dirty="0"/>
          </a:p>
        </p:txBody>
      </p:sp>
      <p:sp>
        <p:nvSpPr>
          <p:cNvPr id="9" name="Text 7"/>
          <p:cNvSpPr/>
          <p:nvPr/>
        </p:nvSpPr>
        <p:spPr>
          <a:xfrm>
            <a:off x="858560" y="4576762"/>
            <a:ext cx="6266259" cy="749022"/>
          </a:xfrm>
          <a:prstGeom prst="rect">
            <a:avLst/>
          </a:prstGeom>
          <a:noFill/>
          <a:ln/>
        </p:spPr>
        <p:txBody>
          <a:bodyPr wrap="square" lIns="0" tIns="0" rIns="0" bIns="0" rtlCol="0" anchor="t"/>
          <a:lstStyle/>
          <a:p>
            <a:pPr algn="l" indent="0" marL="0">
              <a:lnSpc>
                <a:spcPts val="1950"/>
              </a:lnSpc>
              <a:buNone/>
            </a:pPr>
            <a:r>
              <a:rPr lang="en-US" sz="1200" dirty="0">
                <a:solidFill>
                  <a:srgbClr val="464646"/>
                </a:solidFill>
                <a:latin typeface="Inter Medium" pitchFamily="34" charset="0"/>
                <a:ea typeface="Inter Medium" pitchFamily="34" charset="-122"/>
                <a:cs typeface="Inter Medium" pitchFamily="34" charset="-120"/>
              </a:rPr>
              <a:t>Ba’zi foydalanuvchilar o‘z sahifalarida soxta rasmlar va ma’lumotlar tarqatib, o‘zlarini boshqacha ko‘rsatishga harakat qilishadi. Bu esa o‘z-o‘zini aldashga va boshqalarda noto‘g‘ri taassurot qoldirishga olib keladi.</a:t>
            </a:r>
            <a:endParaRPr lang="en-US" sz="1200" dirty="0"/>
          </a:p>
        </p:txBody>
      </p:sp>
      <p:pic>
        <p:nvPicPr>
          <p:cNvPr id="10" name="Image 0" descr="preencoded.png">    </p:cNvPr>
          <p:cNvPicPr>
            <a:picLocks noChangeAspect="1"/>
          </p:cNvPicPr>
          <p:nvPr/>
        </p:nvPicPr>
        <p:blipFill>
          <a:blip r:embed="rId1"/>
          <a:stretch>
            <a:fillRect/>
          </a:stretch>
        </p:blipFill>
        <p:spPr>
          <a:xfrm>
            <a:off x="7513201" y="1326833"/>
            <a:ext cx="6500336" cy="6500336"/>
          </a:xfrm>
          <a:prstGeom prst="rect">
            <a:avLst/>
          </a:prstGeom>
        </p:spPr>
      </p:pic>
      <p:sp>
        <p:nvSpPr>
          <p:cNvPr id="11" name="Text 8"/>
          <p:cNvSpPr/>
          <p:nvPr/>
        </p:nvSpPr>
        <p:spPr>
          <a:xfrm>
            <a:off x="7513201" y="8002786"/>
            <a:ext cx="6500336" cy="499348"/>
          </a:xfrm>
          <a:prstGeom prst="rect">
            <a:avLst/>
          </a:prstGeom>
          <a:noFill/>
          <a:ln/>
        </p:spPr>
        <p:txBody>
          <a:bodyPr wrap="square" lIns="0" tIns="0" rIns="0" bIns="0" rtlCol="0" anchor="t"/>
          <a:lstStyle/>
          <a:p>
            <a:pPr algn="l" indent="0" marL="0">
              <a:lnSpc>
                <a:spcPts val="1950"/>
              </a:lnSpc>
              <a:buNone/>
            </a:pPr>
            <a:r>
              <a:rPr lang="en-US" sz="1200" dirty="0">
                <a:solidFill>
                  <a:srgbClr val="464646"/>
                </a:solidFill>
                <a:latin typeface="Inter Medium" pitchFamily="34" charset="0"/>
                <a:ea typeface="Inter Medium" pitchFamily="34" charset="-122"/>
                <a:cs typeface="Inter Medium" pitchFamily="34" charset="-120"/>
              </a:rPr>
              <a:t>Axborotning tez tarqalishi va manbalarni tekshirish imkoniyatining cheklanganligi yolg‘on xabarlarning nazoratsiz yoyilishiga olib keladi.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0445" y="760928"/>
            <a:ext cx="6164223" cy="547211"/>
          </a:xfrm>
          <a:prstGeom prst="rect">
            <a:avLst/>
          </a:prstGeom>
          <a:noFill/>
          <a:ln/>
        </p:spPr>
        <p:txBody>
          <a:bodyPr wrap="none" lIns="0" tIns="0" rIns="0" bIns="0" rtlCol="0" anchor="t"/>
          <a:lstStyle/>
          <a:p>
            <a:pPr algn="l" indent="0" marL="0">
              <a:lnSpc>
                <a:spcPts val="4300"/>
              </a:lnSpc>
              <a:buNone/>
            </a:pPr>
            <a:r>
              <a:rPr lang="en-US" sz="3400" dirty="0">
                <a:solidFill>
                  <a:srgbClr val="030303"/>
                </a:solidFill>
                <a:latin typeface="DM Sans Semi Bold" pitchFamily="34" charset="0"/>
                <a:ea typeface="DM Sans Semi Bold" pitchFamily="34" charset="-122"/>
                <a:cs typeface="DM Sans Semi Bold" pitchFamily="34" charset="-120"/>
              </a:rPr>
              <a:t>Salbiy xulq-atvor va qaramlik</a:t>
            </a:r>
            <a:endParaRPr lang="en-US" sz="3400" dirty="0"/>
          </a:p>
        </p:txBody>
      </p:sp>
      <p:sp>
        <p:nvSpPr>
          <p:cNvPr id="4" name="Shape 1"/>
          <p:cNvSpPr/>
          <p:nvPr/>
        </p:nvSpPr>
        <p:spPr>
          <a:xfrm>
            <a:off x="700445" y="1570792"/>
            <a:ext cx="700445" cy="1569125"/>
          </a:xfrm>
          <a:prstGeom prst="roundRect">
            <a:avLst>
              <a:gd name="adj" fmla="val 360028"/>
            </a:avLst>
          </a:prstGeom>
          <a:solidFill>
            <a:srgbClr val="F2EEEE"/>
          </a:solidFill>
          <a:ln/>
        </p:spPr>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282" y="2223968"/>
            <a:ext cx="262652" cy="262652"/>
          </a:xfrm>
          <a:prstGeom prst="rect">
            <a:avLst/>
          </a:prstGeom>
        </p:spPr>
      </p:pic>
      <p:sp>
        <p:nvSpPr>
          <p:cNvPr id="6" name="Text 2"/>
          <p:cNvSpPr/>
          <p:nvPr/>
        </p:nvSpPr>
        <p:spPr>
          <a:xfrm>
            <a:off x="1575911" y="1745813"/>
            <a:ext cx="4382929" cy="273606"/>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Tajovuzkorlik va hamdardlikning yo‘qolishi</a:t>
            </a:r>
            <a:endParaRPr lang="en-US" sz="1700" dirty="0"/>
          </a:p>
        </p:txBody>
      </p:sp>
      <p:sp>
        <p:nvSpPr>
          <p:cNvPr id="7" name="Text 3"/>
          <p:cNvSpPr/>
          <p:nvPr/>
        </p:nvSpPr>
        <p:spPr>
          <a:xfrm>
            <a:off x="1575911" y="2124432"/>
            <a:ext cx="6867644" cy="840462"/>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Anonimlik va to‘g‘ridan-to‘g‘ri aloqa yo‘qligi sababli, ijtimoiy tarmoqlarda salbiy xulq-atvor, jumladan, kiberbulling va tajovuzkorlik keng tarqalmoqda. Bu yoshlar orasida hamdardlik va ijtimoiy javobgarlik tuyg‘usining yo‘qolishiga olib keladi.</a:t>
            </a:r>
            <a:endParaRPr lang="en-US" sz="1350" dirty="0"/>
          </a:p>
        </p:txBody>
      </p:sp>
      <p:sp>
        <p:nvSpPr>
          <p:cNvPr id="8" name="Shape 4"/>
          <p:cNvSpPr/>
          <p:nvPr/>
        </p:nvSpPr>
        <p:spPr>
          <a:xfrm>
            <a:off x="700445" y="3314938"/>
            <a:ext cx="700445" cy="1849279"/>
          </a:xfrm>
          <a:prstGeom prst="roundRect">
            <a:avLst>
              <a:gd name="adj" fmla="val 360028"/>
            </a:avLst>
          </a:prstGeom>
          <a:solidFill>
            <a:srgbClr val="F2EEEE"/>
          </a:solidFill>
          <a:ln/>
        </p:spPr>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9282" y="4108133"/>
            <a:ext cx="262652" cy="262652"/>
          </a:xfrm>
          <a:prstGeom prst="rect">
            <a:avLst/>
          </a:prstGeom>
        </p:spPr>
      </p:pic>
      <p:sp>
        <p:nvSpPr>
          <p:cNvPr id="10" name="Text 5"/>
          <p:cNvSpPr/>
          <p:nvPr/>
        </p:nvSpPr>
        <p:spPr>
          <a:xfrm>
            <a:off x="1575911" y="3489960"/>
            <a:ext cx="2967038" cy="273606"/>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Tezkor qoniqish va sabrsizlik</a:t>
            </a:r>
            <a:endParaRPr lang="en-US" sz="1700" dirty="0"/>
          </a:p>
        </p:txBody>
      </p:sp>
      <p:sp>
        <p:nvSpPr>
          <p:cNvPr id="11" name="Text 6"/>
          <p:cNvSpPr/>
          <p:nvPr/>
        </p:nvSpPr>
        <p:spPr>
          <a:xfrm>
            <a:off x="1575911" y="3868579"/>
            <a:ext cx="6867644" cy="1120616"/>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Ijtimoiy tarmoqlar tezkor qoniqish madaniyatini shakllantiradi. Doimiy yangiliklar, layklar va izohlar miyada dofamin ishlab chiqarilishini rag‘batlantiradi, bu esa sabrsizlik va qaramlikka olib keladi. Foydalanuvchilar doimiy ravishda yangi stimullarga intilib, real hayotdagi qiyinchiliklarga duch kelganda qiynalishadi.</a:t>
            </a:r>
            <a:endParaRPr lang="en-US" sz="1350" dirty="0"/>
          </a:p>
        </p:txBody>
      </p:sp>
      <p:sp>
        <p:nvSpPr>
          <p:cNvPr id="12" name="Shape 7"/>
          <p:cNvSpPr/>
          <p:nvPr/>
        </p:nvSpPr>
        <p:spPr>
          <a:xfrm>
            <a:off x="700445" y="5339239"/>
            <a:ext cx="700445" cy="2129433"/>
          </a:xfrm>
          <a:prstGeom prst="roundRect">
            <a:avLst>
              <a:gd name="adj" fmla="val 360028"/>
            </a:avLst>
          </a:prstGeom>
          <a:solidFill>
            <a:srgbClr val="F2EEEE"/>
          </a:solidFill>
          <a:ln/>
        </p:spPr>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9282" y="6272570"/>
            <a:ext cx="262652" cy="262652"/>
          </a:xfrm>
          <a:prstGeom prst="rect">
            <a:avLst/>
          </a:prstGeom>
        </p:spPr>
      </p:pic>
      <p:sp>
        <p:nvSpPr>
          <p:cNvPr id="14" name="Text 8"/>
          <p:cNvSpPr/>
          <p:nvPr/>
        </p:nvSpPr>
        <p:spPr>
          <a:xfrm>
            <a:off x="1575911" y="5514261"/>
            <a:ext cx="3678912" cy="273606"/>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Giyohvandlikka o‘xshash jarayonlar</a:t>
            </a:r>
            <a:endParaRPr lang="en-US" sz="1700" dirty="0"/>
          </a:p>
        </p:txBody>
      </p:sp>
      <p:sp>
        <p:nvSpPr>
          <p:cNvPr id="15" name="Text 9"/>
          <p:cNvSpPr/>
          <p:nvPr/>
        </p:nvSpPr>
        <p:spPr>
          <a:xfrm>
            <a:off x="1575911" y="5892879"/>
            <a:ext cx="6867644" cy="1400770"/>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Neyrofiziologik jihatdan ijtimoiy tarmoqlarga qaramlik giyohvandlikka o‘xshash jarayonlarni keltirib chiqaradi. Miyaning mukofot markazi faollashadi, bu esa ijtimoiy tarmoqlardan uzoqlashish qiyinligini va doimiy ravishda ularga qaytish istagini keltirib chiqaradi. Bu holat ruhiy va jismoniy sog‘liqqa salbiy ta’sir ko‘rsatadi.</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21437"/>
            <a:ext cx="11819453"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Real hayotdan misol: yoshlarning ruhiy salomatligi</a:t>
            </a:r>
            <a:endParaRPr lang="en-US" sz="3900" dirty="0"/>
          </a:p>
        </p:txBody>
      </p:sp>
      <p:sp>
        <p:nvSpPr>
          <p:cNvPr id="3" name="Text 1"/>
          <p:cNvSpPr/>
          <p:nvPr/>
        </p:nvSpPr>
        <p:spPr>
          <a:xfrm>
            <a:off x="793790" y="203835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Ijtimoiy tarmoqlarning yoshlar ruhiy salomatligiga ta’siri global miqyosda jiddiy muammoga aylanmoqda. Ko‘plab tadqiqotlar va rasmiy bayonotlar bu xavfning naqadar dolzarb ekanligini tasdiqlaydi.</a:t>
            </a:r>
            <a:endParaRPr lang="en-US" sz="1550" dirty="0"/>
          </a:p>
        </p:txBody>
      </p:sp>
      <p:sp>
        <p:nvSpPr>
          <p:cNvPr id="4" name="Shape 2"/>
          <p:cNvSpPr/>
          <p:nvPr/>
        </p:nvSpPr>
        <p:spPr>
          <a:xfrm>
            <a:off x="793790" y="2896672"/>
            <a:ext cx="13042821" cy="4311491"/>
          </a:xfrm>
          <a:prstGeom prst="roundRect">
            <a:avLst>
              <a:gd name="adj" fmla="val 691"/>
            </a:avLst>
          </a:prstGeom>
          <a:solidFill>
            <a:srgbClr val="F2EEEE"/>
          </a:solidFill>
          <a:ln/>
        </p:spPr>
      </p:sp>
      <p:sp>
        <p:nvSpPr>
          <p:cNvPr id="5" name="Shape 3"/>
          <p:cNvSpPr/>
          <p:nvPr/>
        </p:nvSpPr>
        <p:spPr>
          <a:xfrm>
            <a:off x="793790" y="2896672"/>
            <a:ext cx="4347567" cy="4311491"/>
          </a:xfrm>
          <a:prstGeom prst="roundRect">
            <a:avLst>
              <a:gd name="adj" fmla="val 691"/>
            </a:avLst>
          </a:prstGeom>
          <a:solidFill>
            <a:srgbClr val="F2EEEE"/>
          </a:solidFill>
          <a:ln/>
        </p:spPr>
      </p:sp>
      <p:sp>
        <p:nvSpPr>
          <p:cNvPr id="6" name="Text 4"/>
          <p:cNvSpPr/>
          <p:nvPr/>
        </p:nvSpPr>
        <p:spPr>
          <a:xfrm>
            <a:off x="992148" y="309503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Tadqiqotlar natijalari</a:t>
            </a:r>
            <a:endParaRPr lang="en-US" sz="1950" dirty="0"/>
          </a:p>
        </p:txBody>
      </p:sp>
      <p:sp>
        <p:nvSpPr>
          <p:cNvPr id="7" name="Text 5"/>
          <p:cNvSpPr/>
          <p:nvPr/>
        </p:nvSpPr>
        <p:spPr>
          <a:xfrm>
            <a:off x="992148" y="3524250"/>
            <a:ext cx="3653076" cy="317539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2025-yilgi tadqiqotlarga ko‘ra, ijtimoiy tarmoqlardan ko‘p foydalanadigan o‘smirlar orasida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depressiya va xavotir darajasi 30% ga oshgan</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Bu yoshlarning virtual dunyoda o‘tkazayotgan vaqti ortishi bilan bog‘liq bo‘lib, ularning o‘ziga ishonchini, o‘zini baholashini va real hayotdagi muloqot qobiliyatlarini pasaytiradi.</a:t>
            </a:r>
            <a:endParaRPr lang="en-US" sz="1550" dirty="0"/>
          </a:p>
        </p:txBody>
      </p:sp>
      <p:sp>
        <p:nvSpPr>
          <p:cNvPr id="8" name="Shape 6"/>
          <p:cNvSpPr/>
          <p:nvPr/>
        </p:nvSpPr>
        <p:spPr>
          <a:xfrm>
            <a:off x="5141357" y="2896672"/>
            <a:ext cx="4347567" cy="4311491"/>
          </a:xfrm>
          <a:prstGeom prst="rect">
            <a:avLst/>
          </a:prstGeom>
          <a:solidFill>
            <a:srgbClr val="F2EEEE"/>
          </a:solidFill>
          <a:ln/>
        </p:spPr>
      </p:sp>
      <p:sp>
        <p:nvSpPr>
          <p:cNvPr id="9" name="Shape 7"/>
          <p:cNvSpPr/>
          <p:nvPr/>
        </p:nvSpPr>
        <p:spPr>
          <a:xfrm>
            <a:off x="5141357" y="2896672"/>
            <a:ext cx="22860" cy="4311491"/>
          </a:xfrm>
          <a:prstGeom prst="roundRect">
            <a:avLst>
              <a:gd name="adj" fmla="val 130232"/>
            </a:avLst>
          </a:prstGeom>
          <a:solidFill>
            <a:srgbClr val="D8D4D4"/>
          </a:solidFill>
          <a:ln/>
        </p:spPr>
      </p:sp>
      <p:sp>
        <p:nvSpPr>
          <p:cNvPr id="10" name="Text 8"/>
          <p:cNvSpPr/>
          <p:nvPr/>
        </p:nvSpPr>
        <p:spPr>
          <a:xfrm>
            <a:off x="5637490" y="3095030"/>
            <a:ext cx="3355300"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AQSH bosh shifokorining bayonoti</a:t>
            </a:r>
            <a:endParaRPr lang="en-US" sz="1950" dirty="0"/>
          </a:p>
        </p:txBody>
      </p:sp>
      <p:sp>
        <p:nvSpPr>
          <p:cNvPr id="11" name="Text 9"/>
          <p:cNvSpPr/>
          <p:nvPr/>
        </p:nvSpPr>
        <p:spPr>
          <a:xfrm>
            <a:off x="5637490" y="3834408"/>
            <a:ext cx="3355300" cy="317539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AQSH bosh shifokori ijtimoiy tarmoqlarni bolalar sog‘lig‘i uchun jiddiy xavf deb e’lon qildi. Uning ta’kidlashicha, ushbu platformalar yoshlarning miya rivojlanishiga, ruhiy holatiga va ijtimoiy moslashuviga salbiy ta’sir ko‘rsatadi. Bu esa milliy miqyosdagi salomatlik inqiroziga olib kelishi mumkin.</a:t>
            </a:r>
            <a:endParaRPr lang="en-US" sz="1550" dirty="0"/>
          </a:p>
        </p:txBody>
      </p:sp>
      <p:sp>
        <p:nvSpPr>
          <p:cNvPr id="12" name="Shape 10"/>
          <p:cNvSpPr/>
          <p:nvPr/>
        </p:nvSpPr>
        <p:spPr>
          <a:xfrm>
            <a:off x="4893350" y="4804350"/>
            <a:ext cx="496133" cy="496133"/>
          </a:xfrm>
          <a:prstGeom prst="roundRect">
            <a:avLst>
              <a:gd name="adj" fmla="val 6001"/>
            </a:avLst>
          </a:prstGeom>
          <a:solidFill>
            <a:srgbClr val="FFFFFF"/>
          </a:solidFill>
          <a:ln w="22860">
            <a:solidFill>
              <a:srgbClr val="D8D4D4"/>
            </a:solidFill>
            <a:prstDash val="solid"/>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17413" y="4928295"/>
            <a:ext cx="248007" cy="248007"/>
          </a:xfrm>
          <a:prstGeom prst="rect">
            <a:avLst/>
          </a:prstGeom>
        </p:spPr>
      </p:pic>
      <p:sp>
        <p:nvSpPr>
          <p:cNvPr id="14" name="Shape 11"/>
          <p:cNvSpPr/>
          <p:nvPr/>
        </p:nvSpPr>
        <p:spPr>
          <a:xfrm>
            <a:off x="9488924" y="2896672"/>
            <a:ext cx="4347567" cy="4311491"/>
          </a:xfrm>
          <a:prstGeom prst="rect">
            <a:avLst/>
          </a:prstGeom>
          <a:solidFill>
            <a:srgbClr val="F2EEEE"/>
          </a:solidFill>
          <a:ln/>
        </p:spPr>
      </p:sp>
      <p:sp>
        <p:nvSpPr>
          <p:cNvPr id="15" name="Shape 12"/>
          <p:cNvSpPr/>
          <p:nvPr/>
        </p:nvSpPr>
        <p:spPr>
          <a:xfrm>
            <a:off x="9488924" y="2896672"/>
            <a:ext cx="22860" cy="4311491"/>
          </a:xfrm>
          <a:prstGeom prst="roundRect">
            <a:avLst>
              <a:gd name="adj" fmla="val 130232"/>
            </a:avLst>
          </a:prstGeom>
          <a:solidFill>
            <a:srgbClr val="D8D4D4"/>
          </a:solidFill>
          <a:ln/>
        </p:spPr>
      </p:sp>
      <p:sp>
        <p:nvSpPr>
          <p:cNvPr id="16" name="Text 13"/>
          <p:cNvSpPr/>
          <p:nvPr/>
        </p:nvSpPr>
        <p:spPr>
          <a:xfrm>
            <a:off x="9985058" y="3095030"/>
            <a:ext cx="3241953"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Ruhiy kasalliklarning ortishi</a:t>
            </a:r>
            <a:endParaRPr lang="en-US" sz="1950" dirty="0"/>
          </a:p>
        </p:txBody>
      </p:sp>
      <p:sp>
        <p:nvSpPr>
          <p:cNvPr id="17" name="Text 14"/>
          <p:cNvSpPr/>
          <p:nvPr/>
        </p:nvSpPr>
        <p:spPr>
          <a:xfrm>
            <a:off x="9985058" y="3524250"/>
            <a:ext cx="3653076" cy="285785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Ijtimoiy tarmoqlar natijasida yuzaga keladigan bosimlar, masalan, ideal hayotni ko‘rsatishga intilish, kiberbulling va doimiy solishtirish ruhiy kasalliklarning, ayniqsa,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o‘smirlik depressiyasi, xavotir buzilishlari va ovqatlanish buzilishlarining</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ortishiga sabab bo‘lmoqda.</a:t>
            </a:r>
            <a:endParaRPr lang="en-US" sz="1550" dirty="0"/>
          </a:p>
        </p:txBody>
      </p:sp>
      <p:sp>
        <p:nvSpPr>
          <p:cNvPr id="18" name="Shape 15"/>
          <p:cNvSpPr/>
          <p:nvPr/>
        </p:nvSpPr>
        <p:spPr>
          <a:xfrm>
            <a:off x="9240917" y="4804350"/>
            <a:ext cx="496133" cy="496133"/>
          </a:xfrm>
          <a:prstGeom prst="roundRect">
            <a:avLst>
              <a:gd name="adj" fmla="val 6001"/>
            </a:avLst>
          </a:prstGeom>
          <a:solidFill>
            <a:srgbClr val="FFFFFF"/>
          </a:solidFill>
          <a:ln w="22860">
            <a:solidFill>
              <a:srgbClr val="D8D4D4"/>
            </a:solidFill>
            <a:prstDash val="solid"/>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64980" y="4928295"/>
            <a:ext cx="248007" cy="2480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62883"/>
            <a:ext cx="970645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Qarshi choralar va ota-onalar mas’uliyati</a:t>
            </a:r>
            <a:endParaRPr lang="en-US" sz="3900" dirty="0"/>
          </a:p>
        </p:txBody>
      </p:sp>
      <p:sp>
        <p:nvSpPr>
          <p:cNvPr id="3" name="Shape 1"/>
          <p:cNvSpPr/>
          <p:nvPr/>
        </p:nvSpPr>
        <p:spPr>
          <a:xfrm>
            <a:off x="1091446" y="2973586"/>
            <a:ext cx="3917513" cy="198358"/>
          </a:xfrm>
          <a:prstGeom prst="roundRect">
            <a:avLst>
              <a:gd name="adj" fmla="val 15009"/>
            </a:avLst>
          </a:prstGeom>
          <a:solidFill>
            <a:srgbClr val="F2EEEE"/>
          </a:solidFill>
          <a:ln/>
        </p:spPr>
      </p:sp>
      <p:sp>
        <p:nvSpPr>
          <p:cNvPr id="4" name="Shape 2"/>
          <p:cNvSpPr/>
          <p:nvPr/>
        </p:nvSpPr>
        <p:spPr>
          <a:xfrm>
            <a:off x="793790" y="2775109"/>
            <a:ext cx="595313" cy="595313"/>
          </a:xfrm>
          <a:prstGeom prst="roundRect">
            <a:avLst>
              <a:gd name="adj" fmla="val 76800"/>
            </a:avLst>
          </a:prstGeom>
          <a:solidFill>
            <a:srgbClr val="F2EEEE"/>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2618" y="2923937"/>
            <a:ext cx="297656" cy="297656"/>
          </a:xfrm>
          <a:prstGeom prst="rect">
            <a:avLst/>
          </a:prstGeom>
        </p:spPr>
      </p:pic>
      <p:sp>
        <p:nvSpPr>
          <p:cNvPr id="6" name="Text 3"/>
          <p:cNvSpPr/>
          <p:nvPr/>
        </p:nvSpPr>
        <p:spPr>
          <a:xfrm>
            <a:off x="992148" y="3568779"/>
            <a:ext cx="3260646"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Internet va Wi-Fi gigiyenasi</a:t>
            </a:r>
            <a:endParaRPr lang="en-US" sz="1950" dirty="0"/>
          </a:p>
        </p:txBody>
      </p:sp>
      <p:sp>
        <p:nvSpPr>
          <p:cNvPr id="7" name="Text 4"/>
          <p:cNvSpPr/>
          <p:nvPr/>
        </p:nvSpPr>
        <p:spPr>
          <a:xfrm>
            <a:off x="992148" y="3998000"/>
            <a:ext cx="3818573" cy="285785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Yoshlarni zararli kontentdan himoya qilishda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"Internet gigiyenasi"</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va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"Wi-Fi gigiyenasi"</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tushunchalari muhim ahamiyatga ega. Bu bolalarning onlayn faoliyatini nazorat qilish, ularni xavfli veb-saytlardan va ilovalardan himoya qilishni anglatadi. Xususan, uyda Wi-Fi o‘chirib qo‘yish, onlayn vaqtni cheklash va ekran vaqtini nazorat qilish lozim.</a:t>
            </a:r>
            <a:endParaRPr lang="en-US" sz="1550" dirty="0"/>
          </a:p>
        </p:txBody>
      </p:sp>
      <p:sp>
        <p:nvSpPr>
          <p:cNvPr id="8" name="Shape 5"/>
          <p:cNvSpPr/>
          <p:nvPr/>
        </p:nvSpPr>
        <p:spPr>
          <a:xfrm>
            <a:off x="5505093" y="2675930"/>
            <a:ext cx="3917633" cy="198358"/>
          </a:xfrm>
          <a:prstGeom prst="roundRect">
            <a:avLst>
              <a:gd name="adj" fmla="val 15009"/>
            </a:avLst>
          </a:prstGeom>
          <a:solidFill>
            <a:srgbClr val="F2EEEE"/>
          </a:solidFill>
          <a:ln/>
        </p:spPr>
      </p:sp>
      <p:sp>
        <p:nvSpPr>
          <p:cNvPr id="9" name="Shape 6"/>
          <p:cNvSpPr/>
          <p:nvPr/>
        </p:nvSpPr>
        <p:spPr>
          <a:xfrm>
            <a:off x="5207437" y="2477453"/>
            <a:ext cx="595313" cy="595313"/>
          </a:xfrm>
          <a:prstGeom prst="roundRect">
            <a:avLst>
              <a:gd name="adj" fmla="val 76800"/>
            </a:avLst>
          </a:prstGeom>
          <a:solidFill>
            <a:srgbClr val="F2EEEE"/>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56265" y="2626281"/>
            <a:ext cx="297656" cy="297656"/>
          </a:xfrm>
          <a:prstGeom prst="rect">
            <a:avLst/>
          </a:prstGeom>
        </p:spPr>
      </p:pic>
      <p:sp>
        <p:nvSpPr>
          <p:cNvPr id="11" name="Text 7"/>
          <p:cNvSpPr/>
          <p:nvPr/>
        </p:nvSpPr>
        <p:spPr>
          <a:xfrm>
            <a:off x="5405795" y="3271123"/>
            <a:ext cx="3818692"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Ota-onalar va ta’lim muassasalarining roli</a:t>
            </a:r>
            <a:endParaRPr lang="en-US" sz="1950" dirty="0"/>
          </a:p>
        </p:txBody>
      </p:sp>
      <p:sp>
        <p:nvSpPr>
          <p:cNvPr id="12" name="Text 8"/>
          <p:cNvSpPr/>
          <p:nvPr/>
        </p:nvSpPr>
        <p:spPr>
          <a:xfrm>
            <a:off x="5405795" y="4010501"/>
            <a:ext cx="3818692" cy="285785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Ota-onalar va ta’lim muassasalari yoshlarni ijtimoiy tarmoqlardan oqilona foydalanishga o‘rgatishi zarur. Bu nafaqat texnik cheklovlarni qo‘yishni, balki bolalar bilan ochiq muloqot o‘rnatishni, ularga onlayn xavflar haqida tushuntirishni va o‘z-o‘zini nazorat qilish ko‘nikmalarini o‘rgatishni ham o‘z ichiga oladi.</a:t>
            </a:r>
            <a:endParaRPr lang="en-US" sz="1550" dirty="0"/>
          </a:p>
        </p:txBody>
      </p:sp>
      <p:sp>
        <p:nvSpPr>
          <p:cNvPr id="13" name="Shape 9"/>
          <p:cNvSpPr/>
          <p:nvPr/>
        </p:nvSpPr>
        <p:spPr>
          <a:xfrm>
            <a:off x="9918859" y="2378273"/>
            <a:ext cx="3917513" cy="198358"/>
          </a:xfrm>
          <a:prstGeom prst="roundRect">
            <a:avLst>
              <a:gd name="adj" fmla="val 15009"/>
            </a:avLst>
          </a:prstGeom>
          <a:solidFill>
            <a:srgbClr val="F2EEEE"/>
          </a:solidFill>
          <a:ln/>
        </p:spPr>
      </p:sp>
      <p:sp>
        <p:nvSpPr>
          <p:cNvPr id="14" name="Shape 10"/>
          <p:cNvSpPr/>
          <p:nvPr/>
        </p:nvSpPr>
        <p:spPr>
          <a:xfrm>
            <a:off x="9621203" y="2179796"/>
            <a:ext cx="595313" cy="595313"/>
          </a:xfrm>
          <a:prstGeom prst="roundRect">
            <a:avLst>
              <a:gd name="adj" fmla="val 76800"/>
            </a:avLst>
          </a:prstGeom>
          <a:solidFill>
            <a:srgbClr val="F2EEEE"/>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70031" y="2328624"/>
            <a:ext cx="297656" cy="297656"/>
          </a:xfrm>
          <a:prstGeom prst="rect">
            <a:avLst/>
          </a:prstGeom>
        </p:spPr>
      </p:pic>
      <p:sp>
        <p:nvSpPr>
          <p:cNvPr id="16" name="Text 11"/>
          <p:cNvSpPr/>
          <p:nvPr/>
        </p:nvSpPr>
        <p:spPr>
          <a:xfrm>
            <a:off x="9819561" y="2973467"/>
            <a:ext cx="3818573" cy="620316"/>
          </a:xfrm>
          <a:prstGeom prst="rect">
            <a:avLst/>
          </a:prstGeom>
          <a:noFill/>
          <a:ln/>
        </p:spPr>
        <p:txBody>
          <a:bodyPr wrap="squar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Me’yorni belgilash va sifatli kontentga yo‘naltirish</a:t>
            </a:r>
            <a:endParaRPr lang="en-US" sz="1950" dirty="0"/>
          </a:p>
        </p:txBody>
      </p:sp>
      <p:sp>
        <p:nvSpPr>
          <p:cNvPr id="17" name="Text 12"/>
          <p:cNvSpPr/>
          <p:nvPr/>
        </p:nvSpPr>
        <p:spPr>
          <a:xfrm>
            <a:off x="9819561" y="3712845"/>
            <a:ext cx="3818573" cy="2857857"/>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Ijtimoiy tarmoqlardan foydalanish vaqtini cheklash, masalan, kuniga ma’lum bir soatdan oshirmaslik. Shuningdek, yoshlarni sifatli va foydali kontentga yo‘naltirish, ta’limiy va rivojlantiruvchi ilovalardan foydalanishga undash muhim. Bu ularning vaqtini samarali o‘tkazishiga yordam beradi.</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6138" y="368618"/>
            <a:ext cx="11913513" cy="418862"/>
          </a:xfrm>
          <a:prstGeom prst="rect">
            <a:avLst/>
          </a:prstGeom>
          <a:noFill/>
          <a:ln/>
        </p:spPr>
        <p:txBody>
          <a:bodyPr wrap="none" lIns="0" tIns="0" rIns="0" bIns="0" rtlCol="0" anchor="t"/>
          <a:lstStyle/>
          <a:p>
            <a:pPr algn="l" indent="0" marL="0">
              <a:lnSpc>
                <a:spcPts val="3250"/>
              </a:lnSpc>
              <a:buNone/>
            </a:pPr>
            <a:r>
              <a:rPr lang="en-US" sz="2600" dirty="0">
                <a:solidFill>
                  <a:srgbClr val="030303"/>
                </a:solidFill>
                <a:latin typeface="DM Sans Semi Bold" pitchFamily="34" charset="0"/>
                <a:ea typeface="DM Sans Semi Bold" pitchFamily="34" charset="-122"/>
                <a:cs typeface="DM Sans Semi Bold" pitchFamily="34" charset="-120"/>
              </a:rPr>
              <a:t>Xulosa: Ijtimoiy tarmoqlarni ongli va mas’uliyatli foydalanish – kelajak kaliti</a:t>
            </a:r>
            <a:endParaRPr lang="en-US" sz="2600" dirty="0"/>
          </a:p>
        </p:txBody>
      </p:sp>
      <p:sp>
        <p:nvSpPr>
          <p:cNvPr id="3" name="Text 1"/>
          <p:cNvSpPr/>
          <p:nvPr/>
        </p:nvSpPr>
        <p:spPr>
          <a:xfrm>
            <a:off x="536138" y="1109067"/>
            <a:ext cx="6615589" cy="643295"/>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Inter Medium" pitchFamily="34" charset="0"/>
                <a:ea typeface="Inter Medium" pitchFamily="34" charset="-122"/>
                <a:cs typeface="Inter Medium" pitchFamily="34" charset="-120"/>
              </a:rPr>
              <a:t>Ijtimoiy tarmoqlar zamonaviy hayotimizning ajralmas qismiga aylandi. Ularning afzalliklari juda ko‘p bo‘lsa-da, ularning salbiy oqibatlarini minimallashtirish uchun jiddiy harakat qilishimiz kerak. Bu nafaqat shaxsiy javobgarlik, balki butun jamiyatning umumiy vazifasidir.</a:t>
            </a:r>
            <a:endParaRPr lang="en-US" sz="1050" dirty="0"/>
          </a:p>
        </p:txBody>
      </p:sp>
      <p:sp>
        <p:nvSpPr>
          <p:cNvPr id="4" name="Shape 2"/>
          <p:cNvSpPr/>
          <p:nvPr/>
        </p:nvSpPr>
        <p:spPr>
          <a:xfrm>
            <a:off x="536138" y="1903095"/>
            <a:ext cx="6615589" cy="1254442"/>
          </a:xfrm>
          <a:prstGeom prst="roundRect">
            <a:avLst>
              <a:gd name="adj" fmla="val 25645"/>
            </a:avLst>
          </a:prstGeom>
          <a:solidFill>
            <a:srgbClr val="F2EEEE"/>
          </a:solidFill>
          <a:ln/>
        </p:spPr>
      </p:sp>
      <p:sp>
        <p:nvSpPr>
          <p:cNvPr id="5" name="Text 3"/>
          <p:cNvSpPr/>
          <p:nvPr/>
        </p:nvSpPr>
        <p:spPr>
          <a:xfrm>
            <a:off x="670084" y="2037040"/>
            <a:ext cx="2206943" cy="209312"/>
          </a:xfrm>
          <a:prstGeom prst="rect">
            <a:avLst/>
          </a:prstGeom>
          <a:noFill/>
          <a:ln/>
        </p:spPr>
        <p:txBody>
          <a:bodyPr wrap="none" lIns="0" tIns="0" rIns="0" bIns="0" rtlCol="0" anchor="t"/>
          <a:lstStyle/>
          <a:p>
            <a:pPr algn="l" indent="0" marL="0">
              <a:lnSpc>
                <a:spcPts val="1600"/>
              </a:lnSpc>
              <a:buNone/>
            </a:pPr>
            <a:r>
              <a:rPr lang="en-US" sz="1300" dirty="0">
                <a:solidFill>
                  <a:srgbClr val="464646"/>
                </a:solidFill>
                <a:latin typeface="DM Sans Semi Bold" pitchFamily="34" charset="0"/>
                <a:ea typeface="DM Sans Semi Bold" pitchFamily="34" charset="-122"/>
                <a:cs typeface="DM Sans Semi Bold" pitchFamily="34" charset="-120"/>
              </a:rPr>
              <a:t>Yoshlar ongini himoya qilish</a:t>
            </a:r>
            <a:endParaRPr lang="en-US" sz="1300" dirty="0"/>
          </a:p>
        </p:txBody>
      </p:sp>
      <p:sp>
        <p:nvSpPr>
          <p:cNvPr id="6" name="Text 4"/>
          <p:cNvSpPr/>
          <p:nvPr/>
        </p:nvSpPr>
        <p:spPr>
          <a:xfrm>
            <a:off x="670084" y="2380297"/>
            <a:ext cx="6347698" cy="643295"/>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Inter Medium" pitchFamily="34" charset="0"/>
                <a:ea typeface="Inter Medium" pitchFamily="34" charset="-122"/>
                <a:cs typeface="Inter Medium" pitchFamily="34" charset="-120"/>
              </a:rPr>
              <a:t>Yoshlarning ruhiy salomatligi va kognitiv rivojlanishi bizning kelajagimiz uchun asosdir. Ularni virtual olamning zararli ta’sirlaridan himoya qilish, real hayotdagi muloqotlarni rag‘batlantirish va sog‘lom rivojlanish uchun sharoit yaratish muhim.</a:t>
            </a:r>
            <a:endParaRPr lang="en-US" sz="1050" dirty="0"/>
          </a:p>
        </p:txBody>
      </p:sp>
      <p:sp>
        <p:nvSpPr>
          <p:cNvPr id="7" name="Shape 5"/>
          <p:cNvSpPr/>
          <p:nvPr/>
        </p:nvSpPr>
        <p:spPr>
          <a:xfrm>
            <a:off x="536138" y="3291483"/>
            <a:ext cx="6615589" cy="1254442"/>
          </a:xfrm>
          <a:prstGeom prst="roundRect">
            <a:avLst>
              <a:gd name="adj" fmla="val 25645"/>
            </a:avLst>
          </a:prstGeom>
          <a:solidFill>
            <a:srgbClr val="F2EEEE"/>
          </a:solidFill>
          <a:ln/>
        </p:spPr>
      </p:sp>
      <p:sp>
        <p:nvSpPr>
          <p:cNvPr id="8" name="Text 6"/>
          <p:cNvSpPr/>
          <p:nvPr/>
        </p:nvSpPr>
        <p:spPr>
          <a:xfrm>
            <a:off x="670084" y="3425428"/>
            <a:ext cx="3119318" cy="209312"/>
          </a:xfrm>
          <a:prstGeom prst="rect">
            <a:avLst/>
          </a:prstGeom>
          <a:noFill/>
          <a:ln/>
        </p:spPr>
        <p:txBody>
          <a:bodyPr wrap="none" lIns="0" tIns="0" rIns="0" bIns="0" rtlCol="0" anchor="t"/>
          <a:lstStyle/>
          <a:p>
            <a:pPr algn="l" indent="0" marL="0">
              <a:lnSpc>
                <a:spcPts val="1600"/>
              </a:lnSpc>
              <a:buNone/>
            </a:pPr>
            <a:r>
              <a:rPr lang="en-US" sz="1300" dirty="0">
                <a:solidFill>
                  <a:srgbClr val="464646"/>
                </a:solidFill>
                <a:latin typeface="DM Sans Semi Bold" pitchFamily="34" charset="0"/>
                <a:ea typeface="DM Sans Semi Bold" pitchFamily="34" charset="-122"/>
                <a:cs typeface="DM Sans Semi Bold" pitchFamily="34" charset="-120"/>
              </a:rPr>
              <a:t>Haqiqiy insoniy munosabatlarni tiklash</a:t>
            </a:r>
            <a:endParaRPr lang="en-US" sz="1300" dirty="0"/>
          </a:p>
        </p:txBody>
      </p:sp>
      <p:sp>
        <p:nvSpPr>
          <p:cNvPr id="9" name="Text 7"/>
          <p:cNvSpPr/>
          <p:nvPr/>
        </p:nvSpPr>
        <p:spPr>
          <a:xfrm>
            <a:off x="670084" y="3768685"/>
            <a:ext cx="6347698" cy="643295"/>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Inter Medium" pitchFamily="34" charset="0"/>
                <a:ea typeface="Inter Medium" pitchFamily="34" charset="-122"/>
                <a:cs typeface="Inter Medium" pitchFamily="34" charset="-120"/>
              </a:rPr>
              <a:t>Virtual aloqalar real munosabatlarning o‘rnini bosa olmaydi. Oilaviy rishtalarni mustahkamlash, do‘stlik aloqalarini qadrlash va yuzma-yuz muloqotga e’tibor berish, jamiyatda mehr-oqibat va hamjihatlikni oshiradi.</a:t>
            </a:r>
            <a:endParaRPr lang="en-US" sz="1050" dirty="0"/>
          </a:p>
        </p:txBody>
      </p:sp>
      <p:pic>
        <p:nvPicPr>
          <p:cNvPr id="10" name="Image 0" descr="preencoded.png">    </p:cNvPr>
          <p:cNvPicPr>
            <a:picLocks noChangeAspect="1"/>
          </p:cNvPicPr>
          <p:nvPr/>
        </p:nvPicPr>
        <p:blipFill>
          <a:blip r:embed="rId1"/>
          <a:stretch>
            <a:fillRect/>
          </a:stretch>
        </p:blipFill>
        <p:spPr>
          <a:xfrm>
            <a:off x="7486293" y="1139190"/>
            <a:ext cx="6615589" cy="6615589"/>
          </a:xfrm>
          <a:prstGeom prst="rect">
            <a:avLst/>
          </a:prstGeom>
        </p:spPr>
      </p:pic>
      <p:sp>
        <p:nvSpPr>
          <p:cNvPr id="11" name="Text 8"/>
          <p:cNvSpPr/>
          <p:nvPr/>
        </p:nvSpPr>
        <p:spPr>
          <a:xfrm>
            <a:off x="7486293" y="7905512"/>
            <a:ext cx="6615589" cy="643295"/>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Inter Medium" pitchFamily="34" charset="0"/>
                <a:ea typeface="Inter Medium" pitchFamily="34" charset="-122"/>
                <a:cs typeface="Inter Medium" pitchFamily="34" charset="-120"/>
              </a:rPr>
              <a:t>Kelajak avlod uchun sog‘lom va barqaror raqamli muhit yaratish – jamiyat oldidagi eng muhim vazifadir. Bu maqsadga erishish uchun har bir shaxsning, ota-onalarning, ta’lim muassasalarining va davlatning birgalikdagi sa’y-harakatlari talab etiladi.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2025-12-17T16:21:29Z</dcterms:created>
  <dcterms:modified xsi:type="dcterms:W3CDTF">2025-12-17T16:21:29Z</dcterms:modified>
</cp:coreProperties>
</file>