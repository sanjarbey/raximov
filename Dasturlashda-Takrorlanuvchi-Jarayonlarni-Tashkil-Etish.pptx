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Semi Bold"/>
      <p:regular r:id="rId17"/>
    </p:embeddedFont>
    <p:embeddedFont>
      <p:font typeface="DM Sans Semi Bold"/>
      <p:regular r:id="rId18"/>
    </p:embeddedFont>
    <p:embeddedFont>
      <p:font typeface="DM Sans Semi Bold"/>
      <p:regular r:id="rId19"/>
    </p:embeddedFont>
    <p:embeddedFont>
      <p:font typeface="DM Sans Semi Bold"/>
      <p:regular r:id="rId20"/>
    </p:embeddedFont>
    <p:embeddedFont>
      <p:font typeface="Inter Medium"/>
      <p:regular r:id="rId21"/>
    </p:embeddedFont>
    <p:embeddedFont>
      <p:font typeface="Inter Medium"/>
      <p:regular r:id="rId22"/>
    </p:embeddedFont>
    <p:embeddedFont>
      <p:font typeface="Inter Medium"/>
      <p:regular r:id="rId23"/>
    </p:embeddedFont>
    <p:embeddedFont>
      <p:font typeface="Inter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880229"/>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Dasturlashda Takrorlanuvchi Jarayonlarni Tashkil Etish</a:t>
            </a:r>
            <a:endParaRPr lang="en-US" sz="3900" dirty="0"/>
          </a:p>
        </p:txBody>
      </p:sp>
      <p:sp>
        <p:nvSpPr>
          <p:cNvPr id="4" name="Text 1"/>
          <p:cNvSpPr/>
          <p:nvPr/>
        </p:nvSpPr>
        <p:spPr>
          <a:xfrm>
            <a:off x="6280190" y="2418040"/>
            <a:ext cx="7556421" cy="1905238"/>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Dasturlashda takrorlanuvchi jarayonlar (sikllar) ma'lum bir amallar ketma-ketligini bir necha marta bajarish zarur bo'lganda qo'llaniladi. Bu, kodni sezilarli darajada qisqartirishga, uni o'qishni osonlashtirishga va dastur samaradorligini oshirishga yordam beradi. Ushbu taqdimotda biz takrorlanuvchi jarayonlarni tashkil etishning asosiy usullarini, xususan,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Parametrli (for)</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Old shartli (while)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va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So'ng shartli (do-while)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operatorlarini ko'rib chiqamiz.</a:t>
            </a:r>
            <a:endParaRPr lang="en-US" sz="1550" dirty="0"/>
          </a:p>
        </p:txBody>
      </p:sp>
      <p:sp>
        <p:nvSpPr>
          <p:cNvPr id="5" name="Shape 2"/>
          <p:cNvSpPr/>
          <p:nvPr/>
        </p:nvSpPr>
        <p:spPr>
          <a:xfrm>
            <a:off x="6280190" y="4546521"/>
            <a:ext cx="3679031" cy="1461016"/>
          </a:xfrm>
          <a:prstGeom prst="roundRect">
            <a:avLst>
              <a:gd name="adj" fmla="val 2038"/>
            </a:avLst>
          </a:prstGeom>
          <a:solidFill>
            <a:srgbClr val="F2EEEE"/>
          </a:solidFill>
          <a:ln/>
        </p:spPr>
      </p:sp>
      <p:sp>
        <p:nvSpPr>
          <p:cNvPr id="6" name="Text 3"/>
          <p:cNvSpPr/>
          <p:nvPr/>
        </p:nvSpPr>
        <p:spPr>
          <a:xfrm>
            <a:off x="6478548" y="4744879"/>
            <a:ext cx="27857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Kodni Optimallashtirish</a:t>
            </a:r>
            <a:endParaRPr lang="en-US" sz="1950" dirty="0"/>
          </a:p>
        </p:txBody>
      </p:sp>
      <p:sp>
        <p:nvSpPr>
          <p:cNvPr id="7" name="Text 4"/>
          <p:cNvSpPr/>
          <p:nvPr/>
        </p:nvSpPr>
        <p:spPr>
          <a:xfrm>
            <a:off x="6478548" y="5174099"/>
            <a:ext cx="328231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Bir xil amallarni qayta-qayta yozishdan qochish.</a:t>
            </a:r>
            <a:endParaRPr lang="en-US" sz="1550" dirty="0"/>
          </a:p>
        </p:txBody>
      </p:sp>
      <p:sp>
        <p:nvSpPr>
          <p:cNvPr id="8" name="Shape 5"/>
          <p:cNvSpPr/>
          <p:nvPr/>
        </p:nvSpPr>
        <p:spPr>
          <a:xfrm>
            <a:off x="10157579" y="4546521"/>
            <a:ext cx="3679031" cy="1461016"/>
          </a:xfrm>
          <a:prstGeom prst="roundRect">
            <a:avLst>
              <a:gd name="adj" fmla="val 2038"/>
            </a:avLst>
          </a:prstGeom>
          <a:solidFill>
            <a:srgbClr val="F2EEEE"/>
          </a:solidFill>
          <a:ln/>
        </p:spPr>
      </p:sp>
      <p:sp>
        <p:nvSpPr>
          <p:cNvPr id="9" name="Text 6"/>
          <p:cNvSpPr/>
          <p:nvPr/>
        </p:nvSpPr>
        <p:spPr>
          <a:xfrm>
            <a:off x="10355937" y="474487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Samaradorlik</a:t>
            </a:r>
            <a:endParaRPr lang="en-US" sz="1950" dirty="0"/>
          </a:p>
        </p:txBody>
      </p:sp>
      <p:sp>
        <p:nvSpPr>
          <p:cNvPr id="10" name="Text 7"/>
          <p:cNvSpPr/>
          <p:nvPr/>
        </p:nvSpPr>
        <p:spPr>
          <a:xfrm>
            <a:off x="10355937" y="5174099"/>
            <a:ext cx="328231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Katta hajmdagi ma'lumotlarni tezkor qayta ishlash imkoniyati.</a:t>
            </a:r>
            <a:endParaRPr lang="en-US" sz="1550" dirty="0"/>
          </a:p>
        </p:txBody>
      </p:sp>
      <p:sp>
        <p:nvSpPr>
          <p:cNvPr id="11" name="Shape 8"/>
          <p:cNvSpPr/>
          <p:nvPr/>
        </p:nvSpPr>
        <p:spPr>
          <a:xfrm>
            <a:off x="6280190" y="6205895"/>
            <a:ext cx="7556421" cy="1143476"/>
          </a:xfrm>
          <a:prstGeom prst="roundRect">
            <a:avLst>
              <a:gd name="adj" fmla="val 2604"/>
            </a:avLst>
          </a:prstGeom>
          <a:solidFill>
            <a:srgbClr val="F2EEEE"/>
          </a:solidFill>
          <a:ln/>
        </p:spPr>
      </p:sp>
      <p:sp>
        <p:nvSpPr>
          <p:cNvPr id="12" name="Text 9"/>
          <p:cNvSpPr/>
          <p:nvPr/>
        </p:nvSpPr>
        <p:spPr>
          <a:xfrm>
            <a:off x="6478548" y="64042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O'qish Qulayligi</a:t>
            </a:r>
            <a:endParaRPr lang="en-US" sz="1950" dirty="0"/>
          </a:p>
        </p:txBody>
      </p:sp>
      <p:sp>
        <p:nvSpPr>
          <p:cNvPr id="13" name="Text 10"/>
          <p:cNvSpPr/>
          <p:nvPr/>
        </p:nvSpPr>
        <p:spPr>
          <a:xfrm>
            <a:off x="6478548" y="6833473"/>
            <a:ext cx="715970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Dastur mantig'ini soddalashtirish va tushunishni yaxshilash.</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2446" y="359092"/>
            <a:ext cx="6890861" cy="408146"/>
          </a:xfrm>
          <a:prstGeom prst="rect">
            <a:avLst/>
          </a:prstGeom>
          <a:noFill/>
          <a:ln/>
        </p:spPr>
        <p:txBody>
          <a:bodyPr wrap="none" lIns="0" tIns="0" rIns="0" bIns="0" rtlCol="0" anchor="t"/>
          <a:lstStyle/>
          <a:p>
            <a:pPr algn="l" indent="0" marL="0">
              <a:lnSpc>
                <a:spcPts val="3200"/>
              </a:lnSpc>
              <a:buNone/>
            </a:pPr>
            <a:r>
              <a:rPr lang="en-US" sz="2550" dirty="0">
                <a:solidFill>
                  <a:srgbClr val="030303"/>
                </a:solidFill>
                <a:latin typeface="DM Sans Semi Bold" pitchFamily="34" charset="0"/>
                <a:ea typeface="DM Sans Semi Bold" pitchFamily="34" charset="-122"/>
                <a:cs typeface="DM Sans Semi Bold" pitchFamily="34" charset="-120"/>
              </a:rPr>
              <a:t>Takrorlanuvchi Jarayonlarning Asosiy Turlari</a:t>
            </a:r>
            <a:endParaRPr lang="en-US" sz="2550" dirty="0"/>
          </a:p>
        </p:txBody>
      </p:sp>
      <p:sp>
        <p:nvSpPr>
          <p:cNvPr id="3" name="Text 1"/>
          <p:cNvSpPr/>
          <p:nvPr/>
        </p:nvSpPr>
        <p:spPr>
          <a:xfrm>
            <a:off x="522446" y="1028462"/>
            <a:ext cx="13585508" cy="208955"/>
          </a:xfrm>
          <a:prstGeom prst="rect">
            <a:avLst/>
          </a:prstGeom>
          <a:noFill/>
          <a:ln/>
        </p:spPr>
        <p:txBody>
          <a:bodyPr wrap="none" lIns="0" tIns="0" rIns="0" bIns="0" rtlCol="0" anchor="t"/>
          <a:lstStyle/>
          <a:p>
            <a:pPr algn="l" indent="0" marL="0">
              <a:lnSpc>
                <a:spcPts val="1600"/>
              </a:lnSpc>
              <a:buNone/>
            </a:pPr>
            <a:r>
              <a:rPr lang="en-US" sz="1000" dirty="0">
                <a:solidFill>
                  <a:srgbClr val="464646"/>
                </a:solidFill>
                <a:latin typeface="Inter Medium" pitchFamily="34" charset="0"/>
                <a:ea typeface="Inter Medium" pitchFamily="34" charset="-122"/>
                <a:cs typeface="Inter Medium" pitchFamily="34" charset="-120"/>
              </a:rPr>
              <a:t>Takrorlanuvchi jarayonlar uchta asosiy turga bo'linadi, ularning har biri o'ziga xos vaziyatlarda samarali qo'llaniladi. Ularning farqi shartni tekshirish va takrorlash amalini bajarish tartibida yotadi.</a:t>
            </a:r>
            <a:endParaRPr lang="en-US" sz="1000" dirty="0"/>
          </a:p>
        </p:txBody>
      </p:sp>
      <p:pic>
        <p:nvPicPr>
          <p:cNvPr id="4" name="Image 0" descr="preencoded.png">    </p:cNvPr>
          <p:cNvPicPr>
            <a:picLocks noChangeAspect="1"/>
          </p:cNvPicPr>
          <p:nvPr/>
        </p:nvPicPr>
        <p:blipFill>
          <a:blip r:embed="rId1"/>
          <a:stretch>
            <a:fillRect/>
          </a:stretch>
        </p:blipFill>
        <p:spPr>
          <a:xfrm>
            <a:off x="522446" y="1384340"/>
            <a:ext cx="13585508" cy="5947767"/>
          </a:xfrm>
          <a:prstGeom prst="rect">
            <a:avLst/>
          </a:prstGeom>
        </p:spPr>
      </p:pic>
      <p:sp>
        <p:nvSpPr>
          <p:cNvPr id="5" name="Text 2"/>
          <p:cNvSpPr/>
          <p:nvPr/>
        </p:nvSpPr>
        <p:spPr>
          <a:xfrm>
            <a:off x="5083001" y="4211522"/>
            <a:ext cx="1593340" cy="740705"/>
          </a:xfrm>
          <a:prstGeom prst="rect">
            <a:avLst/>
          </a:prstGeom>
          <a:noFill/>
          <a:ln/>
        </p:spPr>
        <p:txBody>
          <a:bodyPr wrap="square" lIns="0" tIns="0" rIns="0" bIns="0" rtlCol="0" anchor="t"/>
          <a:lstStyle/>
          <a:p>
            <a:pPr algn="ctr" indent="0" marL="0">
              <a:lnSpc>
                <a:spcPts val="1650"/>
              </a:lnSpc>
              <a:buNone/>
            </a:pPr>
            <a:r>
              <a:rPr lang="en-US" sz="1350" dirty="0">
                <a:solidFill>
                  <a:srgbClr val="FFFFFF"/>
                </a:solidFill>
                <a:latin typeface="DM Sans Semi Bold" pitchFamily="34" charset="0"/>
                <a:ea typeface="DM Sans Semi Bold" pitchFamily="34" charset="-122"/>
                <a:cs typeface="DM Sans Semi Bold" pitchFamily="34" charset="-120"/>
              </a:rPr>
              <a:t>Bilangan takrorlash</a:t>
            </a:r>
            <a:endParaRPr lang="en-US" sz="1350" dirty="0"/>
          </a:p>
        </p:txBody>
      </p:sp>
      <p:sp>
        <p:nvSpPr>
          <p:cNvPr id="6" name="Text 3"/>
          <p:cNvSpPr/>
          <p:nvPr/>
        </p:nvSpPr>
        <p:spPr>
          <a:xfrm>
            <a:off x="8098495" y="4026346"/>
            <a:ext cx="1593341" cy="1111059"/>
          </a:xfrm>
          <a:prstGeom prst="rect">
            <a:avLst/>
          </a:prstGeom>
          <a:noFill/>
          <a:ln/>
        </p:spPr>
        <p:txBody>
          <a:bodyPr wrap="square" lIns="0" tIns="0" rIns="0" bIns="0" rtlCol="0" anchor="t"/>
          <a:lstStyle/>
          <a:p>
            <a:pPr algn="ctr" indent="0" marL="0">
              <a:lnSpc>
                <a:spcPts val="1650"/>
              </a:lnSpc>
              <a:buNone/>
            </a:pPr>
            <a:r>
              <a:rPr lang="en-US" sz="1350" dirty="0">
                <a:solidFill>
                  <a:srgbClr val="FFFFFF"/>
                </a:solidFill>
                <a:latin typeface="DM Sans Semi Bold" pitchFamily="34" charset="0"/>
                <a:ea typeface="DM Sans Semi Bold" pitchFamily="34" charset="-122"/>
                <a:cs typeface="DM Sans Semi Bold" pitchFamily="34" charset="-120"/>
              </a:rPr>
              <a:t>Shartga asoslangan</a:t>
            </a:r>
            <a:endParaRPr lang="en-US" sz="1350" dirty="0"/>
          </a:p>
        </p:txBody>
      </p:sp>
      <p:sp>
        <p:nvSpPr>
          <p:cNvPr id="7" name="Text 4"/>
          <p:cNvSpPr/>
          <p:nvPr/>
        </p:nvSpPr>
        <p:spPr>
          <a:xfrm>
            <a:off x="10877170" y="6037156"/>
            <a:ext cx="2896982" cy="592564"/>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Inter Medium" pitchFamily="34" charset="0"/>
                <a:ea typeface="Inter Medium" pitchFamily="34" charset="-122"/>
                <a:cs typeface="Inter Medium" pitchFamily="34" charset="-120"/>
              </a:rPr>
              <a:t>Ideal: noma'lum uzunlikdagi iteratsiyalar</a:t>
            </a:r>
            <a:endParaRPr lang="en-US" sz="1050" dirty="0"/>
          </a:p>
        </p:txBody>
      </p:sp>
      <p:pic>
        <p:nvPicPr>
          <p:cNvPr id="8" name="Image 1" descr="preencoded.png">    </p:cNvPr>
          <p:cNvPicPr>
            <a:picLocks noChangeAspect="1"/>
          </p:cNvPicPr>
          <p:nvPr/>
        </p:nvPicPr>
        <p:blipFill>
          <a:blip r:embed="rId2"/>
          <a:stretch>
            <a:fillRect/>
          </a:stretch>
        </p:blipFill>
        <p:spPr>
          <a:xfrm>
            <a:off x="10090171" y="6159372"/>
            <a:ext cx="364797" cy="348749"/>
          </a:xfrm>
          <a:prstGeom prst="rect">
            <a:avLst/>
          </a:prstGeom>
        </p:spPr>
      </p:pic>
      <p:sp>
        <p:nvSpPr>
          <p:cNvPr id="9" name="Text 5"/>
          <p:cNvSpPr/>
          <p:nvPr/>
        </p:nvSpPr>
        <p:spPr>
          <a:xfrm>
            <a:off x="10824498" y="2501521"/>
            <a:ext cx="2962822" cy="592565"/>
          </a:xfrm>
          <a:prstGeom prst="rect">
            <a:avLst/>
          </a:prstGeom>
          <a:noFill/>
          <a:ln/>
        </p:spPr>
        <p:txBody>
          <a:bodyPr wrap="square" lIns="0" tIns="0" rIns="0" bIns="0" rtlCol="0" anchor="t"/>
          <a:lstStyle/>
          <a:p>
            <a:pPr algn="l" indent="0" marL="0">
              <a:lnSpc>
                <a:spcPts val="1350"/>
              </a:lnSpc>
              <a:buNone/>
            </a:pPr>
            <a:r>
              <a:rPr lang="en-US" sz="1050" dirty="0">
                <a:solidFill>
                  <a:srgbClr val="464646"/>
                </a:solidFill>
                <a:latin typeface="Inter Medium" pitchFamily="34" charset="0"/>
                <a:ea typeface="Inter Medium" pitchFamily="34" charset="-122"/>
                <a:cs typeface="Inter Medium" pitchFamily="34" charset="-120"/>
              </a:rPr>
              <a:t>While — oldindan shart tekshiradi</a:t>
            </a:r>
            <a:endParaRPr lang="en-US" sz="1050" dirty="0"/>
          </a:p>
        </p:txBody>
      </p:sp>
      <p:pic>
        <p:nvPicPr>
          <p:cNvPr id="10" name="Image 2" descr="preencoded.png">    </p:cNvPr>
          <p:cNvPicPr>
            <a:picLocks noChangeAspect="1"/>
          </p:cNvPicPr>
          <p:nvPr/>
        </p:nvPicPr>
        <p:blipFill>
          <a:blip r:embed="rId3"/>
          <a:stretch>
            <a:fillRect/>
          </a:stretch>
        </p:blipFill>
        <p:spPr>
          <a:xfrm>
            <a:off x="10098607" y="2596990"/>
            <a:ext cx="369324" cy="348749"/>
          </a:xfrm>
          <a:prstGeom prst="rect">
            <a:avLst/>
          </a:prstGeom>
        </p:spPr>
      </p:pic>
      <p:sp>
        <p:nvSpPr>
          <p:cNvPr id="11" name="Text 6"/>
          <p:cNvSpPr/>
          <p:nvPr/>
        </p:nvSpPr>
        <p:spPr>
          <a:xfrm>
            <a:off x="1027432" y="6010820"/>
            <a:ext cx="2883814" cy="592565"/>
          </a:xfrm>
          <a:prstGeom prst="rect">
            <a:avLst/>
          </a:prstGeom>
          <a:noFill/>
          <a:ln/>
        </p:spPr>
        <p:txBody>
          <a:bodyPr wrap="square" lIns="0" tIns="0" rIns="0" bIns="0" rtlCol="0" anchor="t"/>
          <a:lstStyle/>
          <a:p>
            <a:pPr algn="r" indent="0" marL="0">
              <a:lnSpc>
                <a:spcPts val="1350"/>
              </a:lnSpc>
              <a:buNone/>
            </a:pPr>
            <a:r>
              <a:rPr lang="en-US" sz="1050" dirty="0">
                <a:solidFill>
                  <a:srgbClr val="464646"/>
                </a:solidFill>
                <a:latin typeface="Inter Medium" pitchFamily="34" charset="0"/>
                <a:ea typeface="Inter Medium" pitchFamily="34" charset="-122"/>
                <a:cs typeface="Inter Medium" pitchFamily="34" charset="-120"/>
              </a:rPr>
              <a:t>Ideal: massivlarda va hisoblashlarda</a:t>
            </a:r>
            <a:endParaRPr lang="en-US" sz="1050" dirty="0"/>
          </a:p>
        </p:txBody>
      </p:sp>
      <p:pic>
        <p:nvPicPr>
          <p:cNvPr id="12" name="Image 3" descr="preencoded.png">    </p:cNvPr>
          <p:cNvPicPr>
            <a:picLocks noChangeAspect="1"/>
          </p:cNvPicPr>
          <p:nvPr/>
        </p:nvPicPr>
        <p:blipFill>
          <a:blip r:embed="rId4"/>
          <a:stretch>
            <a:fillRect/>
          </a:stretch>
        </p:blipFill>
        <p:spPr>
          <a:xfrm>
            <a:off x="4302791" y="6185091"/>
            <a:ext cx="364797" cy="348749"/>
          </a:xfrm>
          <a:prstGeom prst="rect">
            <a:avLst/>
          </a:prstGeom>
        </p:spPr>
      </p:pic>
      <p:sp>
        <p:nvSpPr>
          <p:cNvPr id="13" name="Text 7"/>
          <p:cNvSpPr/>
          <p:nvPr/>
        </p:nvSpPr>
        <p:spPr>
          <a:xfrm>
            <a:off x="961592" y="2649662"/>
            <a:ext cx="2962822" cy="296282"/>
          </a:xfrm>
          <a:prstGeom prst="rect">
            <a:avLst/>
          </a:prstGeom>
          <a:noFill/>
          <a:ln/>
        </p:spPr>
        <p:txBody>
          <a:bodyPr wrap="none" lIns="0" tIns="0" rIns="0" bIns="0" rtlCol="0" anchor="t"/>
          <a:lstStyle/>
          <a:p>
            <a:pPr algn="r" indent="0" marL="0">
              <a:lnSpc>
                <a:spcPts val="1350"/>
              </a:lnSpc>
              <a:buNone/>
            </a:pPr>
            <a:r>
              <a:rPr lang="en-US" sz="1050" dirty="0">
                <a:solidFill>
                  <a:srgbClr val="464646"/>
                </a:solidFill>
                <a:latin typeface="Inter Medium" pitchFamily="34" charset="0"/>
                <a:ea typeface="Inter Medium" pitchFamily="34" charset="-122"/>
                <a:cs typeface="Inter Medium" pitchFamily="34" charset="-120"/>
              </a:rPr>
              <a:t>For — aniq iteratsiyalar</a:t>
            </a:r>
            <a:endParaRPr lang="en-US" sz="1050" dirty="0"/>
          </a:p>
        </p:txBody>
      </p:sp>
      <p:pic>
        <p:nvPicPr>
          <p:cNvPr id="14" name="Image 4" descr="preencoded.png">    </p:cNvPr>
          <p:cNvPicPr>
            <a:picLocks noChangeAspect="1"/>
          </p:cNvPicPr>
          <p:nvPr/>
        </p:nvPicPr>
        <p:blipFill>
          <a:blip r:embed="rId5"/>
          <a:stretch>
            <a:fillRect/>
          </a:stretch>
        </p:blipFill>
        <p:spPr>
          <a:xfrm>
            <a:off x="4257732" y="2596990"/>
            <a:ext cx="364797" cy="348749"/>
          </a:xfrm>
          <a:prstGeom prst="rect">
            <a:avLst/>
          </a:prstGeom>
        </p:spPr>
      </p:pic>
      <p:sp>
        <p:nvSpPr>
          <p:cNvPr id="15" name="Text 8"/>
          <p:cNvSpPr/>
          <p:nvPr/>
        </p:nvSpPr>
        <p:spPr>
          <a:xfrm>
            <a:off x="522446" y="7609642"/>
            <a:ext cx="2184321" cy="203954"/>
          </a:xfrm>
          <a:prstGeom prst="rect">
            <a:avLst/>
          </a:prstGeom>
          <a:noFill/>
          <a:ln/>
        </p:spPr>
        <p:txBody>
          <a:bodyPr wrap="none" lIns="0" tIns="0" rIns="0" bIns="0" rtlCol="0" anchor="t"/>
          <a:lstStyle/>
          <a:p>
            <a:pPr algn="l" indent="0" marL="0">
              <a:lnSpc>
                <a:spcPts val="1600"/>
              </a:lnSpc>
              <a:buNone/>
            </a:pPr>
            <a:r>
              <a:rPr lang="en-US" sz="1250" dirty="0">
                <a:solidFill>
                  <a:srgbClr val="030303"/>
                </a:solidFill>
                <a:latin typeface="DM Sans Semi Bold" pitchFamily="34" charset="0"/>
                <a:ea typeface="DM Sans Semi Bold" pitchFamily="34" charset="-122"/>
                <a:cs typeface="DM Sans Semi Bold" pitchFamily="34" charset="-120"/>
              </a:rPr>
              <a:t>1. Parametrli Takrorlash (for)</a:t>
            </a:r>
            <a:endParaRPr lang="en-US" sz="1250" dirty="0"/>
          </a:p>
        </p:txBody>
      </p:sp>
      <p:sp>
        <p:nvSpPr>
          <p:cNvPr id="16" name="Text 9"/>
          <p:cNvSpPr/>
          <p:nvPr/>
        </p:nvSpPr>
        <p:spPr>
          <a:xfrm>
            <a:off x="522446" y="7944207"/>
            <a:ext cx="4269700" cy="626864"/>
          </a:xfrm>
          <a:prstGeom prst="rect">
            <a:avLst/>
          </a:prstGeom>
          <a:noFill/>
          <a:ln/>
        </p:spPr>
        <p:txBody>
          <a:bodyPr wrap="square" lIns="0" tIns="0" rIns="0" bIns="0" rtlCol="0" anchor="t"/>
          <a:lstStyle/>
          <a:p>
            <a:pPr algn="l" indent="0" marL="0">
              <a:lnSpc>
                <a:spcPts val="1600"/>
              </a:lnSpc>
              <a:buNone/>
            </a:pPr>
            <a:r>
              <a:rPr lang="en-US" sz="1000" dirty="0">
                <a:solidFill>
                  <a:srgbClr val="464646"/>
                </a:solidFill>
                <a:latin typeface="Inter Medium" pitchFamily="34" charset="0"/>
                <a:ea typeface="Inter Medium" pitchFamily="34" charset="-122"/>
                <a:cs typeface="Inter Medium" pitchFamily="34" charset="-120"/>
              </a:rPr>
              <a:t>Takrorlanishlar soni oldindan ma'lum bo'lganda qo'llaniladi. Masalan, massiv elementlarini aylanib chiqish yoki ma'lum bir diapazondagi sonlarni hisoblash.</a:t>
            </a:r>
            <a:endParaRPr lang="en-US" sz="1000" dirty="0"/>
          </a:p>
        </p:txBody>
      </p:sp>
      <p:sp>
        <p:nvSpPr>
          <p:cNvPr id="17" name="Text 10"/>
          <p:cNvSpPr/>
          <p:nvPr/>
        </p:nvSpPr>
        <p:spPr>
          <a:xfrm>
            <a:off x="5118378" y="7609642"/>
            <a:ext cx="2425303" cy="203954"/>
          </a:xfrm>
          <a:prstGeom prst="rect">
            <a:avLst/>
          </a:prstGeom>
          <a:noFill/>
          <a:ln/>
        </p:spPr>
        <p:txBody>
          <a:bodyPr wrap="none" lIns="0" tIns="0" rIns="0" bIns="0" rtlCol="0" anchor="t"/>
          <a:lstStyle/>
          <a:p>
            <a:pPr algn="l" indent="0" marL="0">
              <a:lnSpc>
                <a:spcPts val="1600"/>
              </a:lnSpc>
              <a:buNone/>
            </a:pPr>
            <a:r>
              <a:rPr lang="en-US" sz="1250" dirty="0">
                <a:solidFill>
                  <a:srgbClr val="030303"/>
                </a:solidFill>
                <a:latin typeface="DM Sans Semi Bold" pitchFamily="34" charset="0"/>
                <a:ea typeface="DM Sans Semi Bold" pitchFamily="34" charset="-122"/>
                <a:cs typeface="DM Sans Semi Bold" pitchFamily="34" charset="-120"/>
              </a:rPr>
              <a:t>2. Old Shartli Takrorlash (while)</a:t>
            </a:r>
            <a:endParaRPr lang="en-US" sz="1250" dirty="0"/>
          </a:p>
        </p:txBody>
      </p:sp>
      <p:sp>
        <p:nvSpPr>
          <p:cNvPr id="18" name="Text 11"/>
          <p:cNvSpPr/>
          <p:nvPr/>
        </p:nvSpPr>
        <p:spPr>
          <a:xfrm>
            <a:off x="5118378" y="7944207"/>
            <a:ext cx="4269700" cy="626864"/>
          </a:xfrm>
          <a:prstGeom prst="rect">
            <a:avLst/>
          </a:prstGeom>
          <a:noFill/>
          <a:ln/>
        </p:spPr>
        <p:txBody>
          <a:bodyPr wrap="square" lIns="0" tIns="0" rIns="0" bIns="0" rtlCol="0" anchor="t"/>
          <a:lstStyle/>
          <a:p>
            <a:pPr algn="l" indent="0" marL="0">
              <a:lnSpc>
                <a:spcPts val="1600"/>
              </a:lnSpc>
              <a:buNone/>
            </a:pPr>
            <a:r>
              <a:rPr lang="en-US" sz="1000" dirty="0">
                <a:solidFill>
                  <a:srgbClr val="464646"/>
                </a:solidFill>
                <a:latin typeface="Inter Medium" pitchFamily="34" charset="0"/>
                <a:ea typeface="Inter Medium" pitchFamily="34" charset="-122"/>
                <a:cs typeface="Inter Medium" pitchFamily="34" charset="-120"/>
              </a:rPr>
              <a:t>Takrorlanishlar soni oldindan noma'lum bo'lganda, lekin shart bajarilguncha davom etishi kerak bo'lganda ishlatiladi. Shart sikl boshida tekshiriladi.</a:t>
            </a:r>
            <a:endParaRPr lang="en-US" sz="1000" dirty="0"/>
          </a:p>
        </p:txBody>
      </p:sp>
      <p:sp>
        <p:nvSpPr>
          <p:cNvPr id="19" name="Text 12"/>
          <p:cNvSpPr/>
          <p:nvPr/>
        </p:nvSpPr>
        <p:spPr>
          <a:xfrm>
            <a:off x="9714309" y="7609642"/>
            <a:ext cx="2855714" cy="203954"/>
          </a:xfrm>
          <a:prstGeom prst="rect">
            <a:avLst/>
          </a:prstGeom>
          <a:noFill/>
          <a:ln/>
        </p:spPr>
        <p:txBody>
          <a:bodyPr wrap="none" lIns="0" tIns="0" rIns="0" bIns="0" rtlCol="0" anchor="t"/>
          <a:lstStyle/>
          <a:p>
            <a:pPr algn="l" indent="0" marL="0">
              <a:lnSpc>
                <a:spcPts val="1600"/>
              </a:lnSpc>
              <a:buNone/>
            </a:pPr>
            <a:r>
              <a:rPr lang="en-US" sz="1250" dirty="0">
                <a:solidFill>
                  <a:srgbClr val="030303"/>
                </a:solidFill>
                <a:latin typeface="DM Sans Semi Bold" pitchFamily="34" charset="0"/>
                <a:ea typeface="DM Sans Semi Bold" pitchFamily="34" charset="-122"/>
                <a:cs typeface="DM Sans Semi Bold" pitchFamily="34" charset="-120"/>
              </a:rPr>
              <a:t>3. So'ng Shartli Takrorlash (do-while)</a:t>
            </a:r>
            <a:endParaRPr lang="en-US" sz="1250" dirty="0"/>
          </a:p>
        </p:txBody>
      </p:sp>
      <p:sp>
        <p:nvSpPr>
          <p:cNvPr id="20" name="Text 13"/>
          <p:cNvSpPr/>
          <p:nvPr/>
        </p:nvSpPr>
        <p:spPr>
          <a:xfrm>
            <a:off x="9714309" y="7944207"/>
            <a:ext cx="4408765" cy="417909"/>
          </a:xfrm>
          <a:prstGeom prst="rect">
            <a:avLst/>
          </a:prstGeom>
          <a:noFill/>
          <a:ln/>
        </p:spPr>
        <p:txBody>
          <a:bodyPr wrap="square" lIns="0" tIns="0" rIns="0" bIns="0" rtlCol="0" anchor="t"/>
          <a:lstStyle/>
          <a:p>
            <a:pPr algn="l" indent="0" marL="0">
              <a:lnSpc>
                <a:spcPts val="1600"/>
              </a:lnSpc>
              <a:buNone/>
            </a:pPr>
            <a:r>
              <a:rPr lang="en-US" sz="1000" dirty="0">
                <a:solidFill>
                  <a:srgbClr val="464646"/>
                </a:solidFill>
                <a:latin typeface="Inter Medium" pitchFamily="34" charset="0"/>
                <a:ea typeface="Inter Medium" pitchFamily="34" charset="-122"/>
                <a:cs typeface="Inter Medium" pitchFamily="34" charset="-120"/>
              </a:rPr>
              <a:t>Kamida bir marta bajarilishi shart bo'lgan sikllar uchun. Shart sikl oxirida tekshiriladi, shuning uchun tanasi har doim bir marta bajariladi.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58770"/>
          </a:xfrm>
          <a:prstGeom prst="rect">
            <a:avLst/>
          </a:prstGeom>
        </p:spPr>
      </p:pic>
      <p:sp>
        <p:nvSpPr>
          <p:cNvPr id="3" name="Text 0"/>
          <p:cNvSpPr/>
          <p:nvPr/>
        </p:nvSpPr>
        <p:spPr>
          <a:xfrm>
            <a:off x="6170771" y="470416"/>
            <a:ext cx="7775258" cy="1069419"/>
          </a:xfrm>
          <a:prstGeom prst="rect">
            <a:avLst/>
          </a:prstGeom>
          <a:noFill/>
          <a:ln/>
        </p:spPr>
        <p:txBody>
          <a:bodyPr wrap="square" lIns="0" tIns="0" rIns="0" bIns="0" rtlCol="0" anchor="t"/>
          <a:lstStyle/>
          <a:p>
            <a:pPr algn="l" indent="0" marL="0">
              <a:lnSpc>
                <a:spcPts val="4200"/>
              </a:lnSpc>
              <a:buNone/>
            </a:pPr>
            <a:r>
              <a:rPr lang="en-US" sz="3350" dirty="0">
                <a:solidFill>
                  <a:srgbClr val="030303"/>
                </a:solidFill>
                <a:latin typeface="DM Sans Semi Bold" pitchFamily="34" charset="0"/>
                <a:ea typeface="DM Sans Semi Bold" pitchFamily="34" charset="-122"/>
                <a:cs typeface="DM Sans Semi Bold" pitchFamily="34" charset="-120"/>
              </a:rPr>
              <a:t>Parametrli Takrorlash Operatorlari (for)</a:t>
            </a:r>
            <a:endParaRPr lang="en-US" sz="3350" dirty="0"/>
          </a:p>
        </p:txBody>
      </p:sp>
      <p:sp>
        <p:nvSpPr>
          <p:cNvPr id="4" name="Text 1"/>
          <p:cNvSpPr/>
          <p:nvPr/>
        </p:nvSpPr>
        <p:spPr>
          <a:xfrm>
            <a:off x="6170771" y="1796415"/>
            <a:ext cx="7775258" cy="844034"/>
          </a:xfrm>
          <a:prstGeom prst="rect">
            <a:avLst/>
          </a:prstGeom>
          <a:noFill/>
          <a:ln/>
        </p:spPr>
        <p:txBody>
          <a:bodyPr wrap="square" lIns="0" tIns="0" rIns="0" bIns="0" rtlCol="0" anchor="t"/>
          <a:lstStyle/>
          <a:p>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Parametrli takrorlash operatori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for</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 dasturlashda eng ko'p ishlatiladigan sikl turidir. U ma'lum bir sonli takrorlanishlarni boshqarish uchun idealdir. Uning tuzilishi uchta asosiy qismdan iborat:</a:t>
            </a:r>
            <a:endParaRPr lang="en-US" sz="1300" dirty="0"/>
          </a:p>
        </p:txBody>
      </p:sp>
      <p:sp>
        <p:nvSpPr>
          <p:cNvPr id="5" name="Shape 2"/>
          <p:cNvSpPr/>
          <p:nvPr/>
        </p:nvSpPr>
        <p:spPr>
          <a:xfrm>
            <a:off x="6170771" y="3089434"/>
            <a:ext cx="3802023" cy="1835587"/>
          </a:xfrm>
          <a:prstGeom prst="roundRect">
            <a:avLst>
              <a:gd name="adj" fmla="val 5978"/>
            </a:avLst>
          </a:prstGeom>
          <a:solidFill>
            <a:srgbClr val="FFFFFF"/>
          </a:solidFill>
          <a:ln/>
        </p:spPr>
      </p:sp>
      <p:sp>
        <p:nvSpPr>
          <p:cNvPr id="6" name="Shape 3"/>
          <p:cNvSpPr/>
          <p:nvPr/>
        </p:nvSpPr>
        <p:spPr>
          <a:xfrm>
            <a:off x="6170771" y="3066574"/>
            <a:ext cx="3802023" cy="91440"/>
          </a:xfrm>
          <a:prstGeom prst="roundRect">
            <a:avLst>
              <a:gd name="adj" fmla="val 28067"/>
            </a:avLst>
          </a:prstGeom>
          <a:solidFill>
            <a:srgbClr val="1C9770"/>
          </a:solidFill>
          <a:ln/>
        </p:spPr>
      </p:sp>
      <p:sp>
        <p:nvSpPr>
          <p:cNvPr id="7" name="Shape 4"/>
          <p:cNvSpPr/>
          <p:nvPr/>
        </p:nvSpPr>
        <p:spPr>
          <a:xfrm>
            <a:off x="7815084" y="2832854"/>
            <a:ext cx="513278" cy="513278"/>
          </a:xfrm>
          <a:prstGeom prst="roundRect">
            <a:avLst>
              <a:gd name="adj" fmla="val 178149"/>
            </a:avLst>
          </a:prstGeom>
          <a:solidFill>
            <a:srgbClr val="1C9770"/>
          </a:solidFill>
          <a:ln/>
        </p:spPr>
      </p:sp>
      <p:pic>
        <p:nvPicPr>
          <p:cNvPr id="8" name="Image 1" descr="preencoded.png">    </p:cNvPr>
          <p:cNvPicPr>
            <a:picLocks noChangeAspect="1"/>
          </p:cNvPicPr>
          <p:nvPr/>
        </p:nvPicPr>
        <p:blipFill>
          <a:blip r:embed="rId2"/>
          <a:stretch>
            <a:fillRect/>
          </a:stretch>
        </p:blipFill>
        <p:spPr>
          <a:xfrm>
            <a:off x="7969032" y="2961203"/>
            <a:ext cx="205264" cy="256580"/>
          </a:xfrm>
          <a:prstGeom prst="rect">
            <a:avLst/>
          </a:prstGeom>
        </p:spPr>
      </p:pic>
      <p:sp>
        <p:nvSpPr>
          <p:cNvPr id="9" name="Text 5"/>
          <p:cNvSpPr/>
          <p:nvPr/>
        </p:nvSpPr>
        <p:spPr>
          <a:xfrm>
            <a:off x="6364724" y="3517106"/>
            <a:ext cx="2138601" cy="267295"/>
          </a:xfrm>
          <a:prstGeom prst="rect">
            <a:avLst/>
          </a:prstGeom>
          <a:noFill/>
          <a:ln/>
        </p:spPr>
        <p:txBody>
          <a:bodyPr wrap="none" lIns="0" tIns="0" rIns="0" bIns="0" rtlCol="0" anchor="t"/>
          <a:lstStyle/>
          <a:p>
            <a:pPr algn="l" indent="0" marL="0">
              <a:lnSpc>
                <a:spcPts val="2100"/>
              </a:lnSpc>
              <a:buNone/>
            </a:pPr>
            <a:r>
              <a:rPr lang="en-US" sz="1650" dirty="0">
                <a:solidFill>
                  <a:srgbClr val="464646"/>
                </a:solidFill>
                <a:latin typeface="DM Sans Semi Bold" pitchFamily="34" charset="0"/>
                <a:ea typeface="DM Sans Semi Bold" pitchFamily="34" charset="-122"/>
                <a:cs typeface="DM Sans Semi Bold" pitchFamily="34" charset="-120"/>
              </a:rPr>
              <a:t>Boshlang'ich Qiymat</a:t>
            </a:r>
            <a:endParaRPr lang="en-US" sz="1650" dirty="0"/>
          </a:p>
        </p:txBody>
      </p:sp>
      <p:sp>
        <p:nvSpPr>
          <p:cNvPr id="10" name="Text 6"/>
          <p:cNvSpPr/>
          <p:nvPr/>
        </p:nvSpPr>
        <p:spPr>
          <a:xfrm>
            <a:off x="6364724" y="3887033"/>
            <a:ext cx="3414117" cy="570309"/>
          </a:xfrm>
          <a:prstGeom prst="rect">
            <a:avLst/>
          </a:prstGeom>
          <a:noFill/>
          <a:ln/>
        </p:spPr>
        <p:txBody>
          <a:bodyPr wrap="square" lIns="0" tIns="0" rIns="0" bIns="0" rtlCol="0" anchor="t"/>
          <a:lstStyle/>
          <a:p>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Sikl o'zgaruvchisiga boshlang'ich qiymat berish (masalan,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i = 0</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11" name="Shape 7"/>
          <p:cNvSpPr/>
          <p:nvPr/>
        </p:nvSpPr>
        <p:spPr>
          <a:xfrm>
            <a:off x="10143887" y="3089434"/>
            <a:ext cx="3802142" cy="1835587"/>
          </a:xfrm>
          <a:prstGeom prst="roundRect">
            <a:avLst>
              <a:gd name="adj" fmla="val 5978"/>
            </a:avLst>
          </a:prstGeom>
          <a:solidFill>
            <a:srgbClr val="FFFFFF"/>
          </a:solidFill>
          <a:ln/>
        </p:spPr>
      </p:sp>
      <p:sp>
        <p:nvSpPr>
          <p:cNvPr id="12" name="Shape 8"/>
          <p:cNvSpPr/>
          <p:nvPr/>
        </p:nvSpPr>
        <p:spPr>
          <a:xfrm>
            <a:off x="10143887" y="3066574"/>
            <a:ext cx="3802142" cy="91440"/>
          </a:xfrm>
          <a:prstGeom prst="roundRect">
            <a:avLst>
              <a:gd name="adj" fmla="val 28067"/>
            </a:avLst>
          </a:prstGeom>
          <a:solidFill>
            <a:srgbClr val="1C9770"/>
          </a:solidFill>
          <a:ln/>
        </p:spPr>
      </p:sp>
      <p:sp>
        <p:nvSpPr>
          <p:cNvPr id="13" name="Shape 9"/>
          <p:cNvSpPr/>
          <p:nvPr/>
        </p:nvSpPr>
        <p:spPr>
          <a:xfrm>
            <a:off x="11788319" y="2832854"/>
            <a:ext cx="513278" cy="513278"/>
          </a:xfrm>
          <a:prstGeom prst="roundRect">
            <a:avLst>
              <a:gd name="adj" fmla="val 178149"/>
            </a:avLst>
          </a:prstGeom>
          <a:solidFill>
            <a:srgbClr val="1C9770"/>
          </a:solidFill>
          <a:ln/>
        </p:spPr>
      </p:sp>
      <p:pic>
        <p:nvPicPr>
          <p:cNvPr id="14" name="Image 2" descr="preencoded.png">    </p:cNvPr>
          <p:cNvPicPr>
            <a:picLocks noChangeAspect="1"/>
          </p:cNvPicPr>
          <p:nvPr/>
        </p:nvPicPr>
        <p:blipFill>
          <a:blip r:embed="rId3"/>
          <a:stretch>
            <a:fillRect/>
          </a:stretch>
        </p:blipFill>
        <p:spPr>
          <a:xfrm>
            <a:off x="11942266" y="2961203"/>
            <a:ext cx="205264" cy="256580"/>
          </a:xfrm>
          <a:prstGeom prst="rect">
            <a:avLst/>
          </a:prstGeom>
        </p:spPr>
      </p:pic>
      <p:sp>
        <p:nvSpPr>
          <p:cNvPr id="15" name="Text 10"/>
          <p:cNvSpPr/>
          <p:nvPr/>
        </p:nvSpPr>
        <p:spPr>
          <a:xfrm>
            <a:off x="10337840" y="3517106"/>
            <a:ext cx="2138601" cy="267295"/>
          </a:xfrm>
          <a:prstGeom prst="rect">
            <a:avLst/>
          </a:prstGeom>
          <a:noFill/>
          <a:ln/>
        </p:spPr>
        <p:txBody>
          <a:bodyPr wrap="none" lIns="0" tIns="0" rIns="0" bIns="0" rtlCol="0" anchor="t"/>
          <a:lstStyle/>
          <a:p>
            <a:pPr algn="l" indent="0" marL="0">
              <a:lnSpc>
                <a:spcPts val="2100"/>
              </a:lnSpc>
              <a:buNone/>
            </a:pPr>
            <a:r>
              <a:rPr lang="en-US" sz="1650" dirty="0">
                <a:solidFill>
                  <a:srgbClr val="464646"/>
                </a:solidFill>
                <a:latin typeface="DM Sans Semi Bold" pitchFamily="34" charset="0"/>
                <a:ea typeface="DM Sans Semi Bold" pitchFamily="34" charset="-122"/>
                <a:cs typeface="DM Sans Semi Bold" pitchFamily="34" charset="-120"/>
              </a:rPr>
              <a:t>Shartni Tekshirish</a:t>
            </a:r>
            <a:endParaRPr lang="en-US" sz="1650" dirty="0"/>
          </a:p>
        </p:txBody>
      </p:sp>
      <p:sp>
        <p:nvSpPr>
          <p:cNvPr id="16" name="Text 11"/>
          <p:cNvSpPr/>
          <p:nvPr/>
        </p:nvSpPr>
        <p:spPr>
          <a:xfrm>
            <a:off x="10337840" y="3887033"/>
            <a:ext cx="3414236" cy="844034"/>
          </a:xfrm>
          <a:prstGeom prst="rect">
            <a:avLst/>
          </a:prstGeom>
          <a:noFill/>
          <a:ln/>
        </p:spPr>
        <p:txBody>
          <a:bodyPr wrap="square" lIns="0" tIns="0" rIns="0" bIns="0" rtlCol="0" anchor="t"/>
          <a:lstStyle/>
          <a:p>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Siklning davom etishi uchun shart (masalan,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i &lt; 10</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 Agar shart rost bo'lsa, sikl tanasi bajariladi.</a:t>
            </a:r>
            <a:endParaRPr lang="en-US" sz="1300" dirty="0"/>
          </a:p>
        </p:txBody>
      </p:sp>
      <p:sp>
        <p:nvSpPr>
          <p:cNvPr id="17" name="Shape 12"/>
          <p:cNvSpPr/>
          <p:nvPr/>
        </p:nvSpPr>
        <p:spPr>
          <a:xfrm>
            <a:off x="6170771" y="5352693"/>
            <a:ext cx="7775258" cy="1288137"/>
          </a:xfrm>
          <a:prstGeom prst="roundRect">
            <a:avLst>
              <a:gd name="adj" fmla="val 8518"/>
            </a:avLst>
          </a:prstGeom>
          <a:solidFill>
            <a:srgbClr val="FFFFFF"/>
          </a:solidFill>
          <a:ln/>
        </p:spPr>
      </p:sp>
      <p:sp>
        <p:nvSpPr>
          <p:cNvPr id="18" name="Shape 13"/>
          <p:cNvSpPr/>
          <p:nvPr/>
        </p:nvSpPr>
        <p:spPr>
          <a:xfrm>
            <a:off x="6170771" y="5329833"/>
            <a:ext cx="7775258" cy="91440"/>
          </a:xfrm>
          <a:prstGeom prst="roundRect">
            <a:avLst>
              <a:gd name="adj" fmla="val 28067"/>
            </a:avLst>
          </a:prstGeom>
          <a:solidFill>
            <a:srgbClr val="1C9770"/>
          </a:solidFill>
          <a:ln/>
        </p:spPr>
      </p:sp>
      <p:sp>
        <p:nvSpPr>
          <p:cNvPr id="19" name="Shape 14"/>
          <p:cNvSpPr/>
          <p:nvPr/>
        </p:nvSpPr>
        <p:spPr>
          <a:xfrm>
            <a:off x="9801761" y="5096113"/>
            <a:ext cx="513278" cy="513278"/>
          </a:xfrm>
          <a:prstGeom prst="roundRect">
            <a:avLst>
              <a:gd name="adj" fmla="val 178149"/>
            </a:avLst>
          </a:prstGeom>
          <a:solidFill>
            <a:srgbClr val="1C9770"/>
          </a:solidFill>
          <a:ln/>
        </p:spPr>
      </p:sp>
      <p:pic>
        <p:nvPicPr>
          <p:cNvPr id="20" name="Image 3" descr="preencoded.png">    </p:cNvPr>
          <p:cNvPicPr>
            <a:picLocks noChangeAspect="1"/>
          </p:cNvPicPr>
          <p:nvPr/>
        </p:nvPicPr>
        <p:blipFill>
          <a:blip r:embed="rId4"/>
          <a:stretch>
            <a:fillRect/>
          </a:stretch>
        </p:blipFill>
        <p:spPr>
          <a:xfrm>
            <a:off x="9955709" y="5224463"/>
            <a:ext cx="205264" cy="256580"/>
          </a:xfrm>
          <a:prstGeom prst="rect">
            <a:avLst/>
          </a:prstGeom>
        </p:spPr>
      </p:pic>
      <p:sp>
        <p:nvSpPr>
          <p:cNvPr id="21" name="Text 15"/>
          <p:cNvSpPr/>
          <p:nvPr/>
        </p:nvSpPr>
        <p:spPr>
          <a:xfrm>
            <a:off x="6364724" y="5780365"/>
            <a:ext cx="2138601" cy="267295"/>
          </a:xfrm>
          <a:prstGeom prst="rect">
            <a:avLst/>
          </a:prstGeom>
          <a:noFill/>
          <a:ln/>
        </p:spPr>
        <p:txBody>
          <a:bodyPr wrap="none" lIns="0" tIns="0" rIns="0" bIns="0" rtlCol="0" anchor="t"/>
          <a:lstStyle/>
          <a:p>
            <a:pPr algn="l" indent="0" marL="0">
              <a:lnSpc>
                <a:spcPts val="2100"/>
              </a:lnSpc>
              <a:buNone/>
            </a:pPr>
            <a:r>
              <a:rPr lang="en-US" sz="1650" dirty="0">
                <a:solidFill>
                  <a:srgbClr val="464646"/>
                </a:solidFill>
                <a:latin typeface="DM Sans Semi Bold" pitchFamily="34" charset="0"/>
                <a:ea typeface="DM Sans Semi Bold" pitchFamily="34" charset="-122"/>
                <a:cs typeface="DM Sans Semi Bold" pitchFamily="34" charset="-120"/>
              </a:rPr>
              <a:t>O'zgartirish Amali</a:t>
            </a:r>
            <a:endParaRPr lang="en-US" sz="1650" dirty="0"/>
          </a:p>
        </p:txBody>
      </p:sp>
      <p:sp>
        <p:nvSpPr>
          <p:cNvPr id="22" name="Text 16"/>
          <p:cNvSpPr/>
          <p:nvPr/>
        </p:nvSpPr>
        <p:spPr>
          <a:xfrm>
            <a:off x="6364724" y="6150293"/>
            <a:ext cx="7387352" cy="296585"/>
          </a:xfrm>
          <a:prstGeom prst="rect">
            <a:avLst/>
          </a:prstGeom>
          <a:noFill/>
          <a:ln/>
        </p:spPr>
        <p:txBody>
          <a:bodyPr wrap="none" lIns="0" tIns="0" rIns="0" bIns="0" rtlCol="0" anchor="t"/>
          <a:lstStyle/>
          <a:p>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Har bir takrorlanishdan so'ng sikl o'zgaruvchisini o'zgartirish (masalan,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i++</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 yoki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i--</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23" name="Text 17"/>
          <p:cNvSpPr/>
          <p:nvPr/>
        </p:nvSpPr>
        <p:spPr>
          <a:xfrm>
            <a:off x="6427351" y="7025640"/>
            <a:ext cx="7518678" cy="570309"/>
          </a:xfrm>
          <a:prstGeom prst="rect">
            <a:avLst/>
          </a:prstGeom>
          <a:noFill/>
          <a:ln/>
        </p:spPr>
        <p:txBody>
          <a:bodyPr wrap="square" lIns="0" tIns="0" rIns="0" bIns="0" rtlCol="0" anchor="t"/>
          <a:lstStyle/>
          <a:p>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Masalan, 1 dan 10 gacha bo'lgan sonlarni chiqarish yoki massivning barcha elementlarini qayta ishlash uchun </a:t>
            </a:r>
            <a:pPr algn="l" indent="0" marL="0">
              <a:lnSpc>
                <a:spcPts val="215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for</a:t>
            </a:r>
            <a:pPr algn="l" indent="0" marL="0">
              <a:lnSpc>
                <a:spcPts val="2150"/>
              </a:lnSpc>
              <a:buNone/>
            </a:pPr>
            <a:r>
              <a:rPr lang="en-US" sz="1300" dirty="0">
                <a:solidFill>
                  <a:srgbClr val="464646"/>
                </a:solidFill>
                <a:latin typeface="Inter Medium" pitchFamily="34" charset="0"/>
                <a:ea typeface="Inter Medium" pitchFamily="34" charset="-122"/>
                <a:cs typeface="Inter Medium" pitchFamily="34" charset="-120"/>
              </a:rPr>
              <a:t> sikli eng qulay yechim hisoblanadi.</a:t>
            </a:r>
            <a:endParaRPr lang="en-US" sz="1300" dirty="0"/>
          </a:p>
        </p:txBody>
      </p:sp>
      <p:sp>
        <p:nvSpPr>
          <p:cNvPr id="24" name="Shape 18"/>
          <p:cNvSpPr/>
          <p:nvPr/>
        </p:nvSpPr>
        <p:spPr>
          <a:xfrm>
            <a:off x="6170771" y="6833235"/>
            <a:ext cx="22860" cy="955119"/>
          </a:xfrm>
          <a:prstGeom prst="rect">
            <a:avLst/>
          </a:prstGeom>
          <a:solidFill>
            <a:srgbClr val="1C977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37235" y="656630"/>
            <a:ext cx="7669530" cy="1151811"/>
          </a:xfrm>
          <a:prstGeom prst="rect">
            <a:avLst/>
          </a:prstGeom>
          <a:noFill/>
          <a:ln/>
        </p:spPr>
        <p:txBody>
          <a:bodyPr wrap="square" lIns="0" tIns="0" rIns="0" bIns="0" rtlCol="0" anchor="t"/>
          <a:lstStyle/>
          <a:p>
            <a:pPr algn="l" indent="0" marL="0">
              <a:lnSpc>
                <a:spcPts val="4500"/>
              </a:lnSpc>
              <a:buNone/>
            </a:pPr>
            <a:r>
              <a:rPr lang="en-US" sz="3600" dirty="0">
                <a:solidFill>
                  <a:srgbClr val="030303"/>
                </a:solidFill>
                <a:latin typeface="DM Sans Semi Bold" pitchFamily="34" charset="0"/>
                <a:ea typeface="DM Sans Semi Bold" pitchFamily="34" charset="-122"/>
                <a:cs typeface="DM Sans Semi Bold" pitchFamily="34" charset="-120"/>
              </a:rPr>
              <a:t>for Siklining Afzalliklari va Qo'llanilishi</a:t>
            </a:r>
            <a:endParaRPr lang="en-US" sz="3600" dirty="0"/>
          </a:p>
        </p:txBody>
      </p:sp>
      <p:sp>
        <p:nvSpPr>
          <p:cNvPr id="4" name="Text 1"/>
          <p:cNvSpPr/>
          <p:nvPr/>
        </p:nvSpPr>
        <p:spPr>
          <a:xfrm>
            <a:off x="737235" y="2084903"/>
            <a:ext cx="7669530" cy="899636"/>
          </a:xfrm>
          <a:prstGeom prst="rect">
            <a:avLst/>
          </a:prstGeom>
          <a:noFill/>
          <a:ln/>
        </p:spPr>
        <p:txBody>
          <a:bodyPr wrap="square" lIns="0" tIns="0" rIns="0" bIns="0" rtlCol="0" anchor="t"/>
          <a:lstStyle/>
          <a:p>
            <a:pPr algn="l" indent="0" marL="0">
              <a:lnSpc>
                <a:spcPts val="2300"/>
              </a:lnSpc>
              <a:buNone/>
            </a:pPr>
            <a:r>
              <a:rPr lang="en-US" sz="1450" dirty="0">
                <a:solidFill>
                  <a:srgbClr val="464646"/>
                </a:solidFill>
                <a:highlight>
                  <a:srgbClr val="F2F2F2"/>
                </a:highlight>
                <a:latin typeface="Consolas" pitchFamily="34" charset="0"/>
                <a:ea typeface="Consolas" pitchFamily="34" charset="-122"/>
                <a:cs typeface="Consolas" pitchFamily="34" charset="-120"/>
              </a:rPr>
              <a:t>for</a:t>
            </a:r>
            <a:pPr algn="l" indent="0" marL="0">
              <a:lnSpc>
                <a:spcPts val="2300"/>
              </a:lnSpc>
              <a:buNone/>
            </a:pPr>
            <a:r>
              <a:rPr lang="en-US" sz="1450" dirty="0">
                <a:solidFill>
                  <a:srgbClr val="464646"/>
                </a:solidFill>
                <a:latin typeface="Inter Medium" pitchFamily="34" charset="0"/>
                <a:ea typeface="Inter Medium" pitchFamily="34" charset="-122"/>
                <a:cs typeface="Inter Medium" pitchFamily="34" charset="-120"/>
              </a:rPr>
              <a:t> sikli aniq va ixcham sintaksisi tufayli juda mashhur. Uning asosiy afzalligi shundaki, siklning barcha boshqaruv elementlari (boshlash, shart, o'zgartirish) bir qatorda joylashgan bo'lib, bu kodni o'qishni va xatolarni topishni osonlashtiradi.</a:t>
            </a:r>
            <a:endParaRPr lang="en-US" sz="1450" dirty="0"/>
          </a:p>
        </p:txBody>
      </p:sp>
      <p:sp>
        <p:nvSpPr>
          <p:cNvPr id="5" name="Text 2"/>
          <p:cNvSpPr/>
          <p:nvPr/>
        </p:nvSpPr>
        <p:spPr>
          <a:xfrm>
            <a:off x="737235" y="3376136"/>
            <a:ext cx="2764631" cy="345519"/>
          </a:xfrm>
          <a:prstGeom prst="rect">
            <a:avLst/>
          </a:prstGeom>
          <a:noFill/>
          <a:ln/>
        </p:spPr>
        <p:txBody>
          <a:bodyPr wrap="none" lIns="0" tIns="0" rIns="0" bIns="0" rtlCol="0" anchor="t"/>
          <a:lstStyle/>
          <a:p>
            <a:pPr algn="l" indent="0" marL="0">
              <a:lnSpc>
                <a:spcPts val="2700"/>
              </a:lnSpc>
              <a:buNone/>
            </a:pPr>
            <a:r>
              <a:rPr lang="en-US" sz="2150" dirty="0">
                <a:solidFill>
                  <a:srgbClr val="030303"/>
                </a:solidFill>
                <a:latin typeface="DM Sans Semi Bold" pitchFamily="34" charset="0"/>
                <a:ea typeface="DM Sans Semi Bold" pitchFamily="34" charset="-122"/>
                <a:cs typeface="DM Sans Semi Bold" pitchFamily="34" charset="-120"/>
              </a:rPr>
              <a:t>Asosiy Afzalliklar</a:t>
            </a:r>
            <a:endParaRPr lang="en-US" sz="2150" dirty="0"/>
          </a:p>
        </p:txBody>
      </p:sp>
      <p:sp>
        <p:nvSpPr>
          <p:cNvPr id="6" name="Text 3"/>
          <p:cNvSpPr/>
          <p:nvPr/>
        </p:nvSpPr>
        <p:spPr>
          <a:xfrm>
            <a:off x="737235" y="3905964"/>
            <a:ext cx="3609975"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464646"/>
                </a:solidFill>
                <a:latin typeface="Inter Medium" pitchFamily="34" charset="0"/>
                <a:ea typeface="Inter Medium" pitchFamily="34" charset="-122"/>
                <a:cs typeface="Inter Medium" pitchFamily="34" charset="-120"/>
              </a:rPr>
              <a:t>Aniqlik: Takrorlanishlar soni aniq belgilangan.</a:t>
            </a:r>
            <a:endParaRPr lang="en-US" sz="1450" dirty="0"/>
          </a:p>
        </p:txBody>
      </p:sp>
      <p:sp>
        <p:nvSpPr>
          <p:cNvPr id="7" name="Text 4"/>
          <p:cNvSpPr/>
          <p:nvPr/>
        </p:nvSpPr>
        <p:spPr>
          <a:xfrm>
            <a:off x="737235" y="4559975"/>
            <a:ext cx="3609975"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464646"/>
                </a:solidFill>
                <a:latin typeface="Inter Medium" pitchFamily="34" charset="0"/>
                <a:ea typeface="Inter Medium" pitchFamily="34" charset="-122"/>
                <a:cs typeface="Inter Medium" pitchFamily="34" charset="-120"/>
              </a:rPr>
              <a:t>Ixchamlik: Sikl boshqaruvini bir joyda jamlaydi.</a:t>
            </a:r>
            <a:endParaRPr lang="en-US" sz="1450" dirty="0"/>
          </a:p>
        </p:txBody>
      </p:sp>
      <p:sp>
        <p:nvSpPr>
          <p:cNvPr id="8" name="Text 5"/>
          <p:cNvSpPr/>
          <p:nvPr/>
        </p:nvSpPr>
        <p:spPr>
          <a:xfrm>
            <a:off x="737235" y="5213985"/>
            <a:ext cx="3609975" cy="884396"/>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464646"/>
                </a:solidFill>
                <a:latin typeface="Inter Medium" pitchFamily="34" charset="0"/>
                <a:ea typeface="Inter Medium" pitchFamily="34" charset="-122"/>
                <a:cs typeface="Inter Medium" pitchFamily="34" charset="-120"/>
              </a:rPr>
              <a:t>Massivlar: Massivlar va ro'yxatlar ustida iteratsiya qilish uchun eng mos keladi.</a:t>
            </a:r>
            <a:endParaRPr lang="en-US" sz="1450" dirty="0"/>
          </a:p>
        </p:txBody>
      </p:sp>
      <p:sp>
        <p:nvSpPr>
          <p:cNvPr id="9" name="Text 6"/>
          <p:cNvSpPr/>
          <p:nvPr/>
        </p:nvSpPr>
        <p:spPr>
          <a:xfrm>
            <a:off x="737235" y="6162794"/>
            <a:ext cx="3609975" cy="884396"/>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464646"/>
                </a:solidFill>
                <a:latin typeface="Inter Medium" pitchFamily="34" charset="0"/>
                <a:ea typeface="Inter Medium" pitchFamily="34" charset="-122"/>
                <a:cs typeface="Inter Medium" pitchFamily="34" charset="-120"/>
              </a:rPr>
              <a:t>Qadam: O'zgaruvchini istalgan qadam bilan (masalan, 2 ga oshirish) o'zgartirish mumkin.</a:t>
            </a:r>
            <a:endParaRPr lang="en-US" sz="1450" dirty="0"/>
          </a:p>
        </p:txBody>
      </p:sp>
      <p:sp>
        <p:nvSpPr>
          <p:cNvPr id="10" name="Text 7"/>
          <p:cNvSpPr/>
          <p:nvPr/>
        </p:nvSpPr>
        <p:spPr>
          <a:xfrm>
            <a:off x="4804410" y="3376136"/>
            <a:ext cx="2764631" cy="345519"/>
          </a:xfrm>
          <a:prstGeom prst="rect">
            <a:avLst/>
          </a:prstGeom>
          <a:noFill/>
          <a:ln/>
        </p:spPr>
        <p:txBody>
          <a:bodyPr wrap="none" lIns="0" tIns="0" rIns="0" bIns="0" rtlCol="0" anchor="t"/>
          <a:lstStyle/>
          <a:p>
            <a:pPr algn="l" indent="0" marL="0">
              <a:lnSpc>
                <a:spcPts val="2700"/>
              </a:lnSpc>
              <a:buNone/>
            </a:pPr>
            <a:r>
              <a:rPr lang="en-US" sz="2150" dirty="0">
                <a:solidFill>
                  <a:srgbClr val="030303"/>
                </a:solidFill>
                <a:latin typeface="DM Sans Semi Bold" pitchFamily="34" charset="0"/>
                <a:ea typeface="DM Sans Semi Bold" pitchFamily="34" charset="-122"/>
                <a:cs typeface="DM Sans Semi Bold" pitchFamily="34" charset="-120"/>
              </a:rPr>
              <a:t>Qo'llanish Misollari</a:t>
            </a:r>
            <a:endParaRPr lang="en-US" sz="2150" dirty="0"/>
          </a:p>
        </p:txBody>
      </p:sp>
      <p:pic>
        <p:nvPicPr>
          <p:cNvPr id="11" name="Image 1" descr="preencoded.png">    </p:cNvPr>
          <p:cNvPicPr>
            <a:picLocks noChangeAspect="1"/>
          </p:cNvPicPr>
          <p:nvPr/>
        </p:nvPicPr>
        <p:blipFill>
          <a:blip r:embed="rId2"/>
          <a:stretch>
            <a:fillRect/>
          </a:stretch>
        </p:blipFill>
        <p:spPr>
          <a:xfrm>
            <a:off x="4873466" y="3903524"/>
            <a:ext cx="276463" cy="345519"/>
          </a:xfrm>
          <a:prstGeom prst="rect">
            <a:avLst/>
          </a:prstGeom>
        </p:spPr>
      </p:pic>
      <p:sp>
        <p:nvSpPr>
          <p:cNvPr id="12" name="Text 8"/>
          <p:cNvSpPr/>
          <p:nvPr/>
        </p:nvSpPr>
        <p:spPr>
          <a:xfrm>
            <a:off x="5403413" y="3928943"/>
            <a:ext cx="3010972" cy="294799"/>
          </a:xfrm>
          <a:prstGeom prst="rect">
            <a:avLst/>
          </a:prstGeom>
          <a:noFill/>
          <a:ln/>
        </p:spPr>
        <p:txBody>
          <a:bodyPr wrap="none" lIns="0" tIns="0" rIns="0" bIns="0" rtlCol="0" anchor="t"/>
          <a:lstStyle/>
          <a:p>
            <a:pPr algn="l" indent="0" marL="0">
              <a:lnSpc>
                <a:spcPts val="2300"/>
              </a:lnSpc>
              <a:buNone/>
            </a:pPr>
            <a:r>
              <a:rPr lang="en-US" sz="1450" dirty="0">
                <a:solidFill>
                  <a:srgbClr val="464646"/>
                </a:solidFill>
                <a:latin typeface="Inter Medium" pitchFamily="34" charset="0"/>
                <a:ea typeface="Inter Medium" pitchFamily="34" charset="-122"/>
                <a:cs typeface="Inter Medium" pitchFamily="34" charset="-120"/>
              </a:rPr>
              <a:t>Faktorialni hisoblash (N!)</a:t>
            </a:r>
            <a:endParaRPr lang="en-US" sz="1450" dirty="0"/>
          </a:p>
        </p:txBody>
      </p:sp>
      <p:pic>
        <p:nvPicPr>
          <p:cNvPr id="13" name="Image 2" descr="preencoded.png">    </p:cNvPr>
          <p:cNvPicPr>
            <a:picLocks noChangeAspect="1"/>
          </p:cNvPicPr>
          <p:nvPr/>
        </p:nvPicPr>
        <p:blipFill>
          <a:blip r:embed="rId3"/>
          <a:stretch>
            <a:fillRect/>
          </a:stretch>
        </p:blipFill>
        <p:spPr>
          <a:xfrm>
            <a:off x="4873466" y="4834235"/>
            <a:ext cx="276463" cy="345519"/>
          </a:xfrm>
          <a:prstGeom prst="rect">
            <a:avLst/>
          </a:prstGeom>
        </p:spPr>
      </p:pic>
      <p:sp>
        <p:nvSpPr>
          <p:cNvPr id="14" name="Text 9"/>
          <p:cNvSpPr/>
          <p:nvPr/>
        </p:nvSpPr>
        <p:spPr>
          <a:xfrm>
            <a:off x="5403413" y="4859655"/>
            <a:ext cx="3010972" cy="589598"/>
          </a:xfrm>
          <a:prstGeom prst="rect">
            <a:avLst/>
          </a:prstGeom>
          <a:noFill/>
          <a:ln/>
        </p:spPr>
        <p:txBody>
          <a:bodyPr wrap="square" lIns="0" tIns="0" rIns="0" bIns="0" rtlCol="0" anchor="t"/>
          <a:lstStyle/>
          <a:p>
            <a:pPr algn="l" indent="0" marL="0">
              <a:lnSpc>
                <a:spcPts val="2300"/>
              </a:lnSpc>
              <a:buNone/>
            </a:pPr>
            <a:r>
              <a:rPr lang="en-US" sz="1450" dirty="0">
                <a:solidFill>
                  <a:srgbClr val="464646"/>
                </a:solidFill>
                <a:latin typeface="Inter Medium" pitchFamily="34" charset="0"/>
                <a:ea typeface="Inter Medium" pitchFamily="34" charset="-122"/>
                <a:cs typeface="Inter Medium" pitchFamily="34" charset="-120"/>
              </a:rPr>
              <a:t>Katta ma'lumotlar to'plamida qidiruvni amalga oshirish.</a:t>
            </a:r>
            <a:endParaRPr lang="en-US" sz="1450" dirty="0"/>
          </a:p>
        </p:txBody>
      </p:sp>
      <p:pic>
        <p:nvPicPr>
          <p:cNvPr id="15" name="Image 3" descr="preencoded.png">    </p:cNvPr>
          <p:cNvPicPr>
            <a:picLocks noChangeAspect="1"/>
          </p:cNvPicPr>
          <p:nvPr/>
        </p:nvPicPr>
        <p:blipFill>
          <a:blip r:embed="rId4"/>
          <a:stretch>
            <a:fillRect/>
          </a:stretch>
        </p:blipFill>
        <p:spPr>
          <a:xfrm>
            <a:off x="4873466" y="5792450"/>
            <a:ext cx="276463" cy="345519"/>
          </a:xfrm>
          <a:prstGeom prst="rect">
            <a:avLst/>
          </a:prstGeom>
        </p:spPr>
      </p:pic>
      <p:sp>
        <p:nvSpPr>
          <p:cNvPr id="16" name="Text 10"/>
          <p:cNvSpPr/>
          <p:nvPr/>
        </p:nvSpPr>
        <p:spPr>
          <a:xfrm>
            <a:off x="5403413" y="5817870"/>
            <a:ext cx="3010972" cy="589598"/>
          </a:xfrm>
          <a:prstGeom prst="rect">
            <a:avLst/>
          </a:prstGeom>
          <a:noFill/>
          <a:ln/>
        </p:spPr>
        <p:txBody>
          <a:bodyPr wrap="square" lIns="0" tIns="0" rIns="0" bIns="0" rtlCol="0" anchor="t"/>
          <a:lstStyle/>
          <a:p>
            <a:pPr algn="l" indent="0" marL="0">
              <a:lnSpc>
                <a:spcPts val="2300"/>
              </a:lnSpc>
              <a:buNone/>
            </a:pPr>
            <a:r>
              <a:rPr lang="en-US" sz="1450" dirty="0">
                <a:solidFill>
                  <a:srgbClr val="464646"/>
                </a:solidFill>
                <a:latin typeface="Inter Medium" pitchFamily="34" charset="0"/>
                <a:ea typeface="Inter Medium" pitchFamily="34" charset="-122"/>
                <a:cs typeface="Inter Medium" pitchFamily="34" charset="-120"/>
              </a:rPr>
              <a:t>Jadvallarni (matritsalarni) qayta ishlash.</a:t>
            </a:r>
            <a:endParaRPr lang="en-US" sz="1450" dirty="0"/>
          </a:p>
        </p:txBody>
      </p:sp>
      <p:pic>
        <p:nvPicPr>
          <p:cNvPr id="17" name="Image 4" descr="preencoded.png">    </p:cNvPr>
          <p:cNvPicPr>
            <a:picLocks noChangeAspect="1"/>
          </p:cNvPicPr>
          <p:nvPr/>
        </p:nvPicPr>
        <p:blipFill>
          <a:blip r:embed="rId5"/>
          <a:stretch>
            <a:fillRect/>
          </a:stretch>
        </p:blipFill>
        <p:spPr>
          <a:xfrm>
            <a:off x="4873466" y="6750665"/>
            <a:ext cx="276463" cy="345519"/>
          </a:xfrm>
          <a:prstGeom prst="rect">
            <a:avLst/>
          </a:prstGeom>
        </p:spPr>
      </p:pic>
      <p:sp>
        <p:nvSpPr>
          <p:cNvPr id="18" name="Text 11"/>
          <p:cNvSpPr/>
          <p:nvPr/>
        </p:nvSpPr>
        <p:spPr>
          <a:xfrm>
            <a:off x="5403413" y="6776085"/>
            <a:ext cx="3010972" cy="589598"/>
          </a:xfrm>
          <a:prstGeom prst="rect">
            <a:avLst/>
          </a:prstGeom>
          <a:noFill/>
          <a:ln/>
        </p:spPr>
        <p:txBody>
          <a:bodyPr wrap="square" lIns="0" tIns="0" rIns="0" bIns="0" rtlCol="0" anchor="t"/>
          <a:lstStyle/>
          <a:p>
            <a:pPr algn="l" indent="0" marL="0">
              <a:lnSpc>
                <a:spcPts val="2300"/>
              </a:lnSpc>
              <a:buNone/>
            </a:pPr>
            <a:r>
              <a:rPr lang="en-US" sz="1450" dirty="0">
                <a:solidFill>
                  <a:srgbClr val="464646"/>
                </a:solidFill>
                <a:latin typeface="Inter Medium" pitchFamily="34" charset="0"/>
                <a:ea typeface="Inter Medium" pitchFamily="34" charset="-122"/>
                <a:cs typeface="Inter Medium" pitchFamily="34" charset="-120"/>
              </a:rPr>
              <a:t>Grafik interfeysda elementlarni chizish.</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7829" y="505063"/>
            <a:ext cx="9067324" cy="568643"/>
          </a:xfrm>
          <a:prstGeom prst="rect">
            <a:avLst/>
          </a:prstGeom>
          <a:noFill/>
          <a:ln/>
        </p:spPr>
        <p:txBody>
          <a:bodyPr wrap="none" lIns="0" tIns="0" rIns="0" bIns="0" rtlCol="0" anchor="t"/>
          <a:lstStyle/>
          <a:p>
            <a:pPr algn="l" indent="0" marL="0">
              <a:lnSpc>
                <a:spcPts val="4450"/>
              </a:lnSpc>
              <a:buNone/>
            </a:pPr>
            <a:r>
              <a:rPr lang="en-US" sz="3550" dirty="0">
                <a:solidFill>
                  <a:srgbClr val="030303"/>
                </a:solidFill>
                <a:latin typeface="DM Sans Semi Bold" pitchFamily="34" charset="0"/>
                <a:ea typeface="DM Sans Semi Bold" pitchFamily="34" charset="-122"/>
                <a:cs typeface="DM Sans Semi Bold" pitchFamily="34" charset="-120"/>
              </a:rPr>
              <a:t>Old Shartli Takrorlash Operatorlari (while)</a:t>
            </a:r>
            <a:endParaRPr lang="en-US" sz="3550" dirty="0"/>
          </a:p>
        </p:txBody>
      </p:sp>
      <p:sp>
        <p:nvSpPr>
          <p:cNvPr id="3" name="Text 1"/>
          <p:cNvSpPr/>
          <p:nvPr/>
        </p:nvSpPr>
        <p:spPr>
          <a:xfrm>
            <a:off x="727829" y="1437561"/>
            <a:ext cx="13174742" cy="597218"/>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Old shartli takrorlash operatori (</a:t>
            </a:r>
            <a:pPr algn="l" indent="0" marL="0">
              <a:lnSpc>
                <a:spcPts val="2250"/>
              </a:lnSpc>
              <a:buNone/>
            </a:pPr>
            <a:r>
              <a:rPr lang="en-US" sz="1400" dirty="0">
                <a:solidFill>
                  <a:srgbClr val="464646"/>
                </a:solidFill>
                <a:highlight>
                  <a:srgbClr val="F2F2F2"/>
                </a:highlight>
                <a:latin typeface="Consolas" pitchFamily="34" charset="0"/>
                <a:ea typeface="Consolas" pitchFamily="34" charset="-122"/>
                <a:cs typeface="Consolas" pitchFamily="34" charset="-120"/>
              </a:rPr>
              <a:t>while</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 shart bajarilayotgan ekan, sikl tanasini takrorlaydi. Bu yerda takrorlanishlar soni oldindan ma'lum bo'lmasligi mumkin, faqat ma'lum bir shartning rostligi muhimdir. </a:t>
            </a:r>
            <a:pPr algn="l"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Shart sikl tanasi bajarilishidan oldin tekshiriladi.</a:t>
            </a:r>
            <a:endParaRPr lang="en-US" sz="1400" dirty="0"/>
          </a:p>
        </p:txBody>
      </p:sp>
      <p:sp>
        <p:nvSpPr>
          <p:cNvPr id="4" name="Shape 2"/>
          <p:cNvSpPr/>
          <p:nvPr/>
        </p:nvSpPr>
        <p:spPr>
          <a:xfrm>
            <a:off x="7303770" y="2239447"/>
            <a:ext cx="22860" cy="4491990"/>
          </a:xfrm>
          <a:prstGeom prst="roundRect">
            <a:avLst>
              <a:gd name="adj" fmla="val 119398"/>
            </a:avLst>
          </a:prstGeom>
          <a:solidFill>
            <a:srgbClr val="D8D4D4"/>
          </a:solidFill>
          <a:ln/>
        </p:spPr>
      </p:sp>
      <p:sp>
        <p:nvSpPr>
          <p:cNvPr id="5" name="Shape 3"/>
          <p:cNvSpPr/>
          <p:nvPr/>
        </p:nvSpPr>
        <p:spPr>
          <a:xfrm>
            <a:off x="6587609" y="2432685"/>
            <a:ext cx="545783" cy="22860"/>
          </a:xfrm>
          <a:prstGeom prst="roundRect">
            <a:avLst>
              <a:gd name="adj" fmla="val 119398"/>
            </a:avLst>
          </a:prstGeom>
          <a:solidFill>
            <a:srgbClr val="D8D4D4"/>
          </a:solidFill>
          <a:ln/>
        </p:spPr>
      </p:sp>
      <p:sp>
        <p:nvSpPr>
          <p:cNvPr id="6" name="Shape 4"/>
          <p:cNvSpPr/>
          <p:nvPr/>
        </p:nvSpPr>
        <p:spPr>
          <a:xfrm>
            <a:off x="7110532" y="2239447"/>
            <a:ext cx="409337" cy="409337"/>
          </a:xfrm>
          <a:prstGeom prst="roundRect">
            <a:avLst>
              <a:gd name="adj" fmla="val 6668"/>
            </a:avLst>
          </a:prstGeom>
          <a:solidFill>
            <a:srgbClr val="F2EEEE"/>
          </a:solidFill>
          <a:ln/>
        </p:spPr>
      </p:sp>
      <p:sp>
        <p:nvSpPr>
          <p:cNvPr id="7" name="Text 5"/>
          <p:cNvSpPr/>
          <p:nvPr/>
        </p:nvSpPr>
        <p:spPr>
          <a:xfrm>
            <a:off x="7178754" y="2273558"/>
            <a:ext cx="272891" cy="341114"/>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1</a:t>
            </a:r>
            <a:endParaRPr lang="en-US" sz="2100" dirty="0"/>
          </a:p>
        </p:txBody>
      </p:sp>
      <p:sp>
        <p:nvSpPr>
          <p:cNvPr id="8" name="Text 6"/>
          <p:cNvSpPr/>
          <p:nvPr/>
        </p:nvSpPr>
        <p:spPr>
          <a:xfrm>
            <a:off x="4130993" y="2301954"/>
            <a:ext cx="2274451" cy="284202"/>
          </a:xfrm>
          <a:prstGeom prst="rect">
            <a:avLst/>
          </a:prstGeom>
          <a:noFill/>
          <a:ln/>
        </p:spPr>
        <p:txBody>
          <a:bodyPr wrap="none" lIns="0" tIns="0" rIns="0" bIns="0" rtlCol="0" anchor="t"/>
          <a:lstStyle/>
          <a:p>
            <a:pPr algn="r"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Boshlash</a:t>
            </a:r>
            <a:endParaRPr lang="en-US" sz="1750" dirty="0"/>
          </a:p>
        </p:txBody>
      </p:sp>
      <p:sp>
        <p:nvSpPr>
          <p:cNvPr id="9" name="Text 7"/>
          <p:cNvSpPr/>
          <p:nvPr/>
        </p:nvSpPr>
        <p:spPr>
          <a:xfrm>
            <a:off x="727829" y="2695218"/>
            <a:ext cx="5677614" cy="581978"/>
          </a:xfrm>
          <a:prstGeom prst="rect">
            <a:avLst/>
          </a:prstGeom>
          <a:noFill/>
          <a:ln/>
        </p:spPr>
        <p:txBody>
          <a:bodyPr wrap="square" lIns="0" tIns="0" rIns="0" bIns="0" rtlCol="0" anchor="t"/>
          <a:lstStyle/>
          <a:p>
            <a:pPr algn="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Sikl o'zgaruvchisi yoki shartga ta'sir qiluvchi o'zgaruvchilar initsializatsiya qilinadi.</a:t>
            </a:r>
            <a:endParaRPr lang="en-US" sz="1400" dirty="0"/>
          </a:p>
        </p:txBody>
      </p:sp>
      <p:sp>
        <p:nvSpPr>
          <p:cNvPr id="10" name="Shape 8"/>
          <p:cNvSpPr/>
          <p:nvPr/>
        </p:nvSpPr>
        <p:spPr>
          <a:xfrm>
            <a:off x="7497008" y="3524369"/>
            <a:ext cx="545783" cy="22860"/>
          </a:xfrm>
          <a:prstGeom prst="roundRect">
            <a:avLst>
              <a:gd name="adj" fmla="val 119398"/>
            </a:avLst>
          </a:prstGeom>
          <a:solidFill>
            <a:srgbClr val="D8D4D4"/>
          </a:solidFill>
          <a:ln/>
        </p:spPr>
      </p:sp>
      <p:sp>
        <p:nvSpPr>
          <p:cNvPr id="11" name="Shape 9"/>
          <p:cNvSpPr/>
          <p:nvPr/>
        </p:nvSpPr>
        <p:spPr>
          <a:xfrm>
            <a:off x="7110532" y="3331131"/>
            <a:ext cx="409337" cy="409337"/>
          </a:xfrm>
          <a:prstGeom prst="roundRect">
            <a:avLst>
              <a:gd name="adj" fmla="val 6668"/>
            </a:avLst>
          </a:prstGeom>
          <a:solidFill>
            <a:srgbClr val="F2EEEE"/>
          </a:solidFill>
          <a:ln/>
        </p:spPr>
      </p:sp>
      <p:sp>
        <p:nvSpPr>
          <p:cNvPr id="12" name="Text 10"/>
          <p:cNvSpPr/>
          <p:nvPr/>
        </p:nvSpPr>
        <p:spPr>
          <a:xfrm>
            <a:off x="7178754" y="3365242"/>
            <a:ext cx="272891" cy="341114"/>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2</a:t>
            </a:r>
            <a:endParaRPr lang="en-US" sz="2100" dirty="0"/>
          </a:p>
        </p:txBody>
      </p:sp>
      <p:sp>
        <p:nvSpPr>
          <p:cNvPr id="13" name="Text 11"/>
          <p:cNvSpPr/>
          <p:nvPr/>
        </p:nvSpPr>
        <p:spPr>
          <a:xfrm>
            <a:off x="8224957" y="3393638"/>
            <a:ext cx="2274451" cy="284202"/>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Shartni Tekshirish</a:t>
            </a:r>
            <a:endParaRPr lang="en-US" sz="1750" dirty="0"/>
          </a:p>
        </p:txBody>
      </p:sp>
      <p:sp>
        <p:nvSpPr>
          <p:cNvPr id="14" name="Text 12"/>
          <p:cNvSpPr/>
          <p:nvPr/>
        </p:nvSpPr>
        <p:spPr>
          <a:xfrm>
            <a:off x="8224957" y="3786902"/>
            <a:ext cx="5677614" cy="581978"/>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Agar shart </a:t>
            </a:r>
            <a:pPr algn="l"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rost</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 bo'lsa, sikl tanasi bajariladi. Agar </a:t>
            </a:r>
            <a:pPr algn="l"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yolg'on</a:t>
            </a:r>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 bo'lsa, sikl tugaydi.</a:t>
            </a:r>
            <a:endParaRPr lang="en-US" sz="1400" dirty="0"/>
          </a:p>
        </p:txBody>
      </p:sp>
      <p:sp>
        <p:nvSpPr>
          <p:cNvPr id="15" name="Shape 13"/>
          <p:cNvSpPr/>
          <p:nvPr/>
        </p:nvSpPr>
        <p:spPr>
          <a:xfrm>
            <a:off x="6587609" y="4465320"/>
            <a:ext cx="545783" cy="22860"/>
          </a:xfrm>
          <a:prstGeom prst="roundRect">
            <a:avLst>
              <a:gd name="adj" fmla="val 119398"/>
            </a:avLst>
          </a:prstGeom>
          <a:solidFill>
            <a:srgbClr val="D8D4D4"/>
          </a:solidFill>
          <a:ln/>
        </p:spPr>
      </p:sp>
      <p:sp>
        <p:nvSpPr>
          <p:cNvPr id="16" name="Shape 14"/>
          <p:cNvSpPr/>
          <p:nvPr/>
        </p:nvSpPr>
        <p:spPr>
          <a:xfrm>
            <a:off x="7110532" y="4272082"/>
            <a:ext cx="409337" cy="409337"/>
          </a:xfrm>
          <a:prstGeom prst="roundRect">
            <a:avLst>
              <a:gd name="adj" fmla="val 6668"/>
            </a:avLst>
          </a:prstGeom>
          <a:solidFill>
            <a:srgbClr val="F2EEEE"/>
          </a:solidFill>
          <a:ln/>
        </p:spPr>
      </p:sp>
      <p:sp>
        <p:nvSpPr>
          <p:cNvPr id="17" name="Text 15"/>
          <p:cNvSpPr/>
          <p:nvPr/>
        </p:nvSpPr>
        <p:spPr>
          <a:xfrm>
            <a:off x="7178754" y="4306193"/>
            <a:ext cx="272891" cy="341114"/>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3</a:t>
            </a:r>
            <a:endParaRPr lang="en-US" sz="2100" dirty="0"/>
          </a:p>
        </p:txBody>
      </p:sp>
      <p:sp>
        <p:nvSpPr>
          <p:cNvPr id="18" name="Text 16"/>
          <p:cNvSpPr/>
          <p:nvPr/>
        </p:nvSpPr>
        <p:spPr>
          <a:xfrm>
            <a:off x="4130993" y="4334589"/>
            <a:ext cx="2274451" cy="284202"/>
          </a:xfrm>
          <a:prstGeom prst="rect">
            <a:avLst/>
          </a:prstGeom>
          <a:noFill/>
          <a:ln/>
        </p:spPr>
        <p:txBody>
          <a:bodyPr wrap="none" lIns="0" tIns="0" rIns="0" bIns="0" rtlCol="0" anchor="t"/>
          <a:lstStyle/>
          <a:p>
            <a:pPr algn="r"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Tanani Bajarish</a:t>
            </a:r>
            <a:endParaRPr lang="en-US" sz="1750" dirty="0"/>
          </a:p>
        </p:txBody>
      </p:sp>
      <p:sp>
        <p:nvSpPr>
          <p:cNvPr id="19" name="Text 17"/>
          <p:cNvSpPr/>
          <p:nvPr/>
        </p:nvSpPr>
        <p:spPr>
          <a:xfrm>
            <a:off x="727829" y="4727853"/>
            <a:ext cx="5677614" cy="581978"/>
          </a:xfrm>
          <a:prstGeom prst="rect">
            <a:avLst/>
          </a:prstGeom>
          <a:noFill/>
          <a:ln/>
        </p:spPr>
        <p:txBody>
          <a:bodyPr wrap="square" lIns="0" tIns="0" rIns="0" bIns="0" rtlCol="0" anchor="t"/>
          <a:lstStyle/>
          <a:p>
            <a:pPr algn="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Kerakli amallar bajariladi. </a:t>
            </a:r>
            <a:pPr algn="r" indent="0" marL="0">
              <a:lnSpc>
                <a:spcPts val="2250"/>
              </a:lnSpc>
              <a:buNone/>
            </a:pPr>
            <a:r>
              <a:rPr lang="en-US" sz="1400" b="1" dirty="0">
                <a:solidFill>
                  <a:srgbClr val="464646"/>
                </a:solidFill>
                <a:latin typeface="Inter Medium" pitchFamily="34" charset="0"/>
                <a:ea typeface="Inter Medium" pitchFamily="34" charset="-122"/>
                <a:cs typeface="Inter Medium" pitchFamily="34" charset="-120"/>
              </a:rPr>
              <a:t>Bu yerda shartni o'zgartiruvchi amal bo'lishi shart</a:t>
            </a:r>
            <a:pPr algn="r"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 (aks holda cheksiz sikl yuzaga keladi).</a:t>
            </a:r>
            <a:endParaRPr lang="en-US" sz="1400" dirty="0"/>
          </a:p>
        </p:txBody>
      </p:sp>
      <p:sp>
        <p:nvSpPr>
          <p:cNvPr id="20" name="Shape 18"/>
          <p:cNvSpPr/>
          <p:nvPr/>
        </p:nvSpPr>
        <p:spPr>
          <a:xfrm>
            <a:off x="7497008" y="5406390"/>
            <a:ext cx="545783" cy="22860"/>
          </a:xfrm>
          <a:prstGeom prst="roundRect">
            <a:avLst>
              <a:gd name="adj" fmla="val 119398"/>
            </a:avLst>
          </a:prstGeom>
          <a:solidFill>
            <a:srgbClr val="D8D4D4"/>
          </a:solidFill>
          <a:ln/>
        </p:spPr>
      </p:sp>
      <p:sp>
        <p:nvSpPr>
          <p:cNvPr id="21" name="Shape 19"/>
          <p:cNvSpPr/>
          <p:nvPr/>
        </p:nvSpPr>
        <p:spPr>
          <a:xfrm>
            <a:off x="7110532" y="5213152"/>
            <a:ext cx="409337" cy="409337"/>
          </a:xfrm>
          <a:prstGeom prst="roundRect">
            <a:avLst>
              <a:gd name="adj" fmla="val 6668"/>
            </a:avLst>
          </a:prstGeom>
          <a:solidFill>
            <a:srgbClr val="F2EEEE"/>
          </a:solidFill>
          <a:ln/>
        </p:spPr>
      </p:sp>
      <p:sp>
        <p:nvSpPr>
          <p:cNvPr id="22" name="Text 20"/>
          <p:cNvSpPr/>
          <p:nvPr/>
        </p:nvSpPr>
        <p:spPr>
          <a:xfrm>
            <a:off x="7178754" y="5247263"/>
            <a:ext cx="272891" cy="341114"/>
          </a:xfrm>
          <a:prstGeom prst="rect">
            <a:avLst/>
          </a:prstGeom>
          <a:noFill/>
          <a:ln/>
        </p:spPr>
        <p:txBody>
          <a:bodyPr wrap="none" lIns="0" tIns="0" rIns="0" bIns="0" rtlCol="0" anchor="t"/>
          <a:lstStyle/>
          <a:p>
            <a:pPr algn="ctr" indent="0" marL="0">
              <a:lnSpc>
                <a:spcPts val="2100"/>
              </a:lnSpc>
              <a:buNone/>
            </a:pPr>
            <a:r>
              <a:rPr lang="en-US" sz="2100" dirty="0">
                <a:solidFill>
                  <a:srgbClr val="464646"/>
                </a:solidFill>
                <a:latin typeface="DM Sans Semi Bold" pitchFamily="34" charset="0"/>
                <a:ea typeface="DM Sans Semi Bold" pitchFamily="34" charset="-122"/>
                <a:cs typeface="DM Sans Semi Bold" pitchFamily="34" charset="-120"/>
              </a:rPr>
              <a:t>4</a:t>
            </a:r>
            <a:endParaRPr lang="en-US" sz="2100" dirty="0"/>
          </a:p>
        </p:txBody>
      </p:sp>
      <p:sp>
        <p:nvSpPr>
          <p:cNvPr id="23" name="Text 21"/>
          <p:cNvSpPr/>
          <p:nvPr/>
        </p:nvSpPr>
        <p:spPr>
          <a:xfrm>
            <a:off x="8224957" y="5275659"/>
            <a:ext cx="2274451" cy="284202"/>
          </a:xfrm>
          <a:prstGeom prst="rect">
            <a:avLst/>
          </a:prstGeom>
          <a:noFill/>
          <a:ln/>
        </p:spPr>
        <p:txBody>
          <a:bodyPr wrap="none" lIns="0" tIns="0" rIns="0" bIns="0" rtlCol="0" anchor="t"/>
          <a:lstStyle/>
          <a:p>
            <a:pPr algn="l" indent="0" marL="0">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Qaytish</a:t>
            </a:r>
            <a:endParaRPr lang="en-US" sz="1750" dirty="0"/>
          </a:p>
        </p:txBody>
      </p:sp>
      <p:sp>
        <p:nvSpPr>
          <p:cNvPr id="24" name="Text 22"/>
          <p:cNvSpPr/>
          <p:nvPr/>
        </p:nvSpPr>
        <p:spPr>
          <a:xfrm>
            <a:off x="8224957" y="5668923"/>
            <a:ext cx="5677614" cy="581978"/>
          </a:xfrm>
          <a:prstGeom prst="rect">
            <a:avLst/>
          </a:prstGeom>
          <a:noFill/>
          <a:ln/>
        </p:spPr>
        <p:txBody>
          <a:bodyPr wrap="square" lIns="0" tIns="0" rIns="0" bIns="0" rtlCol="0" anchor="t"/>
          <a:lstStyle/>
          <a:p>
            <a:pPr algn="l" indent="0" marL="0">
              <a:lnSpc>
                <a:spcPts val="2250"/>
              </a:lnSpc>
              <a:buNone/>
            </a:pPr>
            <a:r>
              <a:rPr lang="en-US" sz="1400" dirty="0">
                <a:solidFill>
                  <a:srgbClr val="464646"/>
                </a:solidFill>
                <a:latin typeface="Inter Medium" pitchFamily="34" charset="0"/>
                <a:ea typeface="Inter Medium" pitchFamily="34" charset="-122"/>
                <a:cs typeface="Inter Medium" pitchFamily="34" charset="-120"/>
              </a:rPr>
              <a:t>Dastur boshqa takrorlanish uchun yana shartni tekshirishga qaytadi.</a:t>
            </a:r>
            <a:endParaRPr lang="en-US" sz="1400" dirty="0"/>
          </a:p>
        </p:txBody>
      </p:sp>
      <p:sp>
        <p:nvSpPr>
          <p:cNvPr id="25" name="Shape 23"/>
          <p:cNvSpPr/>
          <p:nvPr/>
        </p:nvSpPr>
        <p:spPr>
          <a:xfrm>
            <a:off x="727829" y="6936105"/>
            <a:ext cx="13174742" cy="788313"/>
          </a:xfrm>
          <a:prstGeom prst="roundRect">
            <a:avLst>
              <a:gd name="adj" fmla="val 3462"/>
            </a:avLst>
          </a:prstGeom>
          <a:solidFill>
            <a:srgbClr val="BEF3E2"/>
          </a:solidFill>
          <a:ln/>
        </p:spPr>
      </p:sp>
      <p:pic>
        <p:nvPicPr>
          <p:cNvPr id="26" name="Image 0" descr="preencoded.png">    </p:cNvPr>
          <p:cNvPicPr>
            <a:picLocks noChangeAspect="1"/>
          </p:cNvPicPr>
          <p:nvPr/>
        </p:nvPicPr>
        <p:blipFill>
          <a:blip r:embed="rId1"/>
          <a:stretch>
            <a:fillRect/>
          </a:stretch>
        </p:blipFill>
        <p:spPr>
          <a:xfrm>
            <a:off x="909757" y="7210068"/>
            <a:ext cx="227409" cy="181928"/>
          </a:xfrm>
          <a:prstGeom prst="rect">
            <a:avLst/>
          </a:prstGeom>
        </p:spPr>
      </p:pic>
      <p:sp>
        <p:nvSpPr>
          <p:cNvPr id="27" name="Text 24"/>
          <p:cNvSpPr/>
          <p:nvPr/>
        </p:nvSpPr>
        <p:spPr>
          <a:xfrm>
            <a:off x="1319093" y="7163514"/>
            <a:ext cx="12401550" cy="306229"/>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Inter Medium" pitchFamily="34" charset="0"/>
                <a:ea typeface="Inter Medium" pitchFamily="34" charset="-122"/>
                <a:cs typeface="Inter Medium" pitchFamily="34" charset="-120"/>
              </a:rPr>
              <a:t>Agar boshlang'ich shart </a:t>
            </a:r>
            <a:pPr algn="l" indent="0" marL="0">
              <a:lnSpc>
                <a:spcPts val="2250"/>
              </a:lnSpc>
              <a:buNone/>
            </a:pPr>
            <a:r>
              <a:rPr lang="en-US" sz="1400" b="1" dirty="0">
                <a:solidFill>
                  <a:srgbClr val="000000"/>
                </a:solidFill>
                <a:latin typeface="Inter Medium" pitchFamily="34" charset="0"/>
                <a:ea typeface="Inter Medium" pitchFamily="34" charset="-122"/>
                <a:cs typeface="Inter Medium" pitchFamily="34" charset="-120"/>
              </a:rPr>
              <a:t>yolg'on</a:t>
            </a:r>
            <a:pPr algn="l" indent="0" marL="0">
              <a:lnSpc>
                <a:spcPts val="2250"/>
              </a:lnSpc>
              <a:buNone/>
            </a:pPr>
            <a:r>
              <a:rPr lang="en-US" sz="1400" dirty="0">
                <a:solidFill>
                  <a:srgbClr val="000000"/>
                </a:solidFill>
                <a:latin typeface="Inter Medium" pitchFamily="34" charset="0"/>
                <a:ea typeface="Inter Medium" pitchFamily="34" charset="-122"/>
                <a:cs typeface="Inter Medium" pitchFamily="34" charset="-120"/>
              </a:rPr>
              <a:t> bo'lsa, </a:t>
            </a:r>
            <a:pPr algn="l" indent="0" marL="0">
              <a:lnSpc>
                <a:spcPts val="2250"/>
              </a:lnSpc>
              <a:buNone/>
            </a:pPr>
            <a:r>
              <a:rPr lang="en-US" sz="1400" dirty="0">
                <a:solidFill>
                  <a:srgbClr val="000000"/>
                </a:solidFill>
                <a:highlight>
                  <a:srgbClr val="F2F2F2"/>
                </a:highlight>
                <a:latin typeface="Consolas" pitchFamily="34" charset="0"/>
                <a:ea typeface="Consolas" pitchFamily="34" charset="-122"/>
                <a:cs typeface="Consolas" pitchFamily="34" charset="-120"/>
              </a:rPr>
              <a:t>while</a:t>
            </a:r>
            <a:pPr algn="l" indent="0" marL="0">
              <a:lnSpc>
                <a:spcPts val="2250"/>
              </a:lnSpc>
              <a:buNone/>
            </a:pPr>
            <a:r>
              <a:rPr lang="en-US" sz="1400" dirty="0">
                <a:solidFill>
                  <a:srgbClr val="000000"/>
                </a:solidFill>
                <a:latin typeface="Inter Medium" pitchFamily="34" charset="0"/>
                <a:ea typeface="Inter Medium" pitchFamily="34" charset="-122"/>
                <a:cs typeface="Inter Medium" pitchFamily="34" charset="-120"/>
              </a:rPr>
              <a:t> sikli tanasi </a:t>
            </a:r>
            <a:pPr algn="l" indent="0" marL="0">
              <a:lnSpc>
                <a:spcPts val="2250"/>
              </a:lnSpc>
              <a:buNone/>
            </a:pPr>
            <a:r>
              <a:rPr lang="en-US" sz="1400" b="1" dirty="0">
                <a:solidFill>
                  <a:srgbClr val="000000"/>
                </a:solidFill>
                <a:latin typeface="Inter Medium" pitchFamily="34" charset="0"/>
                <a:ea typeface="Inter Medium" pitchFamily="34" charset="-122"/>
                <a:cs typeface="Inter Medium" pitchFamily="34" charset="-120"/>
              </a:rPr>
              <a:t>hech qachon</a:t>
            </a:r>
            <a:pPr algn="l" indent="0" marL="0">
              <a:lnSpc>
                <a:spcPts val="2250"/>
              </a:lnSpc>
              <a:buNone/>
            </a:pPr>
            <a:r>
              <a:rPr lang="en-US" sz="1400" dirty="0">
                <a:solidFill>
                  <a:srgbClr val="000000"/>
                </a:solidFill>
                <a:latin typeface="Inter Medium" pitchFamily="34" charset="0"/>
                <a:ea typeface="Inter Medium" pitchFamily="34" charset="-122"/>
                <a:cs typeface="Inter Medium" pitchFamily="34" charset="-120"/>
              </a:rPr>
              <a:t> bajarilmaydi.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4013" y="476726"/>
            <a:ext cx="7576066" cy="526613"/>
          </a:xfrm>
          <a:prstGeom prst="rect">
            <a:avLst/>
          </a:prstGeom>
          <a:noFill/>
          <a:ln/>
        </p:spPr>
        <p:txBody>
          <a:bodyPr wrap="none" lIns="0" tIns="0" rIns="0" bIns="0" rtlCol="0" anchor="t"/>
          <a:lstStyle/>
          <a:p>
            <a:pPr algn="l" indent="0" marL="0">
              <a:lnSpc>
                <a:spcPts val="4100"/>
              </a:lnSpc>
              <a:buNone/>
            </a:pPr>
            <a:r>
              <a:rPr lang="en-US" sz="3300" dirty="0">
                <a:solidFill>
                  <a:srgbClr val="030303"/>
                </a:solidFill>
                <a:latin typeface="DM Sans Semi Bold" pitchFamily="34" charset="0"/>
                <a:ea typeface="DM Sans Semi Bold" pitchFamily="34" charset="-122"/>
                <a:cs typeface="DM Sans Semi Bold" pitchFamily="34" charset="-120"/>
              </a:rPr>
              <a:t>while Siklining Qo'llanilish Ssenariylari</a:t>
            </a:r>
            <a:endParaRPr lang="en-US" sz="3300" dirty="0"/>
          </a:p>
        </p:txBody>
      </p:sp>
      <p:sp>
        <p:nvSpPr>
          <p:cNvPr id="4" name="Text 1"/>
          <p:cNvSpPr/>
          <p:nvPr/>
        </p:nvSpPr>
        <p:spPr>
          <a:xfrm>
            <a:off x="674013" y="1256109"/>
            <a:ext cx="7795974" cy="284798"/>
          </a:xfrm>
          <a:prstGeom prst="rect">
            <a:avLst/>
          </a:prstGeom>
          <a:noFill/>
          <a:ln/>
        </p:spPr>
        <p:txBody>
          <a:bodyPr wrap="none" lIns="0" tIns="0" rIns="0" bIns="0" rtlCol="0" anchor="t"/>
          <a:lstStyle/>
          <a:p>
            <a:pPr algn="l" indent="0" marL="0">
              <a:lnSpc>
                <a:spcPts val="210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while</a:t>
            </a:r>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 sikli asosan quyidagi holatlarda qo'llaniladi:</a:t>
            </a:r>
            <a:endParaRPr lang="en-US" sz="1300" dirty="0"/>
          </a:p>
        </p:txBody>
      </p:sp>
      <p:pic>
        <p:nvPicPr>
          <p:cNvPr id="5" name="Image 1" descr="preencoded.png">    </p:cNvPr>
          <p:cNvPicPr>
            <a:picLocks noChangeAspect="1"/>
          </p:cNvPicPr>
          <p:nvPr/>
        </p:nvPicPr>
        <p:blipFill>
          <a:blip r:embed="rId2"/>
          <a:stretch>
            <a:fillRect/>
          </a:stretch>
        </p:blipFill>
        <p:spPr>
          <a:xfrm>
            <a:off x="674013" y="1730454"/>
            <a:ext cx="505539" cy="505539"/>
          </a:xfrm>
          <a:prstGeom prst="rect">
            <a:avLst/>
          </a:prstGeom>
        </p:spPr>
      </p:pic>
      <p:sp>
        <p:nvSpPr>
          <p:cNvPr id="6" name="Text 2"/>
          <p:cNvSpPr/>
          <p:nvPr/>
        </p:nvSpPr>
        <p:spPr>
          <a:xfrm>
            <a:off x="674013" y="2446615"/>
            <a:ext cx="3139440" cy="26324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Foydalanuvchi Kiritishini Kutish</a:t>
            </a:r>
            <a:endParaRPr lang="en-US" sz="1650" dirty="0"/>
          </a:p>
        </p:txBody>
      </p:sp>
      <p:sp>
        <p:nvSpPr>
          <p:cNvPr id="7" name="Text 3"/>
          <p:cNvSpPr/>
          <p:nvPr/>
        </p:nvSpPr>
        <p:spPr>
          <a:xfrm>
            <a:off x="674013" y="2810947"/>
            <a:ext cx="7795974" cy="539115"/>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Foydalanuvchi to'g'ri ma'lumot kiritmaguncha so'rovni takrorlash (masalan, parol yoki yaroqli sana).</a:t>
            </a:r>
            <a:endParaRPr lang="en-US" sz="1300" dirty="0"/>
          </a:p>
        </p:txBody>
      </p:sp>
      <p:pic>
        <p:nvPicPr>
          <p:cNvPr id="8" name="Image 2" descr="preencoded.png">    </p:cNvPr>
          <p:cNvPicPr>
            <a:picLocks noChangeAspect="1"/>
          </p:cNvPicPr>
          <p:nvPr/>
        </p:nvPicPr>
        <p:blipFill>
          <a:blip r:embed="rId3"/>
          <a:stretch>
            <a:fillRect/>
          </a:stretch>
        </p:blipFill>
        <p:spPr>
          <a:xfrm>
            <a:off x="674013" y="3687008"/>
            <a:ext cx="505539" cy="505539"/>
          </a:xfrm>
          <a:prstGeom prst="rect">
            <a:avLst/>
          </a:prstGeom>
        </p:spPr>
      </p:pic>
      <p:sp>
        <p:nvSpPr>
          <p:cNvPr id="9" name="Text 4"/>
          <p:cNvSpPr/>
          <p:nvPr/>
        </p:nvSpPr>
        <p:spPr>
          <a:xfrm>
            <a:off x="674013" y="4403169"/>
            <a:ext cx="2106454" cy="26324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Fayl O'qish</a:t>
            </a:r>
            <a:endParaRPr lang="en-US" sz="1650" dirty="0"/>
          </a:p>
        </p:txBody>
      </p:sp>
      <p:sp>
        <p:nvSpPr>
          <p:cNvPr id="10" name="Text 5"/>
          <p:cNvSpPr/>
          <p:nvPr/>
        </p:nvSpPr>
        <p:spPr>
          <a:xfrm>
            <a:off x="674013" y="4767501"/>
            <a:ext cx="7795974" cy="284798"/>
          </a:xfrm>
          <a:prstGeom prst="rect">
            <a:avLst/>
          </a:prstGeom>
          <a:noFill/>
          <a:ln/>
        </p:spPr>
        <p:txBody>
          <a:bodyPr wrap="non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Faylning oxiriga yetmaguncha ma'lumotlarni o'qish (masalan, </a:t>
            </a:r>
            <a:pPr algn="l" indent="0" marL="0">
              <a:lnSpc>
                <a:spcPts val="210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while (not end_of_file)</a:t>
            </a:r>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pic>
        <p:nvPicPr>
          <p:cNvPr id="11" name="Image 3" descr="preencoded.png">    </p:cNvPr>
          <p:cNvPicPr>
            <a:picLocks noChangeAspect="1"/>
          </p:cNvPicPr>
          <p:nvPr/>
        </p:nvPicPr>
        <p:blipFill>
          <a:blip r:embed="rId4"/>
          <a:stretch>
            <a:fillRect/>
          </a:stretch>
        </p:blipFill>
        <p:spPr>
          <a:xfrm>
            <a:off x="674013" y="5389245"/>
            <a:ext cx="505539" cy="505539"/>
          </a:xfrm>
          <a:prstGeom prst="rect">
            <a:avLst/>
          </a:prstGeom>
        </p:spPr>
      </p:pic>
      <p:sp>
        <p:nvSpPr>
          <p:cNvPr id="12" name="Text 6"/>
          <p:cNvSpPr/>
          <p:nvPr/>
        </p:nvSpPr>
        <p:spPr>
          <a:xfrm>
            <a:off x="674013" y="6105406"/>
            <a:ext cx="2106454" cy="263247"/>
          </a:xfrm>
          <a:prstGeom prst="rect">
            <a:avLst/>
          </a:prstGeom>
          <a:noFill/>
          <a:ln/>
        </p:spPr>
        <p:txBody>
          <a:bodyPr wrap="none" lIns="0" tIns="0" rIns="0" bIns="0" rtlCol="0" anchor="t"/>
          <a:lstStyle/>
          <a:p>
            <a:pPr algn="l" indent="0" marL="0">
              <a:lnSpc>
                <a:spcPts val="2050"/>
              </a:lnSpc>
              <a:buNone/>
            </a:pPr>
            <a:r>
              <a:rPr lang="en-US" sz="1650" dirty="0">
                <a:solidFill>
                  <a:srgbClr val="464646"/>
                </a:solidFill>
                <a:latin typeface="DM Sans Semi Bold" pitchFamily="34" charset="0"/>
                <a:ea typeface="DM Sans Semi Bold" pitchFamily="34" charset="-122"/>
                <a:cs typeface="DM Sans Semi Bold" pitchFamily="34" charset="-120"/>
              </a:rPr>
              <a:t>O'yin Sikllari</a:t>
            </a:r>
            <a:endParaRPr lang="en-US" sz="1650" dirty="0"/>
          </a:p>
        </p:txBody>
      </p:sp>
      <p:sp>
        <p:nvSpPr>
          <p:cNvPr id="13" name="Text 7"/>
          <p:cNvSpPr/>
          <p:nvPr/>
        </p:nvSpPr>
        <p:spPr>
          <a:xfrm>
            <a:off x="674013" y="6469737"/>
            <a:ext cx="7795974" cy="554355"/>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O'yin tugamaguncha (masalan, </a:t>
            </a:r>
            <a:pPr algn="l" indent="0" marL="0">
              <a:lnSpc>
                <a:spcPts val="2100"/>
              </a:lnSpc>
              <a:buNone/>
            </a:pPr>
            <a:r>
              <a:rPr lang="en-US" sz="1300" dirty="0">
                <a:solidFill>
                  <a:srgbClr val="464646"/>
                </a:solidFill>
                <a:highlight>
                  <a:srgbClr val="F2F2F2"/>
                </a:highlight>
                <a:latin typeface="Consolas" pitchFamily="34" charset="0"/>
                <a:ea typeface="Consolas" pitchFamily="34" charset="-122"/>
                <a:cs typeface="Consolas" pitchFamily="34" charset="-120"/>
              </a:rPr>
              <a:t>while (game_is_running)</a:t>
            </a:r>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 doimiy ravishda yangilanishlarni bajarish.</a:t>
            </a:r>
            <a:endParaRPr lang="en-US" sz="1300" dirty="0"/>
          </a:p>
        </p:txBody>
      </p:sp>
      <p:sp>
        <p:nvSpPr>
          <p:cNvPr id="14" name="Text 8"/>
          <p:cNvSpPr/>
          <p:nvPr/>
        </p:nvSpPr>
        <p:spPr>
          <a:xfrm>
            <a:off x="674013" y="7213640"/>
            <a:ext cx="7795974" cy="539115"/>
          </a:xfrm>
          <a:prstGeom prst="rect">
            <a:avLst/>
          </a:prstGeom>
          <a:noFill/>
          <a:ln/>
        </p:spPr>
        <p:txBody>
          <a:bodyPr wrap="square" lIns="0" tIns="0" rIns="0" bIns="0" rtlCol="0" anchor="t"/>
          <a:lstStyle/>
          <a:p>
            <a:pPr algn="l" indent="0" marL="0">
              <a:lnSpc>
                <a:spcPts val="2100"/>
              </a:lnSpc>
              <a:buNone/>
            </a:pPr>
            <a:r>
              <a:rPr lang="en-US" sz="1300" dirty="0">
                <a:solidFill>
                  <a:srgbClr val="464646"/>
                </a:solidFill>
                <a:latin typeface="Inter Medium" pitchFamily="34" charset="0"/>
                <a:ea typeface="Inter Medium" pitchFamily="34" charset="-122"/>
                <a:cs typeface="Inter Medium" pitchFamily="34" charset="-120"/>
              </a:rPr>
              <a:t>Bu siklning moslashuvchanligi uni shartga asoslangan, noma'lum takrorlanishlar soniga ega bo'lgan har qanday vaziyatda ajralmas vositaga aylantiradi.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137297"/>
            <a:ext cx="11189375"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So'ng Shartli Takrorlash Operatorlari (do-while)</a:t>
            </a:r>
            <a:endParaRPr lang="en-US" sz="3900" dirty="0"/>
          </a:p>
        </p:txBody>
      </p:sp>
      <p:sp>
        <p:nvSpPr>
          <p:cNvPr id="4" name="Text 1"/>
          <p:cNvSpPr/>
          <p:nvPr/>
        </p:nvSpPr>
        <p:spPr>
          <a:xfrm>
            <a:off x="793790" y="4055031"/>
            <a:ext cx="13042821" cy="65793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So'ng shartli takrorlash operatori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do-while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while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sikliga o'xshaydi, ammo asosiy farqi shundaki,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shart sikl tanasi bajarilgandan keyin tekshiriladi</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Bu esa sikl tanasining kamida bir marta bajarilishini kafolatlaydi.</a:t>
            </a:r>
            <a:endParaRPr lang="en-US" sz="1550" dirty="0"/>
          </a:p>
        </p:txBody>
      </p:sp>
      <p:sp>
        <p:nvSpPr>
          <p:cNvPr id="5" name="Shape 2"/>
          <p:cNvSpPr/>
          <p:nvPr/>
        </p:nvSpPr>
        <p:spPr>
          <a:xfrm>
            <a:off x="793790" y="4936212"/>
            <a:ext cx="13042821" cy="1778556"/>
          </a:xfrm>
          <a:prstGeom prst="roundRect">
            <a:avLst>
              <a:gd name="adj" fmla="val 1674"/>
            </a:avLst>
          </a:prstGeom>
          <a:solidFill>
            <a:srgbClr val="F2EEEE"/>
          </a:solidFill>
          <a:ln/>
        </p:spPr>
      </p:sp>
      <p:sp>
        <p:nvSpPr>
          <p:cNvPr id="6" name="Shape 3"/>
          <p:cNvSpPr/>
          <p:nvPr/>
        </p:nvSpPr>
        <p:spPr>
          <a:xfrm>
            <a:off x="793790" y="4936212"/>
            <a:ext cx="4347567" cy="1778556"/>
          </a:xfrm>
          <a:prstGeom prst="roundRect">
            <a:avLst>
              <a:gd name="adj" fmla="val 1674"/>
            </a:avLst>
          </a:prstGeom>
          <a:solidFill>
            <a:srgbClr val="F2EEEE"/>
          </a:solidFill>
          <a:ln/>
        </p:spPr>
      </p:sp>
      <p:sp>
        <p:nvSpPr>
          <p:cNvPr id="7" name="Text 4"/>
          <p:cNvSpPr/>
          <p:nvPr/>
        </p:nvSpPr>
        <p:spPr>
          <a:xfrm>
            <a:off x="992148" y="513457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1. Amallar Bajarilishi</a:t>
            </a:r>
            <a:endParaRPr lang="en-US" sz="1950" dirty="0"/>
          </a:p>
        </p:txBody>
      </p:sp>
      <p:sp>
        <p:nvSpPr>
          <p:cNvPr id="8" name="Text 5"/>
          <p:cNvSpPr/>
          <p:nvPr/>
        </p:nvSpPr>
        <p:spPr>
          <a:xfrm>
            <a:off x="992148" y="5563791"/>
            <a:ext cx="3653076"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tanasidagi barcha amallar bajariladi. Bu birinchi iteratsiya har doim sodir bo'ladi.</a:t>
            </a:r>
            <a:endParaRPr lang="en-US" sz="1550" dirty="0"/>
          </a:p>
        </p:txBody>
      </p:sp>
      <p:sp>
        <p:nvSpPr>
          <p:cNvPr id="9" name="Shape 6"/>
          <p:cNvSpPr/>
          <p:nvPr/>
        </p:nvSpPr>
        <p:spPr>
          <a:xfrm>
            <a:off x="5141357" y="4936212"/>
            <a:ext cx="4347567" cy="1778556"/>
          </a:xfrm>
          <a:prstGeom prst="rect">
            <a:avLst/>
          </a:prstGeom>
          <a:solidFill>
            <a:srgbClr val="F2EEEE"/>
          </a:solidFill>
          <a:ln/>
        </p:spPr>
      </p:sp>
      <p:sp>
        <p:nvSpPr>
          <p:cNvPr id="10" name="Shape 7"/>
          <p:cNvSpPr/>
          <p:nvPr/>
        </p:nvSpPr>
        <p:spPr>
          <a:xfrm>
            <a:off x="5141357" y="4936212"/>
            <a:ext cx="22860" cy="1778556"/>
          </a:xfrm>
          <a:prstGeom prst="roundRect">
            <a:avLst>
              <a:gd name="adj" fmla="val 130232"/>
            </a:avLst>
          </a:prstGeom>
          <a:solidFill>
            <a:srgbClr val="D8D4D4"/>
          </a:solidFill>
          <a:ln/>
        </p:spPr>
      </p:sp>
      <p:sp>
        <p:nvSpPr>
          <p:cNvPr id="11" name="Text 8"/>
          <p:cNvSpPr/>
          <p:nvPr/>
        </p:nvSpPr>
        <p:spPr>
          <a:xfrm>
            <a:off x="5637490" y="513457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2. Shartni Tekshirish</a:t>
            </a:r>
            <a:endParaRPr lang="en-US" sz="1950" dirty="0"/>
          </a:p>
        </p:txBody>
      </p:sp>
      <p:sp>
        <p:nvSpPr>
          <p:cNvPr id="12" name="Text 9"/>
          <p:cNvSpPr/>
          <p:nvPr/>
        </p:nvSpPr>
        <p:spPr>
          <a:xfrm>
            <a:off x="5637490" y="5563791"/>
            <a:ext cx="3355300"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oxirida shart tekshiriladi. Agar shart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rost</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bo'lsa, sikl boshiga qaytadi.</a:t>
            </a:r>
            <a:endParaRPr lang="en-US" sz="1550" dirty="0"/>
          </a:p>
        </p:txBody>
      </p:sp>
      <p:sp>
        <p:nvSpPr>
          <p:cNvPr id="13" name="Shape 10"/>
          <p:cNvSpPr/>
          <p:nvPr/>
        </p:nvSpPr>
        <p:spPr>
          <a:xfrm>
            <a:off x="4893350" y="5577423"/>
            <a:ext cx="496133" cy="496133"/>
          </a:xfrm>
          <a:prstGeom prst="roundRect">
            <a:avLst>
              <a:gd name="adj" fmla="val 6001"/>
            </a:avLst>
          </a:prstGeom>
          <a:solidFill>
            <a:srgbClr val="FFFFFF"/>
          </a:solidFill>
          <a:ln w="22860">
            <a:solidFill>
              <a:srgbClr val="D8D4D4"/>
            </a:solidFill>
            <a:prstDash val="solid"/>
          </a:ln>
        </p:spPr>
      </p:sp>
      <p:pic>
        <p:nvPicPr>
          <p:cNvPr id="14" name="Image 1" descr="preencoded.png">    </p:cNvPr>
          <p:cNvPicPr>
            <a:picLocks noChangeAspect="1"/>
          </p:cNvPicPr>
          <p:nvPr/>
        </p:nvPicPr>
        <p:blipFill>
          <a:blip r:embed="rId2"/>
          <a:stretch>
            <a:fillRect/>
          </a:stretch>
        </p:blipFill>
        <p:spPr>
          <a:xfrm>
            <a:off x="5017413" y="5670411"/>
            <a:ext cx="248007" cy="310039"/>
          </a:xfrm>
          <a:prstGeom prst="rect">
            <a:avLst/>
          </a:prstGeom>
        </p:spPr>
      </p:pic>
      <p:sp>
        <p:nvSpPr>
          <p:cNvPr id="15" name="Shape 11"/>
          <p:cNvSpPr/>
          <p:nvPr/>
        </p:nvSpPr>
        <p:spPr>
          <a:xfrm>
            <a:off x="9488924" y="4936212"/>
            <a:ext cx="4347567" cy="1778556"/>
          </a:xfrm>
          <a:prstGeom prst="rect">
            <a:avLst/>
          </a:prstGeom>
          <a:solidFill>
            <a:srgbClr val="F2EEEE"/>
          </a:solidFill>
          <a:ln/>
        </p:spPr>
      </p:sp>
      <p:sp>
        <p:nvSpPr>
          <p:cNvPr id="16" name="Shape 12"/>
          <p:cNvSpPr/>
          <p:nvPr/>
        </p:nvSpPr>
        <p:spPr>
          <a:xfrm>
            <a:off x="9488924" y="4936212"/>
            <a:ext cx="22860" cy="1778556"/>
          </a:xfrm>
          <a:prstGeom prst="roundRect">
            <a:avLst>
              <a:gd name="adj" fmla="val 130232"/>
            </a:avLst>
          </a:prstGeom>
          <a:solidFill>
            <a:srgbClr val="D8D4D4"/>
          </a:solidFill>
          <a:ln/>
        </p:spPr>
      </p:sp>
      <p:sp>
        <p:nvSpPr>
          <p:cNvPr id="17" name="Text 13"/>
          <p:cNvSpPr/>
          <p:nvPr/>
        </p:nvSpPr>
        <p:spPr>
          <a:xfrm>
            <a:off x="9985058" y="513457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3. Tugatish</a:t>
            </a:r>
            <a:endParaRPr lang="en-US" sz="1950" dirty="0"/>
          </a:p>
        </p:txBody>
      </p:sp>
      <p:sp>
        <p:nvSpPr>
          <p:cNvPr id="18" name="Text 14"/>
          <p:cNvSpPr/>
          <p:nvPr/>
        </p:nvSpPr>
        <p:spPr>
          <a:xfrm>
            <a:off x="9985058" y="5563791"/>
            <a:ext cx="365307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Agar shart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yolg'on</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bo'lsa, sikl tugaydi va dastur keyingi qatorga o'tadi.</a:t>
            </a:r>
            <a:endParaRPr lang="en-US" sz="1550" dirty="0"/>
          </a:p>
        </p:txBody>
      </p:sp>
      <p:sp>
        <p:nvSpPr>
          <p:cNvPr id="19" name="Shape 15"/>
          <p:cNvSpPr/>
          <p:nvPr/>
        </p:nvSpPr>
        <p:spPr>
          <a:xfrm>
            <a:off x="9240917" y="5577423"/>
            <a:ext cx="496133" cy="496133"/>
          </a:xfrm>
          <a:prstGeom prst="roundRect">
            <a:avLst>
              <a:gd name="adj" fmla="val 6001"/>
            </a:avLst>
          </a:prstGeom>
          <a:solidFill>
            <a:srgbClr val="FFFFFF"/>
          </a:solidFill>
          <a:ln w="22860">
            <a:solidFill>
              <a:srgbClr val="D8D4D4"/>
            </a:solidFill>
            <a:prstDash val="solid"/>
          </a:ln>
        </p:spPr>
      </p:sp>
      <p:pic>
        <p:nvPicPr>
          <p:cNvPr id="20" name="Image 2" descr="preencoded.png">    </p:cNvPr>
          <p:cNvPicPr>
            <a:picLocks noChangeAspect="1"/>
          </p:cNvPicPr>
          <p:nvPr/>
        </p:nvPicPr>
        <p:blipFill>
          <a:blip r:embed="rId3"/>
          <a:stretch>
            <a:fillRect/>
          </a:stretch>
        </p:blipFill>
        <p:spPr>
          <a:xfrm>
            <a:off x="9364980" y="5670411"/>
            <a:ext cx="248007" cy="310039"/>
          </a:xfrm>
          <a:prstGeom prst="rect">
            <a:avLst/>
          </a:prstGeom>
        </p:spPr>
      </p:pic>
      <p:sp>
        <p:nvSpPr>
          <p:cNvPr id="21" name="Text 16"/>
          <p:cNvSpPr/>
          <p:nvPr/>
        </p:nvSpPr>
        <p:spPr>
          <a:xfrm>
            <a:off x="793790" y="693801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Bu operator, ayniqsa, foydalanuvchidan ma'lumot kiritishni talab qiladigan va kiritilgan ma'lumotni darhol tekshirish kerak bo'lgan interaktiv dasturlarda foydalidir.</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93063"/>
            <a:ext cx="6096119"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while va do-while Farqlari</a:t>
            </a:r>
            <a:endParaRPr lang="en-US" sz="3900" dirty="0"/>
          </a:p>
        </p:txBody>
      </p:sp>
      <p:sp>
        <p:nvSpPr>
          <p:cNvPr id="3" name="Text 1"/>
          <p:cNvSpPr/>
          <p:nvPr/>
        </p:nvSpPr>
        <p:spPr>
          <a:xfrm>
            <a:off x="793790" y="170997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Garchi ikkala operator ham shartga asoslangan takrorlashni ta'minlasa-da, ularning ishlash mantig'idagi kichik farq ularni turli vaziyatlarda qo'llashga majbur qiladi. Bu farq shartni tekshirish vaqtida yotadi.</a:t>
            </a:r>
            <a:endParaRPr lang="en-US" sz="1550" dirty="0"/>
          </a:p>
        </p:txBody>
      </p:sp>
      <p:sp>
        <p:nvSpPr>
          <p:cNvPr id="4" name="Shape 2"/>
          <p:cNvSpPr/>
          <p:nvPr/>
        </p:nvSpPr>
        <p:spPr>
          <a:xfrm>
            <a:off x="793790" y="2568297"/>
            <a:ext cx="13042821" cy="2045494"/>
          </a:xfrm>
          <a:prstGeom prst="roundRect">
            <a:avLst>
              <a:gd name="adj" fmla="val 1455"/>
            </a:avLst>
          </a:prstGeom>
          <a:noFill/>
          <a:ln w="7620">
            <a:solidFill>
              <a:srgbClr val="000000">
                <a:alpha val="8000"/>
              </a:srgbClr>
            </a:solidFill>
            <a:prstDash val="solid"/>
          </a:ln>
        </p:spPr>
      </p:sp>
      <p:sp>
        <p:nvSpPr>
          <p:cNvPr id="5" name="Shape 3"/>
          <p:cNvSpPr/>
          <p:nvPr/>
        </p:nvSpPr>
        <p:spPr>
          <a:xfrm>
            <a:off x="801410" y="2575917"/>
            <a:ext cx="13027581" cy="570905"/>
          </a:xfrm>
          <a:prstGeom prst="rect">
            <a:avLst/>
          </a:prstGeom>
          <a:solidFill>
            <a:srgbClr val="FFFFFF">
              <a:alpha val="4000"/>
            </a:srgbClr>
          </a:solidFill>
          <a:ln/>
        </p:spPr>
      </p:sp>
      <p:sp>
        <p:nvSpPr>
          <p:cNvPr id="6" name="Text 4"/>
          <p:cNvSpPr/>
          <p:nvPr/>
        </p:nvSpPr>
        <p:spPr>
          <a:xfrm>
            <a:off x="999887" y="2702600"/>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Shartni Tekshirish</a:t>
            </a:r>
            <a:endParaRPr lang="en-US" sz="1550" dirty="0"/>
          </a:p>
        </p:txBody>
      </p:sp>
      <p:sp>
        <p:nvSpPr>
          <p:cNvPr id="7" name="Text 5"/>
          <p:cNvSpPr/>
          <p:nvPr/>
        </p:nvSpPr>
        <p:spPr>
          <a:xfrm>
            <a:off x="4911923" y="2702600"/>
            <a:ext cx="415528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tanasi oldidan (boshida)</a:t>
            </a:r>
            <a:endParaRPr lang="en-US" sz="1550" dirty="0"/>
          </a:p>
        </p:txBody>
      </p:sp>
      <p:sp>
        <p:nvSpPr>
          <p:cNvPr id="8" name="Text 6"/>
          <p:cNvSpPr/>
          <p:nvPr/>
        </p:nvSpPr>
        <p:spPr>
          <a:xfrm>
            <a:off x="9471541" y="2702600"/>
            <a:ext cx="415909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tanasi bajarilgandan keyin (oxirida)</a:t>
            </a:r>
            <a:endParaRPr lang="en-US" sz="1550" dirty="0"/>
          </a:p>
        </p:txBody>
      </p:sp>
      <p:sp>
        <p:nvSpPr>
          <p:cNvPr id="9" name="Shape 7"/>
          <p:cNvSpPr/>
          <p:nvPr/>
        </p:nvSpPr>
        <p:spPr>
          <a:xfrm>
            <a:off x="801410" y="3146822"/>
            <a:ext cx="13027581" cy="570905"/>
          </a:xfrm>
          <a:prstGeom prst="rect">
            <a:avLst/>
          </a:prstGeom>
          <a:solidFill>
            <a:srgbClr val="000000">
              <a:alpha val="4000"/>
            </a:srgbClr>
          </a:solidFill>
          <a:ln/>
        </p:spPr>
      </p:sp>
      <p:sp>
        <p:nvSpPr>
          <p:cNvPr id="10" name="Text 8"/>
          <p:cNvSpPr/>
          <p:nvPr/>
        </p:nvSpPr>
        <p:spPr>
          <a:xfrm>
            <a:off x="999887" y="3273504"/>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Minimal Bajarilish</a:t>
            </a:r>
            <a:endParaRPr lang="en-US" sz="1550" dirty="0"/>
          </a:p>
        </p:txBody>
      </p:sp>
      <p:sp>
        <p:nvSpPr>
          <p:cNvPr id="11" name="Text 9"/>
          <p:cNvSpPr/>
          <p:nvPr/>
        </p:nvSpPr>
        <p:spPr>
          <a:xfrm>
            <a:off x="4911923" y="3273504"/>
            <a:ext cx="415528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0 marta (agar shart dastlab yolg'on bo'lsa)</a:t>
            </a:r>
            <a:endParaRPr lang="en-US" sz="1550" dirty="0"/>
          </a:p>
        </p:txBody>
      </p:sp>
      <p:sp>
        <p:nvSpPr>
          <p:cNvPr id="12" name="Text 10"/>
          <p:cNvSpPr/>
          <p:nvPr/>
        </p:nvSpPr>
        <p:spPr>
          <a:xfrm>
            <a:off x="9471541" y="3273504"/>
            <a:ext cx="415909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Kamida 1 marta (shartdan qat'i nazar)</a:t>
            </a:r>
            <a:endParaRPr lang="en-US" sz="1550" dirty="0"/>
          </a:p>
        </p:txBody>
      </p:sp>
      <p:sp>
        <p:nvSpPr>
          <p:cNvPr id="13" name="Shape 11"/>
          <p:cNvSpPr/>
          <p:nvPr/>
        </p:nvSpPr>
        <p:spPr>
          <a:xfrm>
            <a:off x="801410" y="3717727"/>
            <a:ext cx="13027581" cy="888444"/>
          </a:xfrm>
          <a:prstGeom prst="rect">
            <a:avLst/>
          </a:prstGeom>
          <a:solidFill>
            <a:srgbClr val="FFFFFF">
              <a:alpha val="4000"/>
            </a:srgbClr>
          </a:solidFill>
          <a:ln/>
        </p:spPr>
      </p:sp>
      <p:sp>
        <p:nvSpPr>
          <p:cNvPr id="14" name="Text 12"/>
          <p:cNvSpPr/>
          <p:nvPr/>
        </p:nvSpPr>
        <p:spPr>
          <a:xfrm>
            <a:off x="999887" y="3844409"/>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Qo'llanish</a:t>
            </a:r>
            <a:endParaRPr lang="en-US" sz="1550" dirty="0"/>
          </a:p>
        </p:txBody>
      </p:sp>
      <p:sp>
        <p:nvSpPr>
          <p:cNvPr id="15" name="Text 13"/>
          <p:cNvSpPr/>
          <p:nvPr/>
        </p:nvSpPr>
        <p:spPr>
          <a:xfrm>
            <a:off x="4911923" y="3844409"/>
            <a:ext cx="415528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Noma'lum takrorlanishlar soni, shart muhim bo'lganda</a:t>
            </a:r>
            <a:endParaRPr lang="en-US" sz="1550" dirty="0"/>
          </a:p>
        </p:txBody>
      </p:sp>
      <p:sp>
        <p:nvSpPr>
          <p:cNvPr id="16" name="Text 14"/>
          <p:cNvSpPr/>
          <p:nvPr/>
        </p:nvSpPr>
        <p:spPr>
          <a:xfrm>
            <a:off x="9471541" y="3844409"/>
            <a:ext cx="415909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Foydalanuvchi kiritishini tekshirish, kamida bir marta bajarilishi shart bo'lgan amallar</a:t>
            </a:r>
            <a:endParaRPr lang="en-US" sz="1550" dirty="0"/>
          </a:p>
        </p:txBody>
      </p:sp>
      <p:pic>
        <p:nvPicPr>
          <p:cNvPr id="17" name="Image 0" descr="preencoded.png">    </p:cNvPr>
          <p:cNvPicPr>
            <a:picLocks noChangeAspect="1"/>
          </p:cNvPicPr>
          <p:nvPr/>
        </p:nvPicPr>
        <p:blipFill>
          <a:blip r:embed="rId1"/>
          <a:stretch>
            <a:fillRect/>
          </a:stretch>
        </p:blipFill>
        <p:spPr>
          <a:xfrm>
            <a:off x="3752731" y="4965740"/>
            <a:ext cx="3483054" cy="2381607"/>
          </a:xfrm>
          <a:prstGeom prst="rect">
            <a:avLst/>
          </a:prstGeom>
        </p:spPr>
      </p:pic>
      <p:pic>
        <p:nvPicPr>
          <p:cNvPr id="18" name="Image 1" descr="preencoded.png">    </p:cNvPr>
          <p:cNvPicPr>
            <a:picLocks noChangeAspect="1"/>
          </p:cNvPicPr>
          <p:nvPr/>
        </p:nvPicPr>
        <p:blipFill>
          <a:blip r:embed="rId2"/>
          <a:stretch>
            <a:fillRect/>
          </a:stretch>
        </p:blipFill>
        <p:spPr>
          <a:xfrm>
            <a:off x="7394496" y="4965740"/>
            <a:ext cx="3483054" cy="23816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42824"/>
            <a:ext cx="7963972"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Cheksiz Sikllar va Ulardan Chiqish</a:t>
            </a:r>
            <a:endParaRPr lang="en-US" sz="3900" dirty="0"/>
          </a:p>
        </p:txBody>
      </p:sp>
      <p:sp>
        <p:nvSpPr>
          <p:cNvPr id="3" name="Text 1"/>
          <p:cNvSpPr/>
          <p:nvPr/>
        </p:nvSpPr>
        <p:spPr>
          <a:xfrm>
            <a:off x="793790" y="265973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Agar siklning sharti hech qachon yolg'on bo'lmasa, u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cheksiz sikl</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ga aylanadi. Bu odatda dastur xatosi bo'lib, kompyuter resurslarini to'liq iste'mol qiladi. Biroq, ba'zi hollarda (masalan, server dasturlari yoki o'yin sikllari) cheksiz sikl ataylab yaratiladi.</a:t>
            </a:r>
            <a:endParaRPr lang="en-US" sz="1550" dirty="0"/>
          </a:p>
        </p:txBody>
      </p:sp>
      <p:sp>
        <p:nvSpPr>
          <p:cNvPr id="4" name="Shape 2"/>
          <p:cNvSpPr/>
          <p:nvPr/>
        </p:nvSpPr>
        <p:spPr>
          <a:xfrm>
            <a:off x="793790" y="3518059"/>
            <a:ext cx="6422231" cy="2187535"/>
          </a:xfrm>
          <a:prstGeom prst="roundRect">
            <a:avLst>
              <a:gd name="adj" fmla="val 5016"/>
            </a:avLst>
          </a:prstGeom>
          <a:solidFill>
            <a:srgbClr val="FFFFFF"/>
          </a:solidFill>
          <a:ln w="22860">
            <a:solidFill>
              <a:srgbClr val="D8D4D4"/>
            </a:solidFill>
            <a:prstDash val="solid"/>
          </a:ln>
        </p:spPr>
      </p:sp>
      <p:sp>
        <p:nvSpPr>
          <p:cNvPr id="5" name="Shape 3"/>
          <p:cNvSpPr/>
          <p:nvPr/>
        </p:nvSpPr>
        <p:spPr>
          <a:xfrm>
            <a:off x="770930" y="3518059"/>
            <a:ext cx="91440" cy="2187535"/>
          </a:xfrm>
          <a:prstGeom prst="roundRect">
            <a:avLst>
              <a:gd name="adj" fmla="val 32558"/>
            </a:avLst>
          </a:prstGeom>
          <a:solidFill>
            <a:srgbClr val="1C9770"/>
          </a:solidFill>
          <a:ln/>
        </p:spPr>
      </p:sp>
      <p:sp>
        <p:nvSpPr>
          <p:cNvPr id="6" name="Text 4"/>
          <p:cNvSpPr/>
          <p:nvPr/>
        </p:nvSpPr>
        <p:spPr>
          <a:xfrm>
            <a:off x="1083588" y="3739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Xato Cheksiz Sikl</a:t>
            </a:r>
            <a:endParaRPr lang="en-US" sz="1950" dirty="0"/>
          </a:p>
        </p:txBody>
      </p:sp>
      <p:sp>
        <p:nvSpPr>
          <p:cNvPr id="7" name="Text 5"/>
          <p:cNvSpPr/>
          <p:nvPr/>
        </p:nvSpPr>
        <p:spPr>
          <a:xfrm>
            <a:off x="1083588" y="4168497"/>
            <a:ext cx="5911215" cy="13158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ichida shartni o'zgartiruvchi amalning yo'qligi yoki noto'g'ri bajarilishi natijasida yuzaga keladi. Masalan,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while (true)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sharti bilan yaratilgan va undan chiqish mexanizmi bo'lmagan sikl.</a:t>
            </a:r>
            <a:endParaRPr lang="en-US" sz="1550" dirty="0"/>
          </a:p>
        </p:txBody>
      </p:sp>
      <p:sp>
        <p:nvSpPr>
          <p:cNvPr id="8" name="Shape 6"/>
          <p:cNvSpPr/>
          <p:nvPr/>
        </p:nvSpPr>
        <p:spPr>
          <a:xfrm>
            <a:off x="7414379" y="3518059"/>
            <a:ext cx="6422231" cy="2187535"/>
          </a:xfrm>
          <a:prstGeom prst="roundRect">
            <a:avLst>
              <a:gd name="adj" fmla="val 5016"/>
            </a:avLst>
          </a:prstGeom>
          <a:solidFill>
            <a:srgbClr val="FFFFFF"/>
          </a:solidFill>
          <a:ln w="22860">
            <a:solidFill>
              <a:srgbClr val="D8D4D4"/>
            </a:solidFill>
            <a:prstDash val="solid"/>
          </a:ln>
        </p:spPr>
      </p:sp>
      <p:sp>
        <p:nvSpPr>
          <p:cNvPr id="9" name="Shape 7"/>
          <p:cNvSpPr/>
          <p:nvPr/>
        </p:nvSpPr>
        <p:spPr>
          <a:xfrm>
            <a:off x="7391519" y="3518059"/>
            <a:ext cx="91440" cy="2187535"/>
          </a:xfrm>
          <a:prstGeom prst="roundRect">
            <a:avLst>
              <a:gd name="adj" fmla="val 32558"/>
            </a:avLst>
          </a:prstGeom>
          <a:solidFill>
            <a:srgbClr val="1C9770"/>
          </a:solidFill>
          <a:ln/>
        </p:spPr>
      </p:sp>
      <p:sp>
        <p:nvSpPr>
          <p:cNvPr id="10" name="Text 8"/>
          <p:cNvSpPr/>
          <p:nvPr/>
        </p:nvSpPr>
        <p:spPr>
          <a:xfrm>
            <a:off x="7704177" y="3739277"/>
            <a:ext cx="3348871"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Sikldan Chiqish Operatorlari</a:t>
            </a:r>
            <a:endParaRPr lang="en-US" sz="1950" dirty="0"/>
          </a:p>
        </p:txBody>
      </p:sp>
      <p:sp>
        <p:nvSpPr>
          <p:cNvPr id="11" name="Text 9"/>
          <p:cNvSpPr/>
          <p:nvPr/>
        </p:nvSpPr>
        <p:spPr>
          <a:xfrm>
            <a:off x="7704177" y="4168497"/>
            <a:ext cx="5911215" cy="12930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Cheksiz sikldan yoki siklning o'rtasidan shartli ravishda chiqish uchun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break</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operatori ishlatiladi.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continue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operatori esa siklning joriy iteratsiyasini to'xtatib, keyingi iteratsiyaga o'tishga majbur qiladi.</a:t>
            </a:r>
            <a:endParaRPr lang="en-US" sz="1550" dirty="0"/>
          </a:p>
        </p:txBody>
      </p:sp>
      <p:sp>
        <p:nvSpPr>
          <p:cNvPr id="12" name="Text 10"/>
          <p:cNvSpPr/>
          <p:nvPr/>
        </p:nvSpPr>
        <p:spPr>
          <a:xfrm>
            <a:off x="793790" y="5928836"/>
            <a:ext cx="13042821" cy="65793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Cheksiz sikllarni boshqarishda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break</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va </a:t>
            </a:r>
            <a:pPr algn="l" indent="0" marL="0">
              <a:lnSpc>
                <a:spcPts val="2500"/>
              </a:lnSpc>
              <a:buNone/>
            </a:pPr>
            <a:r>
              <a:rPr lang="en-US" sz="1550" dirty="0">
                <a:solidFill>
                  <a:srgbClr val="464646"/>
                </a:solidFill>
                <a:highlight>
                  <a:srgbClr val="F2F2F2"/>
                </a:highlight>
                <a:latin typeface="Consolas" pitchFamily="34" charset="0"/>
                <a:ea typeface="Consolas" pitchFamily="34" charset="-122"/>
                <a:cs typeface="Consolas" pitchFamily="34" charset="-120"/>
              </a:rPr>
              <a:t>continue</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operatorlaridan ehtiyotkorlik bilan foydalanish kerak, chunki ularning haddan tashqari ko'p ishlatilishi kodni tushunishni qiyinlashtirishi mumkin.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65678"/>
            <a:ext cx="8190190"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Xulosa: Qaysi Siklni Tanlash Kerak?</a:t>
            </a:r>
            <a:endParaRPr lang="en-US" sz="3900" dirty="0"/>
          </a:p>
        </p:txBody>
      </p:sp>
      <p:sp>
        <p:nvSpPr>
          <p:cNvPr id="3" name="Text 1"/>
          <p:cNvSpPr/>
          <p:nvPr/>
        </p:nvSpPr>
        <p:spPr>
          <a:xfrm>
            <a:off x="793790" y="168259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Sikl turini tanlash vazifaning xususiyatlariga bog'liq. To'g'ri tanlov dastur samaradorligini va kodning o'qish qulayligini oshiradi.</a:t>
            </a:r>
            <a:endParaRPr lang="en-US" sz="1550" dirty="0"/>
          </a:p>
        </p:txBody>
      </p:sp>
      <p:pic>
        <p:nvPicPr>
          <p:cNvPr id="4" name="Image 0" descr="preencoded.png">    </p:cNvPr>
          <p:cNvPicPr>
            <a:picLocks noChangeAspect="1"/>
          </p:cNvPicPr>
          <p:nvPr/>
        </p:nvPicPr>
        <p:blipFill>
          <a:blip r:embed="rId1"/>
          <a:stretch>
            <a:fillRect/>
          </a:stretch>
        </p:blipFill>
        <p:spPr>
          <a:xfrm>
            <a:off x="2978348" y="2223373"/>
            <a:ext cx="2152055" cy="1461016"/>
          </a:xfrm>
          <a:prstGeom prst="rect">
            <a:avLst/>
          </a:prstGeom>
        </p:spPr>
      </p:pic>
      <p:pic>
        <p:nvPicPr>
          <p:cNvPr id="5" name="Image 1" descr="preencoded.png">    </p:cNvPr>
          <p:cNvPicPr>
            <a:picLocks noChangeAspect="1"/>
          </p:cNvPicPr>
          <p:nvPr/>
        </p:nvPicPr>
        <p:blipFill>
          <a:blip r:embed="rId2"/>
          <a:stretch>
            <a:fillRect/>
          </a:stretch>
        </p:blipFill>
        <p:spPr>
          <a:xfrm>
            <a:off x="3914775" y="2968704"/>
            <a:ext cx="279083" cy="348853"/>
          </a:xfrm>
          <a:prstGeom prst="rect">
            <a:avLst/>
          </a:prstGeom>
        </p:spPr>
      </p:pic>
      <p:sp>
        <p:nvSpPr>
          <p:cNvPr id="6" name="Text 2"/>
          <p:cNvSpPr/>
          <p:nvPr/>
        </p:nvSpPr>
        <p:spPr>
          <a:xfrm>
            <a:off x="5328761" y="258044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do-while</a:t>
            </a:r>
            <a:endParaRPr lang="en-US" sz="1950" dirty="0"/>
          </a:p>
        </p:txBody>
      </p:sp>
      <p:sp>
        <p:nvSpPr>
          <p:cNvPr id="7" name="Text 3"/>
          <p:cNvSpPr/>
          <p:nvPr/>
        </p:nvSpPr>
        <p:spPr>
          <a:xfrm>
            <a:off x="5328761" y="3009662"/>
            <a:ext cx="7554635"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Kamida bir marta bajarilishi shart bo'lgan amallar (masalan, kiritishni tekshirish).</a:t>
            </a:r>
            <a:endParaRPr lang="en-US" sz="1550" dirty="0"/>
          </a:p>
        </p:txBody>
      </p:sp>
      <p:sp>
        <p:nvSpPr>
          <p:cNvPr id="8" name="Shape 4"/>
          <p:cNvSpPr/>
          <p:nvPr/>
        </p:nvSpPr>
        <p:spPr>
          <a:xfrm>
            <a:off x="5179933" y="3699629"/>
            <a:ext cx="8607147" cy="11430"/>
          </a:xfrm>
          <a:prstGeom prst="roundRect">
            <a:avLst>
              <a:gd name="adj" fmla="val 260465"/>
            </a:avLst>
          </a:prstGeom>
          <a:solidFill>
            <a:srgbClr val="D8D4D4"/>
          </a:solidFill>
          <a:ln/>
        </p:spPr>
      </p:sp>
      <p:pic>
        <p:nvPicPr>
          <p:cNvPr id="9" name="Image 2" descr="preencoded.png">    </p:cNvPr>
          <p:cNvPicPr>
            <a:picLocks noChangeAspect="1"/>
          </p:cNvPicPr>
          <p:nvPr/>
        </p:nvPicPr>
        <p:blipFill>
          <a:blip r:embed="rId3"/>
          <a:stretch>
            <a:fillRect/>
          </a:stretch>
        </p:blipFill>
        <p:spPr>
          <a:xfrm>
            <a:off x="1902381" y="3733919"/>
            <a:ext cx="4304109" cy="1461016"/>
          </a:xfrm>
          <a:prstGeom prst="rect">
            <a:avLst/>
          </a:prstGeom>
        </p:spPr>
      </p:pic>
      <p:pic>
        <p:nvPicPr>
          <p:cNvPr id="10" name="Image 3" descr="preencoded.png">    </p:cNvPr>
          <p:cNvPicPr>
            <a:picLocks noChangeAspect="1"/>
          </p:cNvPicPr>
          <p:nvPr/>
        </p:nvPicPr>
        <p:blipFill>
          <a:blip r:embed="rId4"/>
          <a:stretch>
            <a:fillRect/>
          </a:stretch>
        </p:blipFill>
        <p:spPr>
          <a:xfrm>
            <a:off x="3914775" y="4289941"/>
            <a:ext cx="279083" cy="348853"/>
          </a:xfrm>
          <a:prstGeom prst="rect">
            <a:avLst/>
          </a:prstGeom>
        </p:spPr>
      </p:pic>
      <p:sp>
        <p:nvSpPr>
          <p:cNvPr id="11" name="Text 5"/>
          <p:cNvSpPr/>
          <p:nvPr/>
        </p:nvSpPr>
        <p:spPr>
          <a:xfrm>
            <a:off x="6404848" y="393227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while</a:t>
            </a:r>
            <a:endParaRPr lang="en-US" sz="1950" dirty="0"/>
          </a:p>
        </p:txBody>
      </p:sp>
      <p:sp>
        <p:nvSpPr>
          <p:cNvPr id="12" name="Text 6"/>
          <p:cNvSpPr/>
          <p:nvPr/>
        </p:nvSpPr>
        <p:spPr>
          <a:xfrm>
            <a:off x="6404848" y="4361498"/>
            <a:ext cx="7233404"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Takrorlanishlar soni noma'lum, shartga bog'liq bo'lgan jarayonlar (masalan, fayl o'qish).</a:t>
            </a:r>
            <a:endParaRPr lang="en-US" sz="1550" dirty="0"/>
          </a:p>
        </p:txBody>
      </p:sp>
      <p:sp>
        <p:nvSpPr>
          <p:cNvPr id="13" name="Shape 7"/>
          <p:cNvSpPr/>
          <p:nvPr/>
        </p:nvSpPr>
        <p:spPr>
          <a:xfrm>
            <a:off x="6256020" y="5210175"/>
            <a:ext cx="7531060" cy="11430"/>
          </a:xfrm>
          <a:prstGeom prst="roundRect">
            <a:avLst>
              <a:gd name="adj" fmla="val 260465"/>
            </a:avLst>
          </a:prstGeom>
          <a:solidFill>
            <a:srgbClr val="D8D4D4"/>
          </a:solidFill>
          <a:ln/>
        </p:spPr>
      </p:sp>
      <p:pic>
        <p:nvPicPr>
          <p:cNvPr id="14" name="Image 4" descr="preencoded.png">    </p:cNvPr>
          <p:cNvPicPr>
            <a:picLocks noChangeAspect="1"/>
          </p:cNvPicPr>
          <p:nvPr/>
        </p:nvPicPr>
        <p:blipFill>
          <a:blip r:embed="rId5"/>
          <a:stretch>
            <a:fillRect/>
          </a:stretch>
        </p:blipFill>
        <p:spPr>
          <a:xfrm>
            <a:off x="826294" y="5244465"/>
            <a:ext cx="6456164" cy="1461016"/>
          </a:xfrm>
          <a:prstGeom prst="rect">
            <a:avLst/>
          </a:prstGeom>
        </p:spPr>
      </p:pic>
      <p:pic>
        <p:nvPicPr>
          <p:cNvPr id="15" name="Image 5" descr="preencoded.png">    </p:cNvPr>
          <p:cNvPicPr>
            <a:picLocks noChangeAspect="1"/>
          </p:cNvPicPr>
          <p:nvPr/>
        </p:nvPicPr>
        <p:blipFill>
          <a:blip r:embed="rId6"/>
          <a:stretch>
            <a:fillRect/>
          </a:stretch>
        </p:blipFill>
        <p:spPr>
          <a:xfrm>
            <a:off x="3914775" y="5800487"/>
            <a:ext cx="279083" cy="348853"/>
          </a:xfrm>
          <a:prstGeom prst="rect">
            <a:avLst/>
          </a:prstGeom>
        </p:spPr>
      </p:pic>
      <p:sp>
        <p:nvSpPr>
          <p:cNvPr id="16" name="Text 8"/>
          <p:cNvSpPr/>
          <p:nvPr/>
        </p:nvSpPr>
        <p:spPr>
          <a:xfrm>
            <a:off x="7480816" y="54428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for</a:t>
            </a:r>
            <a:endParaRPr lang="en-US" sz="1950" dirty="0"/>
          </a:p>
        </p:txBody>
      </p:sp>
      <p:sp>
        <p:nvSpPr>
          <p:cNvPr id="17" name="Text 9"/>
          <p:cNvSpPr/>
          <p:nvPr/>
        </p:nvSpPr>
        <p:spPr>
          <a:xfrm>
            <a:off x="7480816" y="5872043"/>
            <a:ext cx="6157436"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Takrorlanishlar soni oldindan aniq ma'lum bo'lgan vazifalar (masalan, massivlar).</a:t>
            </a:r>
            <a:endParaRPr lang="en-US" sz="1550" dirty="0"/>
          </a:p>
        </p:txBody>
      </p:sp>
      <p:sp>
        <p:nvSpPr>
          <p:cNvPr id="18" name="Text 10"/>
          <p:cNvSpPr/>
          <p:nvPr/>
        </p:nvSpPr>
        <p:spPr>
          <a:xfrm>
            <a:off x="793790" y="692872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Ushbu uchta asosiy takrorlash operatorini o'zlashtirish dasturlashda murakkab algoritmlarni samarali amalga oshirish uchun mustahkam poydevor yaratadi. Har bir operatorning o'ziga xos xususiyatlarini tushunish, dasturchiga eng maqbul yechimni tanlash imkonini beradi.</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2025-10-06T04:21:56Z</dcterms:created>
  <dcterms:modified xsi:type="dcterms:W3CDTF">2025-10-06T04:21:56Z</dcterms:modified>
</cp:coreProperties>
</file>