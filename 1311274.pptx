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1"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3" r:id="rId8"/>
    <p:sldId id="264" r:id="rId9"/>
    <p:sldId id="265" r:id="rId10"/>
    <p:sldId id="26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75" d="100"/>
          <a:sy n="75" d="100"/>
        </p:scale>
        <p:origin x="1236" y="-22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DCA2311F-7FEB-4C54-55CB-B40F66FC40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A7CAA342-6CDF-DB66-343A-D1F95E38BE9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A7904E-5030-45CC-ADBB-11F5B6BE7904}" type="datetimeFigureOut">
              <a:rPr lang="ru-RU" smtClean="0"/>
              <a:t>19.12.2022</a:t>
            </a:fld>
            <a:endParaRPr lang="ru-RU"/>
          </a:p>
        </p:txBody>
      </p:sp>
      <p:sp>
        <p:nvSpPr>
          <p:cNvPr id="4" name="Нижний колонтитул 3">
            <a:extLst>
              <a:ext uri="{FF2B5EF4-FFF2-40B4-BE49-F238E27FC236}">
                <a16:creationId xmlns:a16="http://schemas.microsoft.com/office/drawing/2014/main" id="{D6B50A79-8690-EC50-9AEB-8E1CD3BFC1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4C1F41B-B5C0-4AE8-C87F-3C5E7FA1CE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4DAB00-7F3D-48F7-9423-18D350079701}" type="slidenum">
              <a:rPr lang="ru-RU" smtClean="0"/>
              <a:t>‹#›</a:t>
            </a:fld>
            <a:endParaRPr lang="ru-RU"/>
          </a:p>
        </p:txBody>
      </p:sp>
    </p:spTree>
    <p:extLst>
      <p:ext uri="{BB962C8B-B14F-4D97-AF65-F5344CB8AC3E}">
        <p14:creationId xmlns:p14="http://schemas.microsoft.com/office/powerpoint/2010/main" val="36588823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54758-D92B-4B5A-A29C-070FD03318FD}" type="datetimeFigureOut">
              <a:rPr lang="ru-RU" smtClean="0"/>
              <a:t>19.12.2022</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124793-DA85-4B3C-903B-30215ED6A65E}" type="slidenum">
              <a:rPr lang="ru-RU" smtClean="0"/>
              <a:t>‹#›</a:t>
            </a:fld>
            <a:endParaRPr lang="ru-RU"/>
          </a:p>
        </p:txBody>
      </p:sp>
    </p:spTree>
    <p:extLst>
      <p:ext uri="{BB962C8B-B14F-4D97-AF65-F5344CB8AC3E}">
        <p14:creationId xmlns:p14="http://schemas.microsoft.com/office/powerpoint/2010/main" val="27061685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3124793-DA85-4B3C-903B-30215ED6A65E}" type="slidenum">
              <a:rPr lang="ru-RU" smtClean="0"/>
              <a:t>2</a:t>
            </a:fld>
            <a:endParaRPr lang="ru-RU"/>
          </a:p>
        </p:txBody>
      </p:sp>
    </p:spTree>
    <p:extLst>
      <p:ext uri="{BB962C8B-B14F-4D97-AF65-F5344CB8AC3E}">
        <p14:creationId xmlns:p14="http://schemas.microsoft.com/office/powerpoint/2010/main" val="2365917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3124793-DA85-4B3C-903B-30215ED6A65E}" type="slidenum">
              <a:rPr lang="ru-RU" smtClean="0"/>
              <a:t>4</a:t>
            </a:fld>
            <a:endParaRPr lang="ru-RU"/>
          </a:p>
        </p:txBody>
      </p:sp>
    </p:spTree>
    <p:extLst>
      <p:ext uri="{BB962C8B-B14F-4D97-AF65-F5344CB8AC3E}">
        <p14:creationId xmlns:p14="http://schemas.microsoft.com/office/powerpoint/2010/main" val="34777033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ru-RU"/>
              <a:t>Образец заголовка</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pPr lvl="0"/>
            <a:fld id="{FC0704A1-E86E-4BBE-8D6D-0700C49158DA}" type="datetime1">
              <a:rPr lang="zh-CN" altLang="en-US" smtClean="0"/>
              <a:t>2022/12/19</a:t>
            </a:fld>
            <a:endParaRPr lang="zh-CN" altLang="en-US" dirty="0"/>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pPr lvl="0"/>
            <a:endParaRPr lang="zh-CN" altLang="en-US" dirty="0"/>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1156425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lvl="0"/>
            <a:fld id="{0A95CFF3-8382-450D-B29A-32D613D37B52}"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806363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ru-RU"/>
              <a:t>Образец заголовка</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pPr lvl="0"/>
            <a:fld id="{1C28C024-AA3E-4749-8169-CD6DE33153FD}"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379731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ru-RU"/>
              <a:t>Образец заголовка</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pPr lvl="0"/>
            <a:fld id="{49949C0F-A357-456A-AB2A-D676DA5D8B12}" type="datetime1">
              <a:rPr lang="zh-CN" altLang="en-US" smtClean="0"/>
              <a:t>2022/12/19</a:t>
            </a:fld>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424126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pPr lvl="0"/>
            <a:fld id="{BE4AB999-08CB-413A-A80A-089D6E331893}" type="datetime1">
              <a:rPr lang="zh-CN" altLang="en-US" smtClean="0"/>
              <a:t>2022/12/19</a:t>
            </a:fld>
            <a:endParaRPr lang="zh-CN" altLang="en-US" dirty="0"/>
          </a:p>
        </p:txBody>
      </p:sp>
      <p:sp>
        <p:nvSpPr>
          <p:cNvPr id="8" name="Footer Placeholder 7"/>
          <p:cNvSpPr>
            <a:spLocks noGrp="1"/>
          </p:cNvSpPr>
          <p:nvPr>
            <p:ph type="ftr" sz="quarter" idx="11"/>
          </p:nvPr>
        </p:nvSpPr>
        <p:spPr/>
        <p:txBody>
          <a:bodyPr/>
          <a:lstStyle/>
          <a:p>
            <a:pPr lvl="0"/>
            <a:endParaRPr lang="zh-CN" alt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4285259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pPr lvl="0"/>
            <a:fld id="{5339C430-877F-4EC5-A2FE-EA1DFA3DE00C}" type="datetime1">
              <a:rPr lang="zh-CN" altLang="en-US" smtClean="0"/>
              <a:t>2022/12/19</a:t>
            </a:fld>
            <a:endParaRPr lang="zh-CN" altLang="en-US" dirty="0"/>
          </a:p>
        </p:txBody>
      </p:sp>
      <p:sp>
        <p:nvSpPr>
          <p:cNvPr id="4" name="Footer Placeholder 3"/>
          <p:cNvSpPr>
            <a:spLocks noGrp="1"/>
          </p:cNvSpPr>
          <p:nvPr>
            <p:ph type="ftr" sz="quarter" idx="11"/>
          </p:nvPr>
        </p:nvSpPr>
        <p:spPr/>
        <p:txBody>
          <a:bodyPr/>
          <a:lstStyle/>
          <a:p>
            <a:pPr lvl="0"/>
            <a:endParaRPr lang="zh-CN" altLang="en-US" dirty="0"/>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3983496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pPr lvl="0"/>
            <a:fld id="{69814818-C2C7-4E25-B876-E606D2CD9812}" type="datetime1">
              <a:rPr lang="zh-CN" altLang="en-US" smtClean="0"/>
              <a:t>2022/12/19</a:t>
            </a:fld>
            <a:endParaRPr lang="zh-CN" altLang="en-US" dirty="0"/>
          </a:p>
        </p:txBody>
      </p:sp>
      <p:sp>
        <p:nvSpPr>
          <p:cNvPr id="3" name="Footer Placeholder 2"/>
          <p:cNvSpPr>
            <a:spLocks noGrp="1"/>
          </p:cNvSpPr>
          <p:nvPr>
            <p:ph type="ftr" sz="quarter" idx="11"/>
          </p:nvPr>
        </p:nvSpPr>
        <p:spPr/>
        <p:txBody>
          <a:bodyPr/>
          <a:lstStyle/>
          <a:p>
            <a:pPr lvl="0"/>
            <a:endParaRPr lang="zh-CN" altLang="en-US" dirty="0"/>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3549243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pPr lvl="0"/>
            <a:fld id="{FB9DF588-2BAA-4EB4-8387-AA628BA33627}" type="datetime1">
              <a:rPr lang="zh-CN" altLang="en-US" smtClean="0"/>
              <a:t>2022/12/19</a:t>
            </a:fld>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426918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pPr lvl="0"/>
            <a:fld id="{6007BA37-6D8E-45F0-9736-990FF8DD9D7A}" type="datetime1">
              <a:rPr lang="zh-CN" altLang="en-US" smtClean="0"/>
              <a:t>2022/12/19</a:t>
            </a:fld>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1477437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Панорамная фотография с подписью">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pPr lvl="0"/>
            <a:fld id="{8DA50795-35B6-4E2B-85C2-4B7FF7050090}" type="datetime1">
              <a:rPr lang="zh-CN" altLang="en-US" smtClean="0"/>
              <a:t>2022/12/19</a:t>
            </a:fld>
            <a:endParaRPr lang="zh-CN" altLang="en-US" dirty="0"/>
          </a:p>
        </p:txBody>
      </p:sp>
      <p:sp>
        <p:nvSpPr>
          <p:cNvPr id="6" name="Footer Placeholder 5"/>
          <p:cNvSpPr>
            <a:spLocks noGrp="1"/>
          </p:cNvSpPr>
          <p:nvPr>
            <p:ph type="ftr" sz="quarter" idx="11"/>
          </p:nvPr>
        </p:nvSpPr>
        <p:spPr/>
        <p:txBody>
          <a:bodyPr/>
          <a:lstStyle/>
          <a:p>
            <a:pPr lvl="0"/>
            <a:endParaRPr lang="zh-CN" alt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2964005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Заголовок и подпись">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ru-RU"/>
              <a:t>Образец заголовка</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pPr lvl="0"/>
            <a:fld id="{8C7FEAC4-05F2-4254-B3EC-90D83A9A8E7B}"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1095826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с подписью">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ru-RU"/>
              <a:t>Образец заголовка</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pPr lvl="0"/>
            <a:fld id="{CE163A70-5E5D-49B1-BE3A-E19CDA8D6A53}"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996492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очка имени">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pPr lvl="0"/>
            <a:fld id="{26909B83-D158-428E-A129-67E1A789404D}"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3967215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ru-RU"/>
              <a:t>Образец заголовка</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lvl="0"/>
            <a:fld id="{3475FD90-E7FF-4A14-9F7C-459CC2BE478A}" type="datetime1">
              <a:rPr lang="zh-CN" altLang="en-US" smtClean="0"/>
              <a:t>2022/12/19</a:t>
            </a:fld>
            <a:endParaRPr lang="zh-CN" altLang="en-US" dirty="0"/>
          </a:p>
        </p:txBody>
      </p:sp>
      <p:sp>
        <p:nvSpPr>
          <p:cNvPr id="8" name="Footer Placeholder 7"/>
          <p:cNvSpPr>
            <a:spLocks noGrp="1"/>
          </p:cNvSpPr>
          <p:nvPr>
            <p:ph type="ftr" sz="quarter" idx="11"/>
          </p:nvPr>
        </p:nvSpPr>
        <p:spPr/>
        <p:txBody>
          <a:bodyPr/>
          <a:lstStyle/>
          <a:p>
            <a:pPr lvl="0"/>
            <a:endParaRPr lang="zh-CN" alt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4096049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ru-RU"/>
              <a:t>Образец заголовка</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lvl="0"/>
            <a:fld id="{75CB4C45-25DD-45C9-AE65-C30A3BBBA744}" type="datetime1">
              <a:rPr lang="zh-CN" altLang="en-US" smtClean="0"/>
              <a:t>2022/12/19</a:t>
            </a:fld>
            <a:endParaRPr lang="zh-CN" altLang="en-US" dirty="0"/>
          </a:p>
        </p:txBody>
      </p:sp>
      <p:sp>
        <p:nvSpPr>
          <p:cNvPr id="8" name="Footer Placeholder 7"/>
          <p:cNvSpPr>
            <a:spLocks noGrp="1"/>
          </p:cNvSpPr>
          <p:nvPr>
            <p:ph type="ftr" sz="quarter" idx="11"/>
          </p:nvPr>
        </p:nvSpPr>
        <p:spPr/>
        <p:txBody>
          <a:bodyPr/>
          <a:lstStyle/>
          <a:p>
            <a:pPr lvl="0"/>
            <a:endParaRPr lang="zh-CN" alt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2797250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lvl="0"/>
            <a:fld id="{786A88B5-5D88-4494-8615-485784CC45BA}"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1804939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ru-RU"/>
              <a:t>Образец заголовка</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pPr lvl="0"/>
            <a:fld id="{ACEE7650-FB3B-4559-AB20-73613232E868}" type="datetime1">
              <a:rPr lang="zh-CN" altLang="en-US" smtClean="0"/>
              <a:t>2022/12/19</a:t>
            </a:fld>
            <a:endParaRPr lang="zh-CN" altLang="en-US" dirty="0"/>
          </a:p>
        </p:txBody>
      </p:sp>
      <p:sp>
        <p:nvSpPr>
          <p:cNvPr id="5" name="Footer Placeholder 4"/>
          <p:cNvSpPr>
            <a:spLocks noGrp="1"/>
          </p:cNvSpPr>
          <p:nvPr>
            <p:ph type="ftr" sz="quarter" idx="11"/>
          </p:nvPr>
        </p:nvSpPr>
        <p:spPr/>
        <p:txBody>
          <a:bodyPr/>
          <a:lstStyle/>
          <a:p>
            <a:pPr lvl="0"/>
            <a:endParaRPr lang="zh-CN" alt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587879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Tx">
  <p:cSld name="标题，两项内容与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quarter" idx="1"/>
          </p:nvPr>
        </p:nvSpPr>
        <p:spPr>
          <a:xfrm>
            <a:off x="6286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86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half" idx="3"/>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fld id="{930513DF-C484-4358-AC7F-10D3176A6A99}" type="datetime1">
              <a:rPr lang="zh-CN" altLang="en-US" smtClean="0"/>
              <a:t>2022/12/19</a:t>
            </a:fld>
            <a:endParaRPr lang="zh-CN" altLang="en-US"/>
          </a:p>
        </p:txBody>
      </p:sp>
      <p:sp>
        <p:nvSpPr>
          <p:cNvPr id="7" name="页脚占位符 6"/>
          <p:cNvSpPr>
            <a:spLocks noGrp="1"/>
          </p:cNvSpPr>
          <p:nvPr>
            <p:ph type="ftr" sz="quarter" idx="11"/>
          </p:nvPr>
        </p:nvSpPr>
        <p:spPr/>
        <p:txBody>
          <a:bodyPr/>
          <a:lstStyle/>
          <a:p>
            <a:pPr lvl="0"/>
            <a:endParaRPr lang="zh-CN"/>
          </a:p>
        </p:txBody>
      </p:sp>
      <p:sp>
        <p:nvSpPr>
          <p:cNvPr id="8" name="灯片编号占位符 7"/>
          <p:cNvSpPr>
            <a:spLocks noGrp="1"/>
          </p:cNvSpPr>
          <p:nvPr>
            <p:ph type="sldNum" sz="quarter" idx="12"/>
          </p:nvPr>
        </p:nvSpPr>
        <p:spPr/>
        <p:txBody>
          <a:bodyPr/>
          <a:lstStyle/>
          <a:p>
            <a:pPr lvl="0"/>
            <a:fld id="{9A0DB2DC-4C9A-4742-B13C-FB6460FD3503}" type="slidenum">
              <a:rPr lang="en-US" altLang="zh-CN"/>
              <a:t>‹#›</a:t>
            </a:fld>
            <a:endParaRPr lang="zh-CN"/>
          </a:p>
        </p:txBody>
      </p:sp>
    </p:spTree>
    <p:extLst>
      <p:ext uri="{BB962C8B-B14F-4D97-AF65-F5344CB8AC3E}">
        <p14:creationId xmlns:p14="http://schemas.microsoft.com/office/powerpoint/2010/main" val="3777781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ru-RU"/>
              <a:t>Образец заголовка</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pPr lvl="0"/>
            <a:fld id="{B1BF5803-DA47-4C06-B0CF-DE72E8FCBA25}" type="datetime1">
              <a:rPr lang="zh-CN" altLang="en-US" smtClean="0"/>
              <a:t>2022/12/19</a:t>
            </a:fld>
            <a:endParaRPr lang="zh-CN" altLang="en-US" dirty="0"/>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pPr lvl="0"/>
            <a:endParaRPr lang="zh-CN" altLang="en-US" dirty="0"/>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lvl="0"/>
            <a:fld id="{9A0DB2DC-4C9A-4742-B13C-FB6460FD3503}" type="slidenum">
              <a:rPr lang="zh-CN" altLang="en-US" smtClean="0"/>
              <a:t>‹#›</a:t>
            </a:fld>
            <a:endParaRPr lang="zh-CN" altLang="en-US" dirty="0"/>
          </a:p>
        </p:txBody>
      </p:sp>
    </p:spTree>
    <p:extLst>
      <p:ext uri="{BB962C8B-B14F-4D97-AF65-F5344CB8AC3E}">
        <p14:creationId xmlns:p14="http://schemas.microsoft.com/office/powerpoint/2010/main" val="23750917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1-mavzu-raqamli-texnologiyalar-va-ularning-turlari.html"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2.jpeg"/><Relationship Id="rId4" Type="http://schemas.openxmlformats.org/officeDocument/2006/relationships/hyperlink" Target="/cloud-bulutli-serverlari-reja.html"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ubtitle 3074"/>
          <p:cNvSpPr>
            <a:spLocks noGrp="1"/>
          </p:cNvSpPr>
          <p:nvPr>
            <p:ph type="subTitle" idx="1"/>
          </p:nvPr>
        </p:nvSpPr>
        <p:spPr>
          <a:xfrm>
            <a:off x="4427984" y="4797152"/>
            <a:ext cx="4064496" cy="1440160"/>
          </a:xfrm>
          <a:ln/>
        </p:spPr>
        <p:txBody>
          <a:bodyPr>
            <a:normAutofit/>
          </a:bodyPr>
          <a:lstStyle/>
          <a:p>
            <a:pPr defTabSz="914400">
              <a:buNone/>
            </a:pPr>
            <a:r>
              <a:rPr lang="x-none" sz="3200" kern="1200" baseline="0" dirty="0">
                <a:solidFill>
                  <a:schemeClr val="bg1"/>
                </a:solidFill>
                <a:latin typeface="Times New Roman" panose="02020603050405020304" pitchFamily="18" charset="0"/>
                <a:ea typeface="American Typewriter" charset="0"/>
                <a:cs typeface="Times New Roman" panose="02020603050405020304" pitchFamily="18" charset="0"/>
              </a:rPr>
              <a:t>Najmiddinova Sarvinoz</a:t>
            </a:r>
          </a:p>
        </p:txBody>
      </p:sp>
      <p:sp>
        <p:nvSpPr>
          <p:cNvPr id="2" name="Title 3073"/>
          <p:cNvSpPr/>
          <p:nvPr/>
        </p:nvSpPr>
        <p:spPr>
          <a:xfrm>
            <a:off x="480060" y="369570"/>
            <a:ext cx="8183880" cy="2856865"/>
          </a:xfrm>
          <a:prstGeom prst="rect">
            <a:avLst/>
          </a:prstGeom>
          <a:noFill/>
          <a:ln w="9525">
            <a:noFill/>
          </a:ln>
        </p:spPr>
        <p:txBody>
          <a:bodyPr anchor="ctr"/>
          <a:lstStyle>
            <a:lvl1pPr marL="0" lvl="0" indent="0" algn="ctr" defTabSz="914400" eaLnBrk="1" fontAlgn="base" latinLnBrk="0" hangingPunct="1">
              <a:lnSpc>
                <a:spcPct val="100000"/>
              </a:lnSpc>
              <a:spcBef>
                <a:spcPct val="0"/>
              </a:spcBef>
              <a:spcAft>
                <a:spcPct val="0"/>
              </a:spcAft>
              <a:buNone/>
              <a:defRPr sz="4500" b="0" i="0" u="none" kern="1200" baseline="0">
                <a:solidFill>
                  <a:schemeClr val="tx2"/>
                </a:solidFill>
                <a:latin typeface="+mj-lt"/>
                <a:ea typeface="+mj-ea"/>
                <a:cs typeface="+mj-cs"/>
              </a:defRPr>
            </a:lvl1pPr>
          </a:lstStyle>
          <a:p>
            <a:pPr defTabSz="914400">
              <a:buNone/>
            </a:pPr>
            <a:r>
              <a:rPr lang="x-none" sz="5400" kern="1200" baseline="0" dirty="0">
                <a:solidFill>
                  <a:schemeClr val="bg1"/>
                </a:solidFill>
                <a:latin typeface="Times New Roman" panose="02020603050405020304" pitchFamily="18" charset="0"/>
                <a:ea typeface="American Typewriter" charset="0"/>
                <a:cs typeface="Times New Roman" panose="02020603050405020304" pitchFamily="18" charset="0"/>
              </a:rPr>
              <a:t>Bulutli Texnologiyalar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1_210_112"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endParaRPr lang="en-US" altLang="en-US"/>
          </a:p>
        </p:txBody>
      </p:sp>
      <p:sp>
        <p:nvSpPr>
          <p:cNvPr id="3075" name="Title 3074" descr="#wm#_a_01_210_112_a_1_1#clear#"/>
          <p:cNvSpPr>
            <a:spLocks noGrp="1"/>
          </p:cNvSpPr>
          <p:nvPr>
            <p:ph type="title"/>
          </p:nvPr>
        </p:nvSpPr>
        <p:spPr>
          <a:xfrm>
            <a:off x="827584" y="679573"/>
            <a:ext cx="6408712" cy="1277765"/>
          </a:xfrm>
        </p:spPr>
        <p:txBody>
          <a:bodyPr anchor="ctr"/>
          <a:lstStyle/>
          <a:p>
            <a:pPr algn="ctr"/>
            <a:r>
              <a:rPr lang="x-none" sz="4000" dirty="0">
                <a:latin typeface="Times New Roman" panose="02020603050405020304" pitchFamily="18" charset="0"/>
                <a:ea typeface="Arial" charset="0"/>
                <a:cs typeface="Times New Roman" panose="02020603050405020304" pitchFamily="18" charset="0"/>
              </a:rPr>
              <a:t>“Bulutli Texnologiyalar” tushunchasi</a:t>
            </a:r>
          </a:p>
        </p:txBody>
      </p:sp>
      <p:sp>
        <p:nvSpPr>
          <p:cNvPr id="5" name="Текстовое поле 4"/>
          <p:cNvSpPr txBox="1"/>
          <p:nvPr/>
        </p:nvSpPr>
        <p:spPr>
          <a:xfrm>
            <a:off x="552109" y="2153109"/>
            <a:ext cx="7917815" cy="2062103"/>
          </a:xfrm>
          <a:prstGeom prst="rect">
            <a:avLst/>
          </a:prstGeom>
          <a:noFill/>
          <a:ln w="9525">
            <a:noFill/>
          </a:ln>
        </p:spPr>
        <p:txBody>
          <a:bodyPr>
            <a:spAutoFit/>
          </a:bodyPr>
          <a:lstStyle/>
          <a:p>
            <a:pPr marL="0" indent="0" algn="just"/>
            <a:r>
              <a:rPr sz="1600" b="0" u="none" dirty="0" err="1">
                <a:latin typeface="Times New Roman" panose="02020603050405020304" pitchFamily="18" charset="0"/>
                <a:ea typeface="American Typewriter" charset="0"/>
                <a:cs typeface="Times New Roman" panose="02020603050405020304" pitchFamily="18" charset="0"/>
              </a:rPr>
              <a:t>Bulutli</a:t>
            </a:r>
            <a:r>
              <a:rPr sz="1600" b="0" u="none" dirty="0">
                <a:latin typeface="Times New Roman" panose="02020603050405020304" pitchFamily="18" charset="0"/>
                <a:ea typeface="American Typewriter" charset="0"/>
                <a:cs typeface="Times New Roman" panose="02020603050405020304" pitchFamily="18" charset="0"/>
              </a:rPr>
              <a:t> </a:t>
            </a:r>
            <a:r>
              <a:rPr sz="1600" b="0" u="sng" dirty="0" err="1">
                <a:latin typeface="Times New Roman" panose="02020603050405020304" pitchFamily="18" charset="0"/>
                <a:ea typeface="American Typewriter" charset="0"/>
                <a:cs typeface="Times New Roman" panose="02020603050405020304" pitchFamily="18" charset="0"/>
                <a:hlinkClick r:id="rId3">
                  <a:extLst>
                    <a:ext uri="{A12FA001-AC4F-418D-AE19-62706E023703}">
                      <ahyp:hlinkClr xmlns:ahyp="http://schemas.microsoft.com/office/drawing/2018/hyperlinkcolor" val="tx"/>
                    </a:ext>
                  </a:extLst>
                </a:hlinkClick>
              </a:rPr>
              <a:t>texnologiyalar</a:t>
            </a:r>
            <a:r>
              <a:rPr sz="1600" b="0" u="none" dirty="0">
                <a:latin typeface="Times New Roman" panose="02020603050405020304" pitchFamily="18" charset="0"/>
                <a:ea typeface="American Typewriter" charset="0"/>
                <a:cs typeface="Times New Roman" panose="02020603050405020304" pitchFamily="18" charset="0"/>
              </a:rPr>
              <a:t>  - </a:t>
            </a:r>
            <a:r>
              <a:rPr sz="1600" b="0" u="none" dirty="0" err="1">
                <a:latin typeface="Times New Roman" panose="02020603050405020304" pitchFamily="18" charset="0"/>
                <a:ea typeface="American Typewriter" charset="0"/>
                <a:cs typeface="Times New Roman" panose="02020603050405020304" pitchFamily="18" charset="0"/>
              </a:rPr>
              <a:t>bu</a:t>
            </a:r>
            <a:r>
              <a:rPr sz="1600" b="0" u="none" dirty="0">
                <a:latin typeface="Times New Roman" panose="02020603050405020304" pitchFamily="18" charset="0"/>
                <a:ea typeface="American Typewriter" charset="0"/>
                <a:cs typeface="Times New Roman" panose="02020603050405020304" pitchFamily="18" charset="0"/>
              </a:rPr>
              <a:t> Internet-</a:t>
            </a:r>
            <a:r>
              <a:rPr sz="1600" b="0" u="none" dirty="0" err="1">
                <a:latin typeface="Times New Roman" panose="02020603050405020304" pitchFamily="18" charset="0"/>
                <a:ea typeface="American Typewriter" charset="0"/>
                <a:cs typeface="Times New Roman" panose="02020603050405020304" pitchFamily="18" charset="0"/>
              </a:rPr>
              <a:t>foydalanuvchiga</a:t>
            </a:r>
            <a:r>
              <a:rPr sz="1600" b="0" u="none" dirty="0">
                <a:latin typeface="Times New Roman" panose="02020603050405020304" pitchFamily="18" charset="0"/>
                <a:ea typeface="American Typewriter" charset="0"/>
                <a:cs typeface="Times New Roman" panose="02020603050405020304" pitchFamily="18" charset="0"/>
              </a:rPr>
              <a:t> Internet-</a:t>
            </a:r>
            <a:r>
              <a:rPr sz="1600" b="0" u="none" dirty="0" err="1">
                <a:latin typeface="Times New Roman" panose="02020603050405020304" pitchFamily="18" charset="0"/>
                <a:ea typeface="American Typewriter" charset="0"/>
                <a:cs typeface="Times New Roman" panose="02020603050405020304" pitchFamily="18" charset="0"/>
              </a:rPr>
              <a:t>xizmat</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sifatida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kompyuter</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resurslari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taqdim</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etiladigan</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ma'lumotlarni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qayta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ishlash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texnologiyalari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Bulut</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so'zi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bu</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erda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barcha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texnik</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tafsilotlarni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yashiradigan</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murakkab</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infratuzilmani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ifodalovchi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metafora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sifatida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mavjud.Bulutli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hisoblash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bulutli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hisoblash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shuningdek</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bulutli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hisoblash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atamasi</a:t>
            </a:r>
            <a:r>
              <a:rPr sz="1600" b="0" u="none" dirty="0">
                <a:latin typeface="Times New Roman" panose="02020603050405020304" pitchFamily="18" charset="0"/>
                <a:ea typeface="American Typewriter" charset="0"/>
                <a:cs typeface="Times New Roman" panose="02020603050405020304" pitchFamily="18" charset="0"/>
              </a:rPr>
              <a:t> ham </a:t>
            </a:r>
            <a:r>
              <a:rPr sz="1600" b="0" u="none" dirty="0" err="1">
                <a:latin typeface="Times New Roman" panose="02020603050405020304" pitchFamily="18" charset="0"/>
                <a:ea typeface="American Typewriter" charset="0"/>
                <a:cs typeface="Times New Roman" panose="02020603050405020304" pitchFamily="18" charset="0"/>
              </a:rPr>
              <a:t>qo'llaniladi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ma'lumotlarni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qayta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ishlash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texnologiyasidir</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unda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foydalanuvchiga</a:t>
            </a:r>
            <a:r>
              <a:rPr sz="1600" b="0" u="none" dirty="0">
                <a:latin typeface="Times New Roman" panose="02020603050405020304" pitchFamily="18" charset="0"/>
                <a:ea typeface="American Typewriter" charset="0"/>
                <a:cs typeface="Times New Roman" panose="02020603050405020304" pitchFamily="18" charset="0"/>
              </a:rPr>
              <a:t> Internet </a:t>
            </a:r>
            <a:r>
              <a:rPr sz="1600" b="0" u="none" dirty="0" err="1">
                <a:latin typeface="Times New Roman" panose="02020603050405020304" pitchFamily="18" charset="0"/>
                <a:ea typeface="American Typewriter" charset="0"/>
                <a:cs typeface="Times New Roman" panose="02020603050405020304" pitchFamily="18" charset="0"/>
              </a:rPr>
              <a:t>xizmati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sifatida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kompyuter</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resurslari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va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imkoniyatlari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taqdim</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etiladi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Foydalanuvchi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o'z</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ma'lumotlariga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kirish</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huquqiga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ega</a:t>
            </a:r>
            <a:r>
              <a:rPr sz="1600" b="0" u="none" dirty="0">
                <a:latin typeface="Times New Roman" panose="02020603050405020304" pitchFamily="18" charset="0"/>
                <a:ea typeface="American Typewriter" charset="0"/>
                <a:cs typeface="Times New Roman" panose="02020603050405020304" pitchFamily="18" charset="0"/>
              </a:rPr>
              <a:t>, ammo </a:t>
            </a:r>
            <a:r>
              <a:rPr sz="1600" b="0" u="none" dirty="0" err="1">
                <a:latin typeface="Times New Roman" panose="02020603050405020304" pitchFamily="18" charset="0"/>
                <a:ea typeface="American Typewriter" charset="0"/>
                <a:cs typeface="Times New Roman" panose="02020603050405020304" pitchFamily="18" charset="0"/>
              </a:rPr>
              <a:t>uni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boshqarolmaydi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va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infratuzilma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operatsion</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tizim</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va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o'zi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ishlayotgan</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dasturiy</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ta'minot</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haqida</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qayg'urmasligi</a:t>
            </a:r>
            <a:r>
              <a:rPr sz="1600" b="0" u="none" dirty="0">
                <a:latin typeface="Times New Roman" panose="02020603050405020304" pitchFamily="18" charset="0"/>
                <a:ea typeface="American Typewriter" charset="0"/>
                <a:cs typeface="Times New Roman" panose="02020603050405020304" pitchFamily="18" charset="0"/>
              </a:rPr>
              <a:t> </a:t>
            </a:r>
            <a:r>
              <a:rPr sz="1600" b="0" u="none" dirty="0" err="1">
                <a:latin typeface="Times New Roman" panose="02020603050405020304" pitchFamily="18" charset="0"/>
                <a:ea typeface="American Typewriter" charset="0"/>
                <a:cs typeface="Times New Roman" panose="02020603050405020304" pitchFamily="18" charset="0"/>
              </a:rPr>
              <a:t>kerak</a:t>
            </a:r>
            <a:r>
              <a:rPr sz="1600" b="0" u="none" dirty="0">
                <a:latin typeface="Times New Roman" panose="02020603050405020304" pitchFamily="18" charset="0"/>
                <a:ea typeface="American Typewriter" charset="0"/>
                <a:cs typeface="Times New Roman" panose="02020603050405020304" pitchFamily="18" charset="0"/>
              </a:rPr>
              <a:t>. </a:t>
            </a:r>
            <a:endParaRPr lang="en-US" altLang="en-US" sz="1600" dirty="0">
              <a:latin typeface="Times New Roman" panose="02020603050405020304" pitchFamily="18" charset="0"/>
              <a:ea typeface="American Typewriter" charset="0"/>
              <a:cs typeface="Times New Roman" panose="02020603050405020304" pitchFamily="18" charset="0"/>
            </a:endParaRPr>
          </a:p>
        </p:txBody>
      </p:sp>
      <p:sp>
        <p:nvSpPr>
          <p:cNvPr id="2" name="Номер слайда 1">
            <a:extLst>
              <a:ext uri="{FF2B5EF4-FFF2-40B4-BE49-F238E27FC236}">
                <a16:creationId xmlns:a16="http://schemas.microsoft.com/office/drawing/2014/main" id="{D2BAE742-1070-1E54-0816-32A7A1BF514B}"/>
              </a:ext>
            </a:extLst>
          </p:cNvPr>
          <p:cNvSpPr>
            <a:spLocks noGrp="1"/>
          </p:cNvSpPr>
          <p:nvPr>
            <p:ph type="sldNum" sz="quarter" idx="12"/>
          </p:nvPr>
        </p:nvSpPr>
        <p:spPr/>
        <p:txBody>
          <a:bodyPr/>
          <a:lstStyle/>
          <a:p>
            <a:pPr lvl="0"/>
            <a:fld id="{9A0DB2DC-4C9A-4742-B13C-FB6460FD3503}" type="slidenum">
              <a:rPr lang="en-US" altLang="zh-CN" smtClean="0"/>
              <a:t>2</a:t>
            </a:fld>
            <a:endParaRPr lang="zh-CN"/>
          </a:p>
        </p:txBody>
      </p:sp>
      <p:sp>
        <p:nvSpPr>
          <p:cNvPr id="4" name="TextBox 3">
            <a:extLst>
              <a:ext uri="{FF2B5EF4-FFF2-40B4-BE49-F238E27FC236}">
                <a16:creationId xmlns:a16="http://schemas.microsoft.com/office/drawing/2014/main" id="{79170837-0CE4-5A20-82D4-10582F4CD858}"/>
              </a:ext>
            </a:extLst>
          </p:cNvPr>
          <p:cNvSpPr txBox="1"/>
          <p:nvPr/>
        </p:nvSpPr>
        <p:spPr>
          <a:xfrm>
            <a:off x="552109" y="4077072"/>
            <a:ext cx="4572000" cy="2554545"/>
          </a:xfrm>
          <a:prstGeom prst="rect">
            <a:avLst/>
          </a:prstGeom>
          <a:noFill/>
        </p:spPr>
        <p:txBody>
          <a:bodyPr wrap="square">
            <a:spAutoFit/>
          </a:bodyPr>
          <a:lstStyle/>
          <a:p>
            <a:pPr algn="just"/>
            <a:r>
              <a:rPr lang="en-US" sz="1600" b="0" u="none" dirty="0">
                <a:latin typeface="Times New Roman" panose="02020603050405020304" pitchFamily="18" charset="0"/>
                <a:ea typeface="American Typewriter" charset="0"/>
                <a:cs typeface="Times New Roman" panose="02020603050405020304" pitchFamily="18" charset="0"/>
              </a:rPr>
              <a:t>"</a:t>
            </a:r>
            <a:r>
              <a:rPr lang="en-US" sz="1600" b="0" u="none" dirty="0" err="1">
                <a:latin typeface="Times New Roman" panose="02020603050405020304" pitchFamily="18" charset="0"/>
                <a:ea typeface="American Typewriter" charset="0"/>
                <a:cs typeface="Times New Roman" panose="02020603050405020304" pitchFamily="18" charset="0"/>
              </a:rPr>
              <a:t>Bulut</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atamasi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kompyuter</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tarmog'i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diagrammasidagi</a:t>
            </a:r>
            <a:r>
              <a:rPr lang="en-US" sz="1600" b="0" u="none" dirty="0">
                <a:latin typeface="Times New Roman" panose="02020603050405020304" pitchFamily="18" charset="0"/>
                <a:ea typeface="American Typewriter" charset="0"/>
                <a:cs typeface="Times New Roman" panose="02020603050405020304" pitchFamily="18" charset="0"/>
              </a:rPr>
              <a:t> Internet </a:t>
            </a:r>
            <a:r>
              <a:rPr lang="en-US" sz="1600" b="0" u="none" dirty="0" err="1">
                <a:latin typeface="Times New Roman" panose="02020603050405020304" pitchFamily="18" charset="0"/>
                <a:ea typeface="American Typewriter" charset="0"/>
                <a:cs typeface="Times New Roman" panose="02020603050405020304" pitchFamily="18" charset="0"/>
              </a:rPr>
              <a:t>tasviriga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asoslangan</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metafora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sifatida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yoki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barcha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texnik</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tafsilotlar</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yashiringan</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murakkab</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infratuzilma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tasviri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sifatida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ishlatiladi</a:t>
            </a:r>
            <a:r>
              <a:rPr lang="en-US" sz="1600" b="0" u="none" dirty="0">
                <a:latin typeface="Times New Roman" panose="02020603050405020304" pitchFamily="18" charset="0"/>
                <a:ea typeface="American Typewriter" charset="0"/>
                <a:cs typeface="Times New Roman" panose="02020603050405020304" pitchFamily="18" charset="0"/>
              </a:rPr>
              <a:t>. 2008 </a:t>
            </a:r>
            <a:r>
              <a:rPr lang="en-US" sz="1600" b="0" u="none" dirty="0" err="1">
                <a:latin typeface="Times New Roman" panose="02020603050405020304" pitchFamily="18" charset="0"/>
                <a:ea typeface="American Typewriter" charset="0"/>
                <a:cs typeface="Times New Roman" panose="02020603050405020304" pitchFamily="18" charset="0"/>
              </a:rPr>
              <a:t>yilda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nashr</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qilingan</a:t>
            </a:r>
            <a:r>
              <a:rPr lang="en-US" sz="1600" b="0" u="none" dirty="0">
                <a:latin typeface="Times New Roman" panose="02020603050405020304" pitchFamily="18" charset="0"/>
                <a:ea typeface="American Typewriter" charset="0"/>
                <a:cs typeface="Times New Roman" panose="02020603050405020304" pitchFamily="18" charset="0"/>
              </a:rPr>
              <a:t> IEEE </a:t>
            </a:r>
            <a:r>
              <a:rPr lang="en-US" sz="1600" b="0" u="none" dirty="0" err="1">
                <a:latin typeface="Times New Roman" panose="02020603050405020304" pitchFamily="18" charset="0"/>
                <a:ea typeface="American Typewriter" charset="0"/>
                <a:cs typeface="Times New Roman" panose="02020603050405020304" pitchFamily="18" charset="0"/>
              </a:rPr>
              <a:t>hujjatiga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ko'ra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Bulutli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hisoblash</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bu</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paradigma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bo'lib</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unda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ma'lumot</a:t>
            </a:r>
            <a:r>
              <a:rPr lang="en-US" sz="1600" b="0" u="none" dirty="0">
                <a:latin typeface="Times New Roman" panose="02020603050405020304" pitchFamily="18" charset="0"/>
                <a:ea typeface="American Typewriter" charset="0"/>
                <a:cs typeface="Times New Roman" panose="02020603050405020304" pitchFamily="18" charset="0"/>
              </a:rPr>
              <a:t> Internet </a:t>
            </a:r>
            <a:r>
              <a:rPr lang="en-US" sz="1600" b="0" u="none" dirty="0" err="1">
                <a:latin typeface="Times New Roman" panose="02020603050405020304" pitchFamily="18" charset="0"/>
                <a:ea typeface="American Typewriter" charset="0"/>
                <a:cs typeface="Times New Roman" panose="02020603050405020304" pitchFamily="18" charset="0"/>
              </a:rPr>
              <a:t>serverlarida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doimiy</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ravishda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saqlanadi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va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mijoz</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tomonidan</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vaqtincha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saqlanadi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masalan</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shaxsiy</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kompyuterlarda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o'yin</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hlinkClick r:id="rId4">
                  <a:extLst>
                    <a:ext uri="{A12FA001-AC4F-418D-AE19-62706E023703}">
                      <ahyp:hlinkClr xmlns:ahyp="http://schemas.microsoft.com/office/drawing/2018/hyperlinkcolor" val="tx"/>
                    </a:ext>
                  </a:extLst>
                </a:hlinkClick>
              </a:rPr>
              <a:t>pristavkalari</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noutbuklar</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smartfonlarda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va</a:t>
            </a:r>
            <a:r>
              <a:rPr lang="en-US" sz="1600" b="0" u="none" dirty="0">
                <a:latin typeface="Times New Roman" panose="02020603050405020304" pitchFamily="18" charset="0"/>
                <a:ea typeface="American Typewriter" charset="0"/>
                <a:cs typeface="Times New Roman" panose="02020603050405020304" pitchFamily="18" charset="0"/>
              </a:rPr>
              <a:t> </a:t>
            </a:r>
            <a:r>
              <a:rPr lang="en-US" sz="1600" b="0" u="none" dirty="0" err="1">
                <a:latin typeface="Times New Roman" panose="02020603050405020304" pitchFamily="18" charset="0"/>
                <a:ea typeface="American Typewriter" charset="0"/>
                <a:cs typeface="Times New Roman" panose="02020603050405020304" pitchFamily="18" charset="0"/>
              </a:rPr>
              <a:t>hokazo</a:t>
            </a:r>
            <a:r>
              <a:rPr lang="en-US" sz="1600" b="0" u="none" dirty="0">
                <a:latin typeface="Times New Roman" panose="02020603050405020304" pitchFamily="18" charset="0"/>
                <a:ea typeface="American Typewriter" charset="0"/>
                <a:cs typeface="Times New Roman" panose="02020603050405020304" pitchFamily="18" charset="0"/>
              </a:rPr>
              <a:t>.</a:t>
            </a:r>
            <a:endParaRPr lang="ru-RU" sz="1600" dirty="0"/>
          </a:p>
        </p:txBody>
      </p:sp>
      <p:pic>
        <p:nvPicPr>
          <p:cNvPr id="1028" name="Picture 4">
            <a:extLst>
              <a:ext uri="{FF2B5EF4-FFF2-40B4-BE49-F238E27FC236}">
                <a16:creationId xmlns:a16="http://schemas.microsoft.com/office/drawing/2014/main" id="{C069592A-C489-1F19-842A-78DCB31628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01461" y="4211018"/>
            <a:ext cx="3268463" cy="22866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5_210_111"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charset="0"/>
                <a:ea typeface="宋体"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eaLnBrk="1" hangingPunct="1">
              <a:spcBef>
                <a:spcPct val="0"/>
              </a:spcBef>
              <a:buNone/>
            </a:pPr>
            <a:endParaRPr sz="1800"/>
          </a:p>
        </p:txBody>
      </p:sp>
      <p:sp>
        <p:nvSpPr>
          <p:cNvPr id="3075" name="Rectangle 2" descr="#wm#_a_05_210_111_a_1_1#clear#"/>
          <p:cNvSpPr>
            <a:spLocks noGrp="1"/>
          </p:cNvSpPr>
          <p:nvPr>
            <p:ph type="title" idx="4294967295"/>
          </p:nvPr>
        </p:nvSpPr>
        <p:spPr>
          <a:xfrm>
            <a:off x="899592" y="762290"/>
            <a:ext cx="6441864" cy="1205757"/>
          </a:xfrm>
        </p:spPr>
        <p:txBody>
          <a:bodyPr vert="horz" wrap="square" anchor="ctr"/>
          <a:lstStyle/>
          <a:p>
            <a:pPr lvl="0" algn="ctr" eaLnBrk="1" hangingPunct="1"/>
            <a:r>
              <a:rPr lang="x-none" sz="4000" dirty="0">
                <a:latin typeface="Times New Roman" panose="02020603050405020304" pitchFamily="18" charset="0"/>
                <a:cs typeface="Times New Roman" panose="02020603050405020304" pitchFamily="18" charset="0"/>
              </a:rPr>
              <a:t>Bulutli Ma’lumotlar konseptsiyasi</a:t>
            </a:r>
          </a:p>
        </p:txBody>
      </p:sp>
      <p:sp>
        <p:nvSpPr>
          <p:cNvPr id="3077" name="Rectangle 4" descr="#wm#_a_05_210_111_b_1_1#clear#"/>
          <p:cNvSpPr>
            <a:spLocks noGrp="1"/>
          </p:cNvSpPr>
          <p:nvPr>
            <p:ph type="body" sz="half" idx="4294967295"/>
          </p:nvPr>
        </p:nvSpPr>
        <p:spPr>
          <a:xfrm>
            <a:off x="4746476" y="2420888"/>
            <a:ext cx="3753908" cy="2808312"/>
          </a:xfrm>
        </p:spPr>
        <p:txBody>
          <a:bodyPr vert="horz" wrap="square" anchor="t">
            <a:noAutofit/>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stStyle>
          <a:p>
            <a:pPr marL="0" indent="0" algn="just">
              <a:lnSpc>
                <a:spcPct val="150000"/>
              </a:lnSpc>
              <a:spcBef>
                <a:spcPts val="0"/>
              </a:spcBef>
              <a:buNone/>
            </a:pPr>
            <a:r>
              <a:rPr sz="1600" dirty="0" err="1">
                <a:latin typeface="Times New Roman" panose="02020603050405020304" pitchFamily="18" charset="0"/>
                <a:ea typeface="American Typewriter" charset="0"/>
                <a:cs typeface="Times New Roman" panose="02020603050405020304" pitchFamily="18" charset="0"/>
              </a:rPr>
              <a:t>Bulutli</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ma'lumotlarni</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kontseptsiya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qayta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ishlash</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quyidagilarni</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o'z</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ichiga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oladi</a:t>
            </a:r>
            <a:r>
              <a:rPr sz="1600" dirty="0">
                <a:latin typeface="Times New Roman" panose="02020603050405020304" pitchFamily="18" charset="0"/>
                <a:ea typeface="American Typewriter" charset="0"/>
                <a:cs typeface="Times New Roman" panose="02020603050405020304" pitchFamily="18" charset="0"/>
              </a:rPr>
              <a:t>: </a:t>
            </a:r>
            <a:endParaRPr lang="en-US" sz="1600" dirty="0">
              <a:latin typeface="Times New Roman" panose="02020603050405020304" pitchFamily="18" charset="0"/>
              <a:ea typeface="American Typewriter" charset="0"/>
              <a:cs typeface="Times New Roman" panose="02020603050405020304" pitchFamily="18" charset="0"/>
            </a:endParaRPr>
          </a:p>
          <a:p>
            <a:pPr lvl="0" eaLnBrk="1" hangingPunct="1">
              <a:lnSpc>
                <a:spcPct val="150000"/>
              </a:lnSpc>
              <a:spcBef>
                <a:spcPts val="0"/>
              </a:spcBef>
              <a:buFont typeface="Wingdings" panose="05000000000000000000" pitchFamily="2" charset="2"/>
              <a:buChar char="Ø"/>
            </a:pPr>
            <a:r>
              <a:rPr sz="1600" dirty="0">
                <a:latin typeface="Times New Roman" panose="02020603050405020304" pitchFamily="18" charset="0"/>
                <a:ea typeface="American Typewriter" charset="0"/>
                <a:cs typeface="Times New Roman" panose="02020603050405020304" pitchFamily="18" charset="0"/>
              </a:rPr>
              <a:t>1) </a:t>
            </a:r>
            <a:r>
              <a:rPr sz="1600" dirty="0" err="1">
                <a:latin typeface="Times New Roman" panose="02020603050405020304" pitchFamily="18" charset="0"/>
                <a:ea typeface="American Typewriter" charset="0"/>
                <a:cs typeface="Times New Roman" panose="02020603050405020304" pitchFamily="18" charset="0"/>
              </a:rPr>
              <a:t>xizmat</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infratuzilma</a:t>
            </a:r>
            <a:r>
              <a:rPr lang="en-US" sz="1600" dirty="0">
                <a:latin typeface="Times New Roman" panose="02020603050405020304" pitchFamily="18" charset="0"/>
                <a:ea typeface="American Typewriter" charset="0"/>
                <a:cs typeface="Times New Roman" panose="02020603050405020304" pitchFamily="18" charset="0"/>
              </a:rPr>
              <a:t>;</a:t>
            </a:r>
            <a:r>
              <a:rPr sz="1600" dirty="0">
                <a:latin typeface="Times New Roman" panose="02020603050405020304" pitchFamily="18" charset="0"/>
                <a:ea typeface="American Typewriter" charset="0"/>
                <a:cs typeface="Times New Roman" panose="02020603050405020304" pitchFamily="18" charset="0"/>
              </a:rPr>
              <a:t> </a:t>
            </a:r>
          </a:p>
          <a:p>
            <a:pPr lvl="0" eaLnBrk="1" hangingPunct="1">
              <a:lnSpc>
                <a:spcPct val="150000"/>
              </a:lnSpc>
              <a:spcBef>
                <a:spcPts val="0"/>
              </a:spcBef>
              <a:buFont typeface="Wingdings" panose="05000000000000000000" pitchFamily="2" charset="2"/>
              <a:buChar char="Ø"/>
            </a:pPr>
            <a:r>
              <a:rPr sz="1600" dirty="0">
                <a:latin typeface="Times New Roman" panose="02020603050405020304" pitchFamily="18" charset="0"/>
                <a:ea typeface="American Typewriter" charset="0"/>
                <a:cs typeface="Times New Roman" panose="02020603050405020304" pitchFamily="18" charset="0"/>
              </a:rPr>
              <a:t>2) </a:t>
            </a:r>
            <a:r>
              <a:rPr sz="1600" dirty="0" err="1">
                <a:latin typeface="Times New Roman" panose="02020603050405020304" pitchFamily="18" charset="0"/>
                <a:ea typeface="American Typewriter" charset="0"/>
                <a:cs typeface="Times New Roman" panose="02020603050405020304" pitchFamily="18" charset="0"/>
              </a:rPr>
              <a:t>xizmat</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platforma</a:t>
            </a:r>
            <a:r>
              <a:rPr lang="en-US" sz="1600" dirty="0">
                <a:latin typeface="Times New Roman" panose="02020603050405020304" pitchFamily="18" charset="0"/>
                <a:ea typeface="American Typewriter" charset="0"/>
                <a:cs typeface="Times New Roman" panose="02020603050405020304" pitchFamily="18" charset="0"/>
              </a:rPr>
              <a:t>;</a:t>
            </a:r>
            <a:endParaRPr sz="1600" dirty="0">
              <a:latin typeface="Times New Roman" panose="02020603050405020304" pitchFamily="18" charset="0"/>
              <a:ea typeface="American Typewriter" charset="0"/>
              <a:cs typeface="Times New Roman" panose="02020603050405020304" pitchFamily="18" charset="0"/>
            </a:endParaRPr>
          </a:p>
          <a:p>
            <a:pPr lvl="0" eaLnBrk="1" hangingPunct="1">
              <a:lnSpc>
                <a:spcPct val="150000"/>
              </a:lnSpc>
              <a:spcBef>
                <a:spcPts val="0"/>
              </a:spcBef>
              <a:buFont typeface="Wingdings" panose="05000000000000000000" pitchFamily="2" charset="2"/>
              <a:buChar char="Ø"/>
            </a:pPr>
            <a:r>
              <a:rPr sz="1600" dirty="0">
                <a:latin typeface="Times New Roman" panose="02020603050405020304" pitchFamily="18" charset="0"/>
                <a:ea typeface="American Typewriter" charset="0"/>
                <a:cs typeface="Times New Roman" panose="02020603050405020304" pitchFamily="18" charset="0"/>
              </a:rPr>
              <a:t>3) </a:t>
            </a:r>
            <a:r>
              <a:rPr sz="1600" dirty="0" err="1">
                <a:latin typeface="Times New Roman" panose="02020603050405020304" pitchFamily="18" charset="0"/>
                <a:ea typeface="American Typewriter" charset="0"/>
                <a:cs typeface="Times New Roman" panose="02020603050405020304" pitchFamily="18" charset="0"/>
              </a:rPr>
              <a:t>dastur</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xizmat</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lang="en-US" sz="1600" dirty="0">
                <a:latin typeface="Times New Roman" panose="02020603050405020304" pitchFamily="18" charset="0"/>
                <a:ea typeface="American Typewriter" charset="0"/>
                <a:cs typeface="Times New Roman" panose="02020603050405020304" pitchFamily="18" charset="0"/>
              </a:rPr>
              <a:t>;</a:t>
            </a:r>
            <a:endParaRPr sz="1600" dirty="0">
              <a:latin typeface="Times New Roman" panose="02020603050405020304" pitchFamily="18" charset="0"/>
              <a:ea typeface="American Typewriter" charset="0"/>
              <a:cs typeface="Times New Roman" panose="02020603050405020304" pitchFamily="18" charset="0"/>
            </a:endParaRPr>
          </a:p>
          <a:p>
            <a:pPr lvl="0" eaLnBrk="1" hangingPunct="1">
              <a:lnSpc>
                <a:spcPct val="150000"/>
              </a:lnSpc>
              <a:spcBef>
                <a:spcPts val="0"/>
              </a:spcBef>
              <a:buFont typeface="Wingdings" panose="05000000000000000000" pitchFamily="2" charset="2"/>
              <a:buChar char="Ø"/>
            </a:pPr>
            <a:r>
              <a:rPr sz="1600" dirty="0">
                <a:latin typeface="Times New Roman" panose="02020603050405020304" pitchFamily="18" charset="0"/>
                <a:ea typeface="American Typewriter" charset="0"/>
                <a:cs typeface="Times New Roman" panose="02020603050405020304" pitchFamily="18" charset="0"/>
              </a:rPr>
              <a:t>4) </a:t>
            </a:r>
            <a:r>
              <a:rPr sz="1600" dirty="0" err="1">
                <a:latin typeface="Times New Roman" panose="02020603050405020304" pitchFamily="18" charset="0"/>
                <a:ea typeface="American Typewriter" charset="0"/>
                <a:cs typeface="Times New Roman" panose="02020603050405020304" pitchFamily="18" charset="0"/>
              </a:rPr>
              <a:t>ma'lumotlar</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xizmat</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lang="en-US" sz="1600" dirty="0">
                <a:latin typeface="Times New Roman" panose="02020603050405020304" pitchFamily="18" charset="0"/>
                <a:ea typeface="American Typewriter" charset="0"/>
                <a:cs typeface="Times New Roman" panose="02020603050405020304" pitchFamily="18" charset="0"/>
              </a:rPr>
              <a:t>;</a:t>
            </a:r>
            <a:endParaRPr sz="1600" dirty="0">
              <a:latin typeface="Times New Roman" panose="02020603050405020304" pitchFamily="18" charset="0"/>
              <a:ea typeface="American Typewriter" charset="0"/>
              <a:cs typeface="Times New Roman" panose="02020603050405020304" pitchFamily="18" charset="0"/>
            </a:endParaRPr>
          </a:p>
          <a:p>
            <a:pPr lvl="0" eaLnBrk="1" hangingPunct="1">
              <a:lnSpc>
                <a:spcPct val="150000"/>
              </a:lnSpc>
              <a:spcBef>
                <a:spcPts val="0"/>
              </a:spcBef>
              <a:buFont typeface="Wingdings" panose="05000000000000000000" pitchFamily="2" charset="2"/>
              <a:buChar char="Ø"/>
            </a:pPr>
            <a:r>
              <a:rPr sz="1600" dirty="0">
                <a:latin typeface="Times New Roman" panose="02020603050405020304" pitchFamily="18" charset="0"/>
                <a:ea typeface="American Typewriter" charset="0"/>
                <a:cs typeface="Times New Roman" panose="02020603050405020304" pitchFamily="18" charset="0"/>
              </a:rPr>
              <a:t>5) </a:t>
            </a:r>
            <a:r>
              <a:rPr sz="1600" dirty="0" err="1">
                <a:latin typeface="Times New Roman" panose="02020603050405020304" pitchFamily="18" charset="0"/>
                <a:ea typeface="American Typewriter" charset="0"/>
                <a:cs typeface="Times New Roman" panose="02020603050405020304" pitchFamily="18" charset="0"/>
              </a:rPr>
              <a:t>xizmat</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sifatida</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ish</a:t>
            </a:r>
            <a:r>
              <a:rPr sz="1600" dirty="0">
                <a:latin typeface="Times New Roman" panose="02020603050405020304" pitchFamily="18" charset="0"/>
                <a:ea typeface="American Typewriter" charset="0"/>
                <a:cs typeface="Times New Roman" panose="02020603050405020304" pitchFamily="18" charset="0"/>
              </a:rPr>
              <a:t> </a:t>
            </a:r>
            <a:r>
              <a:rPr sz="1600" dirty="0" err="1">
                <a:latin typeface="Times New Roman" panose="02020603050405020304" pitchFamily="18" charset="0"/>
                <a:ea typeface="American Typewriter" charset="0"/>
                <a:cs typeface="Times New Roman" panose="02020603050405020304" pitchFamily="18" charset="0"/>
              </a:rPr>
              <a:t>joyi</a:t>
            </a:r>
            <a:r>
              <a:rPr lang="en-US" sz="1600" dirty="0">
                <a:latin typeface="Times New Roman" panose="02020603050405020304" pitchFamily="18" charset="0"/>
                <a:ea typeface="American Typewriter" charset="0"/>
                <a:cs typeface="Times New Roman" panose="02020603050405020304" pitchFamily="18" charset="0"/>
              </a:rPr>
              <a:t>.</a:t>
            </a:r>
            <a:endParaRPr sz="1600" dirty="0">
              <a:latin typeface="Times New Roman" panose="02020603050405020304" pitchFamily="18" charset="0"/>
              <a:ea typeface="American Typewriter" charset="0"/>
              <a:cs typeface="Times New Roman" panose="02020603050405020304" pitchFamily="18" charset="0"/>
            </a:endParaRPr>
          </a:p>
        </p:txBody>
      </p:sp>
      <p:sp>
        <p:nvSpPr>
          <p:cNvPr id="2" name="Номер слайда 1">
            <a:extLst>
              <a:ext uri="{FF2B5EF4-FFF2-40B4-BE49-F238E27FC236}">
                <a16:creationId xmlns:a16="http://schemas.microsoft.com/office/drawing/2014/main" id="{31458619-917F-ECD1-C6CB-0789F0F9003A}"/>
              </a:ext>
            </a:extLst>
          </p:cNvPr>
          <p:cNvSpPr>
            <a:spLocks noGrp="1"/>
          </p:cNvSpPr>
          <p:nvPr>
            <p:ph type="sldNum" sz="quarter" idx="12"/>
          </p:nvPr>
        </p:nvSpPr>
        <p:spPr/>
        <p:txBody>
          <a:bodyPr/>
          <a:lstStyle/>
          <a:p>
            <a:pPr lvl="0"/>
            <a:fld id="{9A0DB2DC-4C9A-4742-B13C-FB6460FD3503}" type="slidenum">
              <a:rPr lang="zh-CN" altLang="en-US" smtClean="0"/>
              <a:t>3</a:t>
            </a:fld>
            <a:endParaRPr lang="zh-CN" altLang="en-US" dirty="0"/>
          </a:p>
        </p:txBody>
      </p:sp>
      <p:pic>
        <p:nvPicPr>
          <p:cNvPr id="2050" name="Picture 2">
            <a:extLst>
              <a:ext uri="{FF2B5EF4-FFF2-40B4-BE49-F238E27FC236}">
                <a16:creationId xmlns:a16="http://schemas.microsoft.com/office/drawing/2014/main" id="{4E9FD076-734F-CA1F-969A-77EFEE87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99" y="3068960"/>
            <a:ext cx="3600401" cy="280831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6_210_111"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lvl="0" eaLnBrk="1" hangingPunct="1"/>
            <a:endParaRPr lang="zh-CN" altLang="en-US" dirty="0">
              <a:latin typeface="Arial" charset="0"/>
              <a:ea typeface="宋体" charset="-122"/>
            </a:endParaRPr>
          </a:p>
        </p:txBody>
      </p:sp>
      <p:sp>
        <p:nvSpPr>
          <p:cNvPr id="3075" name="Rectangle 2" descr="#wm#_a_06_210_111_a_1_1#clear#"/>
          <p:cNvSpPr>
            <a:spLocks noGrp="1"/>
          </p:cNvSpPr>
          <p:nvPr>
            <p:ph type="title" idx="4294967295"/>
          </p:nvPr>
        </p:nvSpPr>
        <p:spPr>
          <a:xfrm>
            <a:off x="973474" y="910874"/>
            <a:ext cx="6345260" cy="709865"/>
          </a:xfrm>
        </p:spPr>
        <p:txBody>
          <a:bodyPr vert="horz" wrap="square" anchor="ctr"/>
          <a:lstStyle/>
          <a:p>
            <a:pPr lvl="0" algn="ctr" eaLnBrk="1" hangingPunct="1"/>
            <a:r>
              <a:rPr lang="x-none" sz="4000" dirty="0">
                <a:latin typeface="Times New Roman" panose="02020603050405020304" pitchFamily="18" charset="0"/>
                <a:cs typeface="Times New Roman" panose="02020603050405020304" pitchFamily="18" charset="0"/>
              </a:rPr>
              <a:t>Bulutli ma’lumotlarni saqlash</a:t>
            </a:r>
          </a:p>
        </p:txBody>
      </p:sp>
      <p:sp>
        <p:nvSpPr>
          <p:cNvPr id="3076" name="Rectangle 3" descr="#wm#_a_06_210_111_b_1_1#clear#"/>
          <p:cNvSpPr>
            <a:spLocks noGrp="1"/>
          </p:cNvSpPr>
          <p:nvPr>
            <p:ph type="body" sz="half" idx="4294967295"/>
          </p:nvPr>
        </p:nvSpPr>
        <p:spPr>
          <a:xfrm>
            <a:off x="503548" y="4203452"/>
            <a:ext cx="3717086" cy="2374404"/>
          </a:xfrm>
        </p:spPr>
        <p:txBody>
          <a:bodyPr vert="horz" wrap="square" anchor="t">
            <a:noAutofit/>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stStyle>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Jismoniy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jihatdan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bunday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serverlar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bir-biridan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uzoqroq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turli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qit'alar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joylashgan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joyga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qadar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joylashgan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bo'lishi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mumkin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Bulut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nima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ekanligini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tushunish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uchun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ushbu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sonning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tarixidan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boshlash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kerak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Siz</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tushunishingiz</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kerak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texnologiya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haqiqatan</a:t>
            </a:r>
            <a:r>
              <a:rPr lang="en-US" sz="1600" dirty="0">
                <a:latin typeface="Times New Roman" panose="02020603050405020304" pitchFamily="18" charset="0"/>
                <a:cs typeface="Times New Roman" panose="02020603050405020304" pitchFamily="18" charset="0"/>
              </a:rPr>
              <a:t> ham </a:t>
            </a:r>
            <a:r>
              <a:rPr lang="en-US" sz="1600" dirty="0" err="1">
                <a:latin typeface="Times New Roman" panose="02020603050405020304" pitchFamily="18" charset="0"/>
                <a:cs typeface="Times New Roman" panose="02020603050405020304" pitchFamily="18" charset="0"/>
              </a:rPr>
              <a:t>yangi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g'oyalar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toifasiga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kiradimi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yoki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g'oya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unchalik</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yangi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emasmi</a:t>
            </a:r>
            <a:r>
              <a:rPr lang="en-US" sz="1600" dirty="0">
                <a:latin typeface="Times New Roman" panose="02020603050405020304" pitchFamily="18" charset="0"/>
                <a:cs typeface="Times New Roman" panose="02020603050405020304" pitchFamily="18" charset="0"/>
              </a:rPr>
              <a:t>. </a:t>
            </a:r>
          </a:p>
          <a:p>
            <a:pPr marL="0" lvl="0" indent="0" algn="just" eaLnBrk="1" hangingPunct="1">
              <a:buNone/>
            </a:pPr>
            <a:endParaRPr sz="1600" dirty="0">
              <a:latin typeface="Times New Roman" panose="02020603050405020304" pitchFamily="18" charset="0"/>
              <a:cs typeface="Times New Roman" panose="02020603050405020304" pitchFamily="18" charset="0"/>
            </a:endParaRPr>
          </a:p>
        </p:txBody>
      </p:sp>
      <p:sp>
        <p:nvSpPr>
          <p:cNvPr id="2" name="Номер слайда 1">
            <a:extLst>
              <a:ext uri="{FF2B5EF4-FFF2-40B4-BE49-F238E27FC236}">
                <a16:creationId xmlns:a16="http://schemas.microsoft.com/office/drawing/2014/main" id="{CF65CA5F-96D2-FDF4-0544-2198AA9217F0}"/>
              </a:ext>
            </a:extLst>
          </p:cNvPr>
          <p:cNvSpPr>
            <a:spLocks noGrp="1"/>
          </p:cNvSpPr>
          <p:nvPr>
            <p:ph type="sldNum" sz="quarter" idx="12"/>
          </p:nvPr>
        </p:nvSpPr>
        <p:spPr/>
        <p:txBody>
          <a:bodyPr/>
          <a:lstStyle/>
          <a:p>
            <a:pPr lvl="0"/>
            <a:fld id="{9A0DB2DC-4C9A-4742-B13C-FB6460FD3503}" type="slidenum">
              <a:rPr lang="zh-CN" altLang="en-US" smtClean="0"/>
              <a:t>4</a:t>
            </a:fld>
            <a:endParaRPr lang="zh-CN" altLang="en-US" dirty="0"/>
          </a:p>
        </p:txBody>
      </p:sp>
      <p:sp>
        <p:nvSpPr>
          <p:cNvPr id="5" name="TextBox 4">
            <a:extLst>
              <a:ext uri="{FF2B5EF4-FFF2-40B4-BE49-F238E27FC236}">
                <a16:creationId xmlns:a16="http://schemas.microsoft.com/office/drawing/2014/main" id="{3B23EB53-F2D5-CE60-2EC8-460A81FD7FB6}"/>
              </a:ext>
            </a:extLst>
          </p:cNvPr>
          <p:cNvSpPr txBox="1"/>
          <p:nvPr/>
        </p:nvSpPr>
        <p:spPr>
          <a:xfrm>
            <a:off x="503548" y="2261027"/>
            <a:ext cx="8136904" cy="2031325"/>
          </a:xfrm>
          <a:prstGeom prst="rect">
            <a:avLst/>
          </a:prstGeom>
          <a:noFill/>
        </p:spPr>
        <p:txBody>
          <a:bodyPr wrap="square">
            <a:spAutoFit/>
          </a:bodyPr>
          <a:lstStyle/>
          <a:p>
            <a:pPr algn="just"/>
            <a:r>
              <a:rPr lang="en-US" sz="1800" dirty="0" err="1">
                <a:latin typeface="Times New Roman" panose="02020603050405020304" pitchFamily="18" charset="0"/>
                <a:cs typeface="Times New Roman" panose="02020603050405020304" pitchFamily="18" charset="0"/>
              </a:rPr>
              <a:t>Onlayn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saqlash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modeli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unda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ma'lumotlar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tarmoqda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tarqatilgan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ko'plab</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serverlarda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saqlanadi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mijozlar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asosan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uchinchi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tomon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tomonidan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foydalanish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uchun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taqdim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etiladi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O'zining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maxsus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serverlarida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ma'lumotlarni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saqlash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uchun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ushbu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maqsadlar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uchun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maxsus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sotib</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olingan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yoki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ijaraga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olingan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modeldan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farqli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o'laroq</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serverlar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soni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yoki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qanday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ichki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tuzilishi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umuman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mijozga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ko'rinmaydi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Ma'lumotlar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mijoz</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nuqtai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nazaridan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bitta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yirik</a:t>
            </a:r>
            <a:r>
              <a:rPr lang="en-US" sz="1800" dirty="0">
                <a:latin typeface="Times New Roman" panose="02020603050405020304" pitchFamily="18" charset="0"/>
                <a:cs typeface="Times New Roman" panose="02020603050405020304" pitchFamily="18" charset="0"/>
              </a:rPr>
              <a:t> virtual </a:t>
            </a:r>
            <a:r>
              <a:rPr lang="en-US" sz="1800" dirty="0" err="1">
                <a:latin typeface="Times New Roman" panose="02020603050405020304" pitchFamily="18" charset="0"/>
                <a:cs typeface="Times New Roman" panose="02020603050405020304" pitchFamily="18" charset="0"/>
              </a:rPr>
              <a:t>serverni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ifoda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etadigan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bulut</a:t>
            </a:r>
            <a:r>
              <a:rPr lang="en-US" sz="1800" dirty="0">
                <a:latin typeface="Times New Roman" panose="02020603050405020304" pitchFamily="18" charset="0"/>
                <a:cs typeface="Times New Roman" panose="02020603050405020304" pitchFamily="18" charset="0"/>
              </a:rPr>
              <a:t> deb </a:t>
            </a:r>
            <a:r>
              <a:rPr lang="en-US" sz="1800" dirty="0" err="1">
                <a:latin typeface="Times New Roman" panose="02020603050405020304" pitchFamily="18" charset="0"/>
                <a:cs typeface="Times New Roman" panose="02020603050405020304" pitchFamily="18" charset="0"/>
              </a:rPr>
              <a:t>nomlangan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holda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saqlanadi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qayta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ishlanadi</a:t>
            </a:r>
            <a:endParaRPr lang="ru-RU" dirty="0"/>
          </a:p>
        </p:txBody>
      </p:sp>
      <p:pic>
        <p:nvPicPr>
          <p:cNvPr id="6" name="Picture 2">
            <a:extLst>
              <a:ext uri="{FF2B5EF4-FFF2-40B4-BE49-F238E27FC236}">
                <a16:creationId xmlns:a16="http://schemas.microsoft.com/office/drawing/2014/main" id="{02BE2CEF-6FBF-D0CE-0212-E2DB43D411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4219039"/>
            <a:ext cx="3571103" cy="234323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6_210_111"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p>
            <a:pPr lvl="0" eaLnBrk="1" hangingPunct="1"/>
            <a:endParaRPr lang="zh-CN" altLang="en-US" dirty="0">
              <a:latin typeface="Arial" charset="0"/>
              <a:ea typeface="宋体" charset="-122"/>
            </a:endParaRPr>
          </a:p>
        </p:txBody>
      </p:sp>
      <p:sp>
        <p:nvSpPr>
          <p:cNvPr id="3075" name="Rectangle 2" descr="#wm#_a_06_210_111_a_1_1#clear#"/>
          <p:cNvSpPr>
            <a:spLocks noGrp="1"/>
          </p:cNvSpPr>
          <p:nvPr>
            <p:ph type="title" idx="4294967295"/>
          </p:nvPr>
        </p:nvSpPr>
        <p:spPr>
          <a:xfrm>
            <a:off x="899592" y="836712"/>
            <a:ext cx="6513872" cy="1133749"/>
          </a:xfrm>
        </p:spPr>
        <p:txBody>
          <a:bodyPr vert="horz" wrap="square" anchor="ctr"/>
          <a:lstStyle/>
          <a:p>
            <a:pPr lvl="0" algn="ctr" eaLnBrk="1" hangingPunct="1"/>
            <a:r>
              <a:rPr lang="x-none" sz="4000" dirty="0">
                <a:latin typeface="Times New Roman" panose="02020603050405020304" pitchFamily="18" charset="0"/>
                <a:cs typeface="Times New Roman" panose="02020603050405020304" pitchFamily="18" charset="0"/>
              </a:rPr>
              <a:t>Bulutli Texnologiyalar o’zi nima?</a:t>
            </a:r>
          </a:p>
        </p:txBody>
      </p:sp>
      <p:sp>
        <p:nvSpPr>
          <p:cNvPr id="3" name="Rectangle 3" descr="#wm#_a_06_210_111_b_1_1#clear#"/>
          <p:cNvSpPr/>
          <p:nvPr/>
        </p:nvSpPr>
        <p:spPr>
          <a:xfrm>
            <a:off x="492502" y="2236701"/>
            <a:ext cx="8158996" cy="1818579"/>
          </a:xfrm>
          <a:prstGeom prst="rect">
            <a:avLst/>
          </a:prstGeom>
          <a:noFill/>
          <a:ln w="9525">
            <a:noFill/>
          </a:ln>
        </p:spPr>
        <p:txBody>
          <a:bodyPr vert="horz" wrap="square" anchor="t"/>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stStyle>
          <a:p>
            <a:pPr marL="0" lvl="0" indent="0" algn="just" eaLnBrk="1" hangingPunct="1">
              <a:lnSpc>
                <a:spcPct val="150000"/>
              </a:lnSpc>
              <a:spcBef>
                <a:spcPts val="0"/>
              </a:spcBef>
              <a:buNone/>
            </a:pPr>
            <a:r>
              <a:rPr sz="1500" dirty="0" err="1">
                <a:latin typeface="Times New Roman" panose="02020603050405020304" pitchFamily="18" charset="0"/>
                <a:cs typeface="Times New Roman" panose="02020603050405020304" pitchFamily="18" charset="0"/>
              </a:rPr>
              <a:t>Aniqlashdan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boshlaylik</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chunki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bulutli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texnologiyalar</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foydalanuvchiga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qurilmaga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dasturlarni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o'rnatmasdan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ma'lumotlarga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kirish</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imkoniyatini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anglatadi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chunki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barcha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qo'llab-quvvatlovchilar</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serverlar</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tomonidan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ta'minlanadi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Bunday</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xizmatlar</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bepul</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va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pullik</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bo'lishi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mumkinligini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bilish</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juda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muhim</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va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barchasi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so'rovlarga</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bog'liq</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Bulutli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texnologiyalardan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foydalanish</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nimani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anglatishini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tushunish</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uchun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ularning</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oddiy</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sharoitlardan</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farqini</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tushunishingiz</a:t>
            </a:r>
            <a:r>
              <a:rPr sz="1500" dirty="0">
                <a:latin typeface="Times New Roman" panose="02020603050405020304" pitchFamily="18" charset="0"/>
                <a:cs typeface="Times New Roman" panose="02020603050405020304" pitchFamily="18" charset="0"/>
              </a:rPr>
              <a:t> </a:t>
            </a:r>
            <a:r>
              <a:rPr sz="1500" dirty="0" err="1">
                <a:latin typeface="Times New Roman" panose="02020603050405020304" pitchFamily="18" charset="0"/>
                <a:cs typeface="Times New Roman" panose="02020603050405020304" pitchFamily="18" charset="0"/>
              </a:rPr>
              <a:t>kerak</a:t>
            </a:r>
            <a:endParaRPr sz="1500" dirty="0">
              <a:latin typeface="Times New Roman" panose="02020603050405020304" pitchFamily="18" charset="0"/>
              <a:cs typeface="Times New Roman" panose="02020603050405020304" pitchFamily="18" charset="0"/>
            </a:endParaRPr>
          </a:p>
        </p:txBody>
      </p:sp>
      <p:sp>
        <p:nvSpPr>
          <p:cNvPr id="10" name="Rectangle 4" descr="#wm#_a_06_210_111_c_1_1257*1122"/>
          <p:cNvSpPr/>
          <p:nvPr/>
        </p:nvSpPr>
        <p:spPr>
          <a:xfrm>
            <a:off x="3491880" y="3896416"/>
            <a:ext cx="5159618" cy="2664295"/>
          </a:xfrm>
          <a:prstGeom prst="rect">
            <a:avLst/>
          </a:prstGeom>
          <a:noFill/>
          <a:ln w="9525">
            <a:noFill/>
          </a:ln>
        </p:spPr>
        <p:txBody>
          <a:bodyPr/>
          <a:lstStyle/>
          <a:p>
            <a:pPr algn="just">
              <a:lnSpc>
                <a:spcPct val="150000"/>
              </a:lnSpc>
            </a:pPr>
            <a:r>
              <a:rPr lang="en-US" altLang="en-US" sz="1500" dirty="0" err="1">
                <a:latin typeface="Times New Roman" panose="02020603050405020304" pitchFamily="18" charset="0"/>
                <a:cs typeface="Times New Roman" panose="02020603050405020304" pitchFamily="18" charset="0"/>
              </a:rPr>
              <a:t>Masalan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elektron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pochta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mijozi</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kompyuterga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o'rnatilganda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va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barcha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ma'lumotlar</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qattiq</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diskda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saqlanganda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elektron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pochtani</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oling</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Bunday</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holda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foydalanuvchi</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fayllar</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bilan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nima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qilishni</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hal</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qiladi</a:t>
            </a:r>
            <a:r>
              <a:rPr lang="en-US" altLang="en-US" sz="1500" dirty="0">
                <a:latin typeface="Times New Roman" panose="02020603050405020304" pitchFamily="18" charset="0"/>
                <a:cs typeface="Times New Roman" panose="02020603050405020304" pitchFamily="18" charset="0"/>
              </a:rPr>
              <a:t>. </a:t>
            </a:r>
          </a:p>
          <a:p>
            <a:pPr algn="just">
              <a:lnSpc>
                <a:spcPct val="150000"/>
              </a:lnSpc>
            </a:pPr>
            <a:r>
              <a:rPr lang="en-US" altLang="en-US" sz="1500" dirty="0">
                <a:latin typeface="Times New Roman" panose="02020603050405020304" pitchFamily="18" charset="0"/>
                <a:cs typeface="Times New Roman" panose="02020603050405020304" pitchFamily="18" charset="0"/>
              </a:rPr>
              <a:t>Agar biz </a:t>
            </a:r>
            <a:r>
              <a:rPr lang="en-US" altLang="en-US" sz="1500" dirty="0" err="1">
                <a:latin typeface="Times New Roman" panose="02020603050405020304" pitchFamily="18" charset="0"/>
                <a:cs typeface="Times New Roman" panose="02020603050405020304" pitchFamily="18" charset="0"/>
              </a:rPr>
              <a:t>brauzer</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orqali</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foydalanadigan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pochta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haqida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gapiradigan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bo'lsak</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unda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bu</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allaqachon</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texnologiya</a:t>
            </a:r>
            <a:r>
              <a:rPr lang="en-US" altLang="en-US" sz="1500" dirty="0">
                <a:latin typeface="Times New Roman" panose="02020603050405020304" pitchFamily="18" charset="0"/>
                <a:cs typeface="Times New Roman" panose="02020603050405020304" pitchFamily="18" charset="0"/>
              </a:rPr>
              <a:t>. Bu </a:t>
            </a:r>
            <a:r>
              <a:rPr lang="en-US" altLang="en-US" sz="1500" dirty="0" err="1">
                <a:latin typeface="Times New Roman" panose="02020603050405020304" pitchFamily="18" charset="0"/>
                <a:cs typeface="Times New Roman" panose="02020603050405020304" pitchFamily="18" charset="0"/>
              </a:rPr>
              <a:t>erda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aniqki</a:t>
            </a:r>
            <a:r>
              <a:rPr lang="en-US" altLang="en-US" sz="1500" dirty="0">
                <a:latin typeface="Times New Roman" panose="02020603050405020304" pitchFamily="18" charset="0"/>
                <a:cs typeface="Times New Roman" panose="02020603050405020304" pitchFamily="18" charset="0"/>
              </a:rPr>
              <a:t>, agar </a:t>
            </a:r>
            <a:r>
              <a:rPr lang="en-US" altLang="en-US" sz="1500" dirty="0" err="1">
                <a:latin typeface="Times New Roman" panose="02020603050405020304" pitchFamily="18" charset="0"/>
                <a:cs typeface="Times New Roman" panose="02020603050405020304" pitchFamily="18" charset="0"/>
              </a:rPr>
              <a:t>serverda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muammolar</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bo'lsa</a:t>
            </a:r>
            <a:r>
              <a:rPr lang="en-US" altLang="en-US" sz="1500" dirty="0">
                <a:latin typeface="Times New Roman" panose="02020603050405020304" pitchFamily="18" charset="0"/>
                <a:cs typeface="Times New Roman" panose="02020603050405020304" pitchFamily="18" charset="0"/>
              </a:rPr>
              <a:t>, u </a:t>
            </a:r>
            <a:r>
              <a:rPr lang="en-US" altLang="en-US" sz="1500" dirty="0" err="1">
                <a:latin typeface="Times New Roman" panose="02020603050405020304" pitchFamily="18" charset="0"/>
                <a:cs typeface="Times New Roman" panose="02020603050405020304" pitchFamily="18" charset="0"/>
              </a:rPr>
              <a:t>holda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pochtaga</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kirish</a:t>
            </a:r>
            <a:r>
              <a:rPr lang="en-US" altLang="en-US" sz="1500" dirty="0">
                <a:latin typeface="Times New Roman" panose="02020603050405020304" pitchFamily="18" charset="0"/>
                <a:cs typeface="Times New Roman" panose="02020603050405020304" pitchFamily="18" charset="0"/>
              </a:rPr>
              <a:t> </a:t>
            </a:r>
            <a:r>
              <a:rPr lang="en-US" altLang="en-US" sz="1500" dirty="0" err="1">
                <a:latin typeface="Times New Roman" panose="02020603050405020304" pitchFamily="18" charset="0"/>
                <a:cs typeface="Times New Roman" panose="02020603050405020304" pitchFamily="18" charset="0"/>
              </a:rPr>
              <a:t>yo'qoladi</a:t>
            </a:r>
            <a:r>
              <a:rPr lang="en-US" altLang="en-US" sz="1500" dirty="0">
                <a:latin typeface="Times New Roman" panose="02020603050405020304" pitchFamily="18" charset="0"/>
                <a:cs typeface="Times New Roman" panose="02020603050405020304" pitchFamily="18" charset="0"/>
              </a:rPr>
              <a:t>. </a:t>
            </a:r>
          </a:p>
        </p:txBody>
      </p:sp>
      <p:sp>
        <p:nvSpPr>
          <p:cNvPr id="2" name="Номер слайда 1">
            <a:extLst>
              <a:ext uri="{FF2B5EF4-FFF2-40B4-BE49-F238E27FC236}">
                <a16:creationId xmlns:a16="http://schemas.microsoft.com/office/drawing/2014/main" id="{1752E845-B3DD-2CF9-0F38-60C02E37DCAB}"/>
              </a:ext>
            </a:extLst>
          </p:cNvPr>
          <p:cNvSpPr>
            <a:spLocks noGrp="1"/>
          </p:cNvSpPr>
          <p:nvPr>
            <p:ph type="sldNum" sz="quarter" idx="12"/>
          </p:nvPr>
        </p:nvSpPr>
        <p:spPr/>
        <p:txBody>
          <a:bodyPr/>
          <a:lstStyle/>
          <a:p>
            <a:pPr lvl="0"/>
            <a:fld id="{9A0DB2DC-4C9A-4742-B13C-FB6460FD3503}" type="slidenum">
              <a:rPr lang="zh-CN" altLang="en-US" smtClean="0"/>
              <a:t>5</a:t>
            </a:fld>
            <a:endParaRPr lang="zh-CN" altLang="en-US" dirty="0"/>
          </a:p>
        </p:txBody>
      </p:sp>
      <p:pic>
        <p:nvPicPr>
          <p:cNvPr id="5122" name="Picture 2">
            <a:extLst>
              <a:ext uri="{FF2B5EF4-FFF2-40B4-BE49-F238E27FC236}">
                <a16:creationId xmlns:a16="http://schemas.microsoft.com/office/drawing/2014/main" id="{EF2DF09A-36AB-AF05-A097-A4795194C8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757" y="4064532"/>
            <a:ext cx="2828123" cy="218203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5_210_111"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charset="0"/>
                <a:ea typeface="宋体"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eaLnBrk="1" hangingPunct="1">
              <a:spcBef>
                <a:spcPct val="0"/>
              </a:spcBef>
              <a:buNone/>
            </a:pPr>
            <a:endParaRPr sz="1800"/>
          </a:p>
        </p:txBody>
      </p:sp>
      <p:sp>
        <p:nvSpPr>
          <p:cNvPr id="3075" name="Rectangle 2" descr="#wm#_a_05_210_111_a_1_1#clear#"/>
          <p:cNvSpPr>
            <a:spLocks noGrp="1"/>
          </p:cNvSpPr>
          <p:nvPr>
            <p:ph type="title" idx="4294967295"/>
          </p:nvPr>
        </p:nvSpPr>
        <p:spPr/>
        <p:txBody>
          <a:bodyPr vert="horz" wrap="square" anchor="ctr"/>
          <a:lstStyle/>
          <a:p>
            <a:pPr lvl="0" algn="ctr" eaLnBrk="1" hangingPunct="1"/>
            <a:r>
              <a:rPr lang="x-none" sz="4000" dirty="0">
                <a:latin typeface="Times New Roman" panose="02020603050405020304" pitchFamily="18" charset="0"/>
                <a:cs typeface="Times New Roman" panose="02020603050405020304" pitchFamily="18" charset="0"/>
              </a:rPr>
              <a:t>Bulutli Texnologiyalar…</a:t>
            </a:r>
          </a:p>
        </p:txBody>
      </p:sp>
      <p:sp>
        <p:nvSpPr>
          <p:cNvPr id="3077" name="Rectangle 4" descr="#wm#_a_05_210_111_b_1_1#clear#"/>
          <p:cNvSpPr>
            <a:spLocks noGrp="1"/>
          </p:cNvSpPr>
          <p:nvPr>
            <p:ph type="body" sz="half" idx="4294967295"/>
          </p:nvPr>
        </p:nvSpPr>
        <p:spPr>
          <a:xfrm>
            <a:off x="539552" y="2560141"/>
            <a:ext cx="3789554" cy="3761259"/>
          </a:xfrm>
        </p:spPr>
        <p:txBody>
          <a:bodyPr vert="horz" wrap="square" anchor="t">
            <a:normAutofit/>
          </a:bodyPr>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stStyle>
          <a:p>
            <a:pPr algn="just">
              <a:lnSpc>
                <a:spcPct val="150000"/>
              </a:lnSpc>
              <a:spcBef>
                <a:spcPts val="0"/>
              </a:spcBef>
              <a:buFont typeface="Wingdings" panose="05000000000000000000" pitchFamily="2" charset="2"/>
              <a:buChar char="v"/>
            </a:pPr>
            <a:r>
              <a:rPr sz="1600" dirty="0">
                <a:latin typeface="Times New Roman" panose="02020603050405020304" pitchFamily="18" charset="0"/>
                <a:cs typeface="Times New Roman" panose="02020603050405020304" pitchFamily="18" charset="0"/>
              </a:rPr>
              <a:t>Bu "</a:t>
            </a:r>
            <a:r>
              <a:rPr sz="1600" dirty="0" err="1">
                <a:latin typeface="Times New Roman" panose="02020603050405020304" pitchFamily="18" charset="0"/>
                <a:cs typeface="Times New Roman" panose="02020603050405020304" pitchFamily="18" charset="0"/>
              </a:rPr>
              <a:t>bulut</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va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siz</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bilishingiz</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va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e'tiborga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olishingiz</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kerak</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bo'lgan</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bir</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qator</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kamchiliklarga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ega</a:t>
            </a:r>
            <a:r>
              <a:rPr sz="1600" dirty="0">
                <a:latin typeface="Times New Roman" panose="02020603050405020304" pitchFamily="18" charset="0"/>
                <a:cs typeface="Times New Roman" panose="02020603050405020304" pitchFamily="18" charset="0"/>
              </a:rPr>
              <a:t>: </a:t>
            </a:r>
          </a:p>
          <a:p>
            <a:pPr algn="just">
              <a:lnSpc>
                <a:spcPct val="150000"/>
              </a:lnSpc>
              <a:spcBef>
                <a:spcPts val="0"/>
              </a:spcBef>
              <a:buFont typeface="Wingdings" panose="05000000000000000000" pitchFamily="2" charset="2"/>
              <a:buChar char="v"/>
            </a:pPr>
            <a:r>
              <a:rPr sz="1600" dirty="0">
                <a:latin typeface="Times New Roman" panose="02020603050405020304" pitchFamily="18" charset="0"/>
                <a:cs typeface="Times New Roman" panose="02020603050405020304" pitchFamily="18" charset="0"/>
              </a:rPr>
              <a:t>Internet </a:t>
            </a:r>
            <a:r>
              <a:rPr sz="1600" dirty="0" err="1">
                <a:latin typeface="Times New Roman" panose="02020603050405020304" pitchFamily="18" charset="0"/>
                <a:cs typeface="Times New Roman" panose="02020603050405020304" pitchFamily="18" charset="0"/>
              </a:rPr>
              <a:t>mavjud</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bo'lmaganda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kirish</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imkoni</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bo'lmaydi</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va</a:t>
            </a:r>
            <a:r>
              <a:rPr sz="1600" dirty="0">
                <a:latin typeface="Times New Roman" panose="02020603050405020304" pitchFamily="18" charset="0"/>
                <a:cs typeface="Times New Roman" panose="02020603050405020304" pitchFamily="18" charset="0"/>
              </a:rPr>
              <a:t> agar u </a:t>
            </a:r>
            <a:r>
              <a:rPr sz="1600" dirty="0" err="1">
                <a:latin typeface="Times New Roman" panose="02020603050405020304" pitchFamily="18" charset="0"/>
                <a:cs typeface="Times New Roman" panose="02020603050405020304" pitchFamily="18" charset="0"/>
              </a:rPr>
              <a:t>bo'lmasa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unda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faqat</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kompyuterga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yuklab</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olingan</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hujjatlar</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bilan</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ishlash</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mumkin</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bo'ladi</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Ta'kidlash</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joizki</a:t>
            </a:r>
            <a:r>
              <a:rPr sz="1600" dirty="0">
                <a:latin typeface="Times New Roman" panose="02020603050405020304" pitchFamily="18" charset="0"/>
                <a:cs typeface="Times New Roman" panose="02020603050405020304" pitchFamily="18" charset="0"/>
              </a:rPr>
              <a:t>, Internet </a:t>
            </a:r>
            <a:r>
              <a:rPr sz="1600" dirty="0" err="1">
                <a:latin typeface="Times New Roman" panose="02020603050405020304" pitchFamily="18" charset="0"/>
                <a:cs typeface="Times New Roman" panose="02020603050405020304" pitchFamily="18" charset="0"/>
              </a:rPr>
              <a:t>tez</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va</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sifatli</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bo'lishi</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kerak</a:t>
            </a:r>
            <a:r>
              <a:rPr sz="1600" dirty="0">
                <a:latin typeface="Times New Roman" panose="02020603050405020304" pitchFamily="18" charset="0"/>
                <a:cs typeface="Times New Roman" panose="02020603050405020304" pitchFamily="18" charset="0"/>
              </a:rPr>
              <a:t>. </a:t>
            </a:r>
          </a:p>
        </p:txBody>
      </p:sp>
      <p:sp>
        <p:nvSpPr>
          <p:cNvPr id="2" name="Номер слайда 1">
            <a:extLst>
              <a:ext uri="{FF2B5EF4-FFF2-40B4-BE49-F238E27FC236}">
                <a16:creationId xmlns:a16="http://schemas.microsoft.com/office/drawing/2014/main" id="{ADFBD7AE-35D4-9DFA-DC89-9DEF2E3E3233}"/>
              </a:ext>
            </a:extLst>
          </p:cNvPr>
          <p:cNvSpPr>
            <a:spLocks noGrp="1"/>
          </p:cNvSpPr>
          <p:nvPr>
            <p:ph type="sldNum" sz="quarter" idx="12"/>
          </p:nvPr>
        </p:nvSpPr>
        <p:spPr/>
        <p:txBody>
          <a:bodyPr/>
          <a:lstStyle/>
          <a:p>
            <a:pPr lvl="0"/>
            <a:fld id="{9A0DB2DC-4C9A-4742-B13C-FB6460FD3503}" type="slidenum">
              <a:rPr lang="zh-CN" altLang="en-US" smtClean="0"/>
              <a:t>6</a:t>
            </a:fld>
            <a:endParaRPr lang="zh-CN" altLang="en-US" dirty="0"/>
          </a:p>
        </p:txBody>
      </p:sp>
      <p:pic>
        <p:nvPicPr>
          <p:cNvPr id="6148" name="Picture 4">
            <a:extLst>
              <a:ext uri="{FF2B5EF4-FFF2-40B4-BE49-F238E27FC236}">
                <a16:creationId xmlns:a16="http://schemas.microsoft.com/office/drawing/2014/main" id="{F15C5153-96FD-E597-2C94-D50F78068D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852936"/>
            <a:ext cx="3910841" cy="26642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79159-3953-02F0-51C0-6C5848FB5257}"/>
              </a:ext>
            </a:extLst>
          </p:cNvPr>
          <p:cNvSpPr txBox="1"/>
          <p:nvPr/>
        </p:nvSpPr>
        <p:spPr>
          <a:xfrm>
            <a:off x="611560" y="2132856"/>
            <a:ext cx="8136904" cy="2400657"/>
          </a:xfrm>
          <a:prstGeom prst="rect">
            <a:avLst/>
          </a:prstGeom>
          <a:noFill/>
        </p:spPr>
        <p:txBody>
          <a:bodyPr wrap="square">
            <a:spAutoFit/>
          </a:bodyPr>
          <a:lstStyle/>
          <a:p>
            <a:pPr marL="0" lvl="1" indent="0" algn="just">
              <a:buNone/>
            </a:pPr>
            <a:r>
              <a:rPr lang="tr-TR" sz="1500" dirty="0">
                <a:latin typeface="Times New Roman" panose="02020603050405020304" pitchFamily="18" charset="0"/>
                <a:cs typeface="Times New Roman" panose="02020603050405020304" pitchFamily="18" charset="0"/>
              </a:rPr>
              <a:t>Bulutli hisoblash platformalari (</a:t>
            </a:r>
            <a:r>
              <a:rPr lang="tr-TR" sz="1500" b="1" i="1" dirty="0">
                <a:latin typeface="Times New Roman" panose="02020603050405020304" pitchFamily="18" charset="0"/>
                <a:cs typeface="Times New Roman" panose="02020603050405020304" pitchFamily="18" charset="0"/>
              </a:rPr>
              <a:t>Cloud Computing</a:t>
            </a:r>
            <a:r>
              <a:rPr lang="tr-TR" sz="1500" dirty="0">
                <a:latin typeface="Times New Roman" panose="02020603050405020304" pitchFamily="18" charset="0"/>
                <a:cs typeface="Times New Roman" panose="02020603050405020304" pitchFamily="18" charset="0"/>
              </a:rPr>
              <a:t>) – yangi axborot texnologiya konsepsiyasi bo‘lib, u eng kam espluatatsionharajatlar talab qiladi yoki u orqali provayderga murojaatlar tezkor taqdim etiladi va kerak bo’lgan hisoblash resurslari talablarga binoan hamma joyda va qulay tarmoq ulanishi bilan ta’minlanishni ko‘zda tutadi. Ma’lumot uzatish tarmoqlari, serverlar, ma’lumot saqlash qurilmalari, servis dasturlari – birgalikda ham, alohida ham bulutli texnologiyalarning tarmoq resurslariga misol bo‘lishi mumkin. Boshqacha qilib aytganda, bulutli texnologiyalar (</a:t>
            </a:r>
            <a:r>
              <a:rPr lang="tr-TR" sz="1500" b="1" i="1" dirty="0">
                <a:latin typeface="Times New Roman" panose="02020603050405020304" pitchFamily="18" charset="0"/>
                <a:cs typeface="Times New Roman" panose="02020603050405020304" pitchFamily="18" charset="0"/>
              </a:rPr>
              <a:t>Cloud technologies</a:t>
            </a:r>
            <a:r>
              <a:rPr lang="tr-TR" sz="1500" dirty="0">
                <a:latin typeface="Times New Roman" panose="02020603050405020304" pitchFamily="18" charset="0"/>
                <a:cs typeface="Times New Roman" panose="02020603050405020304" pitchFamily="18" charset="0"/>
              </a:rPr>
              <a:t>) – bu kompyuter resurslarini Internetdan foydalanuvchiga so‘rov bo‘yicha (</a:t>
            </a:r>
            <a:r>
              <a:rPr lang="tr-TR" sz="1500" b="1" i="1" dirty="0">
                <a:latin typeface="Times New Roman" panose="02020603050405020304" pitchFamily="18" charset="0"/>
                <a:cs typeface="Times New Roman" panose="02020603050405020304" pitchFamily="18" charset="0"/>
              </a:rPr>
              <a:t>on demand</a:t>
            </a:r>
            <a:r>
              <a:rPr lang="tr-TR" sz="1500" dirty="0">
                <a:latin typeface="Times New Roman" panose="02020603050405020304" pitchFamily="18" charset="0"/>
                <a:cs typeface="Times New Roman" panose="02020603050405020304" pitchFamily="18" charset="0"/>
              </a:rPr>
              <a:t>) onlayn-servis sifatida taqdim eta oladigan ma’lumotlarni qayta ishlash texnologiyalaridir. Shuni ham aytish zarurki, bulutlitexnologiyalar vujudga kelayotgan raqamli iqtisodiyot poydevoriga ulkan hissa qo‘shgan va qo’shayapti</a:t>
            </a:r>
            <a:r>
              <a:rPr lang="ru-RU" sz="15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B04DAF67-EECA-0230-C2AF-81951D68E9D4}"/>
              </a:ext>
            </a:extLst>
          </p:cNvPr>
          <p:cNvSpPr txBox="1"/>
          <p:nvPr/>
        </p:nvSpPr>
        <p:spPr>
          <a:xfrm>
            <a:off x="1043608" y="603260"/>
            <a:ext cx="6635008" cy="1323439"/>
          </a:xfrm>
          <a:prstGeom prst="rect">
            <a:avLst/>
          </a:prstGeom>
          <a:noFill/>
        </p:spPr>
        <p:txBody>
          <a:bodyPr wrap="square">
            <a:spAutoFit/>
          </a:bodyPr>
          <a:lstStyle/>
          <a:p>
            <a:pPr algn="ctr"/>
            <a:r>
              <a:rPr lang="uz-Cyrl-UZ" sz="4000" dirty="0">
                <a:solidFill>
                  <a:schemeClr val="bg1"/>
                </a:solidFill>
                <a:latin typeface="Times New Roman" panose="02020603050405020304" pitchFamily="18" charset="0"/>
                <a:cs typeface="Times New Roman" panose="02020603050405020304" pitchFamily="18" charset="0"/>
              </a:rPr>
              <a:t>Bulutli hisoblashning mohiyati texnologiyalar</a:t>
            </a:r>
            <a:endParaRPr lang="ru-RU" sz="4000" dirty="0">
              <a:solidFill>
                <a:schemeClr val="bg1"/>
              </a:solidFill>
              <a:latin typeface="Times New Roman" panose="02020603050405020304" pitchFamily="18" charset="0"/>
              <a:cs typeface="Times New Roman" panose="02020603050405020304" pitchFamily="18" charset="0"/>
            </a:endParaRPr>
          </a:p>
        </p:txBody>
      </p:sp>
      <p:sp>
        <p:nvSpPr>
          <p:cNvPr id="6" name="Номер слайда 5">
            <a:extLst>
              <a:ext uri="{FF2B5EF4-FFF2-40B4-BE49-F238E27FC236}">
                <a16:creationId xmlns:a16="http://schemas.microsoft.com/office/drawing/2014/main" id="{30472184-371B-C191-AF7C-CCDC3BD86134}"/>
              </a:ext>
            </a:extLst>
          </p:cNvPr>
          <p:cNvSpPr>
            <a:spLocks noGrp="1"/>
          </p:cNvSpPr>
          <p:nvPr>
            <p:ph type="sldNum" sz="quarter" idx="12"/>
          </p:nvPr>
        </p:nvSpPr>
        <p:spPr/>
        <p:txBody>
          <a:bodyPr/>
          <a:lstStyle/>
          <a:p>
            <a:pPr lvl="0"/>
            <a:fld id="{9A0DB2DC-4C9A-4742-B13C-FB6460FD3503}" type="slidenum">
              <a:rPr lang="zh-CN" altLang="en-US" smtClean="0"/>
              <a:t>7</a:t>
            </a:fld>
            <a:endParaRPr lang="zh-CN" altLang="en-US" dirty="0"/>
          </a:p>
        </p:txBody>
      </p:sp>
      <p:sp>
        <p:nvSpPr>
          <p:cNvPr id="8" name="TextBox 7">
            <a:extLst>
              <a:ext uri="{FF2B5EF4-FFF2-40B4-BE49-F238E27FC236}">
                <a16:creationId xmlns:a16="http://schemas.microsoft.com/office/drawing/2014/main" id="{ADB5C0E2-A94D-2F5F-7184-9595CD1F6461}"/>
              </a:ext>
            </a:extLst>
          </p:cNvPr>
          <p:cNvSpPr txBox="1"/>
          <p:nvPr/>
        </p:nvSpPr>
        <p:spPr>
          <a:xfrm>
            <a:off x="3879824" y="4415707"/>
            <a:ext cx="4868640" cy="2169825"/>
          </a:xfrm>
          <a:prstGeom prst="rect">
            <a:avLst/>
          </a:prstGeom>
          <a:noFill/>
        </p:spPr>
        <p:txBody>
          <a:bodyPr wrap="square">
            <a:spAutoFit/>
          </a:bodyPr>
          <a:lstStyle/>
          <a:p>
            <a:pPr algn="just"/>
            <a:r>
              <a:rPr lang="tr-TR" sz="1500" dirty="0">
                <a:latin typeface="Times New Roman" panose="02020603050405020304" pitchFamily="18" charset="0"/>
                <a:cs typeface="Times New Roman" panose="02020603050405020304" pitchFamily="18" charset="0"/>
              </a:rPr>
              <a:t> Bu hissa faqatgina texnologik tarkibiy qismlar bilan chegaralanmaydi, balki iqtisodiy va</a:t>
            </a:r>
            <a:r>
              <a:rPr lang="ru-RU" sz="1500" dirty="0">
                <a:latin typeface="Times New Roman" panose="02020603050405020304" pitchFamily="18" charset="0"/>
                <a:cs typeface="Times New Roman" panose="02020603050405020304" pitchFamily="18" charset="0"/>
              </a:rPr>
              <a:t> </a:t>
            </a:r>
            <a:r>
              <a:rPr lang="tr-TR" sz="1500" dirty="0">
                <a:latin typeface="Times New Roman" panose="02020603050405020304" pitchFamily="18" charset="0"/>
                <a:cs typeface="Times New Roman" panose="02020603050405020304" pitchFamily="18" charset="0"/>
              </a:rPr>
              <a:t>g‘oyaviy tarkibiy qismlarni ham o‘z ichiga qamrab oladi. Bulutli texnologiyalar rivojlanishi, masalan, talab bo’yicha ishlab chiqarish (</a:t>
            </a:r>
            <a:r>
              <a:rPr lang="tr-TR" sz="1500" b="1" i="1" dirty="0">
                <a:latin typeface="Times New Roman" panose="02020603050405020304" pitchFamily="18" charset="0"/>
                <a:cs typeface="Times New Roman" panose="02020603050405020304" pitchFamily="18" charset="0"/>
              </a:rPr>
              <a:t>production on-demand</a:t>
            </a:r>
            <a:r>
              <a:rPr lang="tr-TR" sz="1500" dirty="0">
                <a:latin typeface="Times New Roman" panose="02020603050405020304" pitchFamily="18" charset="0"/>
                <a:cs typeface="Times New Roman" panose="02020603050405020304" pitchFamily="18" charset="0"/>
              </a:rPr>
              <a:t>), xizmat sifatidagi dasturiy ta’minot (</a:t>
            </a:r>
            <a:r>
              <a:rPr lang="tr-TR" sz="1500" b="1" i="1" dirty="0">
                <a:latin typeface="Times New Roman" panose="02020603050405020304" pitchFamily="18" charset="0"/>
                <a:cs typeface="Times New Roman" panose="02020603050405020304" pitchFamily="18" charset="0"/>
              </a:rPr>
              <a:t>software as a service</a:t>
            </a:r>
            <a:r>
              <a:rPr lang="tr-TR" sz="1500" dirty="0">
                <a:latin typeface="Times New Roman" panose="02020603050405020304" pitchFamily="18" charset="0"/>
                <a:cs typeface="Times New Roman" panose="02020603050405020304" pitchFamily="18" charset="0"/>
              </a:rPr>
              <a:t>) kabi kelajak biznes- modellarining aksariyati uchun asosiy g‘oyaga va ko‘plab iqtisodiy o‘zaro aloqalar uchun tamoyilga aylanadigan tushunchalar paydo bo‘lishiga olib keldi.</a:t>
            </a:r>
            <a:endParaRPr lang="ru-RU" sz="1500" dirty="0"/>
          </a:p>
        </p:txBody>
      </p:sp>
      <p:pic>
        <p:nvPicPr>
          <p:cNvPr id="7170" name="Picture 2">
            <a:extLst>
              <a:ext uri="{FF2B5EF4-FFF2-40B4-BE49-F238E27FC236}">
                <a16:creationId xmlns:a16="http://schemas.microsoft.com/office/drawing/2014/main" id="{3C9C77F1-2411-29D2-5366-736CCECDFC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4586565"/>
            <a:ext cx="2821704" cy="201536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325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79159-3953-02F0-51C0-6C5848FB5257}"/>
              </a:ext>
            </a:extLst>
          </p:cNvPr>
          <p:cNvSpPr txBox="1"/>
          <p:nvPr/>
        </p:nvSpPr>
        <p:spPr>
          <a:xfrm>
            <a:off x="467544" y="2204864"/>
            <a:ext cx="8208912" cy="3785652"/>
          </a:xfrm>
          <a:prstGeom prst="rect">
            <a:avLst/>
          </a:prstGeom>
          <a:noFill/>
        </p:spPr>
        <p:txBody>
          <a:bodyPr wrap="square">
            <a:spAutoFit/>
          </a:bodyPr>
          <a:lstStyle/>
          <a:p>
            <a:pPr marL="0" lvl="1" algn="just"/>
            <a:r>
              <a:rPr lang="tr-TR" sz="1600" dirty="0">
                <a:latin typeface="Times New Roman" panose="02020603050405020304" pitchFamily="18" charset="0"/>
                <a:cs typeface="Times New Roman" panose="02020603050405020304" pitchFamily="18" charset="0"/>
              </a:rPr>
              <a:t> </a:t>
            </a:r>
            <a:r>
              <a:rPr lang="tr-TR" sz="1600" b="1" dirty="0">
                <a:latin typeface="Times New Roman" panose="02020603050405020304" pitchFamily="18" charset="0"/>
                <a:cs typeface="Times New Roman" panose="02020603050405020304" pitchFamily="18" charset="0"/>
              </a:rPr>
              <a:t>Bulutli texnologiyalar ham</a:t>
            </a:r>
            <a:r>
              <a:rPr lang="tr-TR" sz="1600" dirty="0">
                <a:latin typeface="Times New Roman" panose="02020603050405020304" pitchFamily="18" charset="0"/>
                <a:cs typeface="Times New Roman" panose="02020603050405020304" pitchFamily="18" charset="0"/>
              </a:rPr>
              <a:t> kelajak korporativ va moliyaviy boshqaruv uchun alohida ahamiyatga molik bo’lib, virtual iqtisodiyot uchun yangidan-yangi va kutilmagan imkoniyatlar yaratmoqda. Ma’lumotlarni bulutli uslubiyatda saqlash va on-line texnologiyalardan foydalanish ma’lumotlar havfsizligini ta’minlash hamda operatsion harajatlarni keskin qisqartirishga shart-sharoitlar yaratmoqda. Masalan, hozirgi kunda </a:t>
            </a:r>
            <a:r>
              <a:rPr lang="tr-TR" sz="1600" b="1" i="1" dirty="0">
                <a:latin typeface="Times New Roman" panose="02020603050405020304" pitchFamily="18" charset="0"/>
                <a:cs typeface="Times New Roman" panose="02020603050405020304" pitchFamily="18" charset="0"/>
              </a:rPr>
              <a:t>Amazon </a:t>
            </a:r>
            <a:r>
              <a:rPr lang="tr-TR" sz="1600" dirty="0">
                <a:latin typeface="Times New Roman" panose="02020603050405020304" pitchFamily="18" charset="0"/>
                <a:cs typeface="Times New Roman" panose="02020603050405020304" pitchFamily="18" charset="0"/>
              </a:rPr>
              <a:t>bulutida 10 mingta serverni ijaraga olish soatiga tahminan 90 dollarga tushmoqda. Bu esa ushbu turdagi xizmatlarning narxini yanada pasayishini bashorat qilishga va respublikamizda ham bunday texnologiyalarda keng miqyosda imkon beradi hamda keyinchalik bu texnologiyalardan kichik va o’rta biznes ham bemalol foydalana oladi.</a:t>
            </a:r>
            <a:endParaRPr lang="ru-RU" sz="1600" dirty="0">
              <a:latin typeface="Times New Roman" panose="02020603050405020304" pitchFamily="18" charset="0"/>
              <a:cs typeface="Times New Roman" panose="02020603050405020304" pitchFamily="18" charset="0"/>
            </a:endParaRPr>
          </a:p>
          <a:p>
            <a:pPr marL="0" lvl="1" algn="just"/>
            <a:r>
              <a:rPr lang="en-US" sz="1600" dirty="0">
                <a:latin typeface="Times New Roman" panose="02020603050405020304" pitchFamily="18" charset="0"/>
                <a:cs typeface="Times New Roman" panose="02020603050405020304" pitchFamily="18" charset="0"/>
              </a:rPr>
              <a:t> </a:t>
            </a:r>
            <a:r>
              <a:rPr lang="tr-TR" sz="1600" dirty="0">
                <a:latin typeface="Times New Roman" panose="02020603050405020304" pitchFamily="18" charset="0"/>
                <a:cs typeface="Times New Roman" panose="02020603050405020304" pitchFamily="18" charset="0"/>
              </a:rPr>
              <a:t>Jamiyatning rivojlanishi elektronbiznesning rivojlanishi va boshqarilishi uchun yangidan-yangi imkoniyatlar yaratib bermoqda. Masalan, ma’lumotlarni bulutli usulda saqlash va ularni boshqarish xizmatlari biznes uchun misli ko’rilmagan imkoniyatalar yaratib bermoqda. Endi firma va tashkilotlar ish yuritish uchun ofis maydonlari, data-markazlar talab qilmaydilar, information tizimlar yaratishga esa katta miqdordagi investitsiyalar jalb qilishning hojati qolmaydi.</a:t>
            </a:r>
            <a:endParaRPr lang="ru-RU" sz="1600" dirty="0">
              <a:latin typeface="Times New Roman" panose="02020603050405020304" pitchFamily="18" charset="0"/>
              <a:cs typeface="Times New Roman" panose="02020603050405020304" pitchFamily="18" charset="0"/>
            </a:endParaRPr>
          </a:p>
        </p:txBody>
      </p:sp>
      <p:sp>
        <p:nvSpPr>
          <p:cNvPr id="6" name="Номер слайда 5">
            <a:extLst>
              <a:ext uri="{FF2B5EF4-FFF2-40B4-BE49-F238E27FC236}">
                <a16:creationId xmlns:a16="http://schemas.microsoft.com/office/drawing/2014/main" id="{97C0C6E0-9AE4-67A5-0239-677AC8C13FF0}"/>
              </a:ext>
            </a:extLst>
          </p:cNvPr>
          <p:cNvSpPr>
            <a:spLocks noGrp="1"/>
          </p:cNvSpPr>
          <p:nvPr>
            <p:ph type="sldNum" sz="quarter" idx="12"/>
          </p:nvPr>
        </p:nvSpPr>
        <p:spPr/>
        <p:txBody>
          <a:bodyPr/>
          <a:lstStyle/>
          <a:p>
            <a:pPr lvl="0"/>
            <a:fld id="{9A0DB2DC-4C9A-4742-B13C-FB6460FD3503}" type="slidenum">
              <a:rPr lang="zh-CN" altLang="en-US" smtClean="0"/>
              <a:t>8</a:t>
            </a:fld>
            <a:endParaRPr lang="zh-CN" altLang="en-US" dirty="0"/>
          </a:p>
        </p:txBody>
      </p:sp>
    </p:spTree>
    <p:extLst>
      <p:ext uri="{BB962C8B-B14F-4D97-AF65-F5344CB8AC3E}">
        <p14:creationId xmlns:p14="http://schemas.microsoft.com/office/powerpoint/2010/main" val="3818958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CAB445-F80D-0567-6403-8170A23F6AA2}"/>
              </a:ext>
            </a:extLst>
          </p:cNvPr>
          <p:cNvSpPr txBox="1"/>
          <p:nvPr/>
        </p:nvSpPr>
        <p:spPr>
          <a:xfrm>
            <a:off x="467544" y="2204864"/>
            <a:ext cx="8136904" cy="4278094"/>
          </a:xfrm>
          <a:prstGeom prst="rect">
            <a:avLst/>
          </a:prstGeom>
          <a:noFill/>
        </p:spPr>
        <p:txBody>
          <a:bodyPr wrap="square">
            <a:spAutoFit/>
          </a:bodyPr>
          <a:lstStyle/>
          <a:p>
            <a:pPr algn="just"/>
            <a:r>
              <a:rPr lang="tr-TR" sz="1600" b="1" i="1" dirty="0">
                <a:latin typeface="Times New Roman" panose="02020603050405020304" pitchFamily="18" charset="0"/>
                <a:cs typeface="Times New Roman" panose="02020603050405020304" pitchFamily="18" charset="0"/>
              </a:rPr>
              <a:t>Gibrid bulut </a:t>
            </a:r>
            <a:r>
              <a:rPr lang="tr-TR" sz="1600" dirty="0">
                <a:latin typeface="Times New Roman" panose="02020603050405020304" pitchFamily="18" charset="0"/>
                <a:cs typeface="Times New Roman" panose="02020603050405020304" pitchFamily="18" charset="0"/>
              </a:rPr>
              <a:t>(</a:t>
            </a:r>
            <a:r>
              <a:rPr lang="tr-TR" sz="1600" b="1" i="1" dirty="0">
                <a:latin typeface="Times New Roman" panose="02020603050405020304" pitchFamily="18" charset="0"/>
                <a:cs typeface="Times New Roman" panose="02020603050405020304" pitchFamily="18" charset="0"/>
              </a:rPr>
              <a:t>hybrid cloud</a:t>
            </a:r>
            <a:r>
              <a:rPr lang="tr-TR" sz="1600" dirty="0">
                <a:latin typeface="Times New Roman" panose="02020603050405020304" pitchFamily="18" charset="0"/>
                <a:cs typeface="Times New Roman" panose="02020603050405020304" pitchFamily="18" charset="0"/>
              </a:rPr>
              <a:t>) – bu infratuzilma yuqoridagi barcha ko’rsatilgan bulutli modellarini o‘z tarkibiga oladi (</a:t>
            </a:r>
            <a:r>
              <a:rPr lang="tr-TR" sz="1600" i="1" dirty="0">
                <a:latin typeface="Times New Roman" panose="02020603050405020304" pitchFamily="18" charset="0"/>
                <a:cs typeface="Times New Roman" panose="02020603050405020304" pitchFamily="18" charset="0"/>
              </a:rPr>
              <a:t>xususiy bulut va ommaviy bulut</a:t>
            </a:r>
            <a:r>
              <a:rPr lang="tr-TR" sz="1600" dirty="0">
                <a:latin typeface="Times New Roman" panose="02020603050405020304" pitchFamily="18" charset="0"/>
                <a:cs typeface="Times New Roman" panose="02020603050405020304" pitchFamily="18" charset="0"/>
              </a:rPr>
              <a:t>). Odatda, gibrid bulut platformasi undan foydalanadigan kompaniyada yaratiladi, ularni boshqarish bo‘yicha mas’uliyat esa korxona bilan ommaviy bulutni yetkazib beruvchi o‘rtasida taqsimlanadi. Gibrid bulutning bir qismi ommaviy bulutga, bir qismi xususiy bulutga tegishli bo‘lgan xizmatlarni taqdim etadi. Misol sifatida xususiy bulutli texnologiya to‘g‘risida yanada aniq tasavvurga ega bo‘lishga yordam beradigan quyidagi asosiy mezonlarni ajratib ko‘rsatishimiz mumkin:</a:t>
            </a:r>
            <a:endParaRPr lang="ru-RU" sz="1600" dirty="0">
              <a:latin typeface="Times New Roman" panose="02020603050405020304" pitchFamily="18" charset="0"/>
              <a:cs typeface="Times New Roman" panose="02020603050405020304" pitchFamily="18" charset="0"/>
            </a:endParaRPr>
          </a:p>
          <a:p>
            <a:pPr lvl="0" algn="just"/>
            <a:r>
              <a:rPr lang="tr-TR" sz="1600" b="1" dirty="0">
                <a:latin typeface="Times New Roman" panose="02020603050405020304" pitchFamily="18" charset="0"/>
                <a:cs typeface="Times New Roman" panose="02020603050405020304" pitchFamily="18" charset="0"/>
              </a:rPr>
              <a:t>Bulut </a:t>
            </a:r>
            <a:r>
              <a:rPr lang="tr-TR" sz="1600" dirty="0">
                <a:latin typeface="Times New Roman" panose="02020603050405020304" pitchFamily="18" charset="0"/>
                <a:cs typeface="Times New Roman" panose="02020603050405020304" pitchFamily="18" charset="0"/>
              </a:rPr>
              <a:t>– </a:t>
            </a:r>
            <a:r>
              <a:rPr lang="tr-TR" sz="1600" b="1" dirty="0">
                <a:latin typeface="Times New Roman" panose="02020603050405020304" pitchFamily="18" charset="0"/>
                <a:cs typeface="Times New Roman" panose="02020603050405020304" pitchFamily="18" charset="0"/>
              </a:rPr>
              <a:t>bu nafaqat virtuallashtirish</a:t>
            </a:r>
            <a:r>
              <a:rPr lang="tr-TR" sz="1600" dirty="0">
                <a:latin typeface="Times New Roman" panose="02020603050405020304" pitchFamily="18" charset="0"/>
                <a:cs typeface="Times New Roman" panose="02020603050405020304" pitchFamily="18" charset="0"/>
              </a:rPr>
              <a:t>, negaki, server va infratuzilishni virtuallashtirish uni informatsion bulut deb hisoblashning asosi hisoblansada, virtuallashtirish va virtuallashgan muhitni boshqarishni amalga oshirish natijasida tizim o‘z-o‘zidan qandaydir turdagi bulut bo‘lib qolmaydi. Texnik muhit bulut texnologiyasi deb hisoblanishi uchun, informatsion tizim virtual mashina, operatsion tizim yoki bog‘lovchi dasturiy ta’minot konteyneri, yuqori bardoshli operatsion tizim, grid-hisoblash dasturiy ta’minoti, saqlash resurslarini tahlil qilib boruvchi dasturiy ta’minot, ko‘lamlashtiruvchi va klasterlovchi vositalardan iborat tashkil etuvchilarga ham ega bo‘lishi zarur. </a:t>
            </a:r>
            <a:r>
              <a:rPr lang="tr-TR" sz="1600" b="1" dirty="0">
                <a:latin typeface="Times New Roman" panose="02020603050405020304" pitchFamily="18" charset="0"/>
                <a:cs typeface="Times New Roman" panose="02020603050405020304" pitchFamily="18" charset="0"/>
              </a:rPr>
              <a:t>Bulut </a:t>
            </a:r>
            <a:r>
              <a:rPr lang="tr-TR" sz="1600" dirty="0">
                <a:latin typeface="Times New Roman" panose="02020603050405020304" pitchFamily="18" charset="0"/>
                <a:cs typeface="Times New Roman" panose="02020603050405020304" pitchFamily="18" charset="0"/>
              </a:rPr>
              <a:t>– </a:t>
            </a:r>
            <a:r>
              <a:rPr lang="tr-TR" sz="1600" b="1" dirty="0">
                <a:latin typeface="Times New Roman" panose="02020603050405020304" pitchFamily="18" charset="0"/>
                <a:cs typeface="Times New Roman" panose="02020603050405020304" pitchFamily="18" charset="0"/>
              </a:rPr>
              <a:t>tejamkorlik manbai bo‘lishi shart emas. </a:t>
            </a:r>
            <a:r>
              <a:rPr lang="tr-TR" sz="1600" dirty="0">
                <a:latin typeface="Times New Roman" panose="02020603050405020304" pitchFamily="18" charset="0"/>
                <a:cs typeface="Times New Roman" panose="02020603050405020304" pitchFamily="18" charset="0"/>
              </a:rPr>
              <a:t>Bulutga pul mablag‘larini tejovchi vosita sifatida qarash xam xato tushunchalardan biri hisoblanadi. Bulutda ishlash tejamkor bo‘lishi mumkin, ammo bu juda xam majburiy bo’lgan atribut hisoblanmaydi.</a:t>
            </a:r>
            <a:endParaRPr lang="ru-RU" sz="1600" dirty="0">
              <a:latin typeface="Times New Roman" panose="02020603050405020304" pitchFamily="18" charset="0"/>
              <a:cs typeface="Times New Roman" panose="02020603050405020304" pitchFamily="18" charset="0"/>
            </a:endParaRPr>
          </a:p>
        </p:txBody>
      </p:sp>
      <p:sp>
        <p:nvSpPr>
          <p:cNvPr id="6" name="Номер слайда 5">
            <a:extLst>
              <a:ext uri="{FF2B5EF4-FFF2-40B4-BE49-F238E27FC236}">
                <a16:creationId xmlns:a16="http://schemas.microsoft.com/office/drawing/2014/main" id="{D4BCD34F-5CCA-DCBE-ADB5-CD7E8282D9FC}"/>
              </a:ext>
            </a:extLst>
          </p:cNvPr>
          <p:cNvSpPr>
            <a:spLocks noGrp="1"/>
          </p:cNvSpPr>
          <p:nvPr>
            <p:ph type="sldNum" sz="quarter" idx="12"/>
          </p:nvPr>
        </p:nvSpPr>
        <p:spPr/>
        <p:txBody>
          <a:bodyPr/>
          <a:lstStyle/>
          <a:p>
            <a:pPr lvl="0"/>
            <a:fld id="{9A0DB2DC-4C9A-4742-B13C-FB6460FD3503}" type="slidenum">
              <a:rPr lang="zh-CN" altLang="en-US" smtClean="0"/>
              <a:t>9</a:t>
            </a:fld>
            <a:endParaRPr lang="zh-CN" altLang="en-US" dirty="0"/>
          </a:p>
        </p:txBody>
      </p:sp>
      <p:sp>
        <p:nvSpPr>
          <p:cNvPr id="8" name="TextBox 7">
            <a:extLst>
              <a:ext uri="{FF2B5EF4-FFF2-40B4-BE49-F238E27FC236}">
                <a16:creationId xmlns:a16="http://schemas.microsoft.com/office/drawing/2014/main" id="{F8B72AF7-6C35-A991-AC2F-410BCCF7E7AA}"/>
              </a:ext>
            </a:extLst>
          </p:cNvPr>
          <p:cNvSpPr txBox="1"/>
          <p:nvPr/>
        </p:nvSpPr>
        <p:spPr>
          <a:xfrm>
            <a:off x="1434516" y="926254"/>
            <a:ext cx="6274968" cy="707886"/>
          </a:xfrm>
          <a:prstGeom prst="rect">
            <a:avLst/>
          </a:prstGeom>
          <a:noFill/>
        </p:spPr>
        <p:txBody>
          <a:bodyPr wrap="square">
            <a:spAutoFit/>
          </a:bodyPr>
          <a:lstStyle/>
          <a:p>
            <a:pPr algn="ctr"/>
            <a:r>
              <a:rPr lang="x-none" sz="4000" dirty="0">
                <a:solidFill>
                  <a:schemeClr val="bg1"/>
                </a:solidFill>
                <a:latin typeface="Times New Roman" panose="02020603050405020304" pitchFamily="18" charset="0"/>
                <a:cs typeface="Times New Roman" panose="02020603050405020304" pitchFamily="18" charset="0"/>
              </a:rPr>
              <a:t>Bulutlar…</a:t>
            </a:r>
            <a:endParaRPr lang="ru-RU" sz="4000" dirty="0">
              <a:solidFill>
                <a:schemeClr val="bg1"/>
              </a:solidFill>
            </a:endParaRPr>
          </a:p>
        </p:txBody>
      </p:sp>
    </p:spTree>
    <p:extLst>
      <p:ext uri="{BB962C8B-B14F-4D97-AF65-F5344CB8AC3E}">
        <p14:creationId xmlns:p14="http://schemas.microsoft.com/office/powerpoint/2010/main" val="15519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ksoSlideStyle" descr="#wm#_a_05_210_111" hidden="1"/>
          <p:cNvSpPr/>
          <p:nvPr/>
        </p:nvSpPr>
        <p:spPr>
          <a:xfrm>
            <a:off x="0" y="0"/>
            <a:ext cx="12700" cy="1270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Arial" charset="0"/>
                <a:ea typeface="宋体"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stStyle>
          <a:p>
            <a:pPr marL="0" lvl="0" indent="0" eaLnBrk="1" hangingPunct="1">
              <a:spcBef>
                <a:spcPct val="0"/>
              </a:spcBef>
              <a:buNone/>
            </a:pPr>
            <a:endParaRPr sz="1800"/>
          </a:p>
        </p:txBody>
      </p:sp>
      <p:sp>
        <p:nvSpPr>
          <p:cNvPr id="4" name="Rectangle 2" descr="#wm#_a_05_210_111_a_1_1#clear#"/>
          <p:cNvSpPr/>
          <p:nvPr/>
        </p:nvSpPr>
        <p:spPr>
          <a:xfrm>
            <a:off x="457200" y="706120"/>
            <a:ext cx="8229600" cy="1143000"/>
          </a:xfrm>
          <a:prstGeom prst="rect">
            <a:avLst/>
          </a:prstGeom>
          <a:noFill/>
          <a:ln w="9525">
            <a:noFill/>
          </a:ln>
        </p:spPr>
        <p:txBody>
          <a:bodyPr vert="horz" wrap="square" anchor="ctr"/>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lvl="0" eaLnBrk="1" hangingPunct="1"/>
            <a:r>
              <a:rPr lang="x-none" sz="4000" dirty="0">
                <a:solidFill>
                  <a:schemeClr val="bg1"/>
                </a:solidFill>
                <a:latin typeface="Times New Roman" panose="02020603050405020304" pitchFamily="18" charset="0"/>
                <a:ea typeface="American Typewriter" charset="0"/>
                <a:cs typeface="Times New Roman" panose="02020603050405020304" pitchFamily="18" charset="0"/>
              </a:rPr>
              <a:t>E’tiboringiz uchun rahmat</a:t>
            </a:r>
            <a:r>
              <a:rPr lang="ru-RU" sz="4000" dirty="0">
                <a:solidFill>
                  <a:schemeClr val="bg1"/>
                </a:solidFill>
                <a:latin typeface="Times New Roman" panose="02020603050405020304" pitchFamily="18" charset="0"/>
                <a:ea typeface="American Typewriter" charset="0"/>
                <a:cs typeface="Times New Roman" panose="02020603050405020304" pitchFamily="18" charset="0"/>
              </a:rPr>
              <a:t>!</a:t>
            </a:r>
            <a:endParaRPr lang="x-none" sz="4000" dirty="0">
              <a:solidFill>
                <a:schemeClr val="bg1"/>
              </a:solidFill>
              <a:latin typeface="Times New Roman" panose="02020603050405020304" pitchFamily="18" charset="0"/>
              <a:ea typeface="American Typewriter" charset="0"/>
              <a:cs typeface="Times New Roman" panose="02020603050405020304" pitchFamily="18" charset="0"/>
            </a:endParaRPr>
          </a:p>
        </p:txBody>
      </p:sp>
      <p:sp>
        <p:nvSpPr>
          <p:cNvPr id="15" name="Rectangle 4" descr="#wm#_a_05_210_111_b_1_1#clear#"/>
          <p:cNvSpPr/>
          <p:nvPr/>
        </p:nvSpPr>
        <p:spPr>
          <a:xfrm>
            <a:off x="1009650" y="4691380"/>
            <a:ext cx="7677150" cy="1493520"/>
          </a:xfrm>
          <a:prstGeom prst="rect">
            <a:avLst/>
          </a:prstGeom>
          <a:noFill/>
          <a:ln w="9525">
            <a:noFill/>
          </a:ln>
        </p:spPr>
        <p:txBody>
          <a:bodyPr vert="horz" wrap="square" anchor="t"/>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stStyle>
          <a:p>
            <a:pPr marL="0" lvl="0" indent="0" eaLnBrk="1" hangingPunct="1">
              <a:buNone/>
            </a:pPr>
            <a:endParaRPr lang="x-none" sz="4800" dirty="0">
              <a:latin typeface="American Typewriter" charset="0"/>
              <a:ea typeface="American Typewriter" charset="0"/>
            </a:endParaRPr>
          </a:p>
        </p:txBody>
      </p:sp>
      <p:sp>
        <p:nvSpPr>
          <p:cNvPr id="2" name="Номер слайда 1">
            <a:extLst>
              <a:ext uri="{FF2B5EF4-FFF2-40B4-BE49-F238E27FC236}">
                <a16:creationId xmlns:a16="http://schemas.microsoft.com/office/drawing/2014/main" id="{A50F91FF-5423-016F-32BA-48BD7773881C}"/>
              </a:ext>
            </a:extLst>
          </p:cNvPr>
          <p:cNvSpPr>
            <a:spLocks noGrp="1"/>
          </p:cNvSpPr>
          <p:nvPr>
            <p:ph type="sldNum" sz="quarter" idx="12"/>
          </p:nvPr>
        </p:nvSpPr>
        <p:spPr/>
        <p:txBody>
          <a:bodyPr/>
          <a:lstStyle/>
          <a:p>
            <a:pPr lvl="0"/>
            <a:fld id="{9A0DB2DC-4C9A-4742-B13C-FB6460FD3503}" type="slidenum">
              <a:rPr lang="zh-CN" altLang="en-US" smtClean="0"/>
              <a:t>10</a:t>
            </a:fld>
            <a:endParaRPr lang="zh-CN" altLang="en-US" dirty="0"/>
          </a:p>
        </p:txBody>
      </p:sp>
      <p:pic>
        <p:nvPicPr>
          <p:cNvPr id="4098" name="Picture 2">
            <a:extLst>
              <a:ext uri="{FF2B5EF4-FFF2-40B4-BE49-F238E27FC236}">
                <a16:creationId xmlns:a16="http://schemas.microsoft.com/office/drawing/2014/main" id="{FADF52E4-B4C3-3289-8326-365658E88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3" y="2420888"/>
            <a:ext cx="5386375" cy="423229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вет директоров">
  <a:themeElements>
    <a:clrScheme name="Совет директоров">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Совет директоров">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овет директоров">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TM02900722[[fn=Ион (конференц-зал)]]</Template>
  <TotalTime>55</TotalTime>
  <Words>1123</Words>
  <Application>Microsoft Office PowerPoint</Application>
  <PresentationFormat>Экран (4:3)</PresentationFormat>
  <Paragraphs>42</Paragraphs>
  <Slides>10</Slides>
  <Notes>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10</vt:i4>
      </vt:variant>
    </vt:vector>
  </HeadingPairs>
  <TitlesOfParts>
    <vt:vector size="18" baseType="lpstr">
      <vt:lpstr>American Typewriter</vt:lpstr>
      <vt:lpstr>Arial</vt:lpstr>
      <vt:lpstr>Calibri</vt:lpstr>
      <vt:lpstr>Century Gothic</vt:lpstr>
      <vt:lpstr>Times New Roman</vt:lpstr>
      <vt:lpstr>Wingdings</vt:lpstr>
      <vt:lpstr>Wingdings 3</vt:lpstr>
      <vt:lpstr>Совет директоров</vt:lpstr>
      <vt:lpstr>Презентация PowerPoint</vt:lpstr>
      <vt:lpstr>“Bulutli Texnologiyalar” tushunchasi</vt:lpstr>
      <vt:lpstr>Bulutli Ma’lumotlar konseptsiyasi</vt:lpstr>
      <vt:lpstr>Bulutli ma’lumotlarni saqlash</vt:lpstr>
      <vt:lpstr>Bulutli Texnologiyalar o’zi nima?</vt:lpstr>
      <vt:lpstr>Bulutli Texnologiyalar…</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Alex</cp:lastModifiedBy>
  <cp:revision>4</cp:revision>
  <cp:lastPrinted>1900-01-01T00:00:00Z</cp:lastPrinted>
  <dcterms:created xsi:type="dcterms:W3CDTF">1900-01-01T00:00:00Z</dcterms:created>
  <dcterms:modified xsi:type="dcterms:W3CDTF">2022-12-19T00:58:02Z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2052-11.29.1</vt:lpwstr>
  </property>
  <property fmtid="{D5CDD505-2E9C-101B-9397-08002B2CF9AE}" pid="3" name="ICV">
    <vt:lpwstr>2201E0CEB7C0479AA5809F63A0B9DAB1</vt:lpwstr>
  </property>
</Properties>
</file>