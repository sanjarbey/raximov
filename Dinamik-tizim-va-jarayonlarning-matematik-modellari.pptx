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unnel Display" panose="020B0604020202020204" charset="0"/>
      <p:regular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Funnel Sans" panose="020B0604020202020204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36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0177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6127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081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7198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948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1606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7268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4203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7439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1051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086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931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17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342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95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7325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174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330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393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37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68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97C9F-F80C-4D66-A1C4-B91AFF3AF297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8AEF4-8F5A-44F6-BEC3-D34CF971C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28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-4-6.svg"/><Relationship Id="rId5" Type="http://schemas.openxmlformats.org/officeDocument/2006/relationships/image" Target="../media/image-4-4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-7-6.svg"/><Relationship Id="rId5" Type="http://schemas.openxmlformats.org/officeDocument/2006/relationships/image" Target="../media/image-7-4.svg"/><Relationship Id="rId4" Type="http://schemas.openxmlformats.org/officeDocument/2006/relationships/image" Target="../media/image-7-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-10-6.svg"/><Relationship Id="rId12" Type="http://schemas.openxmlformats.org/officeDocument/2006/relationships/image" Target="../media/image-10-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.png"/><Relationship Id="rId5" Type="http://schemas.openxmlformats.org/officeDocument/2006/relationships/image" Target="../media/image-10-3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-10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71763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Dinamik tizim va jarayonlarning matematik modellari</a:t>
            </a:r>
            <a:endParaRPr lang="en-US" sz="3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7123" y="548045"/>
            <a:ext cx="4186238" cy="468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Modellashtirishga kirish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797123" y="1495068"/>
            <a:ext cx="6274951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Modellashtirish — bu real dunyo tizimining soddalashtirilgan tasvirini yaratish jarayoni. Matematik modellar esa bu tasvirni matematik til va vositalar yordamida ifodalaydi. Ular tizimning xatti-harakatlarini tahlil qilish, bashorat qilish va optimallashtirish imkonini beradi.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7123" y="2949773"/>
            <a:ext cx="6274951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Modellar bizga murakkab hodisalarni tushunish, turli ssenariylarni sinab ko'rish va qaror qabul qilishda yordam beradi. Ular muhandislik, iqtisodiyot, biologiya, fizika va boshqa ko'plab sohalarda keng qo'llaniladi.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946" y="1539954"/>
            <a:ext cx="6274951" cy="62749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719" y="538163"/>
            <a:ext cx="3614976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Matematik modellar nima?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609719" y="1353979"/>
            <a:ext cx="7924562" cy="1359575"/>
          </a:xfrm>
          <a:prstGeom prst="roundRect">
            <a:avLst>
              <a:gd name="adj" fmla="val 8071"/>
            </a:avLst>
          </a:prstGeom>
          <a:solidFill>
            <a:srgbClr val="FAF5EB"/>
          </a:solidFill>
          <a:ln/>
        </p:spPr>
      </p:sp>
      <p:sp>
        <p:nvSpPr>
          <p:cNvPr id="5" name="Shape 2"/>
          <p:cNvSpPr/>
          <p:nvPr/>
        </p:nvSpPr>
        <p:spPr>
          <a:xfrm>
            <a:off x="609719" y="1331119"/>
            <a:ext cx="7924562" cy="91440"/>
          </a:xfrm>
          <a:prstGeom prst="roundRect">
            <a:avLst>
              <a:gd name="adj" fmla="val 70024"/>
            </a:avLst>
          </a:prstGeom>
          <a:solidFill>
            <a:srgbClr val="3371A5"/>
          </a:solidFill>
          <a:ln/>
        </p:spPr>
      </p:sp>
      <p:sp>
        <p:nvSpPr>
          <p:cNvPr id="6" name="Shape 3"/>
          <p:cNvSpPr/>
          <p:nvPr/>
        </p:nvSpPr>
        <p:spPr>
          <a:xfrm>
            <a:off x="4343340" y="1125379"/>
            <a:ext cx="457319" cy="457319"/>
          </a:xfrm>
          <a:prstGeom prst="roundRect">
            <a:avLst>
              <a:gd name="adj" fmla="val 199948"/>
            </a:avLst>
          </a:prstGeom>
          <a:solidFill>
            <a:srgbClr val="3371A5"/>
          </a:solidFill>
          <a:ln/>
        </p:spPr>
      </p:sp>
      <p:sp>
        <p:nvSpPr>
          <p:cNvPr id="7" name="Text 4"/>
          <p:cNvSpPr/>
          <p:nvPr/>
        </p:nvSpPr>
        <p:spPr>
          <a:xfrm>
            <a:off x="4480500" y="1239679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4979" y="1735098"/>
            <a:ext cx="1793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Abstraktsiya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4979" y="2050613"/>
            <a:ext cx="757404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Matematik modellar real dunyo tizimlarining asosiy xususiyatlarini va munosabatlarini soddalashtirilgan, ammo aniq tarzda ifodalaydi.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719" y="3094553"/>
            <a:ext cx="7924562" cy="1359575"/>
          </a:xfrm>
          <a:prstGeom prst="roundRect">
            <a:avLst>
              <a:gd name="adj" fmla="val 8071"/>
            </a:avLst>
          </a:prstGeom>
          <a:solidFill>
            <a:srgbClr val="FAF5EB"/>
          </a:solidFill>
          <a:ln/>
        </p:spPr>
      </p:sp>
      <p:sp>
        <p:nvSpPr>
          <p:cNvPr id="11" name="Shape 8"/>
          <p:cNvSpPr/>
          <p:nvPr/>
        </p:nvSpPr>
        <p:spPr>
          <a:xfrm>
            <a:off x="609719" y="3071693"/>
            <a:ext cx="7924562" cy="91440"/>
          </a:xfrm>
          <a:prstGeom prst="roundRect">
            <a:avLst>
              <a:gd name="adj" fmla="val 70024"/>
            </a:avLst>
          </a:prstGeom>
          <a:solidFill>
            <a:srgbClr val="3371A5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340" y="2865953"/>
            <a:ext cx="457319" cy="457319"/>
          </a:xfrm>
          <a:prstGeom prst="roundRect">
            <a:avLst>
              <a:gd name="adj" fmla="val 199948"/>
            </a:avLst>
          </a:prstGeom>
          <a:solidFill>
            <a:srgbClr val="3371A5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00" y="2980253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4979" y="3475673"/>
            <a:ext cx="1793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Bashorat qilish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4979" y="3791188"/>
            <a:ext cx="757404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Ular tizimning kelajakdagi xatti-harakatlarini bashorat qilish, turli sharoitlarda qanday ishlashini taxmin qilish imkonini beradi.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719" y="4835128"/>
            <a:ext cx="7924562" cy="1115735"/>
          </a:xfrm>
          <a:prstGeom prst="roundRect">
            <a:avLst>
              <a:gd name="adj" fmla="val 9835"/>
            </a:avLst>
          </a:prstGeom>
          <a:solidFill>
            <a:srgbClr val="FAF5EB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719" y="4812268"/>
            <a:ext cx="7924562" cy="91440"/>
          </a:xfrm>
          <a:prstGeom prst="roundRect">
            <a:avLst>
              <a:gd name="adj" fmla="val 70024"/>
            </a:avLst>
          </a:prstGeom>
          <a:solidFill>
            <a:srgbClr val="3371A5"/>
          </a:solidFill>
          <a:ln/>
        </p:spPr>
      </p:sp>
      <p:sp>
        <p:nvSpPr>
          <p:cNvPr id="18" name="Shape 15"/>
          <p:cNvSpPr/>
          <p:nvPr/>
        </p:nvSpPr>
        <p:spPr>
          <a:xfrm>
            <a:off x="4343340" y="4606528"/>
            <a:ext cx="457319" cy="457319"/>
          </a:xfrm>
          <a:prstGeom prst="roundRect">
            <a:avLst>
              <a:gd name="adj" fmla="val 199948"/>
            </a:avLst>
          </a:prstGeom>
          <a:solidFill>
            <a:srgbClr val="3371A5"/>
          </a:solidFill>
          <a:ln/>
        </p:spPr>
      </p:sp>
      <p:sp>
        <p:nvSpPr>
          <p:cNvPr id="19" name="Text 16"/>
          <p:cNvSpPr/>
          <p:nvPr/>
        </p:nvSpPr>
        <p:spPr>
          <a:xfrm>
            <a:off x="4480500" y="4720828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4979" y="5216247"/>
            <a:ext cx="1793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Tushunish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4979" y="5531763"/>
            <a:ext cx="757404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Modellar tizimning ichki mexanizmlarini tushunishga yordam beradi, qaysi omillar muhimligini aniqlaydi.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9719" y="6331863"/>
            <a:ext cx="7924562" cy="1359575"/>
          </a:xfrm>
          <a:prstGeom prst="roundRect">
            <a:avLst>
              <a:gd name="adj" fmla="val 8071"/>
            </a:avLst>
          </a:prstGeom>
          <a:solidFill>
            <a:srgbClr val="FAF5EB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719" y="6309003"/>
            <a:ext cx="7924562" cy="91440"/>
          </a:xfrm>
          <a:prstGeom prst="roundRect">
            <a:avLst>
              <a:gd name="adj" fmla="val 70024"/>
            </a:avLst>
          </a:prstGeom>
          <a:solidFill>
            <a:srgbClr val="3371A5"/>
          </a:solidFill>
          <a:ln/>
        </p:spPr>
      </p:sp>
      <p:sp>
        <p:nvSpPr>
          <p:cNvPr id="24" name="Shape 21"/>
          <p:cNvSpPr/>
          <p:nvPr/>
        </p:nvSpPr>
        <p:spPr>
          <a:xfrm>
            <a:off x="4343340" y="6103263"/>
            <a:ext cx="457319" cy="457319"/>
          </a:xfrm>
          <a:prstGeom prst="roundRect">
            <a:avLst>
              <a:gd name="adj" fmla="val 199948"/>
            </a:avLst>
          </a:prstGeom>
          <a:solidFill>
            <a:srgbClr val="3371A5"/>
          </a:solidFill>
          <a:ln/>
        </p:spPr>
      </p:sp>
      <p:sp>
        <p:nvSpPr>
          <p:cNvPr id="25" name="Text 22"/>
          <p:cNvSpPr/>
          <p:nvPr/>
        </p:nvSpPr>
        <p:spPr>
          <a:xfrm>
            <a:off x="4480500" y="6217563"/>
            <a:ext cx="18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4979" y="6712982"/>
            <a:ext cx="1793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Optimallashtirish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4979" y="7028498"/>
            <a:ext cx="757404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Ular tizimning ish faoliyatini yaxshilash yoki ma'lum maqsadlarga erishish uchun eng yaxshi strategiyalarni topishga yordam beradi.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16286"/>
            <a:ext cx="394263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Modellar turlari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2627828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Matematik modellar turli xil shakllarda bo'lishi mumkin, ularning har biri ma'lum bir maqsadga xizmat qiladi.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7724" y="3198495"/>
            <a:ext cx="628293" cy="628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7835" y="3375184"/>
            <a:ext cx="277963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Differensial tenglamalar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727835" y="3808809"/>
            <a:ext cx="545639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Vaqt o'tishi bilan o'zgaradigan tizimlarni tasvirlash uchun ishlatiladi (masalan, populyatsiya o'sishi, ob-havo).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446050" y="3198495"/>
            <a:ext cx="628293" cy="628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6161" y="337518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Statistik modellar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336161" y="3808809"/>
            <a:ext cx="545651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Ma'lumotlar orasidagi munosabatlarni tahlil qilish va bashorat qilish uchun qo'llaniladi (masalan, regressiya, klasterlash).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37724" y="5232797"/>
            <a:ext cx="628293" cy="628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27835" y="5409486"/>
            <a:ext cx="347222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Agentga asoslangan modellar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727835" y="5843111"/>
            <a:ext cx="545639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Individual agentlarning o'zaro ta'sirini va ularning umumiy tizimga ta'sirini o'rganadi (masalan, bozor simulyatsiyalari).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446050" y="5232797"/>
            <a:ext cx="628293" cy="6282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36161" y="5409486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Diskret modellar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8336161" y="5843111"/>
            <a:ext cx="545651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Vaqt yoki holat diskret bo'lgan tizimlarni tasvirlaydi (masalan, navbat nazariyasi, avtomatlar).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38106"/>
            <a:ext cx="394263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Dinamik tizimlar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2033349"/>
            <a:ext cx="756856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Dinamik tizimlar vaqt o'tishi bilan o'zgaradigan holatlarga ega bo'lgan tizimlardir. Ularning xatti-harakatlari differensial tenglamalar yoki rekurrent munosabatlar orqali tasvirlanadi.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3226951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Uzilishsiz dinamik tizimlar:</a:t>
            </a: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Holat o'zgarishlari uzluksiz vaqtda sodir bo'ladi, ko'pincha differensial tenglamalar bilan ifodalanadi.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724" y="3970258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Diskret dinamik tizimlar:</a:t>
            </a: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Holat o'zgarishlari diskret vaqt nuqtalarida sodir bo'ladi, ko'pincha rekurrent munosabatlar bilan ifodalanadi.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4828818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Dinamik tizimlarni modellashtirish ularning barqarorligini, tebranishlarini va xaos kabi murakkab xatti-harakatlarini tahlil qilish imkonini beradi.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5" y="2080498"/>
            <a:ext cx="4875371" cy="4875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642" y="701516"/>
            <a:ext cx="372868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Dinamik jarayonlar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78642" y="1464707"/>
            <a:ext cx="7559516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Dinamik jarayonlar — bu vaqt o'tishi bilan rivojlanadigan va o'zgaradigan hodisalar ketma-ketligi. Ularni modellashtirish orqali biz jarayonning asosiy bosqichlarini, ularning o'zaro bog'liqligini va natijalarga ta'sirini tushunishimiz mumkin.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10046970" y="2638306"/>
            <a:ext cx="22860" cy="4889778"/>
          </a:xfrm>
          <a:prstGeom prst="roundRect">
            <a:avLst>
              <a:gd name="adj" fmla="val 363939"/>
            </a:avLst>
          </a:prstGeom>
          <a:solidFill>
            <a:srgbClr val="D5CDBE"/>
          </a:solidFill>
          <a:ln/>
        </p:spPr>
      </p:sp>
      <p:sp>
        <p:nvSpPr>
          <p:cNvPr id="6" name="Shape 3"/>
          <p:cNvSpPr/>
          <p:nvPr/>
        </p:nvSpPr>
        <p:spPr>
          <a:xfrm>
            <a:off x="9264194" y="2849642"/>
            <a:ext cx="594241" cy="22860"/>
          </a:xfrm>
          <a:prstGeom prst="roundRect">
            <a:avLst>
              <a:gd name="adj" fmla="val 363939"/>
            </a:avLst>
          </a:prstGeom>
          <a:solidFill>
            <a:srgbClr val="D5CDBE"/>
          </a:solidFill>
          <a:ln/>
        </p:spPr>
      </p:sp>
      <p:sp>
        <p:nvSpPr>
          <p:cNvPr id="7" name="Shape 4"/>
          <p:cNvSpPr/>
          <p:nvPr/>
        </p:nvSpPr>
        <p:spPr>
          <a:xfrm>
            <a:off x="9835575" y="2638306"/>
            <a:ext cx="445651" cy="445651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18561" y="2686348"/>
            <a:ext cx="279559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37628" y="2706291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Boshlang'ich holat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78642" y="3116342"/>
            <a:ext cx="2789396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Jarayonning boshlanishi va dastlabki shartlari.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0258365" y="4038005"/>
            <a:ext cx="594241" cy="22860"/>
          </a:xfrm>
          <a:prstGeom prst="roundRect">
            <a:avLst>
              <a:gd name="adj" fmla="val 363939"/>
            </a:avLst>
          </a:prstGeom>
          <a:solidFill>
            <a:srgbClr val="D5CDBE"/>
          </a:solidFill>
          <a:ln/>
        </p:spPr>
      </p:sp>
      <p:sp>
        <p:nvSpPr>
          <p:cNvPr id="12" name="Shape 9"/>
          <p:cNvSpPr/>
          <p:nvPr/>
        </p:nvSpPr>
        <p:spPr>
          <a:xfrm>
            <a:off x="9835575" y="3826669"/>
            <a:ext cx="445651" cy="445651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18561" y="3874710"/>
            <a:ext cx="279559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048762" y="3894653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O'zgarishlar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048762" y="4304705"/>
            <a:ext cx="2789396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Jarayon davomida sodir bo'ladigan o'zgarishlar va ta'sirlar.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264194" y="5062299"/>
            <a:ext cx="594241" cy="22860"/>
          </a:xfrm>
          <a:prstGeom prst="roundRect">
            <a:avLst>
              <a:gd name="adj" fmla="val 363939"/>
            </a:avLst>
          </a:prstGeom>
          <a:solidFill>
            <a:srgbClr val="D5CDBE"/>
          </a:solidFill>
          <a:ln/>
        </p:spPr>
      </p:sp>
      <p:sp>
        <p:nvSpPr>
          <p:cNvPr id="17" name="Shape 14"/>
          <p:cNvSpPr/>
          <p:nvPr/>
        </p:nvSpPr>
        <p:spPr>
          <a:xfrm>
            <a:off x="9835575" y="4850963"/>
            <a:ext cx="445651" cy="445651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18561" y="4899005"/>
            <a:ext cx="279559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37628" y="4918948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O'zaro ta'sirlar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78642" y="5328999"/>
            <a:ext cx="2789396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Jarayonning turli qismlari yoki tashqi omillar o'rtasidagi munosabatlar.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10258365" y="6086713"/>
            <a:ext cx="594241" cy="22860"/>
          </a:xfrm>
          <a:prstGeom prst="roundRect">
            <a:avLst>
              <a:gd name="adj" fmla="val 363939"/>
            </a:avLst>
          </a:prstGeom>
          <a:solidFill>
            <a:srgbClr val="D5CDBE"/>
          </a:solidFill>
          <a:ln/>
        </p:spPr>
      </p:sp>
      <p:sp>
        <p:nvSpPr>
          <p:cNvPr id="22" name="Shape 19"/>
          <p:cNvSpPr/>
          <p:nvPr/>
        </p:nvSpPr>
        <p:spPr>
          <a:xfrm>
            <a:off x="9835575" y="5875377"/>
            <a:ext cx="445651" cy="445651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18561" y="5923419"/>
            <a:ext cx="279559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048762" y="5943362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Yakuniy natija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048762" y="6353413"/>
            <a:ext cx="2789396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Jarayonning yakuniy holati yoki erishilgan maqsad.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3445"/>
            <a:ext cx="394263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Qo'llanilish sohalari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804988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Matematik modellar juda ko'p sohalarda muvaffaqiyatli qo'llaniladi: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2375654"/>
            <a:ext cx="6372701" cy="2375535"/>
          </a:xfrm>
          <a:prstGeom prst="roundRect">
            <a:avLst>
              <a:gd name="adj" fmla="val 370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775" y="2592705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3371A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27534" y="2765465"/>
            <a:ext cx="282654" cy="2826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4775" y="343042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Muhandislik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4775" y="3864054"/>
            <a:ext cx="593859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Samolyotlar, ko'priklar va robotlar dizayni, boshqaruv tizimlarini optimallashtirish.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9856" y="2375654"/>
            <a:ext cx="6372820" cy="2375535"/>
          </a:xfrm>
          <a:prstGeom prst="roundRect">
            <a:avLst>
              <a:gd name="adj" fmla="val 370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36907" y="2592705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3371A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09667" y="2765465"/>
            <a:ext cx="282654" cy="2826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6907" y="343042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Iqtisodiyot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36907" y="3864054"/>
            <a:ext cx="593871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Bozor xatti-harakatlarini bashorat qilish, investitsiya strategiyalarini ishlab chiqish, iqtisodiy siyosatni tahlil qilish.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37724" y="4960620"/>
            <a:ext cx="6372701" cy="2375535"/>
          </a:xfrm>
          <a:prstGeom prst="roundRect">
            <a:avLst>
              <a:gd name="adj" fmla="val 370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4775" y="5177671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3371A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227534" y="5350431"/>
            <a:ext cx="282654" cy="2826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4775" y="601539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Biologiya va tibbiyot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054775" y="6449020"/>
            <a:ext cx="593859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Kasalliklarning tarqalishini modellashtirish, dori vositalarining ta'sirini o'rganish, populyatsiya dinamikasi.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19856" y="4960620"/>
            <a:ext cx="6372820" cy="2375535"/>
          </a:xfrm>
          <a:prstGeom prst="roundRect">
            <a:avLst>
              <a:gd name="adj" fmla="val 3703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36907" y="5177671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3371A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809667" y="5350431"/>
            <a:ext cx="282654" cy="2826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6907" y="601539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Atrof-muhit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36907" y="6449020"/>
            <a:ext cx="593871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Ob-havo bashorati, iqlim o'zgarishi, ifloslanish tarqalishini modellashtirish.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31877"/>
            <a:ext cx="560379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Modellashtirishning afzalliklari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324124" y="1538645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04804" y="1610558"/>
            <a:ext cx="389596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Xavfsizlik va xarajat samaradorligi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004804" y="2044184"/>
            <a:ext cx="678787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 tizimlarda xavfli yoki qimmat bo'lishi mumkin bo'lgan tajribalarni virtual muhitda o'tkazish imkonini beradi.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24124" y="3133130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04804" y="3205043"/>
            <a:ext cx="294632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Tizimni chuqur tushunish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004804" y="3638669"/>
            <a:ext cx="678787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Modellar tizimning asosiy mexanizmlarini va turli omillarning ta'sirini aniqlashga yordam beradi.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24124" y="4727615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04804" y="4799528"/>
            <a:ext cx="281940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Bashorat qilish qobiliyati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004804" y="5233154"/>
            <a:ext cx="678787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Kelajakdagi xatti-harakatlarni taxmin qilish va turli ssenariylarga tayyorgarlik ko'rish imkonini beradi.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24124" y="6322100"/>
            <a:ext cx="471249" cy="47124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04804" y="6394013"/>
            <a:ext cx="441698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Qaror qabul qilishni qo'llab-quvvatlash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004804" y="6827639"/>
            <a:ext cx="678787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Eng yaxshi strategiyalarni tanlash va optimallashtirish uchun asosli ma'lumotlar beradi.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063" y="476488"/>
            <a:ext cx="5008007" cy="407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Modellashtirishdagi qiyinchiliklar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3063" y="1230749"/>
            <a:ext cx="13244274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Modellashtirishning ko'plab afzalliklariga qaramay, u o'ziga xos qiyinchiliklarga ega: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3063" y="1858685"/>
            <a:ext cx="6410801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Murakkablik:</a:t>
            </a: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Real tizimlar juda murakkab bo'lishi mumkin, ularni soddalashtirishda muhim omillarni yo'qotmaslik kerak.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3063" y="2473643"/>
            <a:ext cx="6410801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Ma'lumotlar talabi:</a:t>
            </a: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Aniq modellar yaratish uchun ko'p miqdorda sifatli ma'lumotlar talab qilinadi.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3063" y="3088600"/>
            <a:ext cx="6410801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Validatsiya:</a:t>
            </a: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Modelning real dunyo xatti-harakatlarini qanchalik aniq aks ettirishini tekshirish muhimdir.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3063" y="3703558"/>
            <a:ext cx="6410801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Hisoblash resurslari:</a:t>
            </a: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Ba'zi murakkab modellar katta hisoblash quvvatini talab qiladi.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156" y="1897737"/>
            <a:ext cx="6410801" cy="6410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39046"/>
            <a:ext cx="3942636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Xulosa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85058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Dinamik tizimlar va jarayonlarning matematik modellarini tushunish va ulardan foydalanish zamonaviy dunyoda juda muhimdir. Ular bizga murakkablikni boshqarish, kelajakni bashorat qilish va yaxshiroq qarorlar qabul qilish imkonini beradi.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69927" y="325945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Tushunish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7724" y="3693081"/>
            <a:ext cx="38963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Murakkab tizimlarning ichki mexanizmlarini ochib beradi.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756297"/>
            <a:ext cx="4534138" cy="453413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036350" y="3744516"/>
            <a:ext cx="313373" cy="3133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96356" y="325945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Bashorat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896356" y="3693081"/>
            <a:ext cx="38963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Kelajakdagi xatti-harakatlarni aniq taxmin qilish.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131" y="2756297"/>
            <a:ext cx="4534138" cy="453413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280559" y="3744516"/>
            <a:ext cx="313373" cy="3133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96356" y="568356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Optimallashtirish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9896356" y="6117193"/>
            <a:ext cx="38963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Tizim ish faoliyatini maksimal darajada oshirish.</a:t>
            </a:r>
            <a:endParaRPr lang="en-US" sz="1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131" y="2756297"/>
            <a:ext cx="4534138" cy="453413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80559" y="5988725"/>
            <a:ext cx="313373" cy="31337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69927" y="568356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Qarorlar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37724" y="6117193"/>
            <a:ext cx="389632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Asosli va samarali qarorlar qabul qilishga yordam beradi.</a:t>
            </a:r>
            <a:endParaRPr lang="en-US" sz="16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131" y="2756297"/>
            <a:ext cx="4534138" cy="453413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036350" y="5988725"/>
            <a:ext cx="313373" cy="3133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664</Words>
  <Application>Microsoft Office PowerPoint</Application>
  <PresentationFormat>Произвольный</PresentationFormat>
  <Paragraphs>91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Calibri</vt:lpstr>
      <vt:lpstr>Arial</vt:lpstr>
      <vt:lpstr>Funnel Display</vt:lpstr>
      <vt:lpstr>Calibri Light</vt:lpstr>
      <vt:lpstr>Funnel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USER</cp:lastModifiedBy>
  <cp:revision>2</cp:revision>
  <dcterms:created xsi:type="dcterms:W3CDTF">2025-11-14T11:03:27Z</dcterms:created>
  <dcterms:modified xsi:type="dcterms:W3CDTF">2025-11-14T11:04:24Z</dcterms:modified>
</cp:coreProperties>
</file>