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 id="2147483682" r:id="rId2"/>
  </p:sldMasterIdLst>
  <p:notesMasterIdLst>
    <p:notesMasterId r:id="rId14"/>
  </p:notesMasterIdLst>
  <p:sldIdLst>
    <p:sldId id="267" r:id="rId3"/>
    <p:sldId id="256" r:id="rId4"/>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Funnel Display" panose="020B0604020202020204" charset="0"/>
      <p:regular r:id="rId15"/>
    </p:embeddedFont>
    <p:embeddedFont>
      <p:font typeface="Funnel Sans" panose="020B0604020202020204" charset="0"/>
      <p:regular r:id="rId16"/>
    </p:embeddedFont>
    <p:embeddedFont>
      <p:font typeface="Calibri Light" panose="020F0302020204030204" pitchFamily="34" charset="0"/>
      <p:regular r:id="rId17"/>
      <p:italic r:id="rId18"/>
    </p:embeddedFont>
    <p:embeddedFont>
      <p:font typeface="Calibri" panose="020F0502020204030204" pitchFamily="34" charset="0"/>
      <p:regular r:id="rId19"/>
      <p:bold r:id="rId20"/>
      <p:italic r:id="rId21"/>
      <p:boldItalic r:id="rId22"/>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4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8598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828800" y="1346836"/>
            <a:ext cx="10972800" cy="2865120"/>
          </a:xfrm>
        </p:spPr>
        <p:txBody>
          <a:bodyPr anchor="b"/>
          <a:lstStyle>
            <a:lvl1pPr algn="ctr">
              <a:defRPr sz="7200"/>
            </a:lvl1pPr>
          </a:lstStyle>
          <a:p>
            <a:r>
              <a:rPr lang="ru-RU" smtClean="0"/>
              <a:t>Образец заголовка</a:t>
            </a:r>
            <a:endParaRPr lang="ru-RU"/>
          </a:p>
        </p:txBody>
      </p:sp>
      <p:sp>
        <p:nvSpPr>
          <p:cNvPr id="3" name="Подзаголовок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14297891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42554718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98220" y="2051686"/>
            <a:ext cx="12618720" cy="3423284"/>
          </a:xfrm>
        </p:spPr>
        <p:txBody>
          <a:bodyPr anchor="b"/>
          <a:lstStyle>
            <a:lvl1pPr>
              <a:defRPr sz="7200"/>
            </a:lvl1pPr>
          </a:lstStyle>
          <a:p>
            <a:r>
              <a:rPr lang="ru-RU" smtClean="0"/>
              <a:t>Образец заголовка</a:t>
            </a:r>
            <a:endParaRPr lang="ru-RU"/>
          </a:p>
        </p:txBody>
      </p:sp>
      <p:sp>
        <p:nvSpPr>
          <p:cNvPr id="3" name="Текст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31592597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1005840" y="2190750"/>
            <a:ext cx="6217920" cy="5221606"/>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7406640" y="2190750"/>
            <a:ext cx="6217920" cy="5221606"/>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9D00C36A-B94F-43FF-AF12-5B1DF1ED9393}"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5519708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7746" y="438150"/>
            <a:ext cx="12618720" cy="1590676"/>
          </a:xfrm>
        </p:spPr>
        <p:txBody>
          <a:bodyPr/>
          <a:lstStyle/>
          <a:p>
            <a:r>
              <a:rPr lang="ru-RU" smtClean="0"/>
              <a:t>Образец заголовка</a:t>
            </a:r>
            <a:endParaRPr lang="ru-RU"/>
          </a:p>
        </p:txBody>
      </p:sp>
      <p:sp>
        <p:nvSpPr>
          <p:cNvPr id="3" name="Текст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smtClean="0"/>
              <a:t>Образец текста</a:t>
            </a:r>
          </a:p>
        </p:txBody>
      </p:sp>
      <p:sp>
        <p:nvSpPr>
          <p:cNvPr id="4" name="Объект 3"/>
          <p:cNvSpPr>
            <a:spLocks noGrp="1"/>
          </p:cNvSpPr>
          <p:nvPr>
            <p:ph sz="half" idx="2"/>
          </p:nvPr>
        </p:nvSpPr>
        <p:spPr>
          <a:xfrm>
            <a:off x="1007746" y="3006090"/>
            <a:ext cx="6189344" cy="4421506"/>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smtClean="0"/>
              <a:t>Образец текста</a:t>
            </a:r>
          </a:p>
        </p:txBody>
      </p:sp>
      <p:sp>
        <p:nvSpPr>
          <p:cNvPr id="6" name="Объект 5"/>
          <p:cNvSpPr>
            <a:spLocks noGrp="1"/>
          </p:cNvSpPr>
          <p:nvPr>
            <p:ph sz="quarter" idx="4"/>
          </p:nvPr>
        </p:nvSpPr>
        <p:spPr>
          <a:xfrm>
            <a:off x="7406640" y="3006090"/>
            <a:ext cx="6219826" cy="4421506"/>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9D00C36A-B94F-43FF-AF12-5B1DF1ED9393}" type="datetimeFigureOut">
              <a:rPr lang="ru-RU" smtClean="0"/>
              <a:t>26.11.2025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138167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9D00C36A-B94F-43FF-AF12-5B1DF1ED9393}" type="datetimeFigureOut">
              <a:rPr lang="ru-RU" smtClean="0"/>
              <a:t>26.11.2025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406753394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D00C36A-B94F-43FF-AF12-5B1DF1ED9393}" type="datetimeFigureOut">
              <a:rPr lang="ru-RU" smtClean="0"/>
              <a:t>26.11.2025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380519402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7746" y="548640"/>
            <a:ext cx="4718684" cy="1920240"/>
          </a:xfrm>
        </p:spPr>
        <p:txBody>
          <a:bodyPr anchor="b"/>
          <a:lstStyle>
            <a:lvl1pPr>
              <a:defRPr sz="3840"/>
            </a:lvl1pPr>
          </a:lstStyle>
          <a:p>
            <a:r>
              <a:rPr lang="ru-RU" smtClean="0"/>
              <a:t>Образец заголовка</a:t>
            </a:r>
            <a:endParaRPr lang="ru-RU"/>
          </a:p>
        </p:txBody>
      </p:sp>
      <p:sp>
        <p:nvSpPr>
          <p:cNvPr id="3" name="Объект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smtClean="0"/>
              <a:t>Образец текста</a:t>
            </a:r>
          </a:p>
        </p:txBody>
      </p:sp>
      <p:sp>
        <p:nvSpPr>
          <p:cNvPr id="5" name="Дата 4"/>
          <p:cNvSpPr>
            <a:spLocks noGrp="1"/>
          </p:cNvSpPr>
          <p:nvPr>
            <p:ph type="dt" sz="half" idx="10"/>
          </p:nvPr>
        </p:nvSpPr>
        <p:spPr/>
        <p:txBody>
          <a:bodyPr/>
          <a:lstStyle/>
          <a:p>
            <a:fld id="{9D00C36A-B94F-43FF-AF12-5B1DF1ED9393}"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141556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7746" y="548640"/>
            <a:ext cx="4718684" cy="1920240"/>
          </a:xfrm>
        </p:spPr>
        <p:txBody>
          <a:bodyPr anchor="b"/>
          <a:lstStyle>
            <a:lvl1pPr>
              <a:defRPr sz="3840"/>
            </a:lvl1pPr>
          </a:lstStyle>
          <a:p>
            <a:r>
              <a:rPr lang="ru-RU" smtClean="0"/>
              <a:t>Образец заголовка</a:t>
            </a:r>
            <a:endParaRPr lang="ru-RU"/>
          </a:p>
        </p:txBody>
      </p:sp>
      <p:sp>
        <p:nvSpPr>
          <p:cNvPr id="3" name="Рисунок 2"/>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ru-RU"/>
          </a:p>
        </p:txBody>
      </p:sp>
      <p:sp>
        <p:nvSpPr>
          <p:cNvPr id="4" name="Текст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smtClean="0"/>
              <a:t>Образец текста</a:t>
            </a:r>
          </a:p>
        </p:txBody>
      </p:sp>
      <p:sp>
        <p:nvSpPr>
          <p:cNvPr id="5" name="Дата 4"/>
          <p:cNvSpPr>
            <a:spLocks noGrp="1"/>
          </p:cNvSpPr>
          <p:nvPr>
            <p:ph type="dt" sz="half" idx="10"/>
          </p:nvPr>
        </p:nvSpPr>
        <p:spPr/>
        <p:txBody>
          <a:bodyPr/>
          <a:lstStyle/>
          <a:p>
            <a:fld id="{9D00C36A-B94F-43FF-AF12-5B1DF1ED9393}"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30573526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12148508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10469880" y="438150"/>
            <a:ext cx="3154680" cy="6974206"/>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1005840" y="438150"/>
            <a:ext cx="9281160" cy="6974206"/>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E5D757E-4B79-4824-A259-75B10449C362}" type="slidenum">
              <a:rPr lang="ru-RU" smtClean="0"/>
              <a:t>‹#›</a:t>
            </a:fld>
            <a:endParaRPr lang="ru-RU"/>
          </a:p>
        </p:txBody>
      </p:sp>
    </p:spTree>
    <p:extLst>
      <p:ext uri="{BB962C8B-B14F-4D97-AF65-F5344CB8AC3E}">
        <p14:creationId xmlns:p14="http://schemas.microsoft.com/office/powerpoint/2010/main" val="7222886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75129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3636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847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15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5921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665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86845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494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801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581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F9E1FE8-D351-4322-B75D-7E7D01EF10D4}"/>
              </a:ext>
            </a:extLst>
          </p:cNvPr>
          <p:cNvSpPr>
            <a:spLocks noGrp="1"/>
          </p:cNvSpPr>
          <p:nvPr>
            <p:ph type="ctrTitle"/>
          </p:nvPr>
        </p:nvSpPr>
        <p:spPr>
          <a:xfrm>
            <a:off x="1828800" y="1346836"/>
            <a:ext cx="10972800" cy="2865120"/>
          </a:xfrm>
        </p:spPr>
        <p:txBody>
          <a:bodyPr anchor="b"/>
          <a:lstStyle>
            <a:lvl1pPr algn="ctr">
              <a:defRPr sz="7200"/>
            </a:lvl1pPr>
          </a:lstStyle>
          <a:p>
            <a:r>
              <a:rPr lang="ru-RU"/>
              <a:t>Образец заголовка</a:t>
            </a:r>
          </a:p>
        </p:txBody>
      </p:sp>
      <p:sp>
        <p:nvSpPr>
          <p:cNvPr id="3" name="Подзаголовок 2">
            <a:extLst>
              <a:ext uri="{FF2B5EF4-FFF2-40B4-BE49-F238E27FC236}">
                <a16:creationId xmlns:a16="http://schemas.microsoft.com/office/drawing/2014/main" xmlns="" id="{F95ED338-2C52-4C62-991D-F1BFC79E29F7}"/>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ru-RU"/>
              <a:t>Образец подзаголовка</a:t>
            </a:r>
          </a:p>
        </p:txBody>
      </p:sp>
      <p:sp>
        <p:nvSpPr>
          <p:cNvPr id="4" name="Дата 3">
            <a:extLst>
              <a:ext uri="{FF2B5EF4-FFF2-40B4-BE49-F238E27FC236}">
                <a16:creationId xmlns:a16="http://schemas.microsoft.com/office/drawing/2014/main" xmlns="" id="{D59E30C6-A630-470B-991B-41DC08DA109F}"/>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79017CF3-0E5D-406D-B1DB-52ABD4E6EEBA}"/>
              </a:ext>
            </a:extLst>
          </p:cNvPr>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06A76A14-17D0-4A7D-B521-00D1C41AAC29}"/>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065552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64E8F1F-915C-411D-9660-480F39B00AB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88CFCEF1-C490-47E2-BD49-4522C49E82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E9DA59A1-81F9-48FB-86E0-A9C922233434}"/>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58227F1A-298D-4F15-95B3-A70D962CC01C}"/>
              </a:ext>
            </a:extLst>
          </p:cNvPr>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89A19DED-0E30-4DFA-A2D2-FB846F81C573}"/>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96741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23591FE-BEFB-4CDC-9A6E-B3004B267C83}"/>
              </a:ext>
            </a:extLst>
          </p:cNvPr>
          <p:cNvSpPr>
            <a:spLocks noGrp="1"/>
          </p:cNvSpPr>
          <p:nvPr>
            <p:ph type="title"/>
          </p:nvPr>
        </p:nvSpPr>
        <p:spPr>
          <a:xfrm>
            <a:off x="998220" y="2051686"/>
            <a:ext cx="12618720" cy="3423284"/>
          </a:xfrm>
        </p:spPr>
        <p:txBody>
          <a:bodyPr anchor="b"/>
          <a:lstStyle>
            <a:lvl1pPr>
              <a:defRPr sz="7200"/>
            </a:lvl1pPr>
          </a:lstStyle>
          <a:p>
            <a:r>
              <a:rPr lang="ru-RU"/>
              <a:t>Образец заголовка</a:t>
            </a:r>
          </a:p>
        </p:txBody>
      </p:sp>
      <p:sp>
        <p:nvSpPr>
          <p:cNvPr id="3" name="Текст 2">
            <a:extLst>
              <a:ext uri="{FF2B5EF4-FFF2-40B4-BE49-F238E27FC236}">
                <a16:creationId xmlns:a16="http://schemas.microsoft.com/office/drawing/2014/main" xmlns="" id="{4C13EEF9-580C-4117-A4AD-6CA61DBC7AFD}"/>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xmlns="" id="{8B300851-590D-469A-99A5-2719E06367F6}"/>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2546C980-D450-45C7-8F87-CEF738179E0F}"/>
              </a:ext>
            </a:extLst>
          </p:cNvPr>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AE08D027-C7B3-4E9C-9FA6-8BE13F28C1BD}"/>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9032245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72C860A-372F-4FE8-92FD-27607C09C1F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6CB2EF83-8F26-4566-8464-5582DEAD82F7}"/>
              </a:ext>
            </a:extLst>
          </p:cNvPr>
          <p:cNvSpPr>
            <a:spLocks noGrp="1"/>
          </p:cNvSpPr>
          <p:nvPr>
            <p:ph sz="half" idx="1"/>
          </p:nvPr>
        </p:nvSpPr>
        <p:spPr>
          <a:xfrm>
            <a:off x="1005840" y="2190750"/>
            <a:ext cx="6217920" cy="52216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xmlns="" id="{4B2529BE-15BE-4F83-A938-03E8384C1AB8}"/>
              </a:ext>
            </a:extLst>
          </p:cNvPr>
          <p:cNvSpPr>
            <a:spLocks noGrp="1"/>
          </p:cNvSpPr>
          <p:nvPr>
            <p:ph sz="half" idx="2"/>
          </p:nvPr>
        </p:nvSpPr>
        <p:spPr>
          <a:xfrm>
            <a:off x="7406640" y="2190750"/>
            <a:ext cx="6217920" cy="52216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xmlns="" id="{2115AFDA-8D1A-4524-8DAE-B84D36764BFC}"/>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6" name="Нижний колонтитул 5">
            <a:extLst>
              <a:ext uri="{FF2B5EF4-FFF2-40B4-BE49-F238E27FC236}">
                <a16:creationId xmlns:a16="http://schemas.microsoft.com/office/drawing/2014/main" xmlns="" id="{17CF58DA-3BE3-4840-9406-619925D51BF0}"/>
              </a:ext>
            </a:extLst>
          </p:cNvPr>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a:extLst>
              <a:ext uri="{FF2B5EF4-FFF2-40B4-BE49-F238E27FC236}">
                <a16:creationId xmlns:a16="http://schemas.microsoft.com/office/drawing/2014/main" xmlns="" id="{B38AFEAF-2FB7-4BD0-88F8-A47FB8B70327}"/>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379792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091888C-56A3-4AE2-B2B1-89CA5073B6E5}"/>
              </a:ext>
            </a:extLst>
          </p:cNvPr>
          <p:cNvSpPr>
            <a:spLocks noGrp="1"/>
          </p:cNvSpPr>
          <p:nvPr>
            <p:ph type="title"/>
          </p:nvPr>
        </p:nvSpPr>
        <p:spPr>
          <a:xfrm>
            <a:off x="1007746" y="438150"/>
            <a:ext cx="12618720" cy="1590676"/>
          </a:xfrm>
        </p:spPr>
        <p:txBody>
          <a:bodyPr/>
          <a:lstStyle/>
          <a:p>
            <a:r>
              <a:rPr lang="ru-RU"/>
              <a:t>Образец заголовка</a:t>
            </a:r>
          </a:p>
        </p:txBody>
      </p:sp>
      <p:sp>
        <p:nvSpPr>
          <p:cNvPr id="3" name="Текст 2">
            <a:extLst>
              <a:ext uri="{FF2B5EF4-FFF2-40B4-BE49-F238E27FC236}">
                <a16:creationId xmlns:a16="http://schemas.microsoft.com/office/drawing/2014/main" xmlns="" id="{1AEEF2BD-2E91-4F0C-867D-90EDAC88916B}"/>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4" name="Объект 3">
            <a:extLst>
              <a:ext uri="{FF2B5EF4-FFF2-40B4-BE49-F238E27FC236}">
                <a16:creationId xmlns:a16="http://schemas.microsoft.com/office/drawing/2014/main" xmlns="" id="{F0E2A664-DF4B-4D53-A56A-7317E87F1751}"/>
              </a:ext>
            </a:extLst>
          </p:cNvPr>
          <p:cNvSpPr>
            <a:spLocks noGrp="1"/>
          </p:cNvSpPr>
          <p:nvPr>
            <p:ph sz="half" idx="2"/>
          </p:nvPr>
        </p:nvSpPr>
        <p:spPr>
          <a:xfrm>
            <a:off x="1007746" y="3006090"/>
            <a:ext cx="6189344" cy="44215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xmlns="" id="{5406D9A5-12BB-4864-9D1F-C82B3EB45549}"/>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6" name="Объект 5">
            <a:extLst>
              <a:ext uri="{FF2B5EF4-FFF2-40B4-BE49-F238E27FC236}">
                <a16:creationId xmlns:a16="http://schemas.microsoft.com/office/drawing/2014/main" xmlns="" id="{4EF1E81F-0403-4D6D-A98B-802844B72199}"/>
              </a:ext>
            </a:extLst>
          </p:cNvPr>
          <p:cNvSpPr>
            <a:spLocks noGrp="1"/>
          </p:cNvSpPr>
          <p:nvPr>
            <p:ph sz="quarter" idx="4"/>
          </p:nvPr>
        </p:nvSpPr>
        <p:spPr>
          <a:xfrm>
            <a:off x="7406640" y="3006090"/>
            <a:ext cx="6219826" cy="442150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xmlns="" id="{2E954CC0-369E-4DA1-B26E-4F4C2238DB47}"/>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8" name="Нижний колонтитул 7">
            <a:extLst>
              <a:ext uri="{FF2B5EF4-FFF2-40B4-BE49-F238E27FC236}">
                <a16:creationId xmlns:a16="http://schemas.microsoft.com/office/drawing/2014/main" xmlns="" id="{A81B7C66-336E-49C4-9FD2-716758D65115}"/>
              </a:ext>
            </a:extLst>
          </p:cNvPr>
          <p:cNvSpPr>
            <a:spLocks noGrp="1"/>
          </p:cNvSpPr>
          <p:nvPr>
            <p:ph type="ftr" sz="quarter" idx="11"/>
          </p:nvPr>
        </p:nvSpPr>
        <p:spPr/>
        <p:txBody>
          <a:bodyPr/>
          <a:lstStyle/>
          <a:p>
            <a:endParaRPr lang="ru-RU">
              <a:solidFill>
                <a:prstClr val="black">
                  <a:tint val="75000"/>
                </a:prstClr>
              </a:solidFill>
            </a:endParaRPr>
          </a:p>
        </p:txBody>
      </p:sp>
      <p:sp>
        <p:nvSpPr>
          <p:cNvPr id="9" name="Номер слайда 8">
            <a:extLst>
              <a:ext uri="{FF2B5EF4-FFF2-40B4-BE49-F238E27FC236}">
                <a16:creationId xmlns:a16="http://schemas.microsoft.com/office/drawing/2014/main" xmlns="" id="{F59721D5-8C66-4D0B-81E1-CF97F8E3D813}"/>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7878476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00E6437-050C-4C9D-B146-1A11F3365F4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xmlns="" id="{C19BB872-9ADD-4AAC-A2EC-0E230B97FEA1}"/>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4" name="Нижний колонтитул 3">
            <a:extLst>
              <a:ext uri="{FF2B5EF4-FFF2-40B4-BE49-F238E27FC236}">
                <a16:creationId xmlns:a16="http://schemas.microsoft.com/office/drawing/2014/main" xmlns="" id="{3CE8A999-23A2-43A8-BCD2-95E08CEA6FDE}"/>
              </a:ext>
            </a:extLst>
          </p:cNvPr>
          <p:cNvSpPr>
            <a:spLocks noGrp="1"/>
          </p:cNvSpPr>
          <p:nvPr>
            <p:ph type="ftr" sz="quarter" idx="11"/>
          </p:nvPr>
        </p:nvSpPr>
        <p:spPr/>
        <p:txBody>
          <a:bodyPr/>
          <a:lstStyle/>
          <a:p>
            <a:endParaRPr lang="ru-RU">
              <a:solidFill>
                <a:prstClr val="black">
                  <a:tint val="75000"/>
                </a:prstClr>
              </a:solidFill>
            </a:endParaRPr>
          </a:p>
        </p:txBody>
      </p:sp>
      <p:sp>
        <p:nvSpPr>
          <p:cNvPr id="5" name="Номер слайда 4">
            <a:extLst>
              <a:ext uri="{FF2B5EF4-FFF2-40B4-BE49-F238E27FC236}">
                <a16:creationId xmlns:a16="http://schemas.microsoft.com/office/drawing/2014/main" xmlns="" id="{F69EEF1C-3FF4-40A0-9B68-F7489CE0E076}"/>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293839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5F3BB80B-4AF9-4C3B-B0DF-53BB17B0F260}"/>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3" name="Нижний колонтитул 2">
            <a:extLst>
              <a:ext uri="{FF2B5EF4-FFF2-40B4-BE49-F238E27FC236}">
                <a16:creationId xmlns:a16="http://schemas.microsoft.com/office/drawing/2014/main" xmlns="" id="{0DDB48B9-6417-49DB-AA40-BBB46AC6E7C8}"/>
              </a:ext>
            </a:extLst>
          </p:cNvPr>
          <p:cNvSpPr>
            <a:spLocks noGrp="1"/>
          </p:cNvSpPr>
          <p:nvPr>
            <p:ph type="ftr" sz="quarter" idx="11"/>
          </p:nvPr>
        </p:nvSpPr>
        <p:spPr/>
        <p:txBody>
          <a:bodyPr/>
          <a:lstStyle/>
          <a:p>
            <a:endParaRPr lang="ru-RU">
              <a:solidFill>
                <a:prstClr val="black">
                  <a:tint val="75000"/>
                </a:prstClr>
              </a:solidFill>
            </a:endParaRPr>
          </a:p>
        </p:txBody>
      </p:sp>
      <p:sp>
        <p:nvSpPr>
          <p:cNvPr id="4" name="Номер слайда 3">
            <a:extLst>
              <a:ext uri="{FF2B5EF4-FFF2-40B4-BE49-F238E27FC236}">
                <a16:creationId xmlns:a16="http://schemas.microsoft.com/office/drawing/2014/main" xmlns="" id="{77DA252D-0BE3-4C12-9001-225FA3F923CD}"/>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9193531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D1832C30-6B13-4508-9A72-390A3168A34D}"/>
              </a:ext>
            </a:extLst>
          </p:cNvPr>
          <p:cNvSpPr>
            <a:spLocks noGrp="1"/>
          </p:cNvSpPr>
          <p:nvPr>
            <p:ph type="title"/>
          </p:nvPr>
        </p:nvSpPr>
        <p:spPr>
          <a:xfrm>
            <a:off x="1007746" y="548640"/>
            <a:ext cx="4718684" cy="1920240"/>
          </a:xfrm>
        </p:spPr>
        <p:txBody>
          <a:bodyPr anchor="b"/>
          <a:lstStyle>
            <a:lvl1pPr>
              <a:defRPr sz="3840"/>
            </a:lvl1pPr>
          </a:lstStyle>
          <a:p>
            <a:r>
              <a:rPr lang="ru-RU"/>
              <a:t>Образец заголовка</a:t>
            </a:r>
          </a:p>
        </p:txBody>
      </p:sp>
      <p:sp>
        <p:nvSpPr>
          <p:cNvPr id="3" name="Объект 2">
            <a:extLst>
              <a:ext uri="{FF2B5EF4-FFF2-40B4-BE49-F238E27FC236}">
                <a16:creationId xmlns:a16="http://schemas.microsoft.com/office/drawing/2014/main" xmlns="" id="{C0D75B87-5CEC-48ED-9C10-1F5145B1DA11}"/>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xmlns="" id="{3F0DA931-85D7-4149-929E-0AC60241D39B}"/>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a:t>Образец текста</a:t>
            </a:r>
          </a:p>
        </p:txBody>
      </p:sp>
      <p:sp>
        <p:nvSpPr>
          <p:cNvPr id="5" name="Дата 4">
            <a:extLst>
              <a:ext uri="{FF2B5EF4-FFF2-40B4-BE49-F238E27FC236}">
                <a16:creationId xmlns:a16="http://schemas.microsoft.com/office/drawing/2014/main" xmlns="" id="{F6CE0B83-ABC3-421F-B87B-2FA745DE3E13}"/>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6" name="Нижний колонтитул 5">
            <a:extLst>
              <a:ext uri="{FF2B5EF4-FFF2-40B4-BE49-F238E27FC236}">
                <a16:creationId xmlns:a16="http://schemas.microsoft.com/office/drawing/2014/main" xmlns="" id="{AEA16D2C-44F1-4885-9229-5225654FEBC1}"/>
              </a:ext>
            </a:extLst>
          </p:cNvPr>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a:extLst>
              <a:ext uri="{FF2B5EF4-FFF2-40B4-BE49-F238E27FC236}">
                <a16:creationId xmlns:a16="http://schemas.microsoft.com/office/drawing/2014/main" xmlns="" id="{68CF9A64-2A9E-4B6C-B753-CFDEA5F4D405}"/>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351895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A861CC9B-E147-481B-82FE-CCA488D73FC9}"/>
              </a:ext>
            </a:extLst>
          </p:cNvPr>
          <p:cNvSpPr>
            <a:spLocks noGrp="1"/>
          </p:cNvSpPr>
          <p:nvPr>
            <p:ph type="title"/>
          </p:nvPr>
        </p:nvSpPr>
        <p:spPr>
          <a:xfrm>
            <a:off x="1007746" y="548640"/>
            <a:ext cx="4718684" cy="1920240"/>
          </a:xfrm>
        </p:spPr>
        <p:txBody>
          <a:bodyPr anchor="b"/>
          <a:lstStyle>
            <a:lvl1pPr>
              <a:defRPr sz="3840"/>
            </a:lvl1pPr>
          </a:lstStyle>
          <a:p>
            <a:r>
              <a:rPr lang="ru-RU"/>
              <a:t>Образец заголовка</a:t>
            </a:r>
          </a:p>
        </p:txBody>
      </p:sp>
      <p:sp>
        <p:nvSpPr>
          <p:cNvPr id="3" name="Рисунок 2">
            <a:extLst>
              <a:ext uri="{FF2B5EF4-FFF2-40B4-BE49-F238E27FC236}">
                <a16:creationId xmlns:a16="http://schemas.microsoft.com/office/drawing/2014/main" xmlns="" id="{280652F5-73E2-4C68-ADFD-7E12325DF9BA}"/>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ru-RU"/>
          </a:p>
        </p:txBody>
      </p:sp>
      <p:sp>
        <p:nvSpPr>
          <p:cNvPr id="4" name="Текст 3">
            <a:extLst>
              <a:ext uri="{FF2B5EF4-FFF2-40B4-BE49-F238E27FC236}">
                <a16:creationId xmlns:a16="http://schemas.microsoft.com/office/drawing/2014/main" xmlns="" id="{F4F019A9-31B5-4078-9848-4939F9C21C49}"/>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ru-RU"/>
              <a:t>Образец текста</a:t>
            </a:r>
          </a:p>
        </p:txBody>
      </p:sp>
      <p:sp>
        <p:nvSpPr>
          <p:cNvPr id="5" name="Дата 4">
            <a:extLst>
              <a:ext uri="{FF2B5EF4-FFF2-40B4-BE49-F238E27FC236}">
                <a16:creationId xmlns:a16="http://schemas.microsoft.com/office/drawing/2014/main" xmlns="" id="{002E110C-D68A-42C1-84E8-03F74ADC0350}"/>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6" name="Нижний колонтитул 5">
            <a:extLst>
              <a:ext uri="{FF2B5EF4-FFF2-40B4-BE49-F238E27FC236}">
                <a16:creationId xmlns:a16="http://schemas.microsoft.com/office/drawing/2014/main" xmlns="" id="{11042E4B-6070-4EA8-AE03-36FB8F4C8C3E}"/>
              </a:ext>
            </a:extLst>
          </p:cNvPr>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a:extLst>
              <a:ext uri="{FF2B5EF4-FFF2-40B4-BE49-F238E27FC236}">
                <a16:creationId xmlns:a16="http://schemas.microsoft.com/office/drawing/2014/main" xmlns="" id="{28673E45-5A81-4CCC-AF1A-F84F77D80E87}"/>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9406242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A1EE8047-1B59-49CC-B518-16A5C2C4BE3C}"/>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xmlns="" id="{3DEF7578-310E-4C7A-B06C-FDF45468A06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80457E74-C3A0-4963-AFC5-9A63847436A5}"/>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FFA4D335-1E1C-43F9-AA9F-54A4AED0DD49}"/>
              </a:ext>
            </a:extLst>
          </p:cNvPr>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25D5B841-4C2F-460B-BBFC-8210967A6D62}"/>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6886903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xmlns="" id="{38EA3CAA-CC16-4612-BA81-DECCFCDEB2B4}"/>
              </a:ext>
            </a:extLst>
          </p:cNvPr>
          <p:cNvSpPr>
            <a:spLocks noGrp="1"/>
          </p:cNvSpPr>
          <p:nvPr>
            <p:ph type="title" orient="vert"/>
          </p:nvPr>
        </p:nvSpPr>
        <p:spPr>
          <a:xfrm>
            <a:off x="10469880" y="438150"/>
            <a:ext cx="3154680" cy="6974206"/>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xmlns="" id="{40A6346E-4AC5-4A87-ACD2-542341E02691}"/>
              </a:ext>
            </a:extLst>
          </p:cNvPr>
          <p:cNvSpPr>
            <a:spLocks noGrp="1"/>
          </p:cNvSpPr>
          <p:nvPr>
            <p:ph type="body" orient="vert" idx="1"/>
          </p:nvPr>
        </p:nvSpPr>
        <p:spPr>
          <a:xfrm>
            <a:off x="1005840" y="438150"/>
            <a:ext cx="9281160" cy="6974206"/>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EB3D97F5-4867-45AE-A20B-81A4EF09689B}"/>
              </a:ext>
            </a:extLst>
          </p:cNvPr>
          <p:cNvSpPr>
            <a:spLocks noGrp="1"/>
          </p:cNvSpPr>
          <p:nvPr>
            <p:ph type="dt" sz="half" idx="10"/>
          </p:nvPr>
        </p:nvSpPr>
        <p:spPr/>
        <p:txBody>
          <a:body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30DBE765-DEB6-4C80-A729-D8575BB1E314}"/>
              </a:ext>
            </a:extLst>
          </p:cNvPr>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0F407210-205B-4F9D-9917-0F3906E2E415}"/>
              </a:ext>
            </a:extLst>
          </p:cNvPr>
          <p:cNvSpPr>
            <a:spLocks noGrp="1"/>
          </p:cNvSpPr>
          <p:nvPr>
            <p:ph type="sldNum" sz="quarter" idx="12"/>
          </p:nvPr>
        </p:nvSpPr>
        <p:spPr/>
        <p:txBody>
          <a:body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50433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9D00C36A-B94F-43FF-AF12-5B1DF1ED9393}" type="datetimeFigureOut">
              <a:rPr lang="ru-RU" smtClean="0"/>
              <a:t>26.11.2025</a:t>
            </a:fld>
            <a:endParaRPr lang="ru-RU"/>
          </a:p>
        </p:txBody>
      </p:sp>
      <p:sp>
        <p:nvSpPr>
          <p:cNvPr id="5" name="Нижний колонтитул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AE5D757E-4B79-4824-A259-75B10449C362}" type="slidenum">
              <a:rPr lang="ru-RU" smtClean="0"/>
              <a:t>‹#›</a:t>
            </a:fld>
            <a:endParaRPr lang="ru-RU"/>
          </a:p>
        </p:txBody>
      </p:sp>
    </p:spTree>
    <p:extLst>
      <p:ext uri="{BB962C8B-B14F-4D97-AF65-F5344CB8AC3E}">
        <p14:creationId xmlns:p14="http://schemas.microsoft.com/office/powerpoint/2010/main" val="23958597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ru-RU"/>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AC34318-5CDC-4B95-9ED6-48013650FF32}"/>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xmlns="" id="{7D6B0318-6AE2-4951-A424-BB23628BE437}"/>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D95014BA-9B3A-4AB7-9E52-96E79BF647A2}"/>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EEA7D3BF-07C7-4462-8E88-61E60A18C07E}" type="datetimeFigureOut">
              <a:rPr lang="ru-RU" smtClean="0">
                <a:solidFill>
                  <a:prstClr val="black">
                    <a:tint val="75000"/>
                  </a:prstClr>
                </a:solidFill>
              </a:rPr>
              <a:pPr/>
              <a:t>26.11.2025</a:t>
            </a:fld>
            <a:endParaRPr lang="ru-RU">
              <a:solidFill>
                <a:prstClr val="black">
                  <a:tint val="75000"/>
                </a:prstClr>
              </a:solidFill>
            </a:endParaRPr>
          </a:p>
        </p:txBody>
      </p:sp>
      <p:sp>
        <p:nvSpPr>
          <p:cNvPr id="5" name="Нижний колонтитул 4">
            <a:extLst>
              <a:ext uri="{FF2B5EF4-FFF2-40B4-BE49-F238E27FC236}">
                <a16:creationId xmlns:a16="http://schemas.microsoft.com/office/drawing/2014/main" xmlns="" id="{EEF7A4C4-6568-4107-A161-914D1C7D8F2D}"/>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ru-RU">
              <a:solidFill>
                <a:prstClr val="black">
                  <a:tint val="75000"/>
                </a:prstClr>
              </a:solidFill>
            </a:endParaRPr>
          </a:p>
        </p:txBody>
      </p:sp>
      <p:sp>
        <p:nvSpPr>
          <p:cNvPr id="6" name="Номер слайда 5">
            <a:extLst>
              <a:ext uri="{FF2B5EF4-FFF2-40B4-BE49-F238E27FC236}">
                <a16:creationId xmlns:a16="http://schemas.microsoft.com/office/drawing/2014/main" xmlns="" id="{0927E2CA-F2E6-44C1-AD82-3A865A7ED69B}"/>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0DBD4DD2-A384-4D89-8007-BC10A994F7BA}"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09081891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ru-RU"/>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xmlns="" id="{4BBFDBE9-E25A-4779-957E-ED42963E8AB9}"/>
              </a:ext>
            </a:extLst>
          </p:cNvPr>
          <p:cNvSpPr/>
          <p:nvPr/>
        </p:nvSpPr>
        <p:spPr>
          <a:xfrm>
            <a:off x="1075765" y="3852037"/>
            <a:ext cx="12588394" cy="2456057"/>
          </a:xfrm>
          <a:prstGeom prst="rect">
            <a:avLst/>
          </a:prstGeom>
        </p:spPr>
        <p:txBody>
          <a:bodyPr wrap="square">
            <a:spAutoFit/>
          </a:bodyPr>
          <a:lstStyle/>
          <a:p>
            <a:pPr marL="647700" indent="-647700" algn="just">
              <a:defRPr/>
            </a:pPr>
            <a:r>
              <a:rPr lang="en-US" sz="3840" b="1" dirty="0" err="1">
                <a:solidFill>
                  <a:prstClr val="black"/>
                </a:solidFill>
                <a:latin typeface="Times New Roman" panose="02020603050405020304" pitchFamily="18" charset="0"/>
                <a:cs typeface="Times New Roman" panose="02020603050405020304" pitchFamily="18" charset="0"/>
              </a:rPr>
              <a:t>Mavzu</a:t>
            </a:r>
            <a:r>
              <a:rPr lang="en-US" sz="3840" b="1" dirty="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Arifmetik-mantiq</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smtClean="0">
                <a:solidFill>
                  <a:prstClr val="black"/>
                </a:solidFill>
                <a:latin typeface="Times New Roman" panose="02020603050405020304" pitchFamily="18" charset="0"/>
                <a:cs typeface="Times New Roman" panose="02020603050405020304" pitchFamily="18" charset="0"/>
              </a:rPr>
              <a:t>qurilmalar</a:t>
            </a:r>
            <a:r>
              <a:rPr lang="en-US" sz="3840" dirty="0" smtClean="0">
                <a:solidFill>
                  <a:prstClr val="black"/>
                </a:solidFill>
                <a:latin typeface="Times New Roman" panose="02020603050405020304" pitchFamily="18" charset="0"/>
                <a:cs typeface="Times New Roman" panose="02020603050405020304" pitchFamily="18" charset="0"/>
              </a:rPr>
              <a:t>. </a:t>
            </a:r>
            <a:r>
              <a:rPr lang="en-US" sz="3840" dirty="0" err="1" smtClean="0">
                <a:solidFill>
                  <a:prstClr val="black"/>
                </a:solidFill>
                <a:latin typeface="Times New Roman" panose="02020603050405020304" pitchFamily="18" charset="0"/>
                <a:cs typeface="Times New Roman" panose="02020603050405020304" pitchFamily="18" charset="0"/>
              </a:rPr>
              <a:t>Yarim</a:t>
            </a:r>
            <a:r>
              <a:rPr lang="en-US" sz="3840" dirty="0" smtClean="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qo'shuvchi</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To'la</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qo'shuvchi</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smtClean="0">
                <a:solidFill>
                  <a:prstClr val="black"/>
                </a:solidFill>
                <a:latin typeface="Times New Roman" panose="02020603050405020304" pitchFamily="18" charset="0"/>
                <a:cs typeface="Times New Roman" panose="02020603050405020304" pitchFamily="18" charset="0"/>
              </a:rPr>
              <a:t>Arifmetik-mantiq</a:t>
            </a:r>
            <a:r>
              <a:rPr lang="en-US" sz="3840" dirty="0" smtClean="0">
                <a:solidFill>
                  <a:prstClr val="black"/>
                </a:solidFill>
                <a:latin typeface="Times New Roman" panose="02020603050405020304" pitchFamily="18" charset="0"/>
                <a:cs typeface="Times New Roman" panose="02020603050405020304" pitchFamily="18" charset="0"/>
              </a:rPr>
              <a:t> </a:t>
            </a:r>
            <a:r>
              <a:rPr lang="en-US" sz="3840" dirty="0" err="1" smtClean="0">
                <a:solidFill>
                  <a:prstClr val="black"/>
                </a:solidFill>
                <a:latin typeface="Times New Roman" panose="02020603050405020304" pitchFamily="18" charset="0"/>
                <a:cs typeface="Times New Roman" panose="02020603050405020304" pitchFamily="18" charset="0"/>
              </a:rPr>
              <a:t>qurilmalar</a:t>
            </a:r>
            <a:r>
              <a:rPr lang="en-US" sz="3840" dirty="0" smtClean="0">
                <a:solidFill>
                  <a:prstClr val="black"/>
                </a:solidFill>
                <a:latin typeface="Times New Roman" panose="02020603050405020304" pitchFamily="18" charset="0"/>
                <a:cs typeface="Times New Roman" panose="02020603050405020304" pitchFamily="18" charset="0"/>
              </a:rPr>
              <a:t> </a:t>
            </a:r>
            <a:r>
              <a:rPr lang="en-US" sz="3840" dirty="0" err="1" smtClean="0">
                <a:solidFill>
                  <a:prstClr val="black"/>
                </a:solidFill>
                <a:latin typeface="Times New Roman" panose="02020603050405020304" pitchFamily="18" charset="0"/>
                <a:cs typeface="Times New Roman" panose="02020603050405020304" pitchFamily="18" charset="0"/>
              </a:rPr>
              <a:t>axitekturasi</a:t>
            </a:r>
            <a:r>
              <a:rPr lang="en-US" sz="3840" dirty="0" smtClean="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va</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turlari</a:t>
            </a:r>
            <a:r>
              <a:rPr lang="en-US" sz="3840" dirty="0" smtClean="0">
                <a:solidFill>
                  <a:prstClr val="black"/>
                </a:solidFill>
                <a:latin typeface="Times New Roman" panose="02020603050405020304" pitchFamily="18" charset="0"/>
                <a:cs typeface="Times New Roman" panose="02020603050405020304" pitchFamily="18" charset="0"/>
              </a:rPr>
              <a:t>.</a:t>
            </a:r>
            <a:endParaRPr lang="en-US" sz="3840" dirty="0">
              <a:solidFill>
                <a:prstClr val="black"/>
              </a:solidFill>
              <a:latin typeface="Times New Roman" panose="02020603050405020304" pitchFamily="18" charset="0"/>
              <a:cs typeface="Times New Roman" panose="02020603050405020304" pitchFamily="18" charset="0"/>
            </a:endParaRPr>
          </a:p>
          <a:p>
            <a:pPr marL="647700" indent="-647700" algn="ctr">
              <a:defRPr/>
            </a:pPr>
            <a:endParaRPr lang="ru-RU" sz="3840" dirty="0">
              <a:solidFill>
                <a:prstClr val="black"/>
              </a:solidFill>
              <a:latin typeface="Times New Roman" panose="02020603050405020304" pitchFamily="18" charset="0"/>
              <a:cs typeface="Times New Roman" panose="02020603050405020304" pitchFamily="18" charset="0"/>
            </a:endParaRPr>
          </a:p>
        </p:txBody>
      </p:sp>
      <p:sp>
        <p:nvSpPr>
          <p:cNvPr id="7" name="Прямоугольник 6">
            <a:extLst>
              <a:ext uri="{FF2B5EF4-FFF2-40B4-BE49-F238E27FC236}">
                <a16:creationId xmlns:a16="http://schemas.microsoft.com/office/drawing/2014/main" xmlns="" id="{5A108AB3-7F48-435F-99AC-296C87A116A3}"/>
              </a:ext>
            </a:extLst>
          </p:cNvPr>
          <p:cNvSpPr/>
          <p:nvPr/>
        </p:nvSpPr>
        <p:spPr>
          <a:xfrm>
            <a:off x="1239775" y="105278"/>
            <a:ext cx="12172950" cy="2308324"/>
          </a:xfrm>
          <a:prstGeom prst="rect">
            <a:avLst/>
          </a:prstGeom>
        </p:spPr>
        <p:txBody>
          <a:bodyPr wrap="square">
            <a:spAutoFit/>
          </a:bodyPr>
          <a:lstStyle/>
          <a:p>
            <a:pPr algn="ctr">
              <a:defRPr/>
            </a:pPr>
            <a:r>
              <a:rPr lang="en-US" sz="2880" b="1" dirty="0">
                <a:solidFill>
                  <a:prstClr val="black"/>
                </a:solidFill>
                <a:latin typeface="Times New Roman" panose="02020603050405020304" pitchFamily="18" charset="0"/>
                <a:cs typeface="Times New Roman" panose="02020603050405020304" pitchFamily="18" charset="0"/>
              </a:rPr>
              <a:t>O‘ZBEKISTON RESPUBLIKASI</a:t>
            </a:r>
          </a:p>
          <a:p>
            <a:pPr algn="ctr">
              <a:defRPr/>
            </a:pPr>
            <a:r>
              <a:rPr lang="en-US" sz="2880" b="1" dirty="0">
                <a:solidFill>
                  <a:prstClr val="black"/>
                </a:solidFill>
                <a:latin typeface="Times New Roman" panose="02020603050405020304" pitchFamily="18" charset="0"/>
                <a:cs typeface="Times New Roman" panose="02020603050405020304" pitchFamily="18" charset="0"/>
              </a:rPr>
              <a:t>OLIY TA’LIM, FAN VA INNOVASIYALAR VAZIRLIGI</a:t>
            </a:r>
          </a:p>
          <a:p>
            <a:pPr algn="ctr">
              <a:defRPr/>
            </a:pPr>
            <a:endParaRPr lang="en-US" sz="2880" b="1" dirty="0">
              <a:solidFill>
                <a:prstClr val="black"/>
              </a:solidFill>
              <a:latin typeface="Times New Roman" panose="02020603050405020304" pitchFamily="18" charset="0"/>
              <a:cs typeface="Times New Roman" panose="02020603050405020304" pitchFamily="18" charset="0"/>
            </a:endParaRPr>
          </a:p>
          <a:p>
            <a:pPr algn="ctr">
              <a:defRPr/>
            </a:pPr>
            <a:r>
              <a:rPr lang="en-US" sz="2880" b="1" dirty="0">
                <a:solidFill>
                  <a:prstClr val="black"/>
                </a:solidFill>
                <a:latin typeface="Times New Roman" panose="02020603050405020304" pitchFamily="18" charset="0"/>
                <a:cs typeface="Times New Roman" panose="02020603050405020304" pitchFamily="18" charset="0"/>
              </a:rPr>
              <a:t>TOSHKENT IJTIMOIY INNOVATSIYA UNIVERSITETI</a:t>
            </a:r>
          </a:p>
          <a:p>
            <a:pPr algn="ctr">
              <a:defRPr/>
            </a:pPr>
            <a:endParaRPr lang="en-US" sz="2880" b="1" dirty="0">
              <a:solidFill>
                <a:prstClr val="black"/>
              </a:solidFill>
              <a:latin typeface="Times New Roman" panose="02020603050405020304" pitchFamily="18" charset="0"/>
              <a:cs typeface="Times New Roman" panose="02020603050405020304" pitchFamily="18" charset="0"/>
            </a:endParaRPr>
          </a:p>
        </p:txBody>
      </p:sp>
      <p:sp>
        <p:nvSpPr>
          <p:cNvPr id="10" name="Прямоугольник 9"/>
          <p:cNvSpPr/>
          <p:nvPr/>
        </p:nvSpPr>
        <p:spPr>
          <a:xfrm>
            <a:off x="8012414" y="6240580"/>
            <a:ext cx="6617987" cy="1305999"/>
          </a:xfrm>
          <a:prstGeom prst="rect">
            <a:avLst/>
          </a:prstGeom>
        </p:spPr>
        <p:txBody>
          <a:bodyPr wrap="square">
            <a:spAutoFit/>
          </a:bodyPr>
          <a:lstStyle/>
          <a:p>
            <a:pPr>
              <a:spcBef>
                <a:spcPts val="720"/>
              </a:spcBef>
              <a:spcAft>
                <a:spcPts val="720"/>
              </a:spcAft>
              <a:defRPr/>
            </a:pPr>
            <a:r>
              <a:rPr lang="en-US" sz="3360" b="1" dirty="0" err="1">
                <a:solidFill>
                  <a:prstClr val="black"/>
                </a:solidFill>
                <a:latin typeface="Times New Roman" panose="02020603050405020304" pitchFamily="18" charset="0"/>
                <a:cs typeface="Times New Roman" panose="02020603050405020304" pitchFamily="18" charset="0"/>
              </a:rPr>
              <a:t>Ma’ruzachi</a:t>
            </a:r>
            <a:r>
              <a:rPr lang="en-US" sz="3360" b="1" dirty="0">
                <a:solidFill>
                  <a:prstClr val="black"/>
                </a:solidFill>
                <a:latin typeface="Times New Roman" panose="02020603050405020304" pitchFamily="18" charset="0"/>
                <a:cs typeface="Times New Roman" panose="02020603050405020304" pitchFamily="18" charset="0"/>
              </a:rPr>
              <a:t>:  </a:t>
            </a:r>
          </a:p>
          <a:p>
            <a:pPr marL="647700">
              <a:spcBef>
                <a:spcPts val="720"/>
              </a:spcBef>
              <a:spcAft>
                <a:spcPts val="720"/>
              </a:spcAft>
              <a:defRPr/>
            </a:pPr>
            <a:r>
              <a:rPr lang="en-US" sz="3360" b="1" dirty="0" err="1">
                <a:solidFill>
                  <a:prstClr val="black"/>
                </a:solidFill>
                <a:latin typeface="Times New Roman" panose="02020603050405020304" pitchFamily="18" charset="0"/>
                <a:cs typeface="Times New Roman" panose="02020603050405020304" pitchFamily="18" charset="0"/>
              </a:rPr>
              <a:t>dots.v.v.b</a:t>
            </a:r>
            <a:r>
              <a:rPr lang="en-US" sz="3360" b="1" dirty="0">
                <a:solidFill>
                  <a:prstClr val="black"/>
                </a:solidFill>
                <a:latin typeface="Times New Roman" panose="02020603050405020304" pitchFamily="18" charset="0"/>
                <a:cs typeface="Times New Roman" panose="02020603050405020304" pitchFamily="18" charset="0"/>
              </a:rPr>
              <a:t>. S. </a:t>
            </a:r>
            <a:r>
              <a:rPr lang="en-US" sz="3360" b="1" dirty="0" err="1">
                <a:solidFill>
                  <a:prstClr val="black"/>
                </a:solidFill>
                <a:latin typeface="Times New Roman" panose="02020603050405020304" pitchFamily="18" charset="0"/>
                <a:cs typeface="Times New Roman" panose="02020603050405020304" pitchFamily="18" charset="0"/>
              </a:rPr>
              <a:t>Sh</a:t>
            </a:r>
            <a:r>
              <a:rPr lang="en-US" sz="3360" b="1" dirty="0">
                <a:solidFill>
                  <a:prstClr val="black"/>
                </a:solidFill>
                <a:latin typeface="Times New Roman" panose="02020603050405020304" pitchFamily="18" charset="0"/>
                <a:cs typeface="Times New Roman" panose="02020603050405020304" pitchFamily="18" charset="0"/>
              </a:rPr>
              <a:t>. </a:t>
            </a:r>
            <a:r>
              <a:rPr lang="en-US" sz="3360" b="1" dirty="0" err="1">
                <a:solidFill>
                  <a:prstClr val="black"/>
                </a:solidFill>
                <a:latin typeface="Times New Roman" panose="02020603050405020304" pitchFamily="18" charset="0"/>
                <a:cs typeface="Times New Roman" panose="02020603050405020304" pitchFamily="18" charset="0"/>
              </a:rPr>
              <a:t>Bekturdiyev</a:t>
            </a:r>
            <a:r>
              <a:rPr lang="en-US" sz="3360" b="1" dirty="0">
                <a:solidFill>
                  <a:prstClr val="black"/>
                </a:solidFill>
                <a:latin typeface="Times New Roman" panose="02020603050405020304" pitchFamily="18" charset="0"/>
                <a:cs typeface="Times New Roman" panose="02020603050405020304" pitchFamily="18" charset="0"/>
              </a:rPr>
              <a:t> </a:t>
            </a:r>
            <a:endParaRPr lang="en-US" sz="3840" b="1" dirty="0">
              <a:solidFill>
                <a:prstClr val="black"/>
              </a:solidFill>
              <a:latin typeface="Times New Roman" panose="02020603050405020304" pitchFamily="18" charset="0"/>
              <a:cs typeface="Times New Roman" panose="02020603050405020304" pitchFamily="18" charset="0"/>
            </a:endParaRPr>
          </a:p>
        </p:txBody>
      </p:sp>
      <p:sp>
        <p:nvSpPr>
          <p:cNvPr id="11" name="Прямоугольник 10"/>
          <p:cNvSpPr/>
          <p:nvPr/>
        </p:nvSpPr>
        <p:spPr>
          <a:xfrm>
            <a:off x="6825081" y="2622327"/>
            <a:ext cx="5899146" cy="1274195"/>
          </a:xfrm>
          <a:prstGeom prst="rect">
            <a:avLst/>
          </a:prstGeom>
        </p:spPr>
        <p:txBody>
          <a:bodyPr wrap="square">
            <a:spAutoFit/>
          </a:bodyPr>
          <a:lstStyle/>
          <a:p>
            <a:pPr algn="r">
              <a:spcBef>
                <a:spcPts val="720"/>
              </a:spcBef>
              <a:spcAft>
                <a:spcPts val="720"/>
              </a:spcAft>
              <a:defRPr/>
            </a:pPr>
            <a:r>
              <a:rPr lang="uz-Cyrl-UZ" sz="3840" b="1" dirty="0">
                <a:solidFill>
                  <a:prstClr val="black"/>
                </a:solidFill>
                <a:latin typeface="Times New Roman" panose="02020603050405020304" pitchFamily="18" charset="0"/>
                <a:ea typeface="Calibri" panose="020F0502020204030204" pitchFamily="34" charset="0"/>
              </a:rPr>
              <a:t>Elektronika va sxemalar</a:t>
            </a:r>
            <a:r>
              <a:rPr lang="en-US" sz="3840" b="1" dirty="0">
                <a:solidFill>
                  <a:prstClr val="black"/>
                </a:solidFill>
                <a:latin typeface="Times New Roman" panose="02020603050405020304" pitchFamily="18" charset="0"/>
                <a:ea typeface="Calibri" panose="020F0502020204030204" pitchFamily="34" charset="0"/>
              </a:rPr>
              <a:t> </a:t>
            </a:r>
            <a:r>
              <a:rPr lang="en-US" sz="3840" dirty="0">
                <a:solidFill>
                  <a:prstClr val="black"/>
                </a:solidFill>
                <a:latin typeface="Times New Roman" panose="02020603050405020304" pitchFamily="18" charset="0"/>
                <a:cs typeface="Times New Roman" panose="02020603050405020304" pitchFamily="18" charset="0"/>
              </a:rPr>
              <a:t> </a:t>
            </a:r>
            <a:r>
              <a:rPr lang="en-US" sz="3840" dirty="0" err="1">
                <a:solidFill>
                  <a:prstClr val="black"/>
                </a:solidFill>
                <a:latin typeface="Times New Roman" panose="02020603050405020304" pitchFamily="18" charset="0"/>
                <a:cs typeface="Times New Roman" panose="02020603050405020304" pitchFamily="18" charset="0"/>
              </a:rPr>
              <a:t>fanidan</a:t>
            </a:r>
            <a:endParaRPr lang="en-US" sz="3840" b="1" dirty="0">
              <a:solidFill>
                <a:prstClr val="black"/>
              </a:solidFill>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83460" y="105278"/>
            <a:ext cx="1552535" cy="1544734"/>
          </a:xfrm>
          <a:prstGeom prst="rect">
            <a:avLst/>
          </a:prstGeom>
          <a:noFill/>
        </p:spPr>
      </p:pic>
    </p:spTree>
    <p:extLst>
      <p:ext uri="{BB962C8B-B14F-4D97-AF65-F5344CB8AC3E}">
        <p14:creationId xmlns:p14="http://schemas.microsoft.com/office/powerpoint/2010/main" val="31310070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3" y="703114"/>
            <a:ext cx="7468553" cy="1231821"/>
          </a:xfrm>
          <a:prstGeom prst="rect">
            <a:avLst/>
          </a:prstGeom>
          <a:noFill/>
          <a:ln/>
        </p:spPr>
        <p:txBody>
          <a:bodyPr wrap="squar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Raqamli Mantiq Asoslari: Yarim va To'la Qo'shuvchilar</a:t>
            </a:r>
            <a:endParaRPr lang="en-US" sz="3850" dirty="0"/>
          </a:p>
        </p:txBody>
      </p:sp>
      <p:sp>
        <p:nvSpPr>
          <p:cNvPr id="4" name="Text 1"/>
          <p:cNvSpPr/>
          <p:nvPr/>
        </p:nvSpPr>
        <p:spPr>
          <a:xfrm>
            <a:off x="837724" y="2625538"/>
            <a:ext cx="7468553" cy="1340168"/>
          </a:xfrm>
          <a:prstGeom prst="rect">
            <a:avLst/>
          </a:prstGeom>
          <a:noFill/>
          <a:ln/>
        </p:spPr>
        <p:txBody>
          <a:bodyPr wrap="square" lIns="0" tIns="0" rIns="0" bIns="0" rtlCol="0" anchor="t"/>
          <a:lstStyle/>
          <a:p>
            <a:pPr marL="0" indent="0" algn="l">
              <a:lnSpc>
                <a:spcPct val="150000"/>
              </a:lnSpc>
              <a:buNone/>
            </a:pPr>
            <a:r>
              <a:rPr lang="en-US" sz="2800" dirty="0">
                <a:solidFill>
                  <a:srgbClr val="2B3541"/>
                </a:solidFill>
                <a:latin typeface="Funnel Sans" pitchFamily="34" charset="0"/>
                <a:ea typeface="Funnel Sans" pitchFamily="34" charset="-122"/>
                <a:cs typeface="Funnel Sans" pitchFamily="34" charset="-120"/>
              </a:rPr>
              <a:t>Raqamli elektronika dunyosida yarim va to'la qo'shuvchilar arifmetik amallarni bajarish uchun asosiy qurilmalardir. Ular kompyuterlar va boshqa raqamli tizimlarning "miya"sini tashkil etuvchi murakkab arifmetik-mantiqiy qurilmalarning (ALU) qurilish bloklari hisoblanadi.</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5455" y="539948"/>
            <a:ext cx="8699540" cy="577572"/>
          </a:xfrm>
          <a:prstGeom prst="rect">
            <a:avLst/>
          </a:prstGeom>
          <a:noFill/>
          <a:ln/>
        </p:spPr>
        <p:txBody>
          <a:bodyPr wrap="none" lIns="0" tIns="0" rIns="0" bIns="0" rtlCol="0" anchor="t"/>
          <a:lstStyle/>
          <a:p>
            <a:pPr marL="0" indent="0" algn="l">
              <a:lnSpc>
                <a:spcPts val="4500"/>
              </a:lnSpc>
              <a:buNone/>
            </a:pPr>
            <a:r>
              <a:rPr lang="en-US" sz="3600" dirty="0">
                <a:solidFill>
                  <a:srgbClr val="051D3A"/>
                </a:solidFill>
                <a:latin typeface="Funnel Display" pitchFamily="34" charset="0"/>
                <a:ea typeface="Funnel Display" pitchFamily="34" charset="-122"/>
                <a:cs typeface="Funnel Display" pitchFamily="34" charset="-120"/>
              </a:rPr>
              <a:t>Yarim Qo'shuvchi: Bir Bitli Qo'shish Asosi</a:t>
            </a:r>
            <a:endParaRPr lang="en-US" sz="3600" dirty="0"/>
          </a:p>
        </p:txBody>
      </p:sp>
      <p:sp>
        <p:nvSpPr>
          <p:cNvPr id="3" name="Text 1"/>
          <p:cNvSpPr/>
          <p:nvPr/>
        </p:nvSpPr>
        <p:spPr>
          <a:xfrm>
            <a:off x="699394" y="2776299"/>
            <a:ext cx="6290191" cy="628174"/>
          </a:xfrm>
          <a:prstGeom prst="rect">
            <a:avLst/>
          </a:prstGeom>
          <a:noFill/>
          <a:ln/>
        </p:spPr>
        <p:txBody>
          <a:bodyPr wrap="square" lIns="0" tIns="0" rIns="0" bIns="0" rtlCol="0" anchor="t"/>
          <a:lstStyle/>
          <a:p>
            <a:pPr marL="0" indent="0" algn="l">
              <a:lnSpc>
                <a:spcPct val="150000"/>
              </a:lnSpc>
              <a:buNone/>
            </a:pPr>
            <a:r>
              <a:rPr lang="en-US" sz="2000" dirty="0">
                <a:solidFill>
                  <a:srgbClr val="2B3541"/>
                </a:solidFill>
                <a:latin typeface="Funnel Sans" pitchFamily="34" charset="0"/>
                <a:ea typeface="Funnel Sans" pitchFamily="34" charset="-122"/>
                <a:cs typeface="Funnel Sans" pitchFamily="34" charset="-120"/>
              </a:rPr>
              <a:t>Yarim qo'shuvchi (Half Adder) ikkita bir bitli ikkilik sonni qo'shish uchun ishlatiladigan kombinatsiyali mantiqiy sxemadir. U ikkita chiqishga ega:</a:t>
            </a:r>
            <a:endParaRPr lang="en-US" sz="2000" dirty="0"/>
          </a:p>
        </p:txBody>
      </p:sp>
      <p:sp>
        <p:nvSpPr>
          <p:cNvPr id="4" name="Text 2"/>
          <p:cNvSpPr/>
          <p:nvPr/>
        </p:nvSpPr>
        <p:spPr>
          <a:xfrm>
            <a:off x="699394" y="4463831"/>
            <a:ext cx="6290191" cy="314087"/>
          </a:xfrm>
          <a:prstGeom prst="rect">
            <a:avLst/>
          </a:prstGeom>
          <a:noFill/>
          <a:ln/>
        </p:spPr>
        <p:txBody>
          <a:bodyPr wrap="none" lIns="0" tIns="0" rIns="0" bIns="0" rtlCol="0" anchor="t"/>
          <a:lstStyle/>
          <a:p>
            <a:pPr marL="342900" indent="-342900" algn="l">
              <a:lnSpc>
                <a:spcPct val="150000"/>
              </a:lnSpc>
              <a:buSzPct val="100000"/>
              <a:buChar char="•"/>
            </a:pPr>
            <a:r>
              <a:rPr lang="en-US" sz="2000" b="1" dirty="0">
                <a:solidFill>
                  <a:srgbClr val="2B3541"/>
                </a:solidFill>
                <a:latin typeface="Funnel Sans" pitchFamily="34" charset="0"/>
                <a:ea typeface="Funnel Sans" pitchFamily="34" charset="-122"/>
                <a:cs typeface="Funnel Sans" pitchFamily="34" charset="-120"/>
              </a:rPr>
              <a:t>Yig'indi (Sum, S):</a:t>
            </a:r>
            <a:r>
              <a:rPr lang="en-US" sz="2000" dirty="0">
                <a:solidFill>
                  <a:srgbClr val="2B3541"/>
                </a:solidFill>
                <a:latin typeface="Funnel Sans" pitchFamily="34" charset="0"/>
                <a:ea typeface="Funnel Sans" pitchFamily="34" charset="-122"/>
                <a:cs typeface="Funnel Sans" pitchFamily="34" charset="-120"/>
              </a:rPr>
              <a:t> Ikkita kirish bitining yig'indisi.</a:t>
            </a:r>
            <a:endParaRPr lang="en-US" sz="2000" dirty="0"/>
          </a:p>
        </p:txBody>
      </p:sp>
      <p:sp>
        <p:nvSpPr>
          <p:cNvPr id="5" name="Text 3"/>
          <p:cNvSpPr/>
          <p:nvPr/>
        </p:nvSpPr>
        <p:spPr>
          <a:xfrm>
            <a:off x="699393" y="4978907"/>
            <a:ext cx="6290191" cy="628174"/>
          </a:xfrm>
          <a:prstGeom prst="rect">
            <a:avLst/>
          </a:prstGeom>
          <a:noFill/>
          <a:ln/>
        </p:spPr>
        <p:txBody>
          <a:bodyPr wrap="square" lIns="0" tIns="0" rIns="0" bIns="0" rtlCol="0" anchor="t"/>
          <a:lstStyle/>
          <a:p>
            <a:pPr marL="342900" indent="-342900" algn="l">
              <a:lnSpc>
                <a:spcPct val="150000"/>
              </a:lnSpc>
              <a:buSzPct val="100000"/>
              <a:buChar char="•"/>
            </a:pPr>
            <a:r>
              <a:rPr lang="en-US" sz="2000" b="1" dirty="0">
                <a:solidFill>
                  <a:srgbClr val="2B3541"/>
                </a:solidFill>
                <a:latin typeface="Funnel Sans" pitchFamily="34" charset="0"/>
                <a:ea typeface="Funnel Sans" pitchFamily="34" charset="-122"/>
                <a:cs typeface="Funnel Sans" pitchFamily="34" charset="-120"/>
              </a:rPr>
              <a:t>Ko'chirish (Carry, C):</a:t>
            </a:r>
            <a:r>
              <a:rPr lang="en-US" sz="2000" dirty="0">
                <a:solidFill>
                  <a:srgbClr val="2B3541"/>
                </a:solidFill>
                <a:latin typeface="Funnel Sans" pitchFamily="34" charset="0"/>
                <a:ea typeface="Funnel Sans" pitchFamily="34" charset="-122"/>
                <a:cs typeface="Funnel Sans" pitchFamily="34" charset="-120"/>
              </a:rPr>
              <a:t> Keyingi yuqori bitga o'tkaziladigan ko'chirish biti.</a:t>
            </a:r>
            <a:endParaRPr lang="en-US" sz="2000" dirty="0"/>
          </a:p>
        </p:txBody>
      </p:sp>
      <p:sp>
        <p:nvSpPr>
          <p:cNvPr id="6" name="Text 4"/>
          <p:cNvSpPr/>
          <p:nvPr/>
        </p:nvSpPr>
        <p:spPr>
          <a:xfrm>
            <a:off x="785455" y="6038265"/>
            <a:ext cx="6290191" cy="628174"/>
          </a:xfrm>
          <a:prstGeom prst="rect">
            <a:avLst/>
          </a:prstGeom>
          <a:noFill/>
          <a:ln/>
        </p:spPr>
        <p:txBody>
          <a:bodyPr wrap="square" lIns="0" tIns="0" rIns="0" bIns="0" rtlCol="0" anchor="t"/>
          <a:lstStyle/>
          <a:p>
            <a:pPr marL="0" indent="0" algn="l">
              <a:lnSpc>
                <a:spcPct val="150000"/>
              </a:lnSpc>
              <a:buNone/>
            </a:pPr>
            <a:r>
              <a:rPr lang="en-US" sz="2000" dirty="0">
                <a:solidFill>
                  <a:srgbClr val="2B3541"/>
                </a:solidFill>
                <a:latin typeface="Funnel Sans" pitchFamily="34" charset="0"/>
                <a:ea typeface="Funnel Sans" pitchFamily="34" charset="-122"/>
                <a:cs typeface="Funnel Sans" pitchFamily="34" charset="-120"/>
              </a:rPr>
              <a:t>Uning mantiqiy sxemasi XOR va AND darvozalaridan iborat bo'lib, juda sodda va samarali hisoblanadi.</a:t>
            </a:r>
            <a:endParaRPr lang="en-US" sz="2000" dirty="0"/>
          </a:p>
        </p:txBody>
      </p:sp>
      <p:pic>
        <p:nvPicPr>
          <p:cNvPr id="7" name="Image 0" descr="preencoded.png"/>
          <p:cNvPicPr>
            <a:picLocks noChangeAspect="1"/>
          </p:cNvPicPr>
          <p:nvPr/>
        </p:nvPicPr>
        <p:blipFill>
          <a:blip r:embed="rId3"/>
          <a:stretch>
            <a:fillRect/>
          </a:stretch>
        </p:blipFill>
        <p:spPr>
          <a:xfrm>
            <a:off x="7562374" y="1632823"/>
            <a:ext cx="6290191" cy="62901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933932"/>
            <a:ext cx="8761571"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Yarim Qo'shuvchining Ishlash Tamoyili</a:t>
            </a:r>
            <a:endParaRPr lang="en-US" sz="3850" dirty="0"/>
          </a:p>
        </p:txBody>
      </p:sp>
      <p:sp>
        <p:nvSpPr>
          <p:cNvPr id="3" name="Shape 1"/>
          <p:cNvSpPr/>
          <p:nvPr/>
        </p:nvSpPr>
        <p:spPr>
          <a:xfrm>
            <a:off x="837724" y="2968704"/>
            <a:ext cx="12954952" cy="2421255"/>
          </a:xfrm>
          <a:prstGeom prst="roundRect">
            <a:avLst>
              <a:gd name="adj" fmla="val 3633"/>
            </a:avLst>
          </a:prstGeom>
          <a:noFill/>
          <a:ln w="7620">
            <a:solidFill>
              <a:srgbClr val="000000">
                <a:alpha val="8000"/>
              </a:srgbClr>
            </a:solidFill>
            <a:prstDash val="solid"/>
          </a:ln>
        </p:spPr>
      </p:sp>
      <p:sp>
        <p:nvSpPr>
          <p:cNvPr id="4" name="Shape 2"/>
          <p:cNvSpPr/>
          <p:nvPr/>
        </p:nvSpPr>
        <p:spPr>
          <a:xfrm>
            <a:off x="845344" y="2976324"/>
            <a:ext cx="12939713" cy="601504"/>
          </a:xfrm>
          <a:prstGeom prst="rect">
            <a:avLst/>
          </a:prstGeom>
          <a:solidFill>
            <a:srgbClr val="FFFFFF">
              <a:alpha val="4000"/>
            </a:srgbClr>
          </a:solidFill>
          <a:ln/>
        </p:spPr>
      </p:sp>
      <p:sp>
        <p:nvSpPr>
          <p:cNvPr id="5" name="Text 3"/>
          <p:cNvSpPr/>
          <p:nvPr/>
        </p:nvSpPr>
        <p:spPr>
          <a:xfrm>
            <a:off x="1054775" y="3109555"/>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6" name="Text 4"/>
          <p:cNvSpPr/>
          <p:nvPr/>
        </p:nvSpPr>
        <p:spPr>
          <a:xfrm>
            <a:off x="4293513" y="3109555"/>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7" name="Text 5"/>
          <p:cNvSpPr/>
          <p:nvPr/>
        </p:nvSpPr>
        <p:spPr>
          <a:xfrm>
            <a:off x="7528441" y="3109555"/>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8" name="Text 6"/>
          <p:cNvSpPr/>
          <p:nvPr/>
        </p:nvSpPr>
        <p:spPr>
          <a:xfrm>
            <a:off x="10763369" y="3109555"/>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9" name="Shape 7"/>
          <p:cNvSpPr/>
          <p:nvPr/>
        </p:nvSpPr>
        <p:spPr>
          <a:xfrm>
            <a:off x="845344" y="3577828"/>
            <a:ext cx="12939713" cy="601504"/>
          </a:xfrm>
          <a:prstGeom prst="rect">
            <a:avLst/>
          </a:prstGeom>
          <a:solidFill>
            <a:srgbClr val="000000">
              <a:alpha val="4000"/>
            </a:srgbClr>
          </a:solidFill>
          <a:ln/>
        </p:spPr>
      </p:sp>
      <p:sp>
        <p:nvSpPr>
          <p:cNvPr id="10" name="Text 8"/>
          <p:cNvSpPr/>
          <p:nvPr/>
        </p:nvSpPr>
        <p:spPr>
          <a:xfrm>
            <a:off x="1054775" y="3711059"/>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1" name="Text 9"/>
          <p:cNvSpPr/>
          <p:nvPr/>
        </p:nvSpPr>
        <p:spPr>
          <a:xfrm>
            <a:off x="4293513" y="3711059"/>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2" name="Text 10"/>
          <p:cNvSpPr/>
          <p:nvPr/>
        </p:nvSpPr>
        <p:spPr>
          <a:xfrm>
            <a:off x="7528441" y="3711059"/>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3" name="Text 11"/>
          <p:cNvSpPr/>
          <p:nvPr/>
        </p:nvSpPr>
        <p:spPr>
          <a:xfrm>
            <a:off x="10763369" y="3711059"/>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4" name="Shape 12"/>
          <p:cNvSpPr/>
          <p:nvPr/>
        </p:nvSpPr>
        <p:spPr>
          <a:xfrm>
            <a:off x="845344" y="4179332"/>
            <a:ext cx="12939713" cy="601504"/>
          </a:xfrm>
          <a:prstGeom prst="rect">
            <a:avLst/>
          </a:prstGeom>
          <a:solidFill>
            <a:srgbClr val="FFFFFF">
              <a:alpha val="4000"/>
            </a:srgbClr>
          </a:solidFill>
          <a:ln/>
        </p:spPr>
      </p:sp>
      <p:sp>
        <p:nvSpPr>
          <p:cNvPr id="15" name="Text 13"/>
          <p:cNvSpPr/>
          <p:nvPr/>
        </p:nvSpPr>
        <p:spPr>
          <a:xfrm>
            <a:off x="1054775" y="4312563"/>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6" name="Text 14"/>
          <p:cNvSpPr/>
          <p:nvPr/>
        </p:nvSpPr>
        <p:spPr>
          <a:xfrm>
            <a:off x="4293513" y="4312563"/>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7" name="Text 15"/>
          <p:cNvSpPr/>
          <p:nvPr/>
        </p:nvSpPr>
        <p:spPr>
          <a:xfrm>
            <a:off x="7528441" y="4312563"/>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8" name="Text 16"/>
          <p:cNvSpPr/>
          <p:nvPr/>
        </p:nvSpPr>
        <p:spPr>
          <a:xfrm>
            <a:off x="10763369" y="4312563"/>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9" name="Shape 17"/>
          <p:cNvSpPr/>
          <p:nvPr/>
        </p:nvSpPr>
        <p:spPr>
          <a:xfrm>
            <a:off x="845344" y="4780836"/>
            <a:ext cx="12939713" cy="601504"/>
          </a:xfrm>
          <a:prstGeom prst="rect">
            <a:avLst/>
          </a:prstGeom>
          <a:solidFill>
            <a:srgbClr val="000000">
              <a:alpha val="4000"/>
            </a:srgbClr>
          </a:solidFill>
          <a:ln/>
        </p:spPr>
      </p:sp>
      <p:sp>
        <p:nvSpPr>
          <p:cNvPr id="20" name="Text 18"/>
          <p:cNvSpPr/>
          <p:nvPr/>
        </p:nvSpPr>
        <p:spPr>
          <a:xfrm>
            <a:off x="1054775" y="4914067"/>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1" name="Text 19"/>
          <p:cNvSpPr/>
          <p:nvPr/>
        </p:nvSpPr>
        <p:spPr>
          <a:xfrm>
            <a:off x="4293513" y="4914067"/>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2" name="Text 20"/>
          <p:cNvSpPr/>
          <p:nvPr/>
        </p:nvSpPr>
        <p:spPr>
          <a:xfrm>
            <a:off x="7528441" y="4914067"/>
            <a:ext cx="280844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23" name="Text 21"/>
          <p:cNvSpPr/>
          <p:nvPr/>
        </p:nvSpPr>
        <p:spPr>
          <a:xfrm>
            <a:off x="10763369" y="4914067"/>
            <a:ext cx="2812256"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4" name="Text 22"/>
          <p:cNvSpPr/>
          <p:nvPr/>
        </p:nvSpPr>
        <p:spPr>
          <a:xfrm>
            <a:off x="837724" y="5625584"/>
            <a:ext cx="12954952" cy="670084"/>
          </a:xfrm>
          <a:prstGeom prst="rect">
            <a:avLst/>
          </a:prstGeom>
          <a:noFill/>
          <a:ln/>
        </p:spPr>
        <p:txBody>
          <a:bodyPr wrap="square" lIns="0" tIns="0" rIns="0" bIns="0" rtlCol="0" anchor="t"/>
          <a:lstStyle/>
          <a:p>
            <a:pPr marL="0" indent="0" algn="l">
              <a:lnSpc>
                <a:spcPct val="150000"/>
              </a:lnSpc>
              <a:buNone/>
            </a:pPr>
            <a:r>
              <a:rPr lang="en-US" sz="2000" dirty="0">
                <a:solidFill>
                  <a:srgbClr val="2B3541"/>
                </a:solidFill>
                <a:latin typeface="Funnel Sans" pitchFamily="34" charset="0"/>
                <a:ea typeface="Funnel Sans" pitchFamily="34" charset="-122"/>
                <a:cs typeface="Funnel Sans" pitchFamily="34" charset="-120"/>
              </a:rPr>
              <a:t>Yuqoridagi haqiqat jadvali yarim qo'shuvchining kirish va chiqish munosabatlarini ko'rsatadi. Bu ikkita bitni qo'shishning eng oddiy shakli bo'lib, ko'p bitli qo'shish uchun yetarli emas, chunki u oldingi bitdan keladigan ko'chirishni hisobga olmaydi.</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5455" y="539948"/>
            <a:ext cx="9603462" cy="577572"/>
          </a:xfrm>
          <a:prstGeom prst="rect">
            <a:avLst/>
          </a:prstGeom>
          <a:noFill/>
          <a:ln/>
        </p:spPr>
        <p:txBody>
          <a:bodyPr wrap="none" lIns="0" tIns="0" rIns="0" bIns="0" rtlCol="0" anchor="t"/>
          <a:lstStyle/>
          <a:p>
            <a:pPr marL="0" indent="0" algn="l">
              <a:lnSpc>
                <a:spcPts val="4500"/>
              </a:lnSpc>
              <a:buNone/>
            </a:pPr>
            <a:r>
              <a:rPr lang="en-US" sz="3600" dirty="0">
                <a:solidFill>
                  <a:srgbClr val="051D3A"/>
                </a:solidFill>
                <a:latin typeface="Funnel Display" pitchFamily="34" charset="0"/>
                <a:ea typeface="Funnel Display" pitchFamily="34" charset="-122"/>
                <a:cs typeface="Funnel Display" pitchFamily="34" charset="-120"/>
              </a:rPr>
              <a:t>To'la Qo'shuvchi: Ko'p Bitli Qo'shishning Kaliti</a:t>
            </a:r>
            <a:endParaRPr lang="en-US" sz="3600" dirty="0"/>
          </a:p>
        </p:txBody>
      </p:sp>
      <p:pic>
        <p:nvPicPr>
          <p:cNvPr id="3" name="Image 0" descr="preencoded.png"/>
          <p:cNvPicPr>
            <a:picLocks noChangeAspect="1"/>
          </p:cNvPicPr>
          <p:nvPr/>
        </p:nvPicPr>
        <p:blipFill>
          <a:blip r:embed="rId3"/>
          <a:stretch>
            <a:fillRect/>
          </a:stretch>
        </p:blipFill>
        <p:spPr>
          <a:xfrm>
            <a:off x="785455" y="1632823"/>
            <a:ext cx="6290191" cy="6290191"/>
          </a:xfrm>
          <a:prstGeom prst="rect">
            <a:avLst/>
          </a:prstGeom>
        </p:spPr>
      </p:pic>
      <p:sp>
        <p:nvSpPr>
          <p:cNvPr id="4" name="Text 1"/>
          <p:cNvSpPr/>
          <p:nvPr/>
        </p:nvSpPr>
        <p:spPr>
          <a:xfrm>
            <a:off x="7562374" y="1588651"/>
            <a:ext cx="6290191" cy="942261"/>
          </a:xfrm>
          <a:prstGeom prst="rect">
            <a:avLst/>
          </a:prstGeom>
          <a:noFill/>
          <a:ln/>
        </p:spPr>
        <p:txBody>
          <a:bodyPr wrap="square" lIns="0" tIns="0" rIns="0" bIns="0" rtlCol="0" anchor="t"/>
          <a:lstStyle/>
          <a:p>
            <a:pPr marL="0" indent="0" algn="l">
              <a:lnSpc>
                <a:spcPts val="2450"/>
              </a:lnSpc>
              <a:buNone/>
            </a:pPr>
            <a:r>
              <a:rPr lang="en-US" sz="1500" dirty="0">
                <a:solidFill>
                  <a:srgbClr val="2B3541"/>
                </a:solidFill>
                <a:latin typeface="Funnel Sans" pitchFamily="34" charset="0"/>
                <a:ea typeface="Funnel Sans" pitchFamily="34" charset="-122"/>
                <a:cs typeface="Funnel Sans" pitchFamily="34" charset="-120"/>
              </a:rPr>
              <a:t>To'la qo'shuvchi (Full Adder) uchta bir bitli ikkilik sonni qo'shish uchun ishlatiladi: ikkita kirish biti (A, B) va oldingi bitdan keladigan ko'chirish biti (Cin). U ham ikkita chiqishga ega:</a:t>
            </a:r>
            <a:endParaRPr lang="en-US" sz="1500" dirty="0"/>
          </a:p>
        </p:txBody>
      </p:sp>
      <p:sp>
        <p:nvSpPr>
          <p:cNvPr id="5" name="Text 2"/>
          <p:cNvSpPr/>
          <p:nvPr/>
        </p:nvSpPr>
        <p:spPr>
          <a:xfrm>
            <a:off x="7562374" y="2707600"/>
            <a:ext cx="6290191" cy="314087"/>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2B3541"/>
                </a:solidFill>
                <a:latin typeface="Funnel Sans" pitchFamily="34" charset="0"/>
                <a:ea typeface="Funnel Sans" pitchFamily="34" charset="-122"/>
                <a:cs typeface="Funnel Sans" pitchFamily="34" charset="-120"/>
              </a:rPr>
              <a:t>Yig'indi (Sum, S):</a:t>
            </a:r>
            <a:r>
              <a:rPr lang="en-US" sz="1500" dirty="0">
                <a:solidFill>
                  <a:srgbClr val="2B3541"/>
                </a:solidFill>
                <a:latin typeface="Funnel Sans" pitchFamily="34" charset="0"/>
                <a:ea typeface="Funnel Sans" pitchFamily="34" charset="-122"/>
                <a:cs typeface="Funnel Sans" pitchFamily="34" charset="-120"/>
              </a:rPr>
              <a:t> Uchta kirish bitining yig'indisi.</a:t>
            </a:r>
            <a:endParaRPr lang="en-US" sz="1500" dirty="0"/>
          </a:p>
        </p:txBody>
      </p:sp>
      <p:sp>
        <p:nvSpPr>
          <p:cNvPr id="6" name="Text 3"/>
          <p:cNvSpPr/>
          <p:nvPr/>
        </p:nvSpPr>
        <p:spPr>
          <a:xfrm>
            <a:off x="7562374" y="3090386"/>
            <a:ext cx="6290191" cy="628174"/>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2B3541"/>
                </a:solidFill>
                <a:latin typeface="Funnel Sans" pitchFamily="34" charset="0"/>
                <a:ea typeface="Funnel Sans" pitchFamily="34" charset="-122"/>
                <a:cs typeface="Funnel Sans" pitchFamily="34" charset="-120"/>
              </a:rPr>
              <a:t>Ko'chirish (Carry Out, Cout):</a:t>
            </a:r>
            <a:r>
              <a:rPr lang="en-US" sz="1500" dirty="0">
                <a:solidFill>
                  <a:srgbClr val="2B3541"/>
                </a:solidFill>
                <a:latin typeface="Funnel Sans" pitchFamily="34" charset="0"/>
                <a:ea typeface="Funnel Sans" pitchFamily="34" charset="-122"/>
                <a:cs typeface="Funnel Sans" pitchFamily="34" charset="-120"/>
              </a:rPr>
              <a:t> Keyingi yuqori bitga o'tkaziladigan ko'chirish biti.</a:t>
            </a:r>
            <a:endParaRPr lang="en-US" sz="1500" dirty="0"/>
          </a:p>
        </p:txBody>
      </p:sp>
      <p:sp>
        <p:nvSpPr>
          <p:cNvPr id="7" name="Text 4"/>
          <p:cNvSpPr/>
          <p:nvPr/>
        </p:nvSpPr>
        <p:spPr>
          <a:xfrm>
            <a:off x="7562374" y="3895249"/>
            <a:ext cx="6290191" cy="942261"/>
          </a:xfrm>
          <a:prstGeom prst="rect">
            <a:avLst/>
          </a:prstGeom>
          <a:noFill/>
          <a:ln/>
        </p:spPr>
        <p:txBody>
          <a:bodyPr wrap="square" lIns="0" tIns="0" rIns="0" bIns="0" rtlCol="0" anchor="t"/>
          <a:lstStyle/>
          <a:p>
            <a:pPr marL="0" indent="0" algn="l">
              <a:lnSpc>
                <a:spcPts val="2450"/>
              </a:lnSpc>
              <a:buNone/>
            </a:pPr>
            <a:r>
              <a:rPr lang="en-US" sz="1500" dirty="0">
                <a:solidFill>
                  <a:srgbClr val="2B3541"/>
                </a:solidFill>
                <a:latin typeface="Funnel Sans" pitchFamily="34" charset="0"/>
                <a:ea typeface="Funnel Sans" pitchFamily="34" charset="-122"/>
                <a:cs typeface="Funnel Sans" pitchFamily="34" charset="-120"/>
              </a:rPr>
              <a:t>To'la qo'shuvchi ikkita yarim qo'shuvchi va bitta OR darvozasi yordamida qurilishi mumkin, bu uning murakkabroq, ammo ko'p bitli arifmetika uchun muhimligini ko'rsatadi.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730925"/>
            <a:ext cx="8327946"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To'la Qo'shuvchining Haqiqat Jadvali</a:t>
            </a:r>
            <a:endParaRPr lang="en-US" sz="3850" dirty="0"/>
          </a:p>
        </p:txBody>
      </p:sp>
      <p:sp>
        <p:nvSpPr>
          <p:cNvPr id="3" name="Shape 1"/>
          <p:cNvSpPr/>
          <p:nvPr/>
        </p:nvSpPr>
        <p:spPr>
          <a:xfrm>
            <a:off x="837724" y="1765697"/>
            <a:ext cx="12954952" cy="4827270"/>
          </a:xfrm>
          <a:prstGeom prst="roundRect">
            <a:avLst>
              <a:gd name="adj" fmla="val 1822"/>
            </a:avLst>
          </a:prstGeom>
          <a:noFill/>
          <a:ln w="7620">
            <a:solidFill>
              <a:srgbClr val="000000">
                <a:alpha val="8000"/>
              </a:srgbClr>
            </a:solidFill>
            <a:prstDash val="solid"/>
          </a:ln>
        </p:spPr>
      </p:sp>
      <p:sp>
        <p:nvSpPr>
          <p:cNvPr id="4" name="Shape 2"/>
          <p:cNvSpPr/>
          <p:nvPr/>
        </p:nvSpPr>
        <p:spPr>
          <a:xfrm>
            <a:off x="845344" y="1773317"/>
            <a:ext cx="12939713" cy="601504"/>
          </a:xfrm>
          <a:prstGeom prst="rect">
            <a:avLst/>
          </a:prstGeom>
          <a:solidFill>
            <a:srgbClr val="FFFFFF">
              <a:alpha val="4000"/>
            </a:srgbClr>
          </a:solidFill>
          <a:ln/>
        </p:spPr>
      </p:sp>
      <p:sp>
        <p:nvSpPr>
          <p:cNvPr id="5" name="Text 3"/>
          <p:cNvSpPr/>
          <p:nvPr/>
        </p:nvSpPr>
        <p:spPr>
          <a:xfrm>
            <a:off x="1054775" y="1906548"/>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6" name="Text 4"/>
          <p:cNvSpPr/>
          <p:nvPr/>
        </p:nvSpPr>
        <p:spPr>
          <a:xfrm>
            <a:off x="3646527" y="1906548"/>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7" name="Text 5"/>
          <p:cNvSpPr/>
          <p:nvPr/>
        </p:nvSpPr>
        <p:spPr>
          <a:xfrm>
            <a:off x="6234470" y="1906548"/>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8" name="Text 6"/>
          <p:cNvSpPr/>
          <p:nvPr/>
        </p:nvSpPr>
        <p:spPr>
          <a:xfrm>
            <a:off x="8822412" y="1906548"/>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9" name="Text 7"/>
          <p:cNvSpPr/>
          <p:nvPr/>
        </p:nvSpPr>
        <p:spPr>
          <a:xfrm>
            <a:off x="11410355" y="1906548"/>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0" name="Shape 8"/>
          <p:cNvSpPr/>
          <p:nvPr/>
        </p:nvSpPr>
        <p:spPr>
          <a:xfrm>
            <a:off x="845344" y="2374821"/>
            <a:ext cx="12939713" cy="601504"/>
          </a:xfrm>
          <a:prstGeom prst="rect">
            <a:avLst/>
          </a:prstGeom>
          <a:solidFill>
            <a:srgbClr val="000000">
              <a:alpha val="4000"/>
            </a:srgbClr>
          </a:solidFill>
          <a:ln/>
        </p:spPr>
      </p:sp>
      <p:sp>
        <p:nvSpPr>
          <p:cNvPr id="11" name="Text 9"/>
          <p:cNvSpPr/>
          <p:nvPr/>
        </p:nvSpPr>
        <p:spPr>
          <a:xfrm>
            <a:off x="1054775" y="2508052"/>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2" name="Text 10"/>
          <p:cNvSpPr/>
          <p:nvPr/>
        </p:nvSpPr>
        <p:spPr>
          <a:xfrm>
            <a:off x="3646527" y="2508052"/>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3" name="Text 11"/>
          <p:cNvSpPr/>
          <p:nvPr/>
        </p:nvSpPr>
        <p:spPr>
          <a:xfrm>
            <a:off x="6234470" y="2508052"/>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4" name="Text 12"/>
          <p:cNvSpPr/>
          <p:nvPr/>
        </p:nvSpPr>
        <p:spPr>
          <a:xfrm>
            <a:off x="8822412" y="2508052"/>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5" name="Text 13"/>
          <p:cNvSpPr/>
          <p:nvPr/>
        </p:nvSpPr>
        <p:spPr>
          <a:xfrm>
            <a:off x="11410355" y="2508052"/>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6" name="Shape 14"/>
          <p:cNvSpPr/>
          <p:nvPr/>
        </p:nvSpPr>
        <p:spPr>
          <a:xfrm>
            <a:off x="845344" y="2976324"/>
            <a:ext cx="12939713" cy="601504"/>
          </a:xfrm>
          <a:prstGeom prst="rect">
            <a:avLst/>
          </a:prstGeom>
          <a:solidFill>
            <a:srgbClr val="FFFFFF">
              <a:alpha val="4000"/>
            </a:srgbClr>
          </a:solidFill>
          <a:ln/>
        </p:spPr>
      </p:sp>
      <p:sp>
        <p:nvSpPr>
          <p:cNvPr id="17" name="Text 15"/>
          <p:cNvSpPr/>
          <p:nvPr/>
        </p:nvSpPr>
        <p:spPr>
          <a:xfrm>
            <a:off x="1054775" y="3109555"/>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18" name="Text 16"/>
          <p:cNvSpPr/>
          <p:nvPr/>
        </p:nvSpPr>
        <p:spPr>
          <a:xfrm>
            <a:off x="3646527" y="3109555"/>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19" name="Text 17"/>
          <p:cNvSpPr/>
          <p:nvPr/>
        </p:nvSpPr>
        <p:spPr>
          <a:xfrm>
            <a:off x="6234470" y="3109555"/>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20" name="Text 18"/>
          <p:cNvSpPr/>
          <p:nvPr/>
        </p:nvSpPr>
        <p:spPr>
          <a:xfrm>
            <a:off x="8822412" y="3109555"/>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1" name="Text 19"/>
          <p:cNvSpPr/>
          <p:nvPr/>
        </p:nvSpPr>
        <p:spPr>
          <a:xfrm>
            <a:off x="11410355" y="3109555"/>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22" name="Shape 20"/>
          <p:cNvSpPr/>
          <p:nvPr/>
        </p:nvSpPr>
        <p:spPr>
          <a:xfrm>
            <a:off x="845344" y="3577828"/>
            <a:ext cx="12939713" cy="601504"/>
          </a:xfrm>
          <a:prstGeom prst="rect">
            <a:avLst/>
          </a:prstGeom>
          <a:solidFill>
            <a:srgbClr val="000000">
              <a:alpha val="4000"/>
            </a:srgbClr>
          </a:solidFill>
          <a:ln/>
        </p:spPr>
      </p:sp>
      <p:sp>
        <p:nvSpPr>
          <p:cNvPr id="23" name="Text 21"/>
          <p:cNvSpPr/>
          <p:nvPr/>
        </p:nvSpPr>
        <p:spPr>
          <a:xfrm>
            <a:off x="1054775" y="3711059"/>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24" name="Text 22"/>
          <p:cNvSpPr/>
          <p:nvPr/>
        </p:nvSpPr>
        <p:spPr>
          <a:xfrm>
            <a:off x="3646527" y="3711059"/>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5" name="Text 23"/>
          <p:cNvSpPr/>
          <p:nvPr/>
        </p:nvSpPr>
        <p:spPr>
          <a:xfrm>
            <a:off x="6234470" y="3711059"/>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6" name="Text 24"/>
          <p:cNvSpPr/>
          <p:nvPr/>
        </p:nvSpPr>
        <p:spPr>
          <a:xfrm>
            <a:off x="8822412" y="3711059"/>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27" name="Text 25"/>
          <p:cNvSpPr/>
          <p:nvPr/>
        </p:nvSpPr>
        <p:spPr>
          <a:xfrm>
            <a:off x="11410355" y="3711059"/>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28" name="Shape 26"/>
          <p:cNvSpPr/>
          <p:nvPr/>
        </p:nvSpPr>
        <p:spPr>
          <a:xfrm>
            <a:off x="845344" y="4179332"/>
            <a:ext cx="12939713" cy="601504"/>
          </a:xfrm>
          <a:prstGeom prst="rect">
            <a:avLst/>
          </a:prstGeom>
          <a:solidFill>
            <a:srgbClr val="FFFFFF">
              <a:alpha val="4000"/>
            </a:srgbClr>
          </a:solidFill>
          <a:ln/>
        </p:spPr>
      </p:sp>
      <p:sp>
        <p:nvSpPr>
          <p:cNvPr id="29" name="Text 27"/>
          <p:cNvSpPr/>
          <p:nvPr/>
        </p:nvSpPr>
        <p:spPr>
          <a:xfrm>
            <a:off x="1054775" y="4312563"/>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30" name="Text 28"/>
          <p:cNvSpPr/>
          <p:nvPr/>
        </p:nvSpPr>
        <p:spPr>
          <a:xfrm>
            <a:off x="3646527" y="4312563"/>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31" name="Text 29"/>
          <p:cNvSpPr/>
          <p:nvPr/>
        </p:nvSpPr>
        <p:spPr>
          <a:xfrm>
            <a:off x="6234470" y="4312563"/>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32" name="Text 30"/>
          <p:cNvSpPr/>
          <p:nvPr/>
        </p:nvSpPr>
        <p:spPr>
          <a:xfrm>
            <a:off x="8822412" y="4312563"/>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33" name="Text 31"/>
          <p:cNvSpPr/>
          <p:nvPr/>
        </p:nvSpPr>
        <p:spPr>
          <a:xfrm>
            <a:off x="11410355" y="4312563"/>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34" name="Shape 32"/>
          <p:cNvSpPr/>
          <p:nvPr/>
        </p:nvSpPr>
        <p:spPr>
          <a:xfrm>
            <a:off x="845344" y="4780836"/>
            <a:ext cx="12939713" cy="601504"/>
          </a:xfrm>
          <a:prstGeom prst="rect">
            <a:avLst/>
          </a:prstGeom>
          <a:solidFill>
            <a:srgbClr val="000000">
              <a:alpha val="4000"/>
            </a:srgbClr>
          </a:solidFill>
          <a:ln/>
        </p:spPr>
      </p:sp>
      <p:sp>
        <p:nvSpPr>
          <p:cNvPr id="35" name="Text 33"/>
          <p:cNvSpPr/>
          <p:nvPr/>
        </p:nvSpPr>
        <p:spPr>
          <a:xfrm>
            <a:off x="1054775" y="4914067"/>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36" name="Text 34"/>
          <p:cNvSpPr/>
          <p:nvPr/>
        </p:nvSpPr>
        <p:spPr>
          <a:xfrm>
            <a:off x="3646527" y="4914067"/>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37" name="Text 35"/>
          <p:cNvSpPr/>
          <p:nvPr/>
        </p:nvSpPr>
        <p:spPr>
          <a:xfrm>
            <a:off x="6234470" y="4914067"/>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38" name="Text 36"/>
          <p:cNvSpPr/>
          <p:nvPr/>
        </p:nvSpPr>
        <p:spPr>
          <a:xfrm>
            <a:off x="8822412" y="4914067"/>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39" name="Text 37"/>
          <p:cNvSpPr/>
          <p:nvPr/>
        </p:nvSpPr>
        <p:spPr>
          <a:xfrm>
            <a:off x="11410355" y="4914067"/>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0" name="Shape 38"/>
          <p:cNvSpPr/>
          <p:nvPr/>
        </p:nvSpPr>
        <p:spPr>
          <a:xfrm>
            <a:off x="845344" y="5382339"/>
            <a:ext cx="12939713" cy="601504"/>
          </a:xfrm>
          <a:prstGeom prst="rect">
            <a:avLst/>
          </a:prstGeom>
          <a:solidFill>
            <a:srgbClr val="FFFFFF">
              <a:alpha val="4000"/>
            </a:srgbClr>
          </a:solidFill>
          <a:ln/>
        </p:spPr>
      </p:sp>
      <p:sp>
        <p:nvSpPr>
          <p:cNvPr id="41" name="Text 39"/>
          <p:cNvSpPr/>
          <p:nvPr/>
        </p:nvSpPr>
        <p:spPr>
          <a:xfrm>
            <a:off x="1054775" y="5515570"/>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2" name="Text 40"/>
          <p:cNvSpPr/>
          <p:nvPr/>
        </p:nvSpPr>
        <p:spPr>
          <a:xfrm>
            <a:off x="3646527" y="5515570"/>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3" name="Text 41"/>
          <p:cNvSpPr/>
          <p:nvPr/>
        </p:nvSpPr>
        <p:spPr>
          <a:xfrm>
            <a:off x="6234470" y="5515570"/>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44" name="Text 42"/>
          <p:cNvSpPr/>
          <p:nvPr/>
        </p:nvSpPr>
        <p:spPr>
          <a:xfrm>
            <a:off x="8822412" y="5515570"/>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0</a:t>
            </a:r>
            <a:endParaRPr lang="en-US" sz="1600" dirty="0"/>
          </a:p>
        </p:txBody>
      </p:sp>
      <p:sp>
        <p:nvSpPr>
          <p:cNvPr id="45" name="Text 43"/>
          <p:cNvSpPr/>
          <p:nvPr/>
        </p:nvSpPr>
        <p:spPr>
          <a:xfrm>
            <a:off x="11410355" y="5515570"/>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6" name="Shape 44"/>
          <p:cNvSpPr/>
          <p:nvPr/>
        </p:nvSpPr>
        <p:spPr>
          <a:xfrm>
            <a:off x="845344" y="5983843"/>
            <a:ext cx="12939713" cy="601504"/>
          </a:xfrm>
          <a:prstGeom prst="rect">
            <a:avLst/>
          </a:prstGeom>
          <a:solidFill>
            <a:srgbClr val="000000">
              <a:alpha val="4000"/>
            </a:srgbClr>
          </a:solidFill>
          <a:ln/>
        </p:spPr>
      </p:sp>
      <p:sp>
        <p:nvSpPr>
          <p:cNvPr id="47" name="Text 45"/>
          <p:cNvSpPr/>
          <p:nvPr/>
        </p:nvSpPr>
        <p:spPr>
          <a:xfrm>
            <a:off x="1054775" y="6117074"/>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8" name="Text 46"/>
          <p:cNvSpPr/>
          <p:nvPr/>
        </p:nvSpPr>
        <p:spPr>
          <a:xfrm>
            <a:off x="3646527" y="6117074"/>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49" name="Text 47"/>
          <p:cNvSpPr/>
          <p:nvPr/>
        </p:nvSpPr>
        <p:spPr>
          <a:xfrm>
            <a:off x="6234470" y="6117074"/>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50" name="Text 48"/>
          <p:cNvSpPr/>
          <p:nvPr/>
        </p:nvSpPr>
        <p:spPr>
          <a:xfrm>
            <a:off x="8822412" y="6117074"/>
            <a:ext cx="216146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51" name="Text 49"/>
          <p:cNvSpPr/>
          <p:nvPr/>
        </p:nvSpPr>
        <p:spPr>
          <a:xfrm>
            <a:off x="11410355" y="6117074"/>
            <a:ext cx="2165271"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1</a:t>
            </a:r>
            <a:endParaRPr lang="en-US" sz="1600" dirty="0"/>
          </a:p>
        </p:txBody>
      </p:sp>
      <p:sp>
        <p:nvSpPr>
          <p:cNvPr id="52" name="Text 50"/>
          <p:cNvSpPr/>
          <p:nvPr/>
        </p:nvSpPr>
        <p:spPr>
          <a:xfrm>
            <a:off x="837724" y="6828592"/>
            <a:ext cx="12954952" cy="670084"/>
          </a:xfrm>
          <a:prstGeom prst="rect">
            <a:avLst/>
          </a:prstGeom>
          <a:noFill/>
          <a:ln/>
        </p:spPr>
        <p:txBody>
          <a:bodyPr wrap="square" lIns="0" tIns="0" rIns="0" bIns="0" rtlCol="0" anchor="t"/>
          <a:lstStyle/>
          <a:p>
            <a:pPr marL="0" indent="0" algn="l">
              <a:lnSpc>
                <a:spcPct val="150000"/>
              </a:lnSpc>
              <a:buNone/>
            </a:pPr>
            <a:r>
              <a:rPr lang="en-US" sz="2000" dirty="0">
                <a:solidFill>
                  <a:srgbClr val="2B3541"/>
                </a:solidFill>
                <a:latin typeface="Funnel Sans" pitchFamily="34" charset="0"/>
                <a:ea typeface="Funnel Sans" pitchFamily="34" charset="-122"/>
                <a:cs typeface="Funnel Sans" pitchFamily="34" charset="-120"/>
              </a:rPr>
              <a:t>Bu jadval to'la qo'shuvchining barcha mumkin bo'lgan kirish kombinatsiyalari va ularning mos chiqishlarini ko'rsatadi. Uning murakkabligi ko'p bitli ikkilik sonlarni qo'shishda ko'chirish bitini boshqarish zarurati bilan bog'liq.</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8184"/>
          </a:xfrm>
          <a:prstGeom prst="rect">
            <a:avLst/>
          </a:prstGeom>
        </p:spPr>
      </p:pic>
      <p:sp>
        <p:nvSpPr>
          <p:cNvPr id="3" name="Text 0"/>
          <p:cNvSpPr/>
          <p:nvPr/>
        </p:nvSpPr>
        <p:spPr>
          <a:xfrm>
            <a:off x="837724" y="4148376"/>
            <a:ext cx="12954952" cy="1231821"/>
          </a:xfrm>
          <a:prstGeom prst="rect">
            <a:avLst/>
          </a:prstGeom>
          <a:noFill/>
          <a:ln/>
        </p:spPr>
        <p:txBody>
          <a:bodyPr wrap="squar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Arifmetik-Mantiqiy Qurilmalar (ALU): Kompyuterlarning Yuragi</a:t>
            </a:r>
            <a:endParaRPr lang="en-US" sz="3850" dirty="0"/>
          </a:p>
        </p:txBody>
      </p:sp>
      <p:sp>
        <p:nvSpPr>
          <p:cNvPr id="4" name="Text 1"/>
          <p:cNvSpPr/>
          <p:nvPr/>
        </p:nvSpPr>
        <p:spPr>
          <a:xfrm>
            <a:off x="837724" y="5694283"/>
            <a:ext cx="12954952" cy="1005126"/>
          </a:xfrm>
          <a:prstGeom prst="rect">
            <a:avLst/>
          </a:prstGeom>
          <a:noFill/>
          <a:ln/>
        </p:spPr>
        <p:txBody>
          <a:bodyPr wrap="square" lIns="0" tIns="0" rIns="0" bIns="0" rtlCol="0" anchor="t"/>
          <a:lstStyle/>
          <a:p>
            <a:pPr marL="0" indent="0" algn="l">
              <a:lnSpc>
                <a:spcPct val="150000"/>
              </a:lnSpc>
              <a:buNone/>
            </a:pPr>
            <a:r>
              <a:rPr lang="en-US" sz="2000" dirty="0">
                <a:solidFill>
                  <a:srgbClr val="2B3541"/>
                </a:solidFill>
                <a:latin typeface="Funnel Sans" pitchFamily="34" charset="0"/>
                <a:ea typeface="Funnel Sans" pitchFamily="34" charset="-122"/>
                <a:cs typeface="Funnel Sans" pitchFamily="34" charset="-120"/>
              </a:rPr>
              <a:t>Arifmetik-mantiqiy qurilma (ALU) kompyuter protsessorining (CPU) asosiy komponentidir. U barcha arifmetik (qo'shish, ayirish, ko'paytirish, bo'lish) va mantiqiy (AND, OR, NOT, XOR) amallarni bajaradi. Yarim va to'la qo'shuvchilar ALU ichidagi qo'shish sxemalarining asosiy elementlari hisoblanadi.</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699974"/>
            <a:ext cx="5236369"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ALU Arxivlari va Turlari</a:t>
            </a:r>
            <a:endParaRPr lang="en-US" sz="3850" dirty="0"/>
          </a:p>
        </p:txBody>
      </p:sp>
      <p:sp>
        <p:nvSpPr>
          <p:cNvPr id="3" name="Shape 1"/>
          <p:cNvSpPr/>
          <p:nvPr/>
        </p:nvSpPr>
        <p:spPr>
          <a:xfrm>
            <a:off x="837724" y="3048833"/>
            <a:ext cx="4178618" cy="3480792"/>
          </a:xfrm>
          <a:prstGeom prst="roundRect">
            <a:avLst>
              <a:gd name="adj" fmla="val 3152"/>
            </a:avLst>
          </a:prstGeom>
          <a:solidFill>
            <a:srgbClr val="FAF5EB"/>
          </a:solidFill>
          <a:ln/>
        </p:spPr>
      </p:sp>
      <p:sp>
        <p:nvSpPr>
          <p:cNvPr id="4" name="Shape 2"/>
          <p:cNvSpPr/>
          <p:nvPr/>
        </p:nvSpPr>
        <p:spPr>
          <a:xfrm>
            <a:off x="837724" y="3025973"/>
            <a:ext cx="4178618" cy="91440"/>
          </a:xfrm>
          <a:prstGeom prst="roundRect">
            <a:avLst>
              <a:gd name="adj" fmla="val 96208"/>
            </a:avLst>
          </a:prstGeom>
          <a:solidFill>
            <a:srgbClr val="3371A5"/>
          </a:solidFill>
          <a:ln/>
        </p:spPr>
      </p:sp>
      <p:sp>
        <p:nvSpPr>
          <p:cNvPr id="5" name="Shape 3"/>
          <p:cNvSpPr/>
          <p:nvPr/>
        </p:nvSpPr>
        <p:spPr>
          <a:xfrm>
            <a:off x="2612886" y="2734747"/>
            <a:ext cx="628293" cy="628293"/>
          </a:xfrm>
          <a:prstGeom prst="roundRect">
            <a:avLst>
              <a:gd name="adj" fmla="val 145537"/>
            </a:avLst>
          </a:prstGeom>
          <a:solidFill>
            <a:srgbClr val="3371A5"/>
          </a:solidFill>
          <a:ln/>
        </p:spPr>
      </p:sp>
      <p:sp>
        <p:nvSpPr>
          <p:cNvPr id="7" name="Text 4"/>
          <p:cNvSpPr/>
          <p:nvPr/>
        </p:nvSpPr>
        <p:spPr>
          <a:xfrm>
            <a:off x="1070015" y="357247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Seriyali Qo'shuvchilar</a:t>
            </a:r>
            <a:endParaRPr lang="en-US" sz="1900" dirty="0"/>
          </a:p>
        </p:txBody>
      </p:sp>
      <p:sp>
        <p:nvSpPr>
          <p:cNvPr id="8" name="Text 5"/>
          <p:cNvSpPr/>
          <p:nvPr/>
        </p:nvSpPr>
        <p:spPr>
          <a:xfrm>
            <a:off x="1070015" y="4006096"/>
            <a:ext cx="3714036" cy="1675209"/>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Bitlar ketma-ket, birma-bir qo'shiladi. Oddiy, ammo sekin. Har bir bitni qo'shish uchun bitta to'la qo'shuvchi ishlatiladi va ko'chirish biti keyingi bitga o'tkaziladi.</a:t>
            </a:r>
            <a:endParaRPr lang="en-US" sz="1600" dirty="0"/>
          </a:p>
        </p:txBody>
      </p:sp>
      <p:sp>
        <p:nvSpPr>
          <p:cNvPr id="9" name="Shape 6"/>
          <p:cNvSpPr/>
          <p:nvPr/>
        </p:nvSpPr>
        <p:spPr>
          <a:xfrm>
            <a:off x="5225772" y="3048833"/>
            <a:ext cx="4178737" cy="3480792"/>
          </a:xfrm>
          <a:prstGeom prst="roundRect">
            <a:avLst>
              <a:gd name="adj" fmla="val 3152"/>
            </a:avLst>
          </a:prstGeom>
          <a:solidFill>
            <a:srgbClr val="FAF5EB"/>
          </a:solidFill>
          <a:ln/>
        </p:spPr>
      </p:sp>
      <p:sp>
        <p:nvSpPr>
          <p:cNvPr id="10" name="Shape 7"/>
          <p:cNvSpPr/>
          <p:nvPr/>
        </p:nvSpPr>
        <p:spPr>
          <a:xfrm>
            <a:off x="5225772" y="3025973"/>
            <a:ext cx="4178737" cy="91440"/>
          </a:xfrm>
          <a:prstGeom prst="roundRect">
            <a:avLst>
              <a:gd name="adj" fmla="val 96208"/>
            </a:avLst>
          </a:prstGeom>
          <a:solidFill>
            <a:srgbClr val="3371A5"/>
          </a:solidFill>
          <a:ln/>
        </p:spPr>
      </p:sp>
      <p:sp>
        <p:nvSpPr>
          <p:cNvPr id="11" name="Shape 8"/>
          <p:cNvSpPr/>
          <p:nvPr/>
        </p:nvSpPr>
        <p:spPr>
          <a:xfrm>
            <a:off x="7000935" y="2734747"/>
            <a:ext cx="628293" cy="628293"/>
          </a:xfrm>
          <a:prstGeom prst="roundRect">
            <a:avLst>
              <a:gd name="adj" fmla="val 145537"/>
            </a:avLst>
          </a:prstGeom>
          <a:solidFill>
            <a:srgbClr val="3371A5"/>
          </a:solidFill>
          <a:ln/>
        </p:spPr>
      </p:sp>
      <p:sp>
        <p:nvSpPr>
          <p:cNvPr id="13" name="Text 9"/>
          <p:cNvSpPr/>
          <p:nvPr/>
        </p:nvSpPr>
        <p:spPr>
          <a:xfrm>
            <a:off x="5458063" y="357247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Parallel Qo'shuvchilar</a:t>
            </a:r>
            <a:endParaRPr lang="en-US" sz="1900" dirty="0"/>
          </a:p>
        </p:txBody>
      </p:sp>
      <p:sp>
        <p:nvSpPr>
          <p:cNvPr id="14" name="Text 10"/>
          <p:cNvSpPr/>
          <p:nvPr/>
        </p:nvSpPr>
        <p:spPr>
          <a:xfrm>
            <a:off x="5458063" y="4006096"/>
            <a:ext cx="3714155" cy="1675209"/>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Barcha bitlar bir vaqtning o'zida qo'shiladi. Tez, ammo murakkabroq. Ko'p bitli sonlarni tezda qo'shish uchun bir nechta to'la qo'shuvchilar parallel ulanadi.</a:t>
            </a:r>
            <a:endParaRPr lang="en-US" sz="1600" dirty="0"/>
          </a:p>
        </p:txBody>
      </p:sp>
      <p:sp>
        <p:nvSpPr>
          <p:cNvPr id="15" name="Shape 11"/>
          <p:cNvSpPr/>
          <p:nvPr/>
        </p:nvSpPr>
        <p:spPr>
          <a:xfrm>
            <a:off x="9613940" y="3048833"/>
            <a:ext cx="4178737" cy="3480792"/>
          </a:xfrm>
          <a:prstGeom prst="roundRect">
            <a:avLst>
              <a:gd name="adj" fmla="val 3152"/>
            </a:avLst>
          </a:prstGeom>
          <a:solidFill>
            <a:srgbClr val="FAF5EB"/>
          </a:solidFill>
          <a:ln/>
        </p:spPr>
      </p:sp>
      <p:sp>
        <p:nvSpPr>
          <p:cNvPr id="16" name="Shape 12"/>
          <p:cNvSpPr/>
          <p:nvPr/>
        </p:nvSpPr>
        <p:spPr>
          <a:xfrm>
            <a:off x="9613940" y="3025973"/>
            <a:ext cx="4178737" cy="91440"/>
          </a:xfrm>
          <a:prstGeom prst="roundRect">
            <a:avLst>
              <a:gd name="adj" fmla="val 96208"/>
            </a:avLst>
          </a:prstGeom>
          <a:solidFill>
            <a:srgbClr val="3371A5"/>
          </a:solidFill>
          <a:ln/>
        </p:spPr>
      </p:sp>
      <p:sp>
        <p:nvSpPr>
          <p:cNvPr id="17" name="Shape 13"/>
          <p:cNvSpPr/>
          <p:nvPr/>
        </p:nvSpPr>
        <p:spPr>
          <a:xfrm>
            <a:off x="11389102" y="2734747"/>
            <a:ext cx="628293" cy="628293"/>
          </a:xfrm>
          <a:prstGeom prst="roundRect">
            <a:avLst>
              <a:gd name="adj" fmla="val 145537"/>
            </a:avLst>
          </a:prstGeom>
          <a:solidFill>
            <a:srgbClr val="3371A5"/>
          </a:solidFill>
          <a:ln/>
        </p:spPr>
      </p:sp>
      <p:sp>
        <p:nvSpPr>
          <p:cNvPr id="19" name="Text 14"/>
          <p:cNvSpPr/>
          <p:nvPr/>
        </p:nvSpPr>
        <p:spPr>
          <a:xfrm>
            <a:off x="9846231" y="3572470"/>
            <a:ext cx="3714155" cy="924044"/>
          </a:xfrm>
          <a:prstGeom prst="rect">
            <a:avLst/>
          </a:prstGeom>
          <a:noFill/>
          <a:ln/>
        </p:spPr>
        <p:txBody>
          <a:bodyPr wrap="squar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Ko'chirishni Oldindan Ko'ruvchi Qo'shuvchilar (Carry-Lookahead)</a:t>
            </a:r>
            <a:endParaRPr lang="en-US" sz="1900" dirty="0"/>
          </a:p>
        </p:txBody>
      </p:sp>
      <p:sp>
        <p:nvSpPr>
          <p:cNvPr id="20" name="Text 15"/>
          <p:cNvSpPr/>
          <p:nvPr/>
        </p:nvSpPr>
        <p:spPr>
          <a:xfrm>
            <a:off x="9846231" y="4622125"/>
            <a:ext cx="3714155" cy="1675209"/>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Eng tezkor qo'shuvchi turi. Ko'chirish bitini oldindan hisoblab chiqadi, bu esa kechikishlarni sezilarli darajada kamaytiradi. Murakkab sxemalarda keng qo'llaniladi.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163717"/>
            <a:ext cx="7326987"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ALU ning Asosiy Komponentlari</a:t>
            </a:r>
            <a:endParaRPr lang="en-US" sz="3850" dirty="0"/>
          </a:p>
        </p:txBody>
      </p:sp>
      <p:sp>
        <p:nvSpPr>
          <p:cNvPr id="4" name="Text 1"/>
          <p:cNvSpPr/>
          <p:nvPr/>
        </p:nvSpPr>
        <p:spPr>
          <a:xfrm>
            <a:off x="837724" y="2983944"/>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Mantiqiy Darvozalar</a:t>
            </a:r>
            <a:endParaRPr lang="en-US" sz="1900" dirty="0"/>
          </a:p>
        </p:txBody>
      </p:sp>
      <p:sp>
        <p:nvSpPr>
          <p:cNvPr id="5" name="Text 2"/>
          <p:cNvSpPr/>
          <p:nvPr/>
        </p:nvSpPr>
        <p:spPr>
          <a:xfrm>
            <a:off x="837724" y="3417570"/>
            <a:ext cx="6346508"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AND, OR, NOT, XOR kabi asosiy mantiqiy amallarni bajaradi. Bu darvozalar barcha raqamli sxemalarning qurilish bloklari hisoblanadi.</a:t>
            </a:r>
            <a:endParaRPr lang="en-US" sz="1600" dirty="0"/>
          </a:p>
        </p:txBody>
      </p:sp>
      <p:sp>
        <p:nvSpPr>
          <p:cNvPr id="7" name="Text 3"/>
          <p:cNvSpPr/>
          <p:nvPr/>
        </p:nvSpPr>
        <p:spPr>
          <a:xfrm>
            <a:off x="7446050" y="2983944"/>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Qo'shuvchilar</a:t>
            </a:r>
            <a:endParaRPr lang="en-US" sz="1900" dirty="0"/>
          </a:p>
        </p:txBody>
      </p:sp>
      <p:sp>
        <p:nvSpPr>
          <p:cNvPr id="8" name="Text 4"/>
          <p:cNvSpPr/>
          <p:nvPr/>
        </p:nvSpPr>
        <p:spPr>
          <a:xfrm>
            <a:off x="7446050" y="3417570"/>
            <a:ext cx="6346627"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Yarim va to'la qo'shuvchilar yordamida ikkilik sonlarni qo'shish amalini bajaradi. Bu ALU ning arifmetik qismining asosini tashkil etadi.</a:t>
            </a:r>
            <a:endParaRPr lang="en-US" sz="1600" dirty="0"/>
          </a:p>
        </p:txBody>
      </p:sp>
      <p:sp>
        <p:nvSpPr>
          <p:cNvPr id="10" name="Text 5"/>
          <p:cNvSpPr/>
          <p:nvPr/>
        </p:nvSpPr>
        <p:spPr>
          <a:xfrm>
            <a:off x="837724" y="5627013"/>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Multiplekserlar</a:t>
            </a:r>
            <a:endParaRPr lang="en-US" sz="1900" dirty="0"/>
          </a:p>
        </p:txBody>
      </p:sp>
      <p:sp>
        <p:nvSpPr>
          <p:cNvPr id="11" name="Text 6"/>
          <p:cNvSpPr/>
          <p:nvPr/>
        </p:nvSpPr>
        <p:spPr>
          <a:xfrm>
            <a:off x="837724" y="6060638"/>
            <a:ext cx="6346508"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Bir nechta kirish signallaridan birini tanlab, bitta chiqishga yo'naltiradi. ALU ichida turli operatsiyalar natijalarini tanlash uchun ishlatiladi.</a:t>
            </a:r>
            <a:endParaRPr lang="en-US" sz="1600" dirty="0"/>
          </a:p>
        </p:txBody>
      </p:sp>
      <p:sp>
        <p:nvSpPr>
          <p:cNvPr id="13" name="Text 7"/>
          <p:cNvSpPr/>
          <p:nvPr/>
        </p:nvSpPr>
        <p:spPr>
          <a:xfrm>
            <a:off x="7446050" y="5627013"/>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Dekoderlar</a:t>
            </a:r>
            <a:endParaRPr lang="en-US" sz="1900" dirty="0"/>
          </a:p>
        </p:txBody>
      </p:sp>
      <p:sp>
        <p:nvSpPr>
          <p:cNvPr id="14" name="Text 8"/>
          <p:cNvSpPr/>
          <p:nvPr/>
        </p:nvSpPr>
        <p:spPr>
          <a:xfrm>
            <a:off x="7446050" y="6060638"/>
            <a:ext cx="6346627"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Ikkilik kodni bir nechta chiqish liniyalaridan birini faollashtirish uchun ishlatiladi. ALU ichida operatsiya kodlarini dekodlash uchun qo'llaniladi.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8184"/>
          </a:xfrm>
          <a:prstGeom prst="rect">
            <a:avLst/>
          </a:prstGeom>
        </p:spPr>
      </p:pic>
      <p:sp>
        <p:nvSpPr>
          <p:cNvPr id="3" name="Text 0"/>
          <p:cNvSpPr/>
          <p:nvPr/>
        </p:nvSpPr>
        <p:spPr>
          <a:xfrm>
            <a:off x="837724" y="4456271"/>
            <a:ext cx="10324148"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ALU ning Zamonaviy Kompyuterlardagi O'rni</a:t>
            </a:r>
            <a:endParaRPr lang="en-US" sz="3850" dirty="0"/>
          </a:p>
        </p:txBody>
      </p:sp>
      <p:sp>
        <p:nvSpPr>
          <p:cNvPr id="4" name="Text 1"/>
          <p:cNvSpPr/>
          <p:nvPr/>
        </p:nvSpPr>
        <p:spPr>
          <a:xfrm>
            <a:off x="837724" y="5386268"/>
            <a:ext cx="12954952"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ALU zamonaviy kompyuterlarning markaziy qismi bo'lib, har qanday hisoblash jarayonining asosini tashkil etadi. Uning samaradorligi va tezligi protsessorning umumiy ishlashiga bevosita ta'sir qiladi. Mikroprotsessorlar, grafik protsessorlar (GPU) va boshqa maxsus chiplar ichida murakkab ALU arxitekturalari mavjud.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789271"/>
            <a:ext cx="9843849" cy="615910"/>
          </a:xfrm>
          <a:prstGeom prst="rect">
            <a:avLst/>
          </a:prstGeom>
          <a:noFill/>
          <a:ln/>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Xulosa: Raqamli Dunyoning Asosiy Bloklari</a:t>
            </a:r>
            <a:endParaRPr lang="en-US" sz="3850" dirty="0"/>
          </a:p>
        </p:txBody>
      </p:sp>
      <p:sp>
        <p:nvSpPr>
          <p:cNvPr id="3" name="Shape 1"/>
          <p:cNvSpPr/>
          <p:nvPr/>
        </p:nvSpPr>
        <p:spPr>
          <a:xfrm>
            <a:off x="837724" y="2824043"/>
            <a:ext cx="4178618" cy="3045619"/>
          </a:xfrm>
          <a:prstGeom prst="roundRect">
            <a:avLst>
              <a:gd name="adj" fmla="val 2888"/>
            </a:avLst>
          </a:prstGeom>
          <a:solidFill>
            <a:srgbClr val="FAF5EB"/>
          </a:solidFill>
          <a:ln w="7620">
            <a:solidFill>
              <a:srgbClr val="D5CDBE"/>
            </a:solidFill>
            <a:prstDash val="solid"/>
          </a:ln>
        </p:spPr>
      </p:sp>
      <p:sp>
        <p:nvSpPr>
          <p:cNvPr id="4" name="Shape 2"/>
          <p:cNvSpPr/>
          <p:nvPr/>
        </p:nvSpPr>
        <p:spPr>
          <a:xfrm>
            <a:off x="1054775" y="3041094"/>
            <a:ext cx="628293" cy="628293"/>
          </a:xfrm>
          <a:prstGeom prst="roundRect">
            <a:avLst>
              <a:gd name="adj" fmla="val 14552264"/>
            </a:avLst>
          </a:prstGeom>
          <a:solidFill>
            <a:srgbClr val="3371A5"/>
          </a:solidFill>
          <a:ln/>
        </p:spPr>
      </p:sp>
      <p:sp>
        <p:nvSpPr>
          <p:cNvPr id="6" name="Text 3"/>
          <p:cNvSpPr/>
          <p:nvPr/>
        </p:nvSpPr>
        <p:spPr>
          <a:xfrm>
            <a:off x="1054775" y="3878818"/>
            <a:ext cx="2621161"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Asosiy Qurilish Bloklari</a:t>
            </a:r>
            <a:endParaRPr lang="en-US" sz="1900" dirty="0"/>
          </a:p>
        </p:txBody>
      </p:sp>
      <p:sp>
        <p:nvSpPr>
          <p:cNvPr id="7" name="Text 4"/>
          <p:cNvSpPr/>
          <p:nvPr/>
        </p:nvSpPr>
        <p:spPr>
          <a:xfrm>
            <a:off x="1054775" y="4312444"/>
            <a:ext cx="3744516" cy="1340168"/>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Yarim va to'la qo'shuvchilar raqamli elektronika va kompyuter arxitekturasining fundamental elementlari hisoblanadi.</a:t>
            </a:r>
            <a:endParaRPr lang="en-US" sz="1600" dirty="0"/>
          </a:p>
        </p:txBody>
      </p:sp>
      <p:sp>
        <p:nvSpPr>
          <p:cNvPr id="8" name="Shape 5"/>
          <p:cNvSpPr/>
          <p:nvPr/>
        </p:nvSpPr>
        <p:spPr>
          <a:xfrm>
            <a:off x="5225772" y="2824043"/>
            <a:ext cx="4178737" cy="3045619"/>
          </a:xfrm>
          <a:prstGeom prst="roundRect">
            <a:avLst>
              <a:gd name="adj" fmla="val 2888"/>
            </a:avLst>
          </a:prstGeom>
          <a:solidFill>
            <a:srgbClr val="FAF5EB"/>
          </a:solidFill>
          <a:ln w="7620">
            <a:solidFill>
              <a:srgbClr val="D5CDBE"/>
            </a:solidFill>
            <a:prstDash val="solid"/>
          </a:ln>
        </p:spPr>
      </p:sp>
      <p:sp>
        <p:nvSpPr>
          <p:cNvPr id="9" name="Shape 6"/>
          <p:cNvSpPr/>
          <p:nvPr/>
        </p:nvSpPr>
        <p:spPr>
          <a:xfrm>
            <a:off x="5442823" y="3041094"/>
            <a:ext cx="628293" cy="628293"/>
          </a:xfrm>
          <a:prstGeom prst="roundRect">
            <a:avLst>
              <a:gd name="adj" fmla="val 14552264"/>
            </a:avLst>
          </a:prstGeom>
          <a:solidFill>
            <a:srgbClr val="3371A5"/>
          </a:solidFill>
          <a:ln/>
        </p:spPr>
      </p:sp>
      <p:sp>
        <p:nvSpPr>
          <p:cNvPr id="11" name="Text 7"/>
          <p:cNvSpPr/>
          <p:nvPr/>
        </p:nvSpPr>
        <p:spPr>
          <a:xfrm>
            <a:off x="5442823" y="3878818"/>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ALU ning Yuragi</a:t>
            </a:r>
            <a:endParaRPr lang="en-US" sz="1900" dirty="0"/>
          </a:p>
        </p:txBody>
      </p:sp>
      <p:sp>
        <p:nvSpPr>
          <p:cNvPr id="12" name="Text 8"/>
          <p:cNvSpPr/>
          <p:nvPr/>
        </p:nvSpPr>
        <p:spPr>
          <a:xfrm>
            <a:off x="5442823" y="4312444"/>
            <a:ext cx="3744635"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Ular arifmetik-mantiqiy qurilmalar (ALU) ichida ikkilik arifmetik amallarni bajarish uchun ajralmasdir.</a:t>
            </a:r>
            <a:endParaRPr lang="en-US" sz="1600" dirty="0"/>
          </a:p>
        </p:txBody>
      </p:sp>
      <p:sp>
        <p:nvSpPr>
          <p:cNvPr id="13" name="Shape 9"/>
          <p:cNvSpPr/>
          <p:nvPr/>
        </p:nvSpPr>
        <p:spPr>
          <a:xfrm>
            <a:off x="9613940" y="2824043"/>
            <a:ext cx="4178737" cy="3045619"/>
          </a:xfrm>
          <a:prstGeom prst="roundRect">
            <a:avLst>
              <a:gd name="adj" fmla="val 2888"/>
            </a:avLst>
          </a:prstGeom>
          <a:solidFill>
            <a:srgbClr val="FAF5EB"/>
          </a:solidFill>
          <a:ln w="7620">
            <a:solidFill>
              <a:srgbClr val="D5CDBE"/>
            </a:solidFill>
            <a:prstDash val="solid"/>
          </a:ln>
        </p:spPr>
      </p:sp>
      <p:sp>
        <p:nvSpPr>
          <p:cNvPr id="14" name="Shape 10"/>
          <p:cNvSpPr/>
          <p:nvPr/>
        </p:nvSpPr>
        <p:spPr>
          <a:xfrm>
            <a:off x="9830991" y="3041094"/>
            <a:ext cx="628293" cy="628293"/>
          </a:xfrm>
          <a:prstGeom prst="roundRect">
            <a:avLst>
              <a:gd name="adj" fmla="val 14552264"/>
            </a:avLst>
          </a:prstGeom>
          <a:solidFill>
            <a:srgbClr val="3371A5"/>
          </a:solidFill>
          <a:ln/>
        </p:spPr>
      </p:sp>
      <p:sp>
        <p:nvSpPr>
          <p:cNvPr id="16" name="Text 11"/>
          <p:cNvSpPr/>
          <p:nvPr/>
        </p:nvSpPr>
        <p:spPr>
          <a:xfrm>
            <a:off x="9830991" y="3878818"/>
            <a:ext cx="2541032" cy="308015"/>
          </a:xfrm>
          <a:prstGeom prst="rect">
            <a:avLst/>
          </a:prstGeom>
          <a:noFill/>
          <a:ln/>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Texnologik Taraqqiyot</a:t>
            </a:r>
            <a:endParaRPr lang="en-US" sz="1900" dirty="0"/>
          </a:p>
        </p:txBody>
      </p:sp>
      <p:sp>
        <p:nvSpPr>
          <p:cNvPr id="17" name="Text 12"/>
          <p:cNvSpPr/>
          <p:nvPr/>
        </p:nvSpPr>
        <p:spPr>
          <a:xfrm>
            <a:off x="9830991" y="4312444"/>
            <a:ext cx="3744635" cy="1005126"/>
          </a:xfrm>
          <a:prstGeom prst="rect">
            <a:avLst/>
          </a:prstGeom>
          <a:noFill/>
          <a:ln/>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Bu qurilmalarning doimiy takomillashuvi zamonaviy hisoblash quvvatining asosini tashkil etadi.</a:t>
            </a:r>
            <a:endParaRPr lang="en-US" sz="1600" dirty="0"/>
          </a:p>
        </p:txBody>
      </p:sp>
      <p:sp>
        <p:nvSpPr>
          <p:cNvPr id="18" name="Text 13"/>
          <p:cNvSpPr/>
          <p:nvPr/>
        </p:nvSpPr>
        <p:spPr>
          <a:xfrm>
            <a:off x="837724" y="6105287"/>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Ushbu oddiy mantiqiy sxemalar murakkab hisoblash tizimlarining ishlashini ta'minlaydigan asosiy tamoyillarni o'zida mujassam etgan.</a:t>
            </a:r>
            <a:endParaRPr lang="en-US" sz="1600"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TotalTime>
  <Words>742</Words>
  <Application>Microsoft Office PowerPoint</Application>
  <PresentationFormat>Произвольный</PresentationFormat>
  <Paragraphs>118</Paragraphs>
  <Slides>11</Slides>
  <Notes>10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11</vt:i4>
      </vt:variant>
    </vt:vector>
  </HeadingPairs>
  <TitlesOfParts>
    <vt:vector size="19" baseType="lpstr">
      <vt:lpstr>Funnel Display</vt:lpstr>
      <vt:lpstr>Arial</vt:lpstr>
      <vt:lpstr>Funnel Sans</vt:lpstr>
      <vt:lpstr>Calibri Light</vt:lpstr>
      <vt:lpstr>Calibri</vt:lpstr>
      <vt:lpstr>Times New Roman</vt:lpstr>
      <vt:lpstr>Тема Office</vt:lpstr>
      <vt:lpstr>1_Тема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lastModifiedBy>USER</cp:lastModifiedBy>
  <cp:revision>3</cp:revision>
  <dcterms:created xsi:type="dcterms:W3CDTF">2025-11-26T10:45:13Z</dcterms:created>
  <dcterms:modified xsi:type="dcterms:W3CDTF">2025-11-26T10:51:34Z</dcterms:modified>
</cp:coreProperties>
</file>