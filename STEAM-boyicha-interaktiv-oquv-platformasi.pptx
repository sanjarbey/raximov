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DM Sans Semi Bold"/>
      <p:regular r:id="rId17"/>
    </p:embeddedFont>
    <p:embeddedFont>
      <p:font typeface="DM Sans Semi Bold"/>
      <p:regular r:id="rId18"/>
    </p:embeddedFont>
    <p:embeddedFont>
      <p:font typeface="DM Sans Semi Bold"/>
      <p:regular r:id="rId19"/>
    </p:embeddedFont>
    <p:embeddedFont>
      <p:font typeface="DM Sans Semi Bold"/>
      <p:regular r:id="rId20"/>
    </p:embeddedFont>
    <p:embeddedFont>
      <p:font typeface="Inter Medium"/>
      <p:regular r:id="rId21"/>
    </p:embeddedFont>
    <p:embeddedFont>
      <p:font typeface="Inter Medium"/>
      <p:regular r:id="rId22"/>
    </p:embeddedFont>
    <p:embeddedFont>
      <p:font typeface="Inter Medium"/>
      <p:regular r:id="rId23"/>
    </p:embeddedFont>
    <p:embeddedFont>
      <p:font typeface="Inter Medium"/>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6.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7.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149310"/>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"STEAM" bo'yicha interaktiv o'quv platformasi</a:t>
            </a:r>
            <a:endParaRPr lang="en-US" sz="4450" dirty="0"/>
          </a:p>
        </p:txBody>
      </p:sp>
      <p:sp>
        <p:nvSpPr>
          <p:cNvPr id="4" name="Text 1"/>
          <p:cNvSpPr/>
          <p:nvPr/>
        </p:nvSpPr>
        <p:spPr>
          <a:xfrm>
            <a:off x="6280190" y="2907030"/>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STEAM texnologiyasi zamonaviy ta'limning innovatsion yo'nalishi bo'lib, bolalarda aniq va tabiiy fanlarga qiziqishni rivojlantirishga qaratilgan. Bu yondashuv Science (fan), Technology (texnologiya), Engineering (muhandislik), Art (san'at) va Mathematics (matematika) fanlarini integratsiyalashgan holda o'rgatishni nazarda tutadi.</a:t>
            </a:r>
            <a:endParaRPr lang="en-US" sz="1750" dirty="0"/>
          </a:p>
        </p:txBody>
      </p:sp>
      <p:sp>
        <p:nvSpPr>
          <p:cNvPr id="5" name="Text 2"/>
          <p:cNvSpPr/>
          <p:nvPr/>
        </p:nvSpPr>
        <p:spPr>
          <a:xfrm>
            <a:off x="6280190" y="4976693"/>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O'zbekiston ta'lim tizimida joriy etilayotgan bu yangicha yondashuv orqali o'quvchilarning amaliy ko'nikmalari, tanqidiy fikrlash qobiliyatlari va kreativ tafakkuri shakllantiriladi. STEAM platforma orqali bilim olish jarayoni qiziqarli va samarali tashkil etiladi.</a:t>
            </a:r>
            <a:endParaRPr lang="en-US" sz="1750" dirty="0"/>
          </a:p>
        </p:txBody>
      </p:sp>
      <p:sp>
        <p:nvSpPr>
          <p:cNvPr id="6" name="Shape 3"/>
          <p:cNvSpPr/>
          <p:nvPr/>
        </p:nvSpPr>
        <p:spPr>
          <a:xfrm>
            <a:off x="6280190" y="6700361"/>
            <a:ext cx="362903" cy="362903"/>
          </a:xfrm>
          <a:prstGeom prst="roundRect">
            <a:avLst>
              <a:gd name="adj" fmla="val 25194296"/>
            </a:avLst>
          </a:prstGeom>
          <a:noFill/>
          <a:ln w="7620">
            <a:solidFill>
              <a:srgbClr val="FFFFFF"/>
            </a:solidFill>
            <a:prstDash val="solid"/>
          </a:ln>
        </p:spPr>
      </p:sp>
      <p:pic>
        <p:nvPicPr>
          <p:cNvPr id="7" name="Image 1" descr="preencoded.png">    </p:cNvPr>
          <p:cNvPicPr>
            <a:picLocks noChangeAspect="1"/>
          </p:cNvPicPr>
          <p:nvPr/>
        </p:nvPicPr>
        <p:blipFill>
          <a:blip r:embed="rId2"/>
          <a:stretch>
            <a:fillRect/>
          </a:stretch>
        </p:blipFill>
        <p:spPr>
          <a:xfrm>
            <a:off x="6287810" y="6707981"/>
            <a:ext cx="347663" cy="347663"/>
          </a:xfrm>
          <a:prstGeom prst="rect">
            <a:avLst/>
          </a:prstGeom>
        </p:spPr>
      </p:pic>
      <p:sp>
        <p:nvSpPr>
          <p:cNvPr id="8" name="Text 4"/>
          <p:cNvSpPr/>
          <p:nvPr/>
        </p:nvSpPr>
        <p:spPr>
          <a:xfrm>
            <a:off x="6756440" y="6683454"/>
            <a:ext cx="3541633" cy="396835"/>
          </a:xfrm>
          <a:prstGeom prst="rect">
            <a:avLst/>
          </a:prstGeom>
          <a:noFill/>
          <a:ln/>
        </p:spPr>
        <p:txBody>
          <a:bodyPr wrap="none" lIns="0" tIns="0" rIns="0" bIns="0" rtlCol="0" anchor="t"/>
          <a:lstStyle/>
          <a:p>
            <a:pPr algn="l" indent="0" marL="0">
              <a:lnSpc>
                <a:spcPts val="3100"/>
              </a:lnSpc>
              <a:buNone/>
            </a:pPr>
            <a:r>
              <a:rPr lang="en-US" sz="2200" b="1" dirty="0">
                <a:solidFill>
                  <a:srgbClr val="464646"/>
                </a:solidFill>
                <a:latin typeface="Inter Bold" pitchFamily="34" charset="0"/>
                <a:ea typeface="Inter Bold" pitchFamily="34" charset="-122"/>
                <a:cs typeface="Inter Bold" pitchFamily="34" charset="-120"/>
              </a:rPr>
              <a:t>by Sanjarbek Bekturdiyev</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995607"/>
            <a:ext cx="12651581" cy="708779"/>
          </a:xfrm>
          <a:prstGeom prst="rect">
            <a:avLst/>
          </a:prstGeom>
          <a:noFill/>
          <a:ln/>
        </p:spPr>
        <p:txBody>
          <a:bodyPr wrap="non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STEAM texnologiyasi haqida umumiy ma'lumot</a:t>
            </a:r>
            <a:endParaRPr lang="en-US" sz="4450" dirty="0"/>
          </a:p>
        </p:txBody>
      </p:sp>
      <p:sp>
        <p:nvSpPr>
          <p:cNvPr id="3" name="Text 1"/>
          <p:cNvSpPr/>
          <p:nvPr/>
        </p:nvSpPr>
        <p:spPr>
          <a:xfrm>
            <a:off x="793790" y="327136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STEAM nima?</a:t>
            </a:r>
            <a:endParaRPr lang="en-US" sz="2200" dirty="0"/>
          </a:p>
        </p:txBody>
      </p:sp>
      <p:sp>
        <p:nvSpPr>
          <p:cNvPr id="4" name="Text 2"/>
          <p:cNvSpPr/>
          <p:nvPr/>
        </p:nvSpPr>
        <p:spPr>
          <a:xfrm>
            <a:off x="793790" y="3852505"/>
            <a:ext cx="3978116" cy="2177415"/>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STEAM - bu Science, Technology, Engineering, Art va Mathematics fanlarining integratsiyasi bo'lib, o'quvchilarga fanlararo aloqalarni ko'rsatish orqali ularda keng qamrovli bilimlarni shakllantiradi.</a:t>
            </a:r>
            <a:endParaRPr lang="en-US" sz="1750" dirty="0"/>
          </a:p>
        </p:txBody>
      </p:sp>
      <p:sp>
        <p:nvSpPr>
          <p:cNvPr id="5" name="Text 3"/>
          <p:cNvSpPr/>
          <p:nvPr/>
        </p:nvSpPr>
        <p:spPr>
          <a:xfrm>
            <a:off x="5332928" y="3271361"/>
            <a:ext cx="2999780" cy="354330"/>
          </a:xfrm>
          <a:prstGeom prst="rect">
            <a:avLst/>
          </a:prstGeom>
          <a:noFill/>
          <a:ln/>
        </p:spPr>
        <p:txBody>
          <a:bodyPr wrap="none" lIns="0" tIns="0" rIns="0" bIns="0" rtlCol="0" anchor="t"/>
          <a:lstStyle/>
          <a:p>
            <a:pPr algn="l" indent="0" marL="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Ta'lim jarayonidagi roli</a:t>
            </a:r>
            <a:endParaRPr lang="en-US" sz="2200" dirty="0"/>
          </a:p>
        </p:txBody>
      </p:sp>
      <p:sp>
        <p:nvSpPr>
          <p:cNvPr id="6" name="Text 4"/>
          <p:cNvSpPr/>
          <p:nvPr/>
        </p:nvSpPr>
        <p:spPr>
          <a:xfrm>
            <a:off x="5332928" y="3852505"/>
            <a:ext cx="3978116" cy="1814513"/>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Bu texnologiya orqali ta'lim jarayoni interaktiv va qiziqarli tashkil etiladi. O'quvchilar nazariy bilimlarni amaliy tajribalar bilan mustahkamlash imkoniyatiga ega bo'ladilar.</a:t>
            </a:r>
            <a:endParaRPr lang="en-US" sz="1750" dirty="0"/>
          </a:p>
        </p:txBody>
      </p:sp>
      <p:sp>
        <p:nvSpPr>
          <p:cNvPr id="7" name="Text 5"/>
          <p:cNvSpPr/>
          <p:nvPr/>
        </p:nvSpPr>
        <p:spPr>
          <a:xfrm>
            <a:off x="9872067" y="327136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Amaliy ko'nikmalar</a:t>
            </a:r>
            <a:endParaRPr lang="en-US" sz="2200" dirty="0"/>
          </a:p>
        </p:txBody>
      </p:sp>
      <p:sp>
        <p:nvSpPr>
          <p:cNvPr id="8" name="Text 6"/>
          <p:cNvSpPr/>
          <p:nvPr/>
        </p:nvSpPr>
        <p:spPr>
          <a:xfrm>
            <a:off x="9872067" y="3852505"/>
            <a:ext cx="3978116" cy="1814513"/>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STEAM yondashuvi o'quvchilarda loyihalarni rejalashtirish, muammolarni hal etish va jamoada ishlash kabi muhim amaliy ko'nikmalarni rivojlantiradi.</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44855" y="756642"/>
            <a:ext cx="9006364" cy="665083"/>
          </a:xfrm>
          <a:prstGeom prst="rect">
            <a:avLst/>
          </a:prstGeom>
          <a:noFill/>
          <a:ln/>
        </p:spPr>
        <p:txBody>
          <a:bodyPr wrap="none" lIns="0" tIns="0" rIns="0" bIns="0" rtlCol="0" anchor="t"/>
          <a:lstStyle/>
          <a:p>
            <a:pPr algn="l" indent="0" marL="0">
              <a:lnSpc>
                <a:spcPts val="5200"/>
              </a:lnSpc>
              <a:buNone/>
            </a:pPr>
            <a:r>
              <a:rPr lang="en-US" sz="4150" dirty="0">
                <a:solidFill>
                  <a:srgbClr val="030303"/>
                </a:solidFill>
                <a:latin typeface="DM Sans Semi Bold" pitchFamily="34" charset="0"/>
                <a:ea typeface="DM Sans Semi Bold" pitchFamily="34" charset="-122"/>
                <a:cs typeface="DM Sans Semi Bold" pitchFamily="34" charset="-120"/>
              </a:rPr>
              <a:t>STEAM texnologiyasining ahamiyati</a:t>
            </a:r>
            <a:endParaRPr lang="en-US" sz="4150" dirty="0"/>
          </a:p>
        </p:txBody>
      </p:sp>
      <p:pic>
        <p:nvPicPr>
          <p:cNvPr id="3" name="Image 0" descr="preencoded.png">    </p:cNvPr>
          <p:cNvPicPr>
            <a:picLocks noChangeAspect="1"/>
          </p:cNvPicPr>
          <p:nvPr/>
        </p:nvPicPr>
        <p:blipFill>
          <a:blip r:embed="rId1"/>
          <a:stretch>
            <a:fillRect/>
          </a:stretch>
        </p:blipFill>
        <p:spPr>
          <a:xfrm>
            <a:off x="2945844" y="1847374"/>
            <a:ext cx="2168128" cy="1226106"/>
          </a:xfrm>
          <a:prstGeom prst="rect">
            <a:avLst/>
          </a:prstGeom>
        </p:spPr>
      </p:pic>
      <p:pic>
        <p:nvPicPr>
          <p:cNvPr id="4" name="Image 1" descr="preencoded.png">    </p:cNvPr>
          <p:cNvPicPr>
            <a:picLocks noChangeAspect="1"/>
          </p:cNvPicPr>
          <p:nvPr/>
        </p:nvPicPr>
        <p:blipFill>
          <a:blip r:embed="rId2"/>
          <a:stretch>
            <a:fillRect/>
          </a:stretch>
        </p:blipFill>
        <p:spPr>
          <a:xfrm>
            <a:off x="3880247" y="2425303"/>
            <a:ext cx="299204" cy="374094"/>
          </a:xfrm>
          <a:prstGeom prst="rect">
            <a:avLst/>
          </a:prstGeom>
        </p:spPr>
      </p:pic>
      <p:sp>
        <p:nvSpPr>
          <p:cNvPr id="5" name="Text 1"/>
          <p:cNvSpPr/>
          <p:nvPr/>
        </p:nvSpPr>
        <p:spPr>
          <a:xfrm>
            <a:off x="5326737" y="2060138"/>
            <a:ext cx="3687961" cy="332423"/>
          </a:xfrm>
          <a:prstGeom prst="rect">
            <a:avLst/>
          </a:prstGeom>
          <a:noFill/>
          <a:ln/>
        </p:spPr>
        <p:txBody>
          <a:bodyPr wrap="none" lIns="0" tIns="0" rIns="0" bIns="0" rtlCol="0" anchor="t"/>
          <a:lstStyle/>
          <a:p>
            <a:pPr algn="l" indent="0" marL="0">
              <a:lnSpc>
                <a:spcPts val="2600"/>
              </a:lnSpc>
              <a:buNone/>
            </a:pPr>
            <a:r>
              <a:rPr lang="en-US" sz="2050" dirty="0">
                <a:solidFill>
                  <a:srgbClr val="464646"/>
                </a:solidFill>
                <a:latin typeface="DM Sans Semi Bold" pitchFamily="34" charset="0"/>
                <a:ea typeface="DM Sans Semi Bold" pitchFamily="34" charset="-122"/>
                <a:cs typeface="DM Sans Semi Bold" pitchFamily="34" charset="-120"/>
              </a:rPr>
              <a:t>Kreativlik va tanqidiy fikrlash</a:t>
            </a:r>
            <a:endParaRPr lang="en-US" sz="2050" dirty="0"/>
          </a:p>
        </p:txBody>
      </p:sp>
      <p:sp>
        <p:nvSpPr>
          <p:cNvPr id="6" name="Text 2"/>
          <p:cNvSpPr/>
          <p:nvPr/>
        </p:nvSpPr>
        <p:spPr>
          <a:xfrm>
            <a:off x="5326737" y="2520196"/>
            <a:ext cx="4278987" cy="340519"/>
          </a:xfrm>
          <a:prstGeom prst="rect">
            <a:avLst/>
          </a:prstGeom>
          <a:noFill/>
          <a:ln/>
        </p:spPr>
        <p:txBody>
          <a:bodyPr wrap="none" lIns="0" tIns="0" rIns="0" bIns="0" rtlCol="0" anchor="t"/>
          <a:lstStyle/>
          <a:p>
            <a:pPr algn="l" indent="0" marL="0">
              <a:lnSpc>
                <a:spcPts val="2650"/>
              </a:lnSpc>
              <a:buNone/>
            </a:pPr>
            <a:r>
              <a:rPr lang="en-US" sz="1650" dirty="0">
                <a:solidFill>
                  <a:srgbClr val="464646"/>
                </a:solidFill>
                <a:latin typeface="Inter Medium" pitchFamily="34" charset="0"/>
                <a:ea typeface="Inter Medium" pitchFamily="34" charset="-122"/>
                <a:cs typeface="Inter Medium" pitchFamily="34" charset="-120"/>
              </a:rPr>
              <a:t>Muammolarni turli nuqtai nazardan ko'rish</a:t>
            </a:r>
            <a:endParaRPr lang="en-US" sz="1650" dirty="0"/>
          </a:p>
        </p:txBody>
      </p:sp>
      <p:sp>
        <p:nvSpPr>
          <p:cNvPr id="7" name="Shape 3"/>
          <p:cNvSpPr/>
          <p:nvPr/>
        </p:nvSpPr>
        <p:spPr>
          <a:xfrm>
            <a:off x="5167074" y="3090505"/>
            <a:ext cx="8665369" cy="11430"/>
          </a:xfrm>
          <a:prstGeom prst="roundRect">
            <a:avLst>
              <a:gd name="adj" fmla="val 279312"/>
            </a:avLst>
          </a:prstGeom>
          <a:solidFill>
            <a:srgbClr val="D8D4D4"/>
          </a:solidFill>
          <a:ln/>
        </p:spPr>
      </p:sp>
      <p:pic>
        <p:nvPicPr>
          <p:cNvPr id="8" name="Image 2" descr="preencoded.png">    </p:cNvPr>
          <p:cNvPicPr>
            <a:picLocks noChangeAspect="1"/>
          </p:cNvPicPr>
          <p:nvPr/>
        </p:nvPicPr>
        <p:blipFill>
          <a:blip r:embed="rId3"/>
          <a:stretch>
            <a:fillRect/>
          </a:stretch>
        </p:blipFill>
        <p:spPr>
          <a:xfrm>
            <a:off x="1861780" y="3126581"/>
            <a:ext cx="4336375" cy="1226106"/>
          </a:xfrm>
          <a:prstGeom prst="rect">
            <a:avLst/>
          </a:prstGeom>
        </p:spPr>
      </p:pic>
      <p:pic>
        <p:nvPicPr>
          <p:cNvPr id="9" name="Image 3" descr="preencoded.png">    </p:cNvPr>
          <p:cNvPicPr>
            <a:picLocks noChangeAspect="1"/>
          </p:cNvPicPr>
          <p:nvPr/>
        </p:nvPicPr>
        <p:blipFill>
          <a:blip r:embed="rId4"/>
          <a:stretch>
            <a:fillRect/>
          </a:stretch>
        </p:blipFill>
        <p:spPr>
          <a:xfrm>
            <a:off x="3880366" y="3552587"/>
            <a:ext cx="299204" cy="374094"/>
          </a:xfrm>
          <a:prstGeom prst="rect">
            <a:avLst/>
          </a:prstGeom>
        </p:spPr>
      </p:pic>
      <p:sp>
        <p:nvSpPr>
          <p:cNvPr id="10" name="Text 4"/>
          <p:cNvSpPr/>
          <p:nvPr/>
        </p:nvSpPr>
        <p:spPr>
          <a:xfrm>
            <a:off x="6410920" y="3339346"/>
            <a:ext cx="4431387" cy="332423"/>
          </a:xfrm>
          <a:prstGeom prst="rect">
            <a:avLst/>
          </a:prstGeom>
          <a:noFill/>
          <a:ln/>
        </p:spPr>
        <p:txBody>
          <a:bodyPr wrap="none" lIns="0" tIns="0" rIns="0" bIns="0" rtlCol="0" anchor="t"/>
          <a:lstStyle/>
          <a:p>
            <a:pPr algn="l" indent="0" marL="0">
              <a:lnSpc>
                <a:spcPts val="2600"/>
              </a:lnSpc>
              <a:buNone/>
            </a:pPr>
            <a:r>
              <a:rPr lang="en-US" sz="2050" dirty="0">
                <a:solidFill>
                  <a:srgbClr val="464646"/>
                </a:solidFill>
                <a:latin typeface="DM Sans Semi Bold" pitchFamily="34" charset="0"/>
                <a:ea typeface="DM Sans Semi Bold" pitchFamily="34" charset="-122"/>
                <a:cs typeface="DM Sans Semi Bold" pitchFamily="34" charset="-120"/>
              </a:rPr>
              <a:t>Kelajak kasblari uchun tayyorgarlik</a:t>
            </a:r>
            <a:endParaRPr lang="en-US" sz="2050" dirty="0"/>
          </a:p>
        </p:txBody>
      </p:sp>
      <p:sp>
        <p:nvSpPr>
          <p:cNvPr id="11" name="Text 5"/>
          <p:cNvSpPr/>
          <p:nvPr/>
        </p:nvSpPr>
        <p:spPr>
          <a:xfrm>
            <a:off x="6410920" y="3799403"/>
            <a:ext cx="4696420" cy="340519"/>
          </a:xfrm>
          <a:prstGeom prst="rect">
            <a:avLst/>
          </a:prstGeom>
          <a:noFill/>
          <a:ln/>
        </p:spPr>
        <p:txBody>
          <a:bodyPr wrap="none" lIns="0" tIns="0" rIns="0" bIns="0" rtlCol="0" anchor="t"/>
          <a:lstStyle/>
          <a:p>
            <a:pPr algn="l" indent="0" marL="0">
              <a:lnSpc>
                <a:spcPts val="2650"/>
              </a:lnSpc>
              <a:buNone/>
            </a:pPr>
            <a:r>
              <a:rPr lang="en-US" sz="1650" dirty="0">
                <a:solidFill>
                  <a:srgbClr val="464646"/>
                </a:solidFill>
                <a:latin typeface="Inter Medium" pitchFamily="34" charset="0"/>
                <a:ea typeface="Inter Medium" pitchFamily="34" charset="-122"/>
                <a:cs typeface="Inter Medium" pitchFamily="34" charset="-120"/>
              </a:rPr>
              <a:t>Raqamli dunyoda talab qilinadigan ko'nikmalar</a:t>
            </a:r>
            <a:endParaRPr lang="en-US" sz="1650" dirty="0"/>
          </a:p>
        </p:txBody>
      </p:sp>
      <p:sp>
        <p:nvSpPr>
          <p:cNvPr id="12" name="Shape 6"/>
          <p:cNvSpPr/>
          <p:nvPr/>
        </p:nvSpPr>
        <p:spPr>
          <a:xfrm>
            <a:off x="6251258" y="4369713"/>
            <a:ext cx="7581186" cy="11430"/>
          </a:xfrm>
          <a:prstGeom prst="roundRect">
            <a:avLst>
              <a:gd name="adj" fmla="val 279312"/>
            </a:avLst>
          </a:prstGeom>
          <a:solidFill>
            <a:srgbClr val="D8D4D4"/>
          </a:solidFill>
          <a:ln/>
        </p:spPr>
      </p:sp>
      <p:pic>
        <p:nvPicPr>
          <p:cNvPr id="13" name="Image 4" descr="preencoded.png">    </p:cNvPr>
          <p:cNvPicPr>
            <a:picLocks noChangeAspect="1"/>
          </p:cNvPicPr>
          <p:nvPr/>
        </p:nvPicPr>
        <p:blipFill>
          <a:blip r:embed="rId5"/>
          <a:stretch>
            <a:fillRect/>
          </a:stretch>
        </p:blipFill>
        <p:spPr>
          <a:xfrm>
            <a:off x="777597" y="4405789"/>
            <a:ext cx="6504623" cy="1226106"/>
          </a:xfrm>
          <a:prstGeom prst="rect">
            <a:avLst/>
          </a:prstGeom>
        </p:spPr>
      </p:pic>
      <p:pic>
        <p:nvPicPr>
          <p:cNvPr id="14" name="Image 5" descr="preencoded.png">    </p:cNvPr>
          <p:cNvPicPr>
            <a:picLocks noChangeAspect="1"/>
          </p:cNvPicPr>
          <p:nvPr/>
        </p:nvPicPr>
        <p:blipFill>
          <a:blip r:embed="rId6"/>
          <a:stretch>
            <a:fillRect/>
          </a:stretch>
        </p:blipFill>
        <p:spPr>
          <a:xfrm>
            <a:off x="3880247" y="4831794"/>
            <a:ext cx="299204" cy="374094"/>
          </a:xfrm>
          <a:prstGeom prst="rect">
            <a:avLst/>
          </a:prstGeom>
        </p:spPr>
      </p:pic>
      <p:sp>
        <p:nvSpPr>
          <p:cNvPr id="15" name="Text 7"/>
          <p:cNvSpPr/>
          <p:nvPr/>
        </p:nvSpPr>
        <p:spPr>
          <a:xfrm>
            <a:off x="7494984" y="4618553"/>
            <a:ext cx="2660333" cy="332423"/>
          </a:xfrm>
          <a:prstGeom prst="rect">
            <a:avLst/>
          </a:prstGeom>
          <a:noFill/>
          <a:ln/>
        </p:spPr>
        <p:txBody>
          <a:bodyPr wrap="none" lIns="0" tIns="0" rIns="0" bIns="0" rtlCol="0" anchor="t"/>
          <a:lstStyle/>
          <a:p>
            <a:pPr algn="l" indent="0" marL="0">
              <a:lnSpc>
                <a:spcPts val="2600"/>
              </a:lnSpc>
              <a:buNone/>
            </a:pPr>
            <a:r>
              <a:rPr lang="en-US" sz="2050" dirty="0">
                <a:solidFill>
                  <a:srgbClr val="464646"/>
                </a:solidFill>
                <a:latin typeface="DM Sans Semi Bold" pitchFamily="34" charset="0"/>
                <a:ea typeface="DM Sans Semi Bold" pitchFamily="34" charset="-122"/>
                <a:cs typeface="DM Sans Semi Bold" pitchFamily="34" charset="-120"/>
              </a:rPr>
              <a:t>Innovatsion tafakkur</a:t>
            </a:r>
            <a:endParaRPr lang="en-US" sz="2050" dirty="0"/>
          </a:p>
        </p:txBody>
      </p:sp>
      <p:sp>
        <p:nvSpPr>
          <p:cNvPr id="16" name="Text 8"/>
          <p:cNvSpPr/>
          <p:nvPr/>
        </p:nvSpPr>
        <p:spPr>
          <a:xfrm>
            <a:off x="7494984" y="5078611"/>
            <a:ext cx="3647123" cy="340519"/>
          </a:xfrm>
          <a:prstGeom prst="rect">
            <a:avLst/>
          </a:prstGeom>
          <a:noFill/>
          <a:ln/>
        </p:spPr>
        <p:txBody>
          <a:bodyPr wrap="none" lIns="0" tIns="0" rIns="0" bIns="0" rtlCol="0" anchor="t"/>
          <a:lstStyle/>
          <a:p>
            <a:pPr algn="l" indent="0" marL="0">
              <a:lnSpc>
                <a:spcPts val="2650"/>
              </a:lnSpc>
              <a:buNone/>
            </a:pPr>
            <a:r>
              <a:rPr lang="en-US" sz="1650" dirty="0">
                <a:solidFill>
                  <a:srgbClr val="464646"/>
                </a:solidFill>
                <a:latin typeface="Inter Medium" pitchFamily="34" charset="0"/>
                <a:ea typeface="Inter Medium" pitchFamily="34" charset="-122"/>
                <a:cs typeface="Inter Medium" pitchFamily="34" charset="-120"/>
              </a:rPr>
              <a:t>Yangicha yechimlar topish qobiliyati</a:t>
            </a:r>
            <a:endParaRPr lang="en-US" sz="1650" dirty="0"/>
          </a:p>
        </p:txBody>
      </p:sp>
      <p:sp>
        <p:nvSpPr>
          <p:cNvPr id="17" name="Text 9"/>
          <p:cNvSpPr/>
          <p:nvPr/>
        </p:nvSpPr>
        <p:spPr>
          <a:xfrm>
            <a:off x="744855" y="5871329"/>
            <a:ext cx="13140690" cy="681038"/>
          </a:xfrm>
          <a:prstGeom prst="rect">
            <a:avLst/>
          </a:prstGeom>
          <a:noFill/>
          <a:ln/>
        </p:spPr>
        <p:txBody>
          <a:bodyPr wrap="square" lIns="0" tIns="0" rIns="0" bIns="0" rtlCol="0" anchor="t"/>
          <a:lstStyle/>
          <a:p>
            <a:pPr algn="l" indent="0" marL="0">
              <a:lnSpc>
                <a:spcPts val="2650"/>
              </a:lnSpc>
              <a:buNone/>
            </a:pPr>
            <a:r>
              <a:rPr lang="en-US" sz="1650" dirty="0">
                <a:solidFill>
                  <a:srgbClr val="464646"/>
                </a:solidFill>
                <a:latin typeface="Inter Medium" pitchFamily="34" charset="0"/>
                <a:ea typeface="Inter Medium" pitchFamily="34" charset="-122"/>
                <a:cs typeface="Inter Medium" pitchFamily="34" charset="-120"/>
              </a:rPr>
              <a:t>STEAM texnologiyasi o'quvchilarda kreativ fikrlashni, ilmiy izlanish ko'nikmalarini rivojlantiradi. Bolalar muammolarga turli nuqtai nazardan yondashishni o'rganadilar va topilgan yechimlarni amaliyotda sinab ko'rish imkoniyatiga ega bo'ladilar.</a:t>
            </a:r>
            <a:endParaRPr lang="en-US" sz="1650" dirty="0"/>
          </a:p>
        </p:txBody>
      </p:sp>
      <p:sp>
        <p:nvSpPr>
          <p:cNvPr id="18" name="Text 10"/>
          <p:cNvSpPr/>
          <p:nvPr/>
        </p:nvSpPr>
        <p:spPr>
          <a:xfrm>
            <a:off x="744855" y="6791801"/>
            <a:ext cx="13140690" cy="681038"/>
          </a:xfrm>
          <a:prstGeom prst="rect">
            <a:avLst/>
          </a:prstGeom>
          <a:noFill/>
          <a:ln/>
        </p:spPr>
        <p:txBody>
          <a:bodyPr wrap="square" lIns="0" tIns="0" rIns="0" bIns="0" rtlCol="0" anchor="t"/>
          <a:lstStyle/>
          <a:p>
            <a:pPr algn="l" indent="0" marL="0">
              <a:lnSpc>
                <a:spcPts val="2650"/>
              </a:lnSpc>
              <a:buNone/>
            </a:pPr>
            <a:r>
              <a:rPr lang="en-US" sz="1650" dirty="0">
                <a:solidFill>
                  <a:srgbClr val="464646"/>
                </a:solidFill>
                <a:latin typeface="Inter Medium" pitchFamily="34" charset="0"/>
                <a:ea typeface="Inter Medium" pitchFamily="34" charset="-122"/>
                <a:cs typeface="Inter Medium" pitchFamily="34" charset="-120"/>
              </a:rPr>
              <a:t>Bu yondashuv orqali tarbiyalangan avlod kelajakda mehnat bozorida talab qilinadigan ko'nikmalarga ega bo'ladi va innovatsion tafakkuri bilan jamiyat rivojiga hissa qo'shadi.</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60690" y="771644"/>
            <a:ext cx="7622619" cy="1358503"/>
          </a:xfrm>
          <a:prstGeom prst="rect">
            <a:avLst/>
          </a:prstGeom>
          <a:noFill/>
          <a:ln/>
        </p:spPr>
        <p:txBody>
          <a:bodyPr wrap="square" lIns="0" tIns="0" rIns="0" bIns="0" rtlCol="0" anchor="t"/>
          <a:lstStyle/>
          <a:p>
            <a:pPr algn="l" indent="0" marL="0">
              <a:lnSpc>
                <a:spcPts val="5300"/>
              </a:lnSpc>
              <a:buNone/>
            </a:pPr>
            <a:r>
              <a:rPr lang="en-US" sz="4250" dirty="0">
                <a:solidFill>
                  <a:srgbClr val="030303"/>
                </a:solidFill>
                <a:latin typeface="DM Sans Semi Bold" pitchFamily="34" charset="0"/>
                <a:ea typeface="DM Sans Semi Bold" pitchFamily="34" charset="-122"/>
                <a:cs typeface="DM Sans Semi Bold" pitchFamily="34" charset="-120"/>
              </a:rPr>
              <a:t>STEAM platformasining afzalliklari</a:t>
            </a:r>
            <a:endParaRPr lang="en-US" sz="4250" dirty="0"/>
          </a:p>
        </p:txBody>
      </p:sp>
      <p:sp>
        <p:nvSpPr>
          <p:cNvPr id="4" name="Shape 1"/>
          <p:cNvSpPr/>
          <p:nvPr/>
        </p:nvSpPr>
        <p:spPr>
          <a:xfrm>
            <a:off x="760690" y="2456140"/>
            <a:ext cx="488990" cy="488990"/>
          </a:xfrm>
          <a:prstGeom prst="roundRect">
            <a:avLst>
              <a:gd name="adj" fmla="val 6668"/>
            </a:avLst>
          </a:prstGeom>
          <a:solidFill>
            <a:srgbClr val="F2EEEE"/>
          </a:solidFill>
          <a:ln/>
        </p:spPr>
      </p:sp>
      <p:pic>
        <p:nvPicPr>
          <p:cNvPr id="5" name="Image 1" descr="preencoded.png">    </p:cNvPr>
          <p:cNvPicPr>
            <a:picLocks noChangeAspect="1"/>
          </p:cNvPicPr>
          <p:nvPr/>
        </p:nvPicPr>
        <p:blipFill>
          <a:blip r:embed="rId2"/>
          <a:stretch>
            <a:fillRect/>
          </a:stretch>
        </p:blipFill>
        <p:spPr>
          <a:xfrm>
            <a:off x="842129" y="2496800"/>
            <a:ext cx="325993" cy="407551"/>
          </a:xfrm>
          <a:prstGeom prst="rect">
            <a:avLst/>
          </a:prstGeom>
        </p:spPr>
      </p:pic>
      <p:sp>
        <p:nvSpPr>
          <p:cNvPr id="6" name="Text 2"/>
          <p:cNvSpPr/>
          <p:nvPr/>
        </p:nvSpPr>
        <p:spPr>
          <a:xfrm>
            <a:off x="1466969" y="2530793"/>
            <a:ext cx="2905482" cy="339566"/>
          </a:xfrm>
          <a:prstGeom prst="rect">
            <a:avLst/>
          </a:prstGeom>
          <a:noFill/>
          <a:ln/>
        </p:spPr>
        <p:txBody>
          <a:bodyPr wrap="none" lIns="0" tIns="0" rIns="0" bIns="0" rtlCol="0" anchor="t"/>
          <a:lstStyle/>
          <a:p>
            <a:pPr algn="l" indent="0" marL="0">
              <a:lnSpc>
                <a:spcPts val="2650"/>
              </a:lnSpc>
              <a:buNone/>
            </a:pPr>
            <a:r>
              <a:rPr lang="en-US" sz="2100" dirty="0">
                <a:solidFill>
                  <a:srgbClr val="464646"/>
                </a:solidFill>
                <a:latin typeface="DM Sans Semi Bold" pitchFamily="34" charset="0"/>
                <a:ea typeface="DM Sans Semi Bold" pitchFamily="34" charset="-122"/>
                <a:cs typeface="DM Sans Semi Bold" pitchFamily="34" charset="-120"/>
              </a:rPr>
              <a:t>Interaktiv o'quv muhiti</a:t>
            </a:r>
            <a:endParaRPr lang="en-US" sz="2100" dirty="0"/>
          </a:p>
        </p:txBody>
      </p:sp>
      <p:sp>
        <p:nvSpPr>
          <p:cNvPr id="7" name="Text 3"/>
          <p:cNvSpPr/>
          <p:nvPr/>
        </p:nvSpPr>
        <p:spPr>
          <a:xfrm>
            <a:off x="1466969" y="3000732"/>
            <a:ext cx="2969181" cy="2086689"/>
          </a:xfrm>
          <a:prstGeom prst="rect">
            <a:avLst/>
          </a:prstGeom>
          <a:noFill/>
          <a:ln/>
        </p:spPr>
        <p:txBody>
          <a:bodyPr wrap="square" lIns="0" tIns="0" rIns="0" bIns="0" rtlCol="0" anchor="t"/>
          <a:lstStyle/>
          <a:p>
            <a:pPr algn="l" indent="0" marL="0">
              <a:lnSpc>
                <a:spcPts val="2700"/>
              </a:lnSpc>
              <a:buNone/>
            </a:pPr>
            <a:r>
              <a:rPr lang="en-US" sz="1700" dirty="0">
                <a:solidFill>
                  <a:srgbClr val="464646"/>
                </a:solidFill>
                <a:latin typeface="Inter Medium" pitchFamily="34" charset="0"/>
                <a:ea typeface="Inter Medium" pitchFamily="34" charset="-122"/>
                <a:cs typeface="Inter Medium" pitchFamily="34" charset="-120"/>
              </a:rPr>
              <a:t>O'quvchilarning faol ishtirokini ta'minlovchi virtual va real o'quv makoni yaratiladi. Bu orqali qiziqarli va samarali ta'lim jarayoni tashkil etiladi.</a:t>
            </a:r>
            <a:endParaRPr lang="en-US" sz="1700" dirty="0"/>
          </a:p>
        </p:txBody>
      </p:sp>
      <p:sp>
        <p:nvSpPr>
          <p:cNvPr id="8" name="Shape 4"/>
          <p:cNvSpPr/>
          <p:nvPr/>
        </p:nvSpPr>
        <p:spPr>
          <a:xfrm>
            <a:off x="4707850" y="2456140"/>
            <a:ext cx="488990" cy="488990"/>
          </a:xfrm>
          <a:prstGeom prst="roundRect">
            <a:avLst>
              <a:gd name="adj" fmla="val 6668"/>
            </a:avLst>
          </a:prstGeom>
          <a:solidFill>
            <a:srgbClr val="F2EEEE"/>
          </a:solidFill>
          <a:ln/>
        </p:spPr>
      </p:sp>
      <p:pic>
        <p:nvPicPr>
          <p:cNvPr id="9" name="Image 2" descr="preencoded.png">    </p:cNvPr>
          <p:cNvPicPr>
            <a:picLocks noChangeAspect="1"/>
          </p:cNvPicPr>
          <p:nvPr/>
        </p:nvPicPr>
        <p:blipFill>
          <a:blip r:embed="rId3"/>
          <a:stretch>
            <a:fillRect/>
          </a:stretch>
        </p:blipFill>
        <p:spPr>
          <a:xfrm>
            <a:off x="4789289" y="2496800"/>
            <a:ext cx="325993" cy="407551"/>
          </a:xfrm>
          <a:prstGeom prst="rect">
            <a:avLst/>
          </a:prstGeom>
        </p:spPr>
      </p:pic>
      <p:sp>
        <p:nvSpPr>
          <p:cNvPr id="10" name="Text 5"/>
          <p:cNvSpPr/>
          <p:nvPr/>
        </p:nvSpPr>
        <p:spPr>
          <a:xfrm>
            <a:off x="5414129" y="2530793"/>
            <a:ext cx="2717006" cy="339566"/>
          </a:xfrm>
          <a:prstGeom prst="rect">
            <a:avLst/>
          </a:prstGeom>
          <a:noFill/>
          <a:ln/>
        </p:spPr>
        <p:txBody>
          <a:bodyPr wrap="none" lIns="0" tIns="0" rIns="0" bIns="0" rtlCol="0" anchor="t"/>
          <a:lstStyle/>
          <a:p>
            <a:pPr algn="l" indent="0" marL="0">
              <a:lnSpc>
                <a:spcPts val="2650"/>
              </a:lnSpc>
              <a:buNone/>
            </a:pPr>
            <a:r>
              <a:rPr lang="en-US" sz="2100" dirty="0">
                <a:solidFill>
                  <a:srgbClr val="464646"/>
                </a:solidFill>
                <a:latin typeface="DM Sans Semi Bold" pitchFamily="34" charset="0"/>
                <a:ea typeface="DM Sans Semi Bold" pitchFamily="34" charset="-122"/>
                <a:cs typeface="DM Sans Semi Bold" pitchFamily="34" charset="-120"/>
              </a:rPr>
              <a:t>Amaliy ko'nikmalar</a:t>
            </a:r>
            <a:endParaRPr lang="en-US" sz="2100" dirty="0"/>
          </a:p>
        </p:txBody>
      </p:sp>
      <p:sp>
        <p:nvSpPr>
          <p:cNvPr id="11" name="Text 6"/>
          <p:cNvSpPr/>
          <p:nvPr/>
        </p:nvSpPr>
        <p:spPr>
          <a:xfrm>
            <a:off x="5414129" y="3000732"/>
            <a:ext cx="2969181" cy="2434471"/>
          </a:xfrm>
          <a:prstGeom prst="rect">
            <a:avLst/>
          </a:prstGeom>
          <a:noFill/>
          <a:ln/>
        </p:spPr>
        <p:txBody>
          <a:bodyPr wrap="square" lIns="0" tIns="0" rIns="0" bIns="0" rtlCol="0" anchor="t"/>
          <a:lstStyle/>
          <a:p>
            <a:pPr algn="l" indent="0" marL="0">
              <a:lnSpc>
                <a:spcPts val="2700"/>
              </a:lnSpc>
              <a:buNone/>
            </a:pPr>
            <a:r>
              <a:rPr lang="en-US" sz="1700" dirty="0">
                <a:solidFill>
                  <a:srgbClr val="464646"/>
                </a:solidFill>
                <a:latin typeface="Inter Medium" pitchFamily="34" charset="0"/>
                <a:ea typeface="Inter Medium" pitchFamily="34" charset="-122"/>
                <a:cs typeface="Inter Medium" pitchFamily="34" charset="-120"/>
              </a:rPr>
              <a:t>Nazariy bilimlarni amaliyotda qo'llash, tajribalar o'tkazish va real loyihalarni amalga oshirish imkoniyati bolalarda muhim hayotiy ko'nikmalarni shakllantiradi.</a:t>
            </a:r>
            <a:endParaRPr lang="en-US" sz="1700" dirty="0"/>
          </a:p>
        </p:txBody>
      </p:sp>
      <p:sp>
        <p:nvSpPr>
          <p:cNvPr id="12" name="Shape 7"/>
          <p:cNvSpPr/>
          <p:nvPr/>
        </p:nvSpPr>
        <p:spPr>
          <a:xfrm>
            <a:off x="760690" y="5869900"/>
            <a:ext cx="488990" cy="488990"/>
          </a:xfrm>
          <a:prstGeom prst="roundRect">
            <a:avLst>
              <a:gd name="adj" fmla="val 6668"/>
            </a:avLst>
          </a:prstGeom>
          <a:solidFill>
            <a:srgbClr val="F2EEEE"/>
          </a:solidFill>
          <a:ln/>
        </p:spPr>
      </p:sp>
      <p:pic>
        <p:nvPicPr>
          <p:cNvPr id="13" name="Image 3" descr="preencoded.png">    </p:cNvPr>
          <p:cNvPicPr>
            <a:picLocks noChangeAspect="1"/>
          </p:cNvPicPr>
          <p:nvPr/>
        </p:nvPicPr>
        <p:blipFill>
          <a:blip r:embed="rId4"/>
          <a:stretch>
            <a:fillRect/>
          </a:stretch>
        </p:blipFill>
        <p:spPr>
          <a:xfrm>
            <a:off x="842129" y="5910560"/>
            <a:ext cx="325993" cy="407551"/>
          </a:xfrm>
          <a:prstGeom prst="rect">
            <a:avLst/>
          </a:prstGeom>
        </p:spPr>
      </p:pic>
      <p:sp>
        <p:nvSpPr>
          <p:cNvPr id="14" name="Text 8"/>
          <p:cNvSpPr/>
          <p:nvPr/>
        </p:nvSpPr>
        <p:spPr>
          <a:xfrm>
            <a:off x="1466969" y="5944553"/>
            <a:ext cx="2717006" cy="339566"/>
          </a:xfrm>
          <a:prstGeom prst="rect">
            <a:avLst/>
          </a:prstGeom>
          <a:noFill/>
          <a:ln/>
        </p:spPr>
        <p:txBody>
          <a:bodyPr wrap="none" lIns="0" tIns="0" rIns="0" bIns="0" rtlCol="0" anchor="t"/>
          <a:lstStyle/>
          <a:p>
            <a:pPr algn="l" indent="0" marL="0">
              <a:lnSpc>
                <a:spcPts val="2650"/>
              </a:lnSpc>
              <a:buNone/>
            </a:pPr>
            <a:r>
              <a:rPr lang="en-US" sz="2100" dirty="0">
                <a:solidFill>
                  <a:srgbClr val="464646"/>
                </a:solidFill>
                <a:latin typeface="DM Sans Semi Bold" pitchFamily="34" charset="0"/>
                <a:ea typeface="DM Sans Semi Bold" pitchFamily="34" charset="-122"/>
                <a:cs typeface="DM Sans Semi Bold" pitchFamily="34" charset="-120"/>
              </a:rPr>
              <a:t>Jamoaviy ishlash</a:t>
            </a:r>
            <a:endParaRPr lang="en-US" sz="2100" dirty="0"/>
          </a:p>
        </p:txBody>
      </p:sp>
      <p:sp>
        <p:nvSpPr>
          <p:cNvPr id="15" name="Text 9"/>
          <p:cNvSpPr/>
          <p:nvPr/>
        </p:nvSpPr>
        <p:spPr>
          <a:xfrm>
            <a:off x="1466969" y="6414492"/>
            <a:ext cx="6916341" cy="1043345"/>
          </a:xfrm>
          <a:prstGeom prst="rect">
            <a:avLst/>
          </a:prstGeom>
          <a:noFill/>
          <a:ln/>
        </p:spPr>
        <p:txBody>
          <a:bodyPr wrap="square" lIns="0" tIns="0" rIns="0" bIns="0" rtlCol="0" anchor="t"/>
          <a:lstStyle/>
          <a:p>
            <a:pPr algn="l" indent="0" marL="0">
              <a:lnSpc>
                <a:spcPts val="2700"/>
              </a:lnSpc>
              <a:buNone/>
            </a:pPr>
            <a:r>
              <a:rPr lang="en-US" sz="1700" dirty="0">
                <a:solidFill>
                  <a:srgbClr val="464646"/>
                </a:solidFill>
                <a:latin typeface="Inter Medium" pitchFamily="34" charset="0"/>
                <a:ea typeface="Inter Medium" pitchFamily="34" charset="-122"/>
                <a:cs typeface="Inter Medium" pitchFamily="34" charset="-120"/>
              </a:rPr>
              <a:t>Guruh bo'lib ishlash, vazifalarni taqsimlash, o'zaro muloqot va hamkorlikda yechimlar topish kabi ko'nikmalar o'quvchilarni kelajakdagi kasbiy faoliyatga tayyorlaydi.</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7701" y="516731"/>
            <a:ext cx="6883122" cy="587216"/>
          </a:xfrm>
          <a:prstGeom prst="rect">
            <a:avLst/>
          </a:prstGeom>
          <a:noFill/>
          <a:ln/>
        </p:spPr>
        <p:txBody>
          <a:bodyPr wrap="none" lIns="0" tIns="0" rIns="0" bIns="0" rtlCol="0" anchor="t"/>
          <a:lstStyle/>
          <a:p>
            <a:pPr algn="l" indent="0" marL="0">
              <a:lnSpc>
                <a:spcPts val="4600"/>
              </a:lnSpc>
              <a:buNone/>
            </a:pPr>
            <a:r>
              <a:rPr lang="en-US" sz="3650" dirty="0">
                <a:solidFill>
                  <a:srgbClr val="030303"/>
                </a:solidFill>
                <a:latin typeface="DM Sans Semi Bold" pitchFamily="34" charset="0"/>
                <a:ea typeface="DM Sans Semi Bold" pitchFamily="34" charset="-122"/>
                <a:cs typeface="DM Sans Semi Bold" pitchFamily="34" charset="-120"/>
              </a:rPr>
              <a:t>Steam Workshop imkoniyatlari</a:t>
            </a:r>
            <a:endParaRPr lang="en-US" sz="3650" dirty="0"/>
          </a:p>
        </p:txBody>
      </p:sp>
      <p:pic>
        <p:nvPicPr>
          <p:cNvPr id="3" name="Image 0" descr="preencoded.png">    </p:cNvPr>
          <p:cNvPicPr>
            <a:picLocks noChangeAspect="1"/>
          </p:cNvPicPr>
          <p:nvPr/>
        </p:nvPicPr>
        <p:blipFill>
          <a:blip r:embed="rId1"/>
          <a:stretch>
            <a:fillRect/>
          </a:stretch>
        </p:blipFill>
        <p:spPr>
          <a:xfrm>
            <a:off x="3320653" y="3281482"/>
            <a:ext cx="7988975" cy="7988975"/>
          </a:xfrm>
          <a:prstGeom prst="rect">
            <a:avLst/>
          </a:prstGeom>
        </p:spPr>
      </p:pic>
      <p:pic>
        <p:nvPicPr>
          <p:cNvPr id="4" name="Image 1" descr="preencoded.png">    </p:cNvPr>
          <p:cNvPicPr>
            <a:picLocks noChangeAspect="1"/>
          </p:cNvPicPr>
          <p:nvPr/>
        </p:nvPicPr>
        <p:blipFill>
          <a:blip r:embed="rId2"/>
          <a:stretch>
            <a:fillRect/>
          </a:stretch>
        </p:blipFill>
        <p:spPr>
          <a:xfrm>
            <a:off x="4388703" y="5931277"/>
            <a:ext cx="317063" cy="396359"/>
          </a:xfrm>
          <a:prstGeom prst="rect">
            <a:avLst/>
          </a:prstGeom>
        </p:spPr>
      </p:pic>
      <p:pic>
        <p:nvPicPr>
          <p:cNvPr id="5" name="Image 2" descr="preencoded.png">    </p:cNvPr>
          <p:cNvPicPr>
            <a:picLocks noChangeAspect="1"/>
          </p:cNvPicPr>
          <p:nvPr/>
        </p:nvPicPr>
        <p:blipFill>
          <a:blip r:embed="rId3"/>
          <a:stretch>
            <a:fillRect/>
          </a:stretch>
        </p:blipFill>
        <p:spPr>
          <a:xfrm>
            <a:off x="3320653" y="3281482"/>
            <a:ext cx="7988975" cy="7988975"/>
          </a:xfrm>
          <a:prstGeom prst="rect">
            <a:avLst/>
          </a:prstGeom>
        </p:spPr>
      </p:pic>
      <p:pic>
        <p:nvPicPr>
          <p:cNvPr id="6" name="Image 3" descr="preencoded.png">    </p:cNvPr>
          <p:cNvPicPr>
            <a:picLocks noChangeAspect="1"/>
          </p:cNvPicPr>
          <p:nvPr/>
        </p:nvPicPr>
        <p:blipFill>
          <a:blip r:embed="rId4"/>
          <a:stretch>
            <a:fillRect/>
          </a:stretch>
        </p:blipFill>
        <p:spPr>
          <a:xfrm>
            <a:off x="6010096" y="4309884"/>
            <a:ext cx="317063" cy="396359"/>
          </a:xfrm>
          <a:prstGeom prst="rect">
            <a:avLst/>
          </a:prstGeom>
        </p:spPr>
      </p:pic>
      <p:pic>
        <p:nvPicPr>
          <p:cNvPr id="7" name="Image 4" descr="preencoded.png">    </p:cNvPr>
          <p:cNvPicPr>
            <a:picLocks noChangeAspect="1"/>
          </p:cNvPicPr>
          <p:nvPr/>
        </p:nvPicPr>
        <p:blipFill>
          <a:blip r:embed="rId5"/>
          <a:stretch>
            <a:fillRect/>
          </a:stretch>
        </p:blipFill>
        <p:spPr>
          <a:xfrm>
            <a:off x="3320653" y="3281482"/>
            <a:ext cx="7988975" cy="7988975"/>
          </a:xfrm>
          <a:prstGeom prst="rect">
            <a:avLst/>
          </a:prstGeom>
        </p:spPr>
      </p:pic>
      <p:pic>
        <p:nvPicPr>
          <p:cNvPr id="8" name="Image 5" descr="preencoded.png">    </p:cNvPr>
          <p:cNvPicPr>
            <a:picLocks noChangeAspect="1"/>
          </p:cNvPicPr>
          <p:nvPr/>
        </p:nvPicPr>
        <p:blipFill>
          <a:blip r:embed="rId6"/>
          <a:stretch>
            <a:fillRect/>
          </a:stretch>
        </p:blipFill>
        <p:spPr>
          <a:xfrm>
            <a:off x="8302883" y="4309884"/>
            <a:ext cx="317063" cy="396359"/>
          </a:xfrm>
          <a:prstGeom prst="rect">
            <a:avLst/>
          </a:prstGeom>
        </p:spPr>
      </p:pic>
      <p:pic>
        <p:nvPicPr>
          <p:cNvPr id="9" name="Image 6" descr="preencoded.png">    </p:cNvPr>
          <p:cNvPicPr>
            <a:picLocks noChangeAspect="1"/>
          </p:cNvPicPr>
          <p:nvPr/>
        </p:nvPicPr>
        <p:blipFill>
          <a:blip r:embed="rId7"/>
          <a:stretch>
            <a:fillRect/>
          </a:stretch>
        </p:blipFill>
        <p:spPr>
          <a:xfrm>
            <a:off x="3320653" y="3281482"/>
            <a:ext cx="7988975" cy="7988975"/>
          </a:xfrm>
          <a:prstGeom prst="rect">
            <a:avLst/>
          </a:prstGeom>
        </p:spPr>
      </p:pic>
      <p:pic>
        <p:nvPicPr>
          <p:cNvPr id="10" name="Image 7" descr="preencoded.png">    </p:cNvPr>
          <p:cNvPicPr>
            <a:picLocks noChangeAspect="1"/>
          </p:cNvPicPr>
          <p:nvPr/>
        </p:nvPicPr>
        <p:blipFill>
          <a:blip r:embed="rId8"/>
          <a:stretch>
            <a:fillRect/>
          </a:stretch>
        </p:blipFill>
        <p:spPr>
          <a:xfrm>
            <a:off x="9924276" y="5931277"/>
            <a:ext cx="317063" cy="396359"/>
          </a:xfrm>
          <a:prstGeom prst="rect">
            <a:avLst/>
          </a:prstGeom>
        </p:spPr>
      </p:pic>
      <p:sp>
        <p:nvSpPr>
          <p:cNvPr id="11" name="Text 1"/>
          <p:cNvSpPr/>
          <p:nvPr/>
        </p:nvSpPr>
        <p:spPr>
          <a:xfrm>
            <a:off x="657701" y="7487245"/>
            <a:ext cx="13314998" cy="601028"/>
          </a:xfrm>
          <a:prstGeom prst="rect">
            <a:avLst/>
          </a:prstGeom>
          <a:noFill/>
          <a:ln/>
        </p:spPr>
        <p:txBody>
          <a:bodyPr wrap="square" lIns="0" tIns="0" rIns="0" bIns="0" rtlCol="0" anchor="t"/>
          <a:lstStyle/>
          <a:p>
            <a:pPr algn="l" indent="0" marL="0">
              <a:lnSpc>
                <a:spcPts val="2350"/>
              </a:lnSpc>
              <a:buNone/>
            </a:pPr>
            <a:r>
              <a:rPr lang="en-US" sz="1450" dirty="0">
                <a:solidFill>
                  <a:srgbClr val="464646"/>
                </a:solidFill>
                <a:latin typeface="Inter Medium" pitchFamily="34" charset="0"/>
                <a:ea typeface="Inter Medium" pitchFamily="34" charset="-122"/>
                <a:cs typeface="Inter Medium" pitchFamily="34" charset="-120"/>
              </a:rPr>
              <a:t>Steam Workshop o'quvchilarning o'z loyihalarini yaratish, tajribalar o'tkazish va o'rganish jarayonida faol ishtirok etish imkoniyatini beradi. Bu orqali bilim olish jarayoni qiziqarli va samarali tashkil etiladi.</a:t>
            </a:r>
            <a:endParaRPr lang="en-US" sz="1450" dirty="0"/>
          </a:p>
        </p:txBody>
      </p:sp>
      <p:sp>
        <p:nvSpPr>
          <p:cNvPr id="12" name="Text 2"/>
          <p:cNvSpPr/>
          <p:nvPr/>
        </p:nvSpPr>
        <p:spPr>
          <a:xfrm>
            <a:off x="1041797" y="3077289"/>
            <a:ext cx="2348984" cy="293608"/>
          </a:xfrm>
          <a:prstGeom prst="rect">
            <a:avLst/>
          </a:prstGeom>
          <a:noFill/>
          <a:ln/>
        </p:spPr>
        <p:txBody>
          <a:bodyPr wrap="none" lIns="0" tIns="0" rIns="0" bIns="0" rtlCol="0" anchor="t"/>
          <a:lstStyle/>
          <a:p>
            <a:pPr algn="ctr" indent="0" marL="0">
              <a:lnSpc>
                <a:spcPts val="2300"/>
              </a:lnSpc>
              <a:buNone/>
            </a:pPr>
            <a:r>
              <a:rPr lang="en-US" sz="1800" dirty="0">
                <a:solidFill>
                  <a:srgbClr val="030303"/>
                </a:solidFill>
                <a:latin typeface="DM Sans Semi Bold" pitchFamily="34" charset="0"/>
                <a:ea typeface="DM Sans Semi Bold" pitchFamily="34" charset="-122"/>
                <a:cs typeface="DM Sans Semi Bold" pitchFamily="34" charset="-120"/>
              </a:rPr>
              <a:t>O'yin yaratish</a:t>
            </a:r>
            <a:endParaRPr lang="en-US" sz="1800" dirty="0"/>
          </a:p>
        </p:txBody>
      </p:sp>
      <p:sp>
        <p:nvSpPr>
          <p:cNvPr id="13" name="Text 3"/>
          <p:cNvSpPr/>
          <p:nvPr/>
        </p:nvSpPr>
        <p:spPr>
          <a:xfrm>
            <a:off x="657701" y="3483650"/>
            <a:ext cx="3117294" cy="901541"/>
          </a:xfrm>
          <a:prstGeom prst="rect">
            <a:avLst/>
          </a:prstGeom>
          <a:noFill/>
          <a:ln/>
        </p:spPr>
        <p:txBody>
          <a:bodyPr wrap="square" lIns="0" tIns="0" rIns="0" bIns="0" rtlCol="0" anchor="t"/>
          <a:lstStyle/>
          <a:p>
            <a:pPr algn="ctr" indent="0" marL="0">
              <a:lnSpc>
                <a:spcPts val="2350"/>
              </a:lnSpc>
              <a:buNone/>
            </a:pPr>
            <a:r>
              <a:rPr lang="en-US" sz="1450" dirty="0">
                <a:solidFill>
                  <a:srgbClr val="464646"/>
                </a:solidFill>
                <a:latin typeface="Inter Medium" pitchFamily="34" charset="0"/>
                <a:ea typeface="Inter Medium" pitchFamily="34" charset="-122"/>
                <a:cs typeface="Inter Medium" pitchFamily="34" charset="-120"/>
              </a:rPr>
              <a:t>O'quvchilar o'z o'quv o'yinlarini loyihalash va ishlab chiqish imkoniyatiga ega bo'ladilar</a:t>
            </a:r>
            <a:endParaRPr lang="en-US" sz="1450" dirty="0"/>
          </a:p>
        </p:txBody>
      </p:sp>
      <p:sp>
        <p:nvSpPr>
          <p:cNvPr id="14" name="Text 4"/>
          <p:cNvSpPr/>
          <p:nvPr/>
        </p:nvSpPr>
        <p:spPr>
          <a:xfrm>
            <a:off x="4438174" y="2080736"/>
            <a:ext cx="2354580" cy="293608"/>
          </a:xfrm>
          <a:prstGeom prst="rect">
            <a:avLst/>
          </a:prstGeom>
          <a:noFill/>
          <a:ln/>
        </p:spPr>
        <p:txBody>
          <a:bodyPr wrap="none" lIns="0" tIns="0" rIns="0" bIns="0" rtlCol="0" anchor="t"/>
          <a:lstStyle/>
          <a:p>
            <a:pPr algn="ctr" indent="0" marL="0">
              <a:lnSpc>
                <a:spcPts val="2300"/>
              </a:lnSpc>
              <a:buNone/>
            </a:pPr>
            <a:r>
              <a:rPr lang="en-US" sz="1800" dirty="0">
                <a:solidFill>
                  <a:srgbClr val="030303"/>
                </a:solidFill>
                <a:latin typeface="DM Sans Semi Bold" pitchFamily="34" charset="0"/>
                <a:ea typeface="DM Sans Semi Bold" pitchFamily="34" charset="-122"/>
                <a:cs typeface="DM Sans Semi Bold" pitchFamily="34" charset="-120"/>
              </a:rPr>
              <a:t>Muhokama qobiliyati</a:t>
            </a:r>
            <a:endParaRPr lang="en-US" sz="1800" dirty="0"/>
          </a:p>
        </p:txBody>
      </p:sp>
      <p:sp>
        <p:nvSpPr>
          <p:cNvPr id="15" name="Text 5"/>
          <p:cNvSpPr/>
          <p:nvPr/>
        </p:nvSpPr>
        <p:spPr>
          <a:xfrm>
            <a:off x="4056817" y="2487097"/>
            <a:ext cx="3117413" cy="601028"/>
          </a:xfrm>
          <a:prstGeom prst="rect">
            <a:avLst/>
          </a:prstGeom>
          <a:noFill/>
          <a:ln/>
        </p:spPr>
        <p:txBody>
          <a:bodyPr wrap="square" lIns="0" tIns="0" rIns="0" bIns="0" rtlCol="0" anchor="t"/>
          <a:lstStyle/>
          <a:p>
            <a:pPr algn="ctr" indent="0" marL="0">
              <a:lnSpc>
                <a:spcPts val="2350"/>
              </a:lnSpc>
              <a:buNone/>
            </a:pPr>
            <a:r>
              <a:rPr lang="en-US" sz="1450" dirty="0">
                <a:solidFill>
                  <a:srgbClr val="464646"/>
                </a:solidFill>
                <a:latin typeface="Inter Medium" pitchFamily="34" charset="0"/>
                <a:ea typeface="Inter Medium" pitchFamily="34" charset="-122"/>
                <a:cs typeface="Inter Medium" pitchFamily="34" charset="-120"/>
              </a:rPr>
              <a:t>Loyihalarni taqdim etish va himoya qilish ko'nikmalari shakllanadi</a:t>
            </a:r>
            <a:endParaRPr lang="en-US" sz="1450" dirty="0"/>
          </a:p>
        </p:txBody>
      </p:sp>
      <p:sp>
        <p:nvSpPr>
          <p:cNvPr id="16" name="Text 6"/>
          <p:cNvSpPr/>
          <p:nvPr/>
        </p:nvSpPr>
        <p:spPr>
          <a:xfrm>
            <a:off x="7840266" y="1479709"/>
            <a:ext cx="2348984" cy="293608"/>
          </a:xfrm>
          <a:prstGeom prst="rect">
            <a:avLst/>
          </a:prstGeom>
          <a:noFill/>
          <a:ln/>
        </p:spPr>
        <p:txBody>
          <a:bodyPr wrap="none" lIns="0" tIns="0" rIns="0" bIns="0" rtlCol="0" anchor="t"/>
          <a:lstStyle/>
          <a:p>
            <a:pPr algn="ctr" indent="0" marL="0">
              <a:lnSpc>
                <a:spcPts val="2300"/>
              </a:lnSpc>
              <a:buNone/>
            </a:pPr>
            <a:r>
              <a:rPr lang="en-US" sz="1800" dirty="0">
                <a:solidFill>
                  <a:srgbClr val="030303"/>
                </a:solidFill>
                <a:latin typeface="DM Sans Semi Bold" pitchFamily="34" charset="0"/>
                <a:ea typeface="DM Sans Semi Bold" pitchFamily="34" charset="-122"/>
                <a:cs typeface="DM Sans Semi Bold" pitchFamily="34" charset="-120"/>
              </a:rPr>
              <a:t>Tayyor materiallar</a:t>
            </a:r>
            <a:endParaRPr lang="en-US" sz="1800" dirty="0"/>
          </a:p>
        </p:txBody>
      </p:sp>
      <p:sp>
        <p:nvSpPr>
          <p:cNvPr id="17" name="Text 7"/>
          <p:cNvSpPr/>
          <p:nvPr/>
        </p:nvSpPr>
        <p:spPr>
          <a:xfrm>
            <a:off x="7456051" y="1886069"/>
            <a:ext cx="3117413" cy="1202055"/>
          </a:xfrm>
          <a:prstGeom prst="rect">
            <a:avLst/>
          </a:prstGeom>
          <a:noFill/>
          <a:ln/>
        </p:spPr>
        <p:txBody>
          <a:bodyPr wrap="square" lIns="0" tIns="0" rIns="0" bIns="0" rtlCol="0" anchor="t"/>
          <a:lstStyle/>
          <a:p>
            <a:pPr algn="ctr" indent="0" marL="0">
              <a:lnSpc>
                <a:spcPts val="2350"/>
              </a:lnSpc>
              <a:buNone/>
            </a:pPr>
            <a:r>
              <a:rPr lang="en-US" sz="1450" dirty="0">
                <a:solidFill>
                  <a:srgbClr val="464646"/>
                </a:solidFill>
                <a:latin typeface="Inter Medium" pitchFamily="34" charset="0"/>
                <a:ea typeface="Inter Medium" pitchFamily="34" charset="-122"/>
                <a:cs typeface="Inter Medium" pitchFamily="34" charset="-120"/>
              </a:rPr>
              <a:t>Platformada mavjud bo'lgan tavsiya etilgan o'quv materiallaridan foydalanish imkoniyati</a:t>
            </a:r>
            <a:endParaRPr lang="en-US" sz="1450" dirty="0"/>
          </a:p>
        </p:txBody>
      </p:sp>
      <p:sp>
        <p:nvSpPr>
          <p:cNvPr id="18" name="Text 8"/>
          <p:cNvSpPr/>
          <p:nvPr/>
        </p:nvSpPr>
        <p:spPr>
          <a:xfrm>
            <a:off x="11239500" y="3077289"/>
            <a:ext cx="2348984" cy="293608"/>
          </a:xfrm>
          <a:prstGeom prst="rect">
            <a:avLst/>
          </a:prstGeom>
          <a:noFill/>
          <a:ln/>
        </p:spPr>
        <p:txBody>
          <a:bodyPr wrap="none" lIns="0" tIns="0" rIns="0" bIns="0" rtlCol="0" anchor="t"/>
          <a:lstStyle/>
          <a:p>
            <a:pPr algn="ctr" indent="0" marL="0">
              <a:lnSpc>
                <a:spcPts val="2300"/>
              </a:lnSpc>
              <a:buNone/>
            </a:pPr>
            <a:r>
              <a:rPr lang="en-US" sz="1800" dirty="0">
                <a:solidFill>
                  <a:srgbClr val="030303"/>
                </a:solidFill>
                <a:latin typeface="DM Sans Semi Bold" pitchFamily="34" charset="0"/>
                <a:ea typeface="DM Sans Semi Bold" pitchFamily="34" charset="-122"/>
                <a:cs typeface="DM Sans Semi Bold" pitchFamily="34" charset="-120"/>
              </a:rPr>
              <a:t>Kreativlik</a:t>
            </a:r>
            <a:endParaRPr lang="en-US" sz="1800" dirty="0"/>
          </a:p>
        </p:txBody>
      </p:sp>
      <p:sp>
        <p:nvSpPr>
          <p:cNvPr id="19" name="Text 9"/>
          <p:cNvSpPr/>
          <p:nvPr/>
        </p:nvSpPr>
        <p:spPr>
          <a:xfrm>
            <a:off x="10855285" y="3483650"/>
            <a:ext cx="3117413" cy="901541"/>
          </a:xfrm>
          <a:prstGeom prst="rect">
            <a:avLst/>
          </a:prstGeom>
          <a:noFill/>
          <a:ln/>
        </p:spPr>
        <p:txBody>
          <a:bodyPr wrap="square" lIns="0" tIns="0" rIns="0" bIns="0" rtlCol="0" anchor="t"/>
          <a:lstStyle/>
          <a:p>
            <a:pPr algn="ctr" indent="0" marL="0">
              <a:lnSpc>
                <a:spcPts val="2350"/>
              </a:lnSpc>
              <a:buNone/>
            </a:pPr>
            <a:r>
              <a:rPr lang="en-US" sz="1450" dirty="0">
                <a:solidFill>
                  <a:srgbClr val="464646"/>
                </a:solidFill>
                <a:latin typeface="Inter Medium" pitchFamily="34" charset="0"/>
                <a:ea typeface="Inter Medium" pitchFamily="34" charset="-122"/>
                <a:cs typeface="Inter Medium" pitchFamily="34" charset="-120"/>
              </a:rPr>
              <a:t>Innovatsion g'oyalarni amalga oshirish va ijodiy yondashuvni rivojlantirish</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2100"/>
          </a:xfrm>
          <a:prstGeom prst="rect">
            <a:avLst/>
          </a:prstGeom>
        </p:spPr>
      </p:pic>
      <p:sp>
        <p:nvSpPr>
          <p:cNvPr id="3" name="Text 0"/>
          <p:cNvSpPr/>
          <p:nvPr/>
        </p:nvSpPr>
        <p:spPr>
          <a:xfrm>
            <a:off x="6078974" y="465653"/>
            <a:ext cx="7958852" cy="1057989"/>
          </a:xfrm>
          <a:prstGeom prst="rect">
            <a:avLst/>
          </a:prstGeom>
          <a:noFill/>
          <a:ln/>
        </p:spPr>
        <p:txBody>
          <a:bodyPr wrap="square" lIns="0" tIns="0" rIns="0" bIns="0" rtlCol="0" anchor="t"/>
          <a:lstStyle/>
          <a:p>
            <a:pPr algn="l" indent="0" marL="0">
              <a:lnSpc>
                <a:spcPts val="4150"/>
              </a:lnSpc>
              <a:buNone/>
            </a:pPr>
            <a:r>
              <a:rPr lang="en-US" sz="3300" dirty="0">
                <a:solidFill>
                  <a:srgbClr val="030303"/>
                </a:solidFill>
                <a:latin typeface="DM Sans Semi Bold" pitchFamily="34" charset="0"/>
                <a:ea typeface="DM Sans Semi Bold" pitchFamily="34" charset="-122"/>
                <a:cs typeface="DM Sans Semi Bold" pitchFamily="34" charset="-120"/>
              </a:rPr>
              <a:t>STEAM texnologiyasini joriy etish bosqichlari</a:t>
            </a:r>
            <a:endParaRPr lang="en-US" sz="3300" dirty="0"/>
          </a:p>
        </p:txBody>
      </p:sp>
      <p:pic>
        <p:nvPicPr>
          <p:cNvPr id="4" name="Image 1" descr="preencoded.png">    </p:cNvPr>
          <p:cNvPicPr>
            <a:picLocks noChangeAspect="1"/>
          </p:cNvPicPr>
          <p:nvPr/>
        </p:nvPicPr>
        <p:blipFill>
          <a:blip r:embed="rId2"/>
          <a:stretch>
            <a:fillRect/>
          </a:stretch>
        </p:blipFill>
        <p:spPr>
          <a:xfrm>
            <a:off x="6078974" y="1777603"/>
            <a:ext cx="846534" cy="1246465"/>
          </a:xfrm>
          <a:prstGeom prst="rect">
            <a:avLst/>
          </a:prstGeom>
        </p:spPr>
      </p:pic>
      <p:sp>
        <p:nvSpPr>
          <p:cNvPr id="5" name="Text 1"/>
          <p:cNvSpPr/>
          <p:nvPr/>
        </p:nvSpPr>
        <p:spPr>
          <a:xfrm>
            <a:off x="7179469" y="1946910"/>
            <a:ext cx="3278386" cy="264557"/>
          </a:xfrm>
          <a:prstGeom prst="rect">
            <a:avLst/>
          </a:prstGeom>
          <a:noFill/>
          <a:ln/>
        </p:spPr>
        <p:txBody>
          <a:bodyPr wrap="none" lIns="0" tIns="0" rIns="0" bIns="0" rtlCol="0" anchor="t"/>
          <a:lstStyle/>
          <a:p>
            <a:pPr algn="l" indent="0" marL="0">
              <a:lnSpc>
                <a:spcPts val="2050"/>
              </a:lnSpc>
              <a:buNone/>
            </a:pPr>
            <a:r>
              <a:rPr lang="en-US" sz="1650" dirty="0">
                <a:solidFill>
                  <a:srgbClr val="464646"/>
                </a:solidFill>
                <a:latin typeface="DM Sans Semi Bold" pitchFamily="34" charset="0"/>
                <a:ea typeface="DM Sans Semi Bold" pitchFamily="34" charset="-122"/>
                <a:cs typeface="DM Sans Semi Bold" pitchFamily="34" charset="-120"/>
              </a:rPr>
              <a:t>STEAM markazlarini tashkil etish</a:t>
            </a:r>
            <a:endParaRPr lang="en-US" sz="1650" dirty="0"/>
          </a:p>
        </p:txBody>
      </p:sp>
      <p:sp>
        <p:nvSpPr>
          <p:cNvPr id="6" name="Text 2"/>
          <p:cNvSpPr/>
          <p:nvPr/>
        </p:nvSpPr>
        <p:spPr>
          <a:xfrm>
            <a:off x="7179469" y="2313027"/>
            <a:ext cx="6858357" cy="541734"/>
          </a:xfrm>
          <a:prstGeom prst="rect">
            <a:avLst/>
          </a:prstGeom>
          <a:noFill/>
          <a:ln/>
        </p:spPr>
        <p:txBody>
          <a:bodyPr wrap="square" lIns="0" tIns="0" rIns="0" bIns="0" rtlCol="0" anchor="t"/>
          <a:lstStyle/>
          <a:p>
            <a:pPr algn="l" indent="0" marL="0">
              <a:lnSpc>
                <a:spcPts val="2100"/>
              </a:lnSpc>
              <a:buNone/>
            </a:pPr>
            <a:r>
              <a:rPr lang="en-US" sz="1300" dirty="0">
                <a:solidFill>
                  <a:srgbClr val="464646"/>
                </a:solidFill>
                <a:latin typeface="Inter Medium" pitchFamily="34" charset="0"/>
                <a:ea typeface="Inter Medium" pitchFamily="34" charset="-122"/>
                <a:cs typeface="Inter Medium" pitchFamily="34" charset="-120"/>
              </a:rPr>
              <a:t>Ta'lim muassasalarida maxsus STEAM laboratoriyalari va markazlarni jihozlash va tashkil etish</a:t>
            </a:r>
            <a:endParaRPr lang="en-US" sz="1300" dirty="0"/>
          </a:p>
        </p:txBody>
      </p:sp>
      <p:pic>
        <p:nvPicPr>
          <p:cNvPr id="7" name="Image 2" descr="preencoded.png">    </p:cNvPr>
          <p:cNvPicPr>
            <a:picLocks noChangeAspect="1"/>
          </p:cNvPicPr>
          <p:nvPr/>
        </p:nvPicPr>
        <p:blipFill>
          <a:blip r:embed="rId3"/>
          <a:stretch>
            <a:fillRect/>
          </a:stretch>
        </p:blipFill>
        <p:spPr>
          <a:xfrm>
            <a:off x="6078974" y="3024068"/>
            <a:ext cx="846534" cy="1246465"/>
          </a:xfrm>
          <a:prstGeom prst="rect">
            <a:avLst/>
          </a:prstGeom>
        </p:spPr>
      </p:pic>
      <p:sp>
        <p:nvSpPr>
          <p:cNvPr id="8" name="Text 3"/>
          <p:cNvSpPr/>
          <p:nvPr/>
        </p:nvSpPr>
        <p:spPr>
          <a:xfrm>
            <a:off x="7179469" y="3193375"/>
            <a:ext cx="2438400" cy="264557"/>
          </a:xfrm>
          <a:prstGeom prst="rect">
            <a:avLst/>
          </a:prstGeom>
          <a:noFill/>
          <a:ln/>
        </p:spPr>
        <p:txBody>
          <a:bodyPr wrap="none" lIns="0" tIns="0" rIns="0" bIns="0" rtlCol="0" anchor="t"/>
          <a:lstStyle/>
          <a:p>
            <a:pPr algn="l" indent="0" marL="0">
              <a:lnSpc>
                <a:spcPts val="2050"/>
              </a:lnSpc>
              <a:buNone/>
            </a:pPr>
            <a:r>
              <a:rPr lang="en-US" sz="1650" dirty="0">
                <a:solidFill>
                  <a:srgbClr val="464646"/>
                </a:solidFill>
                <a:latin typeface="DM Sans Semi Bold" pitchFamily="34" charset="0"/>
                <a:ea typeface="DM Sans Semi Bold" pitchFamily="34" charset="-122"/>
                <a:cs typeface="DM Sans Semi Bold" pitchFamily="34" charset="-120"/>
              </a:rPr>
              <a:t>Pedagoglarni tayyorlash</a:t>
            </a:r>
            <a:endParaRPr lang="en-US" sz="1650" dirty="0"/>
          </a:p>
        </p:txBody>
      </p:sp>
      <p:sp>
        <p:nvSpPr>
          <p:cNvPr id="9" name="Text 4"/>
          <p:cNvSpPr/>
          <p:nvPr/>
        </p:nvSpPr>
        <p:spPr>
          <a:xfrm>
            <a:off x="7179469" y="3559493"/>
            <a:ext cx="6858357" cy="541734"/>
          </a:xfrm>
          <a:prstGeom prst="rect">
            <a:avLst/>
          </a:prstGeom>
          <a:noFill/>
          <a:ln/>
        </p:spPr>
        <p:txBody>
          <a:bodyPr wrap="square" lIns="0" tIns="0" rIns="0" bIns="0" rtlCol="0" anchor="t"/>
          <a:lstStyle/>
          <a:p>
            <a:pPr algn="l" indent="0" marL="0">
              <a:lnSpc>
                <a:spcPts val="2100"/>
              </a:lnSpc>
              <a:buNone/>
            </a:pPr>
            <a:r>
              <a:rPr lang="en-US" sz="1300" dirty="0">
                <a:solidFill>
                  <a:srgbClr val="464646"/>
                </a:solidFill>
                <a:latin typeface="Inter Medium" pitchFamily="34" charset="0"/>
                <a:ea typeface="Inter Medium" pitchFamily="34" charset="-122"/>
                <a:cs typeface="Inter Medium" pitchFamily="34" charset="-120"/>
              </a:rPr>
              <a:t>O'qituvchilarni STEAM metodikasi bo'yicha o'qitish va malaka oshirish kurslarini tashkil etish</a:t>
            </a:r>
            <a:endParaRPr lang="en-US" sz="1300" dirty="0"/>
          </a:p>
        </p:txBody>
      </p:sp>
      <p:pic>
        <p:nvPicPr>
          <p:cNvPr id="10" name="Image 3" descr="preencoded.png">    </p:cNvPr>
          <p:cNvPicPr>
            <a:picLocks noChangeAspect="1"/>
          </p:cNvPicPr>
          <p:nvPr/>
        </p:nvPicPr>
        <p:blipFill>
          <a:blip r:embed="rId4"/>
          <a:stretch>
            <a:fillRect/>
          </a:stretch>
        </p:blipFill>
        <p:spPr>
          <a:xfrm>
            <a:off x="6078974" y="4270534"/>
            <a:ext cx="846534" cy="1246465"/>
          </a:xfrm>
          <a:prstGeom prst="rect">
            <a:avLst/>
          </a:prstGeom>
        </p:spPr>
      </p:pic>
      <p:sp>
        <p:nvSpPr>
          <p:cNvPr id="11" name="Text 5"/>
          <p:cNvSpPr/>
          <p:nvPr/>
        </p:nvSpPr>
        <p:spPr>
          <a:xfrm>
            <a:off x="7179469" y="4439841"/>
            <a:ext cx="3531632" cy="264557"/>
          </a:xfrm>
          <a:prstGeom prst="rect">
            <a:avLst/>
          </a:prstGeom>
          <a:noFill/>
          <a:ln/>
        </p:spPr>
        <p:txBody>
          <a:bodyPr wrap="none" lIns="0" tIns="0" rIns="0" bIns="0" rtlCol="0" anchor="t"/>
          <a:lstStyle/>
          <a:p>
            <a:pPr algn="l" indent="0" marL="0">
              <a:lnSpc>
                <a:spcPts val="2050"/>
              </a:lnSpc>
              <a:buNone/>
            </a:pPr>
            <a:r>
              <a:rPr lang="en-US" sz="1650" dirty="0">
                <a:solidFill>
                  <a:srgbClr val="464646"/>
                </a:solidFill>
                <a:latin typeface="DM Sans Semi Bold" pitchFamily="34" charset="0"/>
                <a:ea typeface="DM Sans Semi Bold" pitchFamily="34" charset="-122"/>
                <a:cs typeface="DM Sans Semi Bold" pitchFamily="34" charset="-120"/>
              </a:rPr>
              <a:t>Zamonaviy jihozlar bilan ta'minlash</a:t>
            </a:r>
            <a:endParaRPr lang="en-US" sz="1650" dirty="0"/>
          </a:p>
        </p:txBody>
      </p:sp>
      <p:sp>
        <p:nvSpPr>
          <p:cNvPr id="12" name="Text 6"/>
          <p:cNvSpPr/>
          <p:nvPr/>
        </p:nvSpPr>
        <p:spPr>
          <a:xfrm>
            <a:off x="7179469" y="4805958"/>
            <a:ext cx="6858357" cy="541734"/>
          </a:xfrm>
          <a:prstGeom prst="rect">
            <a:avLst/>
          </a:prstGeom>
          <a:noFill/>
          <a:ln/>
        </p:spPr>
        <p:txBody>
          <a:bodyPr wrap="square" lIns="0" tIns="0" rIns="0" bIns="0" rtlCol="0" anchor="t"/>
          <a:lstStyle/>
          <a:p>
            <a:pPr algn="l" indent="0" marL="0">
              <a:lnSpc>
                <a:spcPts val="2100"/>
              </a:lnSpc>
              <a:buNone/>
            </a:pPr>
            <a:r>
              <a:rPr lang="en-US" sz="1300" dirty="0">
                <a:solidFill>
                  <a:srgbClr val="464646"/>
                </a:solidFill>
                <a:latin typeface="Inter Medium" pitchFamily="34" charset="0"/>
                <a:ea typeface="Inter Medium" pitchFamily="34" charset="-122"/>
                <a:cs typeface="Inter Medium" pitchFamily="34" charset="-120"/>
              </a:rPr>
              <a:t>Robotlar, konstruktorlar, 3D-printerlar va boshqa zamonaviy o'quv qurollari bilan ta'minlash</a:t>
            </a:r>
            <a:endParaRPr lang="en-US" sz="1300" dirty="0"/>
          </a:p>
        </p:txBody>
      </p:sp>
      <p:pic>
        <p:nvPicPr>
          <p:cNvPr id="13" name="Image 4" descr="preencoded.png">    </p:cNvPr>
          <p:cNvPicPr>
            <a:picLocks noChangeAspect="1"/>
          </p:cNvPicPr>
          <p:nvPr/>
        </p:nvPicPr>
        <p:blipFill>
          <a:blip r:embed="rId5"/>
          <a:stretch>
            <a:fillRect/>
          </a:stretch>
        </p:blipFill>
        <p:spPr>
          <a:xfrm>
            <a:off x="6078974" y="5516999"/>
            <a:ext cx="846534" cy="1246465"/>
          </a:xfrm>
          <a:prstGeom prst="rect">
            <a:avLst/>
          </a:prstGeom>
        </p:spPr>
      </p:pic>
      <p:sp>
        <p:nvSpPr>
          <p:cNvPr id="14" name="Text 7"/>
          <p:cNvSpPr/>
          <p:nvPr/>
        </p:nvSpPr>
        <p:spPr>
          <a:xfrm>
            <a:off x="7179469" y="5686306"/>
            <a:ext cx="3471982" cy="264557"/>
          </a:xfrm>
          <a:prstGeom prst="rect">
            <a:avLst/>
          </a:prstGeom>
          <a:noFill/>
          <a:ln/>
        </p:spPr>
        <p:txBody>
          <a:bodyPr wrap="none" lIns="0" tIns="0" rIns="0" bIns="0" rtlCol="0" anchor="t"/>
          <a:lstStyle/>
          <a:p>
            <a:pPr algn="l" indent="0" marL="0">
              <a:lnSpc>
                <a:spcPts val="2050"/>
              </a:lnSpc>
              <a:buNone/>
            </a:pPr>
            <a:r>
              <a:rPr lang="en-US" sz="1650" dirty="0">
                <a:solidFill>
                  <a:srgbClr val="464646"/>
                </a:solidFill>
                <a:latin typeface="DM Sans Semi Bold" pitchFamily="34" charset="0"/>
                <a:ea typeface="DM Sans Semi Bold" pitchFamily="34" charset="-122"/>
                <a:cs typeface="DM Sans Semi Bold" pitchFamily="34" charset="-120"/>
              </a:rPr>
              <a:t>O'quv dasturlarini integratsiyalash</a:t>
            </a:r>
            <a:endParaRPr lang="en-US" sz="1650" dirty="0"/>
          </a:p>
        </p:txBody>
      </p:sp>
      <p:sp>
        <p:nvSpPr>
          <p:cNvPr id="15" name="Text 8"/>
          <p:cNvSpPr/>
          <p:nvPr/>
        </p:nvSpPr>
        <p:spPr>
          <a:xfrm>
            <a:off x="7179469" y="6052423"/>
            <a:ext cx="6858357" cy="541734"/>
          </a:xfrm>
          <a:prstGeom prst="rect">
            <a:avLst/>
          </a:prstGeom>
          <a:noFill/>
          <a:ln/>
        </p:spPr>
        <p:txBody>
          <a:bodyPr wrap="square" lIns="0" tIns="0" rIns="0" bIns="0" rtlCol="0" anchor="t"/>
          <a:lstStyle/>
          <a:p>
            <a:pPr algn="l" indent="0" marL="0">
              <a:lnSpc>
                <a:spcPts val="2100"/>
              </a:lnSpc>
              <a:buNone/>
            </a:pPr>
            <a:r>
              <a:rPr lang="en-US" sz="1300" dirty="0">
                <a:solidFill>
                  <a:srgbClr val="464646"/>
                </a:solidFill>
                <a:latin typeface="Inter Medium" pitchFamily="34" charset="0"/>
                <a:ea typeface="Inter Medium" pitchFamily="34" charset="-122"/>
                <a:cs typeface="Inter Medium" pitchFamily="34" charset="-120"/>
              </a:rPr>
              <a:t>Mavjud o'quv dasturlariga STEAM yondashuvini joriy etish va fanlararo aloqalarni kuchaytirish</a:t>
            </a:r>
            <a:endParaRPr lang="en-US" sz="1300" dirty="0"/>
          </a:p>
        </p:txBody>
      </p:sp>
      <p:sp>
        <p:nvSpPr>
          <p:cNvPr id="16" name="Text 9"/>
          <p:cNvSpPr/>
          <p:nvPr/>
        </p:nvSpPr>
        <p:spPr>
          <a:xfrm>
            <a:off x="6078974" y="6953845"/>
            <a:ext cx="7958852" cy="812602"/>
          </a:xfrm>
          <a:prstGeom prst="rect">
            <a:avLst/>
          </a:prstGeom>
          <a:noFill/>
          <a:ln/>
        </p:spPr>
        <p:txBody>
          <a:bodyPr wrap="square" lIns="0" tIns="0" rIns="0" bIns="0" rtlCol="0" anchor="t"/>
          <a:lstStyle/>
          <a:p>
            <a:pPr algn="l" indent="0" marL="0">
              <a:lnSpc>
                <a:spcPts val="2100"/>
              </a:lnSpc>
              <a:buNone/>
            </a:pPr>
            <a:r>
              <a:rPr lang="en-US" sz="1300" dirty="0">
                <a:solidFill>
                  <a:srgbClr val="464646"/>
                </a:solidFill>
                <a:latin typeface="Inter Medium" pitchFamily="34" charset="0"/>
                <a:ea typeface="Inter Medium" pitchFamily="34" charset="-122"/>
                <a:cs typeface="Inter Medium" pitchFamily="34" charset="-120"/>
              </a:rPr>
              <a:t>STEAM texnologiyasini ta'lim tizimiga joriy etish bosqichma-bosqich amalga oshiriladi. Bu jarayon o'quv muassasalarni zamonaviy jihozlar bilan ta'minlash, o'qituvchilarni tayyorlash va o'quv dasturlarini yangilashni o'z ichiga oladi.</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15050" y="722352"/>
            <a:ext cx="7249835" cy="561380"/>
          </a:xfrm>
          <a:prstGeom prst="rect">
            <a:avLst/>
          </a:prstGeom>
          <a:noFill/>
          <a:ln/>
        </p:spPr>
        <p:txBody>
          <a:bodyPr wrap="none" lIns="0" tIns="0" rIns="0" bIns="0" rtlCol="0" anchor="t"/>
          <a:lstStyle/>
          <a:p>
            <a:pPr algn="l" indent="0" marL="0">
              <a:lnSpc>
                <a:spcPts val="4400"/>
              </a:lnSpc>
              <a:buNone/>
            </a:pPr>
            <a:r>
              <a:rPr lang="en-US" sz="3500" dirty="0">
                <a:solidFill>
                  <a:srgbClr val="030303"/>
                </a:solidFill>
                <a:latin typeface="DM Sans Semi Bold" pitchFamily="34" charset="0"/>
                <a:ea typeface="DM Sans Semi Bold" pitchFamily="34" charset="-122"/>
                <a:cs typeface="DM Sans Semi Bold" pitchFamily="34" charset="-120"/>
              </a:rPr>
              <a:t>O'zbekistonda STEAM ta'lim tizimi</a:t>
            </a:r>
            <a:endParaRPr lang="en-US" sz="3500" dirty="0"/>
          </a:p>
        </p:txBody>
      </p:sp>
      <p:sp>
        <p:nvSpPr>
          <p:cNvPr id="4" name="Shape 1"/>
          <p:cNvSpPr/>
          <p:nvPr/>
        </p:nvSpPr>
        <p:spPr>
          <a:xfrm>
            <a:off x="6317099" y="1553170"/>
            <a:ext cx="22860" cy="4889778"/>
          </a:xfrm>
          <a:prstGeom prst="roundRect">
            <a:avLst>
              <a:gd name="adj" fmla="val 117869"/>
            </a:avLst>
          </a:prstGeom>
          <a:solidFill>
            <a:srgbClr val="D8D4D4"/>
          </a:solidFill>
          <a:ln/>
        </p:spPr>
      </p:sp>
      <p:sp>
        <p:nvSpPr>
          <p:cNvPr id="5" name="Shape 2"/>
          <p:cNvSpPr/>
          <p:nvPr/>
        </p:nvSpPr>
        <p:spPr>
          <a:xfrm>
            <a:off x="6496288" y="1743789"/>
            <a:ext cx="538877" cy="22860"/>
          </a:xfrm>
          <a:prstGeom prst="roundRect">
            <a:avLst>
              <a:gd name="adj" fmla="val 117869"/>
            </a:avLst>
          </a:prstGeom>
          <a:solidFill>
            <a:srgbClr val="D8D4D4"/>
          </a:solidFill>
          <a:ln/>
        </p:spPr>
      </p:sp>
      <p:sp>
        <p:nvSpPr>
          <p:cNvPr id="6" name="Shape 3"/>
          <p:cNvSpPr/>
          <p:nvPr/>
        </p:nvSpPr>
        <p:spPr>
          <a:xfrm>
            <a:off x="6115050" y="1553170"/>
            <a:ext cx="404098" cy="404098"/>
          </a:xfrm>
          <a:prstGeom prst="roundRect">
            <a:avLst>
              <a:gd name="adj" fmla="val 6668"/>
            </a:avLst>
          </a:prstGeom>
          <a:solidFill>
            <a:srgbClr val="F2EEEE"/>
          </a:solidFill>
          <a:ln/>
        </p:spPr>
      </p:sp>
      <p:pic>
        <p:nvPicPr>
          <p:cNvPr id="7" name="Image 1" descr="preencoded.png">    </p:cNvPr>
          <p:cNvPicPr>
            <a:picLocks noChangeAspect="1"/>
          </p:cNvPicPr>
          <p:nvPr/>
        </p:nvPicPr>
        <p:blipFill>
          <a:blip r:embed="rId2"/>
          <a:stretch>
            <a:fillRect/>
          </a:stretch>
        </p:blipFill>
        <p:spPr>
          <a:xfrm>
            <a:off x="6182380" y="1586865"/>
            <a:ext cx="269438" cy="336709"/>
          </a:xfrm>
          <a:prstGeom prst="rect">
            <a:avLst/>
          </a:prstGeom>
        </p:spPr>
      </p:pic>
      <p:sp>
        <p:nvSpPr>
          <p:cNvPr id="8" name="Text 4"/>
          <p:cNvSpPr/>
          <p:nvPr/>
        </p:nvSpPr>
        <p:spPr>
          <a:xfrm>
            <a:off x="7215188" y="1614845"/>
            <a:ext cx="4495205" cy="280630"/>
          </a:xfrm>
          <a:prstGeom prst="rect">
            <a:avLst/>
          </a:prstGeom>
          <a:noFill/>
          <a:ln/>
        </p:spPr>
        <p:txBody>
          <a:bodyPr wrap="none" lIns="0" tIns="0" rIns="0" bIns="0" rtlCol="0" anchor="t"/>
          <a:lstStyle/>
          <a:p>
            <a:pPr algn="l" indent="0" marL="0">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"Raqamli O'zbekiston – 2030" strategiyasi</a:t>
            </a:r>
            <a:endParaRPr lang="en-US" sz="1750" dirty="0"/>
          </a:p>
        </p:txBody>
      </p:sp>
      <p:sp>
        <p:nvSpPr>
          <p:cNvPr id="9" name="Text 5"/>
          <p:cNvSpPr/>
          <p:nvPr/>
        </p:nvSpPr>
        <p:spPr>
          <a:xfrm>
            <a:off x="7215188" y="2003227"/>
            <a:ext cx="6786563" cy="574834"/>
          </a:xfrm>
          <a:prstGeom prst="rect">
            <a:avLst/>
          </a:prstGeom>
          <a:noFill/>
          <a:ln/>
        </p:spPr>
        <p:txBody>
          <a:bodyPr wrap="square" lIns="0" tIns="0" rIns="0" bIns="0" rtlCol="0" anchor="t"/>
          <a:lstStyle/>
          <a:p>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STEAM ta'limni rivojlantirish davlat siyosati darajasida ko'tarilgan va strategik hujjatlarda o'z aksini topgan</a:t>
            </a:r>
            <a:endParaRPr lang="en-US" sz="1400" dirty="0"/>
          </a:p>
        </p:txBody>
      </p:sp>
      <p:sp>
        <p:nvSpPr>
          <p:cNvPr id="10" name="Shape 6"/>
          <p:cNvSpPr/>
          <p:nvPr/>
        </p:nvSpPr>
        <p:spPr>
          <a:xfrm>
            <a:off x="6496288" y="3127891"/>
            <a:ext cx="538877" cy="22860"/>
          </a:xfrm>
          <a:prstGeom prst="roundRect">
            <a:avLst>
              <a:gd name="adj" fmla="val 117869"/>
            </a:avLst>
          </a:prstGeom>
          <a:solidFill>
            <a:srgbClr val="D8D4D4"/>
          </a:solidFill>
          <a:ln/>
        </p:spPr>
      </p:sp>
      <p:sp>
        <p:nvSpPr>
          <p:cNvPr id="11" name="Shape 7"/>
          <p:cNvSpPr/>
          <p:nvPr/>
        </p:nvSpPr>
        <p:spPr>
          <a:xfrm>
            <a:off x="6115050" y="2937272"/>
            <a:ext cx="404098" cy="404098"/>
          </a:xfrm>
          <a:prstGeom prst="roundRect">
            <a:avLst>
              <a:gd name="adj" fmla="val 6668"/>
            </a:avLst>
          </a:prstGeom>
          <a:solidFill>
            <a:srgbClr val="F2EEEE"/>
          </a:solidFill>
          <a:ln/>
        </p:spPr>
      </p:sp>
      <p:pic>
        <p:nvPicPr>
          <p:cNvPr id="12" name="Image 2" descr="preencoded.png">    </p:cNvPr>
          <p:cNvPicPr>
            <a:picLocks noChangeAspect="1"/>
          </p:cNvPicPr>
          <p:nvPr/>
        </p:nvPicPr>
        <p:blipFill>
          <a:blip r:embed="rId3"/>
          <a:stretch>
            <a:fillRect/>
          </a:stretch>
        </p:blipFill>
        <p:spPr>
          <a:xfrm>
            <a:off x="6182380" y="2970967"/>
            <a:ext cx="269438" cy="336709"/>
          </a:xfrm>
          <a:prstGeom prst="rect">
            <a:avLst/>
          </a:prstGeom>
        </p:spPr>
      </p:pic>
      <p:sp>
        <p:nvSpPr>
          <p:cNvPr id="13" name="Text 8"/>
          <p:cNvSpPr/>
          <p:nvPr/>
        </p:nvSpPr>
        <p:spPr>
          <a:xfrm>
            <a:off x="7215188" y="2998946"/>
            <a:ext cx="5664994" cy="280630"/>
          </a:xfrm>
          <a:prstGeom prst="rect">
            <a:avLst/>
          </a:prstGeom>
          <a:noFill/>
          <a:ln/>
        </p:spPr>
        <p:txBody>
          <a:bodyPr wrap="none" lIns="0" tIns="0" rIns="0" bIns="0" rtlCol="0" anchor="t"/>
          <a:lstStyle/>
          <a:p>
            <a:pPr algn="l" indent="0" marL="0">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Prezident maktablari va ixtisoslashtirilgan maktablar</a:t>
            </a:r>
            <a:endParaRPr lang="en-US" sz="1750" dirty="0"/>
          </a:p>
        </p:txBody>
      </p:sp>
      <p:sp>
        <p:nvSpPr>
          <p:cNvPr id="14" name="Text 9"/>
          <p:cNvSpPr/>
          <p:nvPr/>
        </p:nvSpPr>
        <p:spPr>
          <a:xfrm>
            <a:off x="7215188" y="3387328"/>
            <a:ext cx="6786563" cy="287417"/>
          </a:xfrm>
          <a:prstGeom prst="rect">
            <a:avLst/>
          </a:prstGeom>
          <a:noFill/>
          <a:ln/>
        </p:spPr>
        <p:txBody>
          <a:bodyPr wrap="none" lIns="0" tIns="0" rIns="0" bIns="0" rtlCol="0" anchor="t"/>
          <a:lstStyle/>
          <a:p>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Elita ta'lim muassasalarida STEAM yondashuvini keng joriy etish boshlangan</a:t>
            </a:r>
            <a:endParaRPr lang="en-US" sz="1400" dirty="0"/>
          </a:p>
        </p:txBody>
      </p:sp>
      <p:sp>
        <p:nvSpPr>
          <p:cNvPr id="15" name="Shape 10"/>
          <p:cNvSpPr/>
          <p:nvPr/>
        </p:nvSpPr>
        <p:spPr>
          <a:xfrm>
            <a:off x="6496288" y="4224576"/>
            <a:ext cx="538877" cy="22860"/>
          </a:xfrm>
          <a:prstGeom prst="roundRect">
            <a:avLst>
              <a:gd name="adj" fmla="val 117869"/>
            </a:avLst>
          </a:prstGeom>
          <a:solidFill>
            <a:srgbClr val="D8D4D4"/>
          </a:solidFill>
          <a:ln/>
        </p:spPr>
      </p:sp>
      <p:sp>
        <p:nvSpPr>
          <p:cNvPr id="16" name="Shape 11"/>
          <p:cNvSpPr/>
          <p:nvPr/>
        </p:nvSpPr>
        <p:spPr>
          <a:xfrm>
            <a:off x="6115050" y="4033957"/>
            <a:ext cx="404098" cy="404098"/>
          </a:xfrm>
          <a:prstGeom prst="roundRect">
            <a:avLst>
              <a:gd name="adj" fmla="val 6668"/>
            </a:avLst>
          </a:prstGeom>
          <a:solidFill>
            <a:srgbClr val="F2EEEE"/>
          </a:solidFill>
          <a:ln/>
        </p:spPr>
      </p:sp>
      <p:pic>
        <p:nvPicPr>
          <p:cNvPr id="17" name="Image 3" descr="preencoded.png">    </p:cNvPr>
          <p:cNvPicPr>
            <a:picLocks noChangeAspect="1"/>
          </p:cNvPicPr>
          <p:nvPr/>
        </p:nvPicPr>
        <p:blipFill>
          <a:blip r:embed="rId4"/>
          <a:stretch>
            <a:fillRect/>
          </a:stretch>
        </p:blipFill>
        <p:spPr>
          <a:xfrm>
            <a:off x="6182380" y="4067651"/>
            <a:ext cx="269438" cy="336709"/>
          </a:xfrm>
          <a:prstGeom prst="rect">
            <a:avLst/>
          </a:prstGeom>
        </p:spPr>
      </p:pic>
      <p:sp>
        <p:nvSpPr>
          <p:cNvPr id="18" name="Text 12"/>
          <p:cNvSpPr/>
          <p:nvPr/>
        </p:nvSpPr>
        <p:spPr>
          <a:xfrm>
            <a:off x="7215188" y="4095631"/>
            <a:ext cx="3430548" cy="280630"/>
          </a:xfrm>
          <a:prstGeom prst="rect">
            <a:avLst/>
          </a:prstGeom>
          <a:noFill/>
          <a:ln/>
        </p:spPr>
        <p:txBody>
          <a:bodyPr wrap="none" lIns="0" tIns="0" rIns="0" bIns="0" rtlCol="0" anchor="t"/>
          <a:lstStyle/>
          <a:p>
            <a:pPr algn="l" indent="0" marL="0">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"STEAM Uzbekistan" platformasi</a:t>
            </a:r>
            <a:endParaRPr lang="en-US" sz="1750" dirty="0"/>
          </a:p>
        </p:txBody>
      </p:sp>
      <p:sp>
        <p:nvSpPr>
          <p:cNvPr id="19" name="Text 13"/>
          <p:cNvSpPr/>
          <p:nvPr/>
        </p:nvSpPr>
        <p:spPr>
          <a:xfrm>
            <a:off x="7215188" y="4484013"/>
            <a:ext cx="6786563" cy="574834"/>
          </a:xfrm>
          <a:prstGeom prst="rect">
            <a:avLst/>
          </a:prstGeom>
          <a:noFill/>
          <a:ln/>
        </p:spPr>
        <p:txBody>
          <a:bodyPr wrap="square" lIns="0" tIns="0" rIns="0" bIns="0" rtlCol="0" anchor="t"/>
          <a:lstStyle/>
          <a:p>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O'qituvchilar va o'quvchilar uchun metodik resurslar va o'quv materiallarini taqdim etuvchi milliy platforma yaratilgan</a:t>
            </a:r>
            <a:endParaRPr lang="en-US" sz="1400" dirty="0"/>
          </a:p>
        </p:txBody>
      </p:sp>
      <p:sp>
        <p:nvSpPr>
          <p:cNvPr id="20" name="Shape 14"/>
          <p:cNvSpPr/>
          <p:nvPr/>
        </p:nvSpPr>
        <p:spPr>
          <a:xfrm>
            <a:off x="6496288" y="5608677"/>
            <a:ext cx="538877" cy="22860"/>
          </a:xfrm>
          <a:prstGeom prst="roundRect">
            <a:avLst>
              <a:gd name="adj" fmla="val 117869"/>
            </a:avLst>
          </a:prstGeom>
          <a:solidFill>
            <a:srgbClr val="D8D4D4"/>
          </a:solidFill>
          <a:ln/>
        </p:spPr>
      </p:sp>
      <p:sp>
        <p:nvSpPr>
          <p:cNvPr id="21" name="Shape 15"/>
          <p:cNvSpPr/>
          <p:nvPr/>
        </p:nvSpPr>
        <p:spPr>
          <a:xfrm>
            <a:off x="6115050" y="5418058"/>
            <a:ext cx="404098" cy="404098"/>
          </a:xfrm>
          <a:prstGeom prst="roundRect">
            <a:avLst>
              <a:gd name="adj" fmla="val 6668"/>
            </a:avLst>
          </a:prstGeom>
          <a:solidFill>
            <a:srgbClr val="F2EEEE"/>
          </a:solidFill>
          <a:ln/>
        </p:spPr>
      </p:sp>
      <p:pic>
        <p:nvPicPr>
          <p:cNvPr id="22" name="Image 4" descr="preencoded.png">    </p:cNvPr>
          <p:cNvPicPr>
            <a:picLocks noChangeAspect="1"/>
          </p:cNvPicPr>
          <p:nvPr/>
        </p:nvPicPr>
        <p:blipFill>
          <a:blip r:embed="rId5"/>
          <a:stretch>
            <a:fillRect/>
          </a:stretch>
        </p:blipFill>
        <p:spPr>
          <a:xfrm>
            <a:off x="6182380" y="5451753"/>
            <a:ext cx="269438" cy="336709"/>
          </a:xfrm>
          <a:prstGeom prst="rect">
            <a:avLst/>
          </a:prstGeom>
        </p:spPr>
      </p:pic>
      <p:sp>
        <p:nvSpPr>
          <p:cNvPr id="23" name="Text 16"/>
          <p:cNvSpPr/>
          <p:nvPr/>
        </p:nvSpPr>
        <p:spPr>
          <a:xfrm>
            <a:off x="7215188" y="5479733"/>
            <a:ext cx="2245400" cy="280630"/>
          </a:xfrm>
          <a:prstGeom prst="rect">
            <a:avLst/>
          </a:prstGeom>
          <a:noFill/>
          <a:ln/>
        </p:spPr>
        <p:txBody>
          <a:bodyPr wrap="none" lIns="0" tIns="0" rIns="0" bIns="0" rtlCol="0" anchor="t"/>
          <a:lstStyle/>
          <a:p>
            <a:pPr algn="l" indent="0" marL="0">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Xalqaro hamkorlik</a:t>
            </a:r>
            <a:endParaRPr lang="en-US" sz="1750" dirty="0"/>
          </a:p>
        </p:txBody>
      </p:sp>
      <p:sp>
        <p:nvSpPr>
          <p:cNvPr id="24" name="Text 17"/>
          <p:cNvSpPr/>
          <p:nvPr/>
        </p:nvSpPr>
        <p:spPr>
          <a:xfrm>
            <a:off x="7215188" y="5868114"/>
            <a:ext cx="6786563" cy="574834"/>
          </a:xfrm>
          <a:prstGeom prst="rect">
            <a:avLst/>
          </a:prstGeom>
          <a:noFill/>
          <a:ln/>
        </p:spPr>
        <p:txBody>
          <a:bodyPr wrap="square" lIns="0" tIns="0" rIns="0" bIns="0" rtlCol="0" anchor="t"/>
          <a:lstStyle/>
          <a:p>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Xorijiy mamlakatlar tajribasini o'rganish va STEAM sohasida xalqaro loyihalarni amalga oshirish</a:t>
            </a:r>
            <a:endParaRPr lang="en-US" sz="1400" dirty="0"/>
          </a:p>
        </p:txBody>
      </p:sp>
      <p:sp>
        <p:nvSpPr>
          <p:cNvPr id="25" name="Text 18"/>
          <p:cNvSpPr/>
          <p:nvPr/>
        </p:nvSpPr>
        <p:spPr>
          <a:xfrm>
            <a:off x="6115050" y="6644997"/>
            <a:ext cx="7886700" cy="862251"/>
          </a:xfrm>
          <a:prstGeom prst="rect">
            <a:avLst/>
          </a:prstGeom>
          <a:noFill/>
          <a:ln/>
        </p:spPr>
        <p:txBody>
          <a:bodyPr wrap="square" lIns="0" tIns="0" rIns="0" bIns="0" rtlCol="0" anchor="t"/>
          <a:lstStyle/>
          <a:p>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O'zbekistonda STEAM ta'lim tizimini rivojlantirish davlat siyosati darajasida olib borilmoqda. "Raqamli O'zbekiston – 2030" strategiyasi doirasida ta'lim muassasalarini zamonaviy jihozlar bilan ta'minlash va o'qituvchilarni malakasini oshirish ishlari amalga oshirilmoqda.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2711" y="575786"/>
            <a:ext cx="8177689" cy="654248"/>
          </a:xfrm>
          <a:prstGeom prst="rect">
            <a:avLst/>
          </a:prstGeom>
          <a:noFill/>
          <a:ln/>
        </p:spPr>
        <p:txBody>
          <a:bodyPr wrap="none" lIns="0" tIns="0" rIns="0" bIns="0" rtlCol="0" anchor="t"/>
          <a:lstStyle/>
          <a:p>
            <a:pPr algn="l" indent="0" marL="0">
              <a:lnSpc>
                <a:spcPts val="5150"/>
              </a:lnSpc>
              <a:buNone/>
            </a:pPr>
            <a:r>
              <a:rPr lang="en-US" sz="4100" dirty="0">
                <a:solidFill>
                  <a:srgbClr val="030303"/>
                </a:solidFill>
                <a:latin typeface="DM Sans Semi Bold" pitchFamily="34" charset="0"/>
                <a:ea typeface="DM Sans Semi Bold" pitchFamily="34" charset="-122"/>
                <a:cs typeface="DM Sans Semi Bold" pitchFamily="34" charset="-120"/>
              </a:rPr>
              <a:t>Virtual reality va interaktiv ta'lim</a:t>
            </a:r>
            <a:endParaRPr lang="en-US" sz="4100" dirty="0"/>
          </a:p>
        </p:txBody>
      </p:sp>
      <p:pic>
        <p:nvPicPr>
          <p:cNvPr id="3" name="Image 0" descr="preencoded.png">    </p:cNvPr>
          <p:cNvPicPr>
            <a:picLocks noChangeAspect="1"/>
          </p:cNvPicPr>
          <p:nvPr/>
        </p:nvPicPr>
        <p:blipFill>
          <a:blip r:embed="rId1"/>
          <a:stretch>
            <a:fillRect/>
          </a:stretch>
        </p:blipFill>
        <p:spPr>
          <a:xfrm>
            <a:off x="732711" y="1648777"/>
            <a:ext cx="4213860" cy="2604254"/>
          </a:xfrm>
          <a:prstGeom prst="rect">
            <a:avLst/>
          </a:prstGeom>
        </p:spPr>
      </p:pic>
      <p:sp>
        <p:nvSpPr>
          <p:cNvPr id="4" name="Text 1"/>
          <p:cNvSpPr/>
          <p:nvPr/>
        </p:nvSpPr>
        <p:spPr>
          <a:xfrm>
            <a:off x="732711" y="4514731"/>
            <a:ext cx="2751892" cy="327065"/>
          </a:xfrm>
          <a:prstGeom prst="rect">
            <a:avLst/>
          </a:prstGeom>
          <a:noFill/>
          <a:ln/>
        </p:spPr>
        <p:txBody>
          <a:bodyPr wrap="none" lIns="0" tIns="0" rIns="0" bIns="0" rtlCol="0" anchor="t"/>
          <a:lstStyle/>
          <a:p>
            <a:pPr algn="l" indent="0" marL="0">
              <a:lnSpc>
                <a:spcPts val="2550"/>
              </a:lnSpc>
              <a:buNone/>
            </a:pPr>
            <a:r>
              <a:rPr lang="en-US" sz="2050" dirty="0">
                <a:solidFill>
                  <a:srgbClr val="464646"/>
                </a:solidFill>
                <a:latin typeface="DM Sans Semi Bold" pitchFamily="34" charset="0"/>
                <a:ea typeface="DM Sans Semi Bold" pitchFamily="34" charset="-122"/>
                <a:cs typeface="DM Sans Semi Bold" pitchFamily="34" charset="-120"/>
              </a:rPr>
              <a:t>Virtual laboratoriyalar</a:t>
            </a:r>
            <a:endParaRPr lang="en-US" sz="2050" dirty="0"/>
          </a:p>
        </p:txBody>
      </p:sp>
      <p:sp>
        <p:nvSpPr>
          <p:cNvPr id="5" name="Text 2"/>
          <p:cNvSpPr/>
          <p:nvPr/>
        </p:nvSpPr>
        <p:spPr>
          <a:xfrm>
            <a:off x="732711" y="4967407"/>
            <a:ext cx="4213860" cy="2010251"/>
          </a:xfrm>
          <a:prstGeom prst="rect">
            <a:avLst/>
          </a:prstGeom>
          <a:noFill/>
          <a:ln/>
        </p:spPr>
        <p:txBody>
          <a:bodyPr wrap="square" lIns="0" tIns="0" rIns="0" bIns="0" rtlCol="0" anchor="t"/>
          <a:lstStyle/>
          <a:p>
            <a:pPr algn="l" indent="0" marL="0">
              <a:lnSpc>
                <a:spcPts val="2600"/>
              </a:lnSpc>
              <a:buNone/>
            </a:pPr>
            <a:r>
              <a:rPr lang="en-US" sz="1600" dirty="0">
                <a:solidFill>
                  <a:srgbClr val="464646"/>
                </a:solidFill>
                <a:latin typeface="Inter Medium" pitchFamily="34" charset="0"/>
                <a:ea typeface="Inter Medium" pitchFamily="34" charset="-122"/>
                <a:cs typeface="Inter Medium" pitchFamily="34" charset="-120"/>
              </a:rPr>
              <a:t>Virtual reality texnologiyalari orqali o'quvchilar xavfsiz muhitda murakkab tajribalarni o'tkazish imkoniyatiga ega bo'ladilar. Bu ayniqsa kimyo, fizika va biologiya fanlarini o'rganishda katta ahamiyatga ega.</a:t>
            </a:r>
            <a:endParaRPr lang="en-US" sz="1600" dirty="0"/>
          </a:p>
        </p:txBody>
      </p:sp>
      <p:pic>
        <p:nvPicPr>
          <p:cNvPr id="6" name="Image 1" descr="preencoded.png">    </p:cNvPr>
          <p:cNvPicPr>
            <a:picLocks noChangeAspect="1"/>
          </p:cNvPicPr>
          <p:nvPr/>
        </p:nvPicPr>
        <p:blipFill>
          <a:blip r:embed="rId2"/>
          <a:stretch>
            <a:fillRect/>
          </a:stretch>
        </p:blipFill>
        <p:spPr>
          <a:xfrm>
            <a:off x="5208270" y="1648777"/>
            <a:ext cx="4213860" cy="2604254"/>
          </a:xfrm>
          <a:prstGeom prst="rect">
            <a:avLst/>
          </a:prstGeom>
        </p:spPr>
      </p:pic>
      <p:sp>
        <p:nvSpPr>
          <p:cNvPr id="7" name="Text 3"/>
          <p:cNvSpPr/>
          <p:nvPr/>
        </p:nvSpPr>
        <p:spPr>
          <a:xfrm>
            <a:off x="5208270" y="4514731"/>
            <a:ext cx="3227427" cy="327065"/>
          </a:xfrm>
          <a:prstGeom prst="rect">
            <a:avLst/>
          </a:prstGeom>
          <a:noFill/>
          <a:ln/>
        </p:spPr>
        <p:txBody>
          <a:bodyPr wrap="none" lIns="0" tIns="0" rIns="0" bIns="0" rtlCol="0" anchor="t"/>
          <a:lstStyle/>
          <a:p>
            <a:pPr algn="l" indent="0" marL="0">
              <a:lnSpc>
                <a:spcPts val="2550"/>
              </a:lnSpc>
              <a:buNone/>
            </a:pPr>
            <a:r>
              <a:rPr lang="en-US" sz="2050" dirty="0">
                <a:solidFill>
                  <a:srgbClr val="464646"/>
                </a:solidFill>
                <a:latin typeface="DM Sans Semi Bold" pitchFamily="34" charset="0"/>
                <a:ea typeface="DM Sans Semi Bold" pitchFamily="34" charset="-122"/>
                <a:cs typeface="DM Sans Semi Bold" pitchFamily="34" charset="-120"/>
              </a:rPr>
              <a:t>Kengaytirilgan reallik (AR)</a:t>
            </a:r>
            <a:endParaRPr lang="en-US" sz="2050" dirty="0"/>
          </a:p>
        </p:txBody>
      </p:sp>
      <p:sp>
        <p:nvSpPr>
          <p:cNvPr id="8" name="Text 4"/>
          <p:cNvSpPr/>
          <p:nvPr/>
        </p:nvSpPr>
        <p:spPr>
          <a:xfrm>
            <a:off x="5208270" y="4967407"/>
            <a:ext cx="4213860" cy="1675209"/>
          </a:xfrm>
          <a:prstGeom prst="rect">
            <a:avLst/>
          </a:prstGeom>
          <a:noFill/>
          <a:ln/>
        </p:spPr>
        <p:txBody>
          <a:bodyPr wrap="square" lIns="0" tIns="0" rIns="0" bIns="0" rtlCol="0" anchor="t"/>
          <a:lstStyle/>
          <a:p>
            <a:pPr algn="l" indent="0" marL="0">
              <a:lnSpc>
                <a:spcPts val="2600"/>
              </a:lnSpc>
              <a:buNone/>
            </a:pPr>
            <a:r>
              <a:rPr lang="en-US" sz="1600" dirty="0">
                <a:solidFill>
                  <a:srgbClr val="464646"/>
                </a:solidFill>
                <a:latin typeface="Inter Medium" pitchFamily="34" charset="0"/>
                <a:ea typeface="Inter Medium" pitchFamily="34" charset="-122"/>
                <a:cs typeface="Inter Medium" pitchFamily="34" charset="-120"/>
              </a:rPr>
              <a:t>Augmented reality texnologiyalari orqali o'quvchilar o'rganilayotgan ob'ektlarning uch o'lchamli modellarini ko'rish va ular bilan o'zaro ta'sirda bo'lish imkoniyatiga ega bo'ladilar.</a:t>
            </a:r>
            <a:endParaRPr lang="en-US" sz="1600" dirty="0"/>
          </a:p>
        </p:txBody>
      </p:sp>
      <p:pic>
        <p:nvPicPr>
          <p:cNvPr id="9" name="Image 2" descr="preencoded.png">    </p:cNvPr>
          <p:cNvPicPr>
            <a:picLocks noChangeAspect="1"/>
          </p:cNvPicPr>
          <p:nvPr/>
        </p:nvPicPr>
        <p:blipFill>
          <a:blip r:embed="rId3"/>
          <a:stretch>
            <a:fillRect/>
          </a:stretch>
        </p:blipFill>
        <p:spPr>
          <a:xfrm>
            <a:off x="9683829" y="1648777"/>
            <a:ext cx="4213860" cy="2604254"/>
          </a:xfrm>
          <a:prstGeom prst="rect">
            <a:avLst/>
          </a:prstGeom>
        </p:spPr>
      </p:pic>
      <p:sp>
        <p:nvSpPr>
          <p:cNvPr id="10" name="Text 5"/>
          <p:cNvSpPr/>
          <p:nvPr/>
        </p:nvSpPr>
        <p:spPr>
          <a:xfrm>
            <a:off x="9683829" y="4514731"/>
            <a:ext cx="3422571" cy="327065"/>
          </a:xfrm>
          <a:prstGeom prst="rect">
            <a:avLst/>
          </a:prstGeom>
          <a:noFill/>
          <a:ln/>
        </p:spPr>
        <p:txBody>
          <a:bodyPr wrap="none" lIns="0" tIns="0" rIns="0" bIns="0" rtlCol="0" anchor="t"/>
          <a:lstStyle/>
          <a:p>
            <a:pPr algn="l" indent="0" marL="0">
              <a:lnSpc>
                <a:spcPts val="2550"/>
              </a:lnSpc>
              <a:buNone/>
            </a:pPr>
            <a:r>
              <a:rPr lang="en-US" sz="2050" dirty="0">
                <a:solidFill>
                  <a:srgbClr val="464646"/>
                </a:solidFill>
                <a:latin typeface="DM Sans Semi Bold" pitchFamily="34" charset="0"/>
                <a:ea typeface="DM Sans Semi Bold" pitchFamily="34" charset="-122"/>
                <a:cs typeface="DM Sans Semi Bold" pitchFamily="34" charset="-120"/>
              </a:rPr>
              <a:t>Interaktiv o'quv materiallari</a:t>
            </a:r>
            <a:endParaRPr lang="en-US" sz="2050" dirty="0"/>
          </a:p>
        </p:txBody>
      </p:sp>
      <p:sp>
        <p:nvSpPr>
          <p:cNvPr id="11" name="Text 6"/>
          <p:cNvSpPr/>
          <p:nvPr/>
        </p:nvSpPr>
        <p:spPr>
          <a:xfrm>
            <a:off x="9683829" y="4967407"/>
            <a:ext cx="4213860" cy="1340168"/>
          </a:xfrm>
          <a:prstGeom prst="rect">
            <a:avLst/>
          </a:prstGeom>
          <a:noFill/>
          <a:ln/>
        </p:spPr>
        <p:txBody>
          <a:bodyPr wrap="square" lIns="0" tIns="0" rIns="0" bIns="0" rtlCol="0" anchor="t"/>
          <a:lstStyle/>
          <a:p>
            <a:pPr algn="l" indent="0" marL="0">
              <a:lnSpc>
                <a:spcPts val="2600"/>
              </a:lnSpc>
              <a:buNone/>
            </a:pPr>
            <a:r>
              <a:rPr lang="en-US" sz="1600" dirty="0">
                <a:solidFill>
                  <a:srgbClr val="464646"/>
                </a:solidFill>
                <a:latin typeface="Inter Medium" pitchFamily="34" charset="0"/>
                <a:ea typeface="Inter Medium" pitchFamily="34" charset="-122"/>
                <a:cs typeface="Inter Medium" pitchFamily="34" charset="-120"/>
              </a:rPr>
              <a:t>Interaktiv darsliklar, simulyatorlar va o'quv o'yinlari o'quvchilarning mavzuni chuqur tushunishi va ko'nikmalarni amalda qo'llashiga yordam beradi.</a:t>
            </a:r>
            <a:endParaRPr lang="en-US" sz="1600" dirty="0"/>
          </a:p>
        </p:txBody>
      </p:sp>
      <p:sp>
        <p:nvSpPr>
          <p:cNvPr id="12" name="Text 7"/>
          <p:cNvSpPr/>
          <p:nvPr/>
        </p:nvSpPr>
        <p:spPr>
          <a:xfrm>
            <a:off x="732711" y="7213163"/>
            <a:ext cx="13164979" cy="670084"/>
          </a:xfrm>
          <a:prstGeom prst="rect">
            <a:avLst/>
          </a:prstGeom>
          <a:noFill/>
          <a:ln/>
        </p:spPr>
        <p:txBody>
          <a:bodyPr wrap="square" lIns="0" tIns="0" rIns="0" bIns="0" rtlCol="0" anchor="t"/>
          <a:lstStyle/>
          <a:p>
            <a:pPr algn="l" indent="0" marL="0">
              <a:lnSpc>
                <a:spcPts val="2600"/>
              </a:lnSpc>
              <a:buNone/>
            </a:pPr>
            <a:r>
              <a:rPr lang="en-US" sz="1600" dirty="0">
                <a:solidFill>
                  <a:srgbClr val="464646"/>
                </a:solidFill>
                <a:latin typeface="Inter Medium" pitchFamily="34" charset="0"/>
                <a:ea typeface="Inter Medium" pitchFamily="34" charset="-122"/>
                <a:cs typeface="Inter Medium" pitchFamily="34" charset="-120"/>
              </a:rPr>
              <a:t>Zamonaviy VR va AR texnologiyalari STEAM ta'limni yangi bosqichga olib chiqmoqda. Bu texnologiyalar orqali o'quvchilar nazariy bilimlarni vizual tarzda ko'rish va tajribalar o'tkazish imkoniyatiga ega bo'lmoqdalar.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5330" y="578644"/>
            <a:ext cx="8324493" cy="656630"/>
          </a:xfrm>
          <a:prstGeom prst="rect">
            <a:avLst/>
          </a:prstGeom>
          <a:noFill/>
          <a:ln/>
        </p:spPr>
        <p:txBody>
          <a:bodyPr wrap="none" lIns="0" tIns="0" rIns="0" bIns="0" rtlCol="0" anchor="t"/>
          <a:lstStyle/>
          <a:p>
            <a:pPr algn="l" indent="0" marL="0">
              <a:lnSpc>
                <a:spcPts val="5150"/>
              </a:lnSpc>
              <a:buNone/>
            </a:pPr>
            <a:r>
              <a:rPr lang="en-US" sz="4100" dirty="0">
                <a:solidFill>
                  <a:srgbClr val="030303"/>
                </a:solidFill>
                <a:latin typeface="DM Sans Semi Bold" pitchFamily="34" charset="0"/>
                <a:ea typeface="DM Sans Semi Bold" pitchFamily="34" charset="-122"/>
                <a:cs typeface="DM Sans Semi Bold" pitchFamily="34" charset="-120"/>
              </a:rPr>
              <a:t>STEAM platformasi integratsiyasi</a:t>
            </a:r>
            <a:endParaRPr lang="en-US" sz="4100" dirty="0"/>
          </a:p>
        </p:txBody>
      </p:sp>
      <p:sp>
        <p:nvSpPr>
          <p:cNvPr id="3" name="Shape 1"/>
          <p:cNvSpPr/>
          <p:nvPr/>
        </p:nvSpPr>
        <p:spPr>
          <a:xfrm>
            <a:off x="735330" y="1655445"/>
            <a:ext cx="2193250" cy="1210508"/>
          </a:xfrm>
          <a:prstGeom prst="roundRect">
            <a:avLst>
              <a:gd name="adj" fmla="val 2603"/>
            </a:avLst>
          </a:prstGeom>
          <a:solidFill>
            <a:srgbClr val="F2EEEE"/>
          </a:solidFill>
          <a:ln/>
        </p:spPr>
      </p:sp>
      <p:pic>
        <p:nvPicPr>
          <p:cNvPr id="4" name="Image 0" descr="preencoded.png">    </p:cNvPr>
          <p:cNvPicPr>
            <a:picLocks noChangeAspect="1"/>
          </p:cNvPicPr>
          <p:nvPr/>
        </p:nvPicPr>
        <p:blipFill>
          <a:blip r:embed="rId1"/>
          <a:stretch>
            <a:fillRect/>
          </a:stretch>
        </p:blipFill>
        <p:spPr>
          <a:xfrm>
            <a:off x="1684258" y="2076093"/>
            <a:ext cx="295394" cy="369213"/>
          </a:xfrm>
          <a:prstGeom prst="rect">
            <a:avLst/>
          </a:prstGeom>
        </p:spPr>
      </p:pic>
      <p:sp>
        <p:nvSpPr>
          <p:cNvPr id="5" name="Text 2"/>
          <p:cNvSpPr/>
          <p:nvPr/>
        </p:nvSpPr>
        <p:spPr>
          <a:xfrm>
            <a:off x="3138607" y="1865471"/>
            <a:ext cx="2626162" cy="328255"/>
          </a:xfrm>
          <a:prstGeom prst="rect">
            <a:avLst/>
          </a:prstGeom>
          <a:noFill/>
          <a:ln/>
        </p:spPr>
        <p:txBody>
          <a:bodyPr wrap="none" lIns="0" tIns="0" rIns="0" bIns="0" rtlCol="0" anchor="t"/>
          <a:lstStyle/>
          <a:p>
            <a:pPr algn="l" indent="0" marL="0">
              <a:lnSpc>
                <a:spcPts val="2550"/>
              </a:lnSpc>
              <a:buNone/>
            </a:pPr>
            <a:r>
              <a:rPr lang="en-US" sz="2050" dirty="0">
                <a:solidFill>
                  <a:srgbClr val="464646"/>
                </a:solidFill>
                <a:latin typeface="DM Sans Semi Bold" pitchFamily="34" charset="0"/>
                <a:ea typeface="DM Sans Semi Bold" pitchFamily="34" charset="-122"/>
                <a:cs typeface="DM Sans Semi Bold" pitchFamily="34" charset="-120"/>
              </a:rPr>
              <a:t>Maktabgacha ta'lim</a:t>
            </a:r>
            <a:endParaRPr lang="en-US" sz="2050" dirty="0"/>
          </a:p>
        </p:txBody>
      </p:sp>
      <p:sp>
        <p:nvSpPr>
          <p:cNvPr id="6" name="Text 3"/>
          <p:cNvSpPr/>
          <p:nvPr/>
        </p:nvSpPr>
        <p:spPr>
          <a:xfrm>
            <a:off x="3138607" y="2319695"/>
            <a:ext cx="5167551" cy="336233"/>
          </a:xfrm>
          <a:prstGeom prst="rect">
            <a:avLst/>
          </a:prstGeom>
          <a:noFill/>
          <a:ln/>
        </p:spPr>
        <p:txBody>
          <a:bodyPr wrap="none" lIns="0" tIns="0" rIns="0" bIns="0" rtlCol="0" anchor="t"/>
          <a:lstStyle/>
          <a:p>
            <a:pPr algn="l" indent="0" marL="0">
              <a:lnSpc>
                <a:spcPts val="2600"/>
              </a:lnSpc>
              <a:buNone/>
            </a:pPr>
            <a:r>
              <a:rPr lang="en-US" sz="1650" dirty="0">
                <a:solidFill>
                  <a:srgbClr val="464646"/>
                </a:solidFill>
                <a:latin typeface="Inter Medium" pitchFamily="34" charset="0"/>
                <a:ea typeface="Inter Medium" pitchFamily="34" charset="-122"/>
                <a:cs typeface="Inter Medium" pitchFamily="34" charset="-120"/>
              </a:rPr>
              <a:t>Bolalarda dastlabki ilmiy tasavvurlarni shakllantirish</a:t>
            </a:r>
            <a:endParaRPr lang="en-US" sz="1650" dirty="0"/>
          </a:p>
        </p:txBody>
      </p:sp>
      <p:sp>
        <p:nvSpPr>
          <p:cNvPr id="7" name="Shape 4"/>
          <p:cNvSpPr/>
          <p:nvPr/>
        </p:nvSpPr>
        <p:spPr>
          <a:xfrm>
            <a:off x="3033593" y="2856428"/>
            <a:ext cx="10756463" cy="11430"/>
          </a:xfrm>
          <a:prstGeom prst="roundRect">
            <a:avLst>
              <a:gd name="adj" fmla="val 275719"/>
            </a:avLst>
          </a:prstGeom>
          <a:solidFill>
            <a:srgbClr val="D8D4D4"/>
          </a:solidFill>
          <a:ln/>
        </p:spPr>
      </p:sp>
      <p:sp>
        <p:nvSpPr>
          <p:cNvPr id="8" name="Shape 5"/>
          <p:cNvSpPr/>
          <p:nvPr/>
        </p:nvSpPr>
        <p:spPr>
          <a:xfrm>
            <a:off x="735330" y="2970967"/>
            <a:ext cx="4386501" cy="1210508"/>
          </a:xfrm>
          <a:prstGeom prst="roundRect">
            <a:avLst>
              <a:gd name="adj" fmla="val 2603"/>
            </a:avLst>
          </a:prstGeom>
          <a:solidFill>
            <a:srgbClr val="F2EEEE"/>
          </a:solidFill>
          <a:ln/>
        </p:spPr>
      </p:sp>
      <p:pic>
        <p:nvPicPr>
          <p:cNvPr id="9" name="Image 1" descr="preencoded.png">    </p:cNvPr>
          <p:cNvPicPr>
            <a:picLocks noChangeAspect="1"/>
          </p:cNvPicPr>
          <p:nvPr/>
        </p:nvPicPr>
        <p:blipFill>
          <a:blip r:embed="rId2"/>
          <a:stretch>
            <a:fillRect/>
          </a:stretch>
        </p:blipFill>
        <p:spPr>
          <a:xfrm>
            <a:off x="2780824" y="3391614"/>
            <a:ext cx="295394" cy="369213"/>
          </a:xfrm>
          <a:prstGeom prst="rect">
            <a:avLst/>
          </a:prstGeom>
        </p:spPr>
      </p:pic>
      <p:sp>
        <p:nvSpPr>
          <p:cNvPr id="10" name="Text 6"/>
          <p:cNvSpPr/>
          <p:nvPr/>
        </p:nvSpPr>
        <p:spPr>
          <a:xfrm>
            <a:off x="5331857" y="3180993"/>
            <a:ext cx="2626162" cy="328255"/>
          </a:xfrm>
          <a:prstGeom prst="rect">
            <a:avLst/>
          </a:prstGeom>
          <a:noFill/>
          <a:ln/>
        </p:spPr>
        <p:txBody>
          <a:bodyPr wrap="none" lIns="0" tIns="0" rIns="0" bIns="0" rtlCol="0" anchor="t"/>
          <a:lstStyle/>
          <a:p>
            <a:pPr algn="l" indent="0" marL="0">
              <a:lnSpc>
                <a:spcPts val="2550"/>
              </a:lnSpc>
              <a:buNone/>
            </a:pPr>
            <a:r>
              <a:rPr lang="en-US" sz="2050" dirty="0">
                <a:solidFill>
                  <a:srgbClr val="464646"/>
                </a:solidFill>
                <a:latin typeface="DM Sans Semi Bold" pitchFamily="34" charset="0"/>
                <a:ea typeface="DM Sans Semi Bold" pitchFamily="34" charset="-122"/>
                <a:cs typeface="DM Sans Semi Bold" pitchFamily="34" charset="-120"/>
              </a:rPr>
              <a:t>Umumiy o'rta ta'lim</a:t>
            </a:r>
            <a:endParaRPr lang="en-US" sz="2050" dirty="0"/>
          </a:p>
        </p:txBody>
      </p:sp>
      <p:sp>
        <p:nvSpPr>
          <p:cNvPr id="11" name="Text 7"/>
          <p:cNvSpPr/>
          <p:nvPr/>
        </p:nvSpPr>
        <p:spPr>
          <a:xfrm>
            <a:off x="5331857" y="3635216"/>
            <a:ext cx="5054322" cy="336233"/>
          </a:xfrm>
          <a:prstGeom prst="rect">
            <a:avLst/>
          </a:prstGeom>
          <a:noFill/>
          <a:ln/>
        </p:spPr>
        <p:txBody>
          <a:bodyPr wrap="none" lIns="0" tIns="0" rIns="0" bIns="0" rtlCol="0" anchor="t"/>
          <a:lstStyle/>
          <a:p>
            <a:pPr algn="l" indent="0" marL="0">
              <a:lnSpc>
                <a:spcPts val="2600"/>
              </a:lnSpc>
              <a:buNone/>
            </a:pPr>
            <a:r>
              <a:rPr lang="en-US" sz="1650" dirty="0">
                <a:solidFill>
                  <a:srgbClr val="464646"/>
                </a:solidFill>
                <a:latin typeface="Inter Medium" pitchFamily="34" charset="0"/>
                <a:ea typeface="Inter Medium" pitchFamily="34" charset="-122"/>
                <a:cs typeface="Inter Medium" pitchFamily="34" charset="-120"/>
              </a:rPr>
              <a:t>Asosiy fanlarni integratsiyalashgan holda o'rgatish</a:t>
            </a:r>
            <a:endParaRPr lang="en-US" sz="1650" dirty="0"/>
          </a:p>
        </p:txBody>
      </p:sp>
      <p:sp>
        <p:nvSpPr>
          <p:cNvPr id="12" name="Shape 8"/>
          <p:cNvSpPr/>
          <p:nvPr/>
        </p:nvSpPr>
        <p:spPr>
          <a:xfrm>
            <a:off x="5226844" y="4171950"/>
            <a:ext cx="8563213" cy="11430"/>
          </a:xfrm>
          <a:prstGeom prst="roundRect">
            <a:avLst>
              <a:gd name="adj" fmla="val 275719"/>
            </a:avLst>
          </a:prstGeom>
          <a:solidFill>
            <a:srgbClr val="D8D4D4"/>
          </a:solidFill>
          <a:ln/>
        </p:spPr>
      </p:sp>
      <p:sp>
        <p:nvSpPr>
          <p:cNvPr id="13" name="Shape 9"/>
          <p:cNvSpPr/>
          <p:nvPr/>
        </p:nvSpPr>
        <p:spPr>
          <a:xfrm>
            <a:off x="735330" y="4286488"/>
            <a:ext cx="6579870" cy="1210508"/>
          </a:xfrm>
          <a:prstGeom prst="roundRect">
            <a:avLst>
              <a:gd name="adj" fmla="val 2603"/>
            </a:avLst>
          </a:prstGeom>
          <a:solidFill>
            <a:srgbClr val="F2EEEE"/>
          </a:solidFill>
          <a:ln/>
        </p:spPr>
      </p:sp>
      <p:pic>
        <p:nvPicPr>
          <p:cNvPr id="14" name="Image 2" descr="preencoded.png">    </p:cNvPr>
          <p:cNvPicPr>
            <a:picLocks noChangeAspect="1"/>
          </p:cNvPicPr>
          <p:nvPr/>
        </p:nvPicPr>
        <p:blipFill>
          <a:blip r:embed="rId3"/>
          <a:stretch>
            <a:fillRect/>
          </a:stretch>
        </p:blipFill>
        <p:spPr>
          <a:xfrm>
            <a:off x="3877508" y="4707136"/>
            <a:ext cx="295394" cy="369213"/>
          </a:xfrm>
          <a:prstGeom prst="rect">
            <a:avLst/>
          </a:prstGeom>
        </p:spPr>
      </p:pic>
      <p:sp>
        <p:nvSpPr>
          <p:cNvPr id="15" name="Text 10"/>
          <p:cNvSpPr/>
          <p:nvPr/>
        </p:nvSpPr>
        <p:spPr>
          <a:xfrm>
            <a:off x="7525226" y="4496514"/>
            <a:ext cx="2626162" cy="328255"/>
          </a:xfrm>
          <a:prstGeom prst="rect">
            <a:avLst/>
          </a:prstGeom>
          <a:noFill/>
          <a:ln/>
        </p:spPr>
        <p:txBody>
          <a:bodyPr wrap="none" lIns="0" tIns="0" rIns="0" bIns="0" rtlCol="0" anchor="t"/>
          <a:lstStyle/>
          <a:p>
            <a:pPr algn="l" indent="0" marL="0">
              <a:lnSpc>
                <a:spcPts val="2550"/>
              </a:lnSpc>
              <a:buNone/>
            </a:pPr>
            <a:r>
              <a:rPr lang="en-US" sz="2050" dirty="0">
                <a:solidFill>
                  <a:srgbClr val="464646"/>
                </a:solidFill>
                <a:latin typeface="DM Sans Semi Bold" pitchFamily="34" charset="0"/>
                <a:ea typeface="DM Sans Semi Bold" pitchFamily="34" charset="-122"/>
                <a:cs typeface="DM Sans Semi Bold" pitchFamily="34" charset="-120"/>
              </a:rPr>
              <a:t>Oliy ta'lim</a:t>
            </a:r>
            <a:endParaRPr lang="en-US" sz="2050" dirty="0"/>
          </a:p>
        </p:txBody>
      </p:sp>
      <p:sp>
        <p:nvSpPr>
          <p:cNvPr id="16" name="Text 11"/>
          <p:cNvSpPr/>
          <p:nvPr/>
        </p:nvSpPr>
        <p:spPr>
          <a:xfrm>
            <a:off x="7525226" y="4950738"/>
            <a:ext cx="4663321" cy="336233"/>
          </a:xfrm>
          <a:prstGeom prst="rect">
            <a:avLst/>
          </a:prstGeom>
          <a:noFill/>
          <a:ln/>
        </p:spPr>
        <p:txBody>
          <a:bodyPr wrap="none" lIns="0" tIns="0" rIns="0" bIns="0" rtlCol="0" anchor="t"/>
          <a:lstStyle/>
          <a:p>
            <a:pPr algn="l" indent="0" marL="0">
              <a:lnSpc>
                <a:spcPts val="2600"/>
              </a:lnSpc>
              <a:buNone/>
            </a:pPr>
            <a:r>
              <a:rPr lang="en-US" sz="1650" dirty="0">
                <a:solidFill>
                  <a:srgbClr val="464646"/>
                </a:solidFill>
                <a:latin typeface="Inter Medium" pitchFamily="34" charset="0"/>
                <a:ea typeface="Inter Medium" pitchFamily="34" charset="-122"/>
                <a:cs typeface="Inter Medium" pitchFamily="34" charset="-120"/>
              </a:rPr>
              <a:t>Maxsus fanlarni amaliy loyihalar bilan bog'lash</a:t>
            </a:r>
            <a:endParaRPr lang="en-US" sz="1650" dirty="0"/>
          </a:p>
        </p:txBody>
      </p:sp>
      <p:sp>
        <p:nvSpPr>
          <p:cNvPr id="17" name="Text 12"/>
          <p:cNvSpPr/>
          <p:nvPr/>
        </p:nvSpPr>
        <p:spPr>
          <a:xfrm>
            <a:off x="735330" y="5733336"/>
            <a:ext cx="13159740" cy="1008698"/>
          </a:xfrm>
          <a:prstGeom prst="rect">
            <a:avLst/>
          </a:prstGeom>
          <a:noFill/>
          <a:ln/>
        </p:spPr>
        <p:txBody>
          <a:bodyPr wrap="square" lIns="0" tIns="0" rIns="0" bIns="0" rtlCol="0" anchor="t"/>
          <a:lstStyle/>
          <a:p>
            <a:pPr algn="l" indent="0" marL="0">
              <a:lnSpc>
                <a:spcPts val="2600"/>
              </a:lnSpc>
              <a:buNone/>
            </a:pPr>
            <a:r>
              <a:rPr lang="en-US" sz="1650" dirty="0">
                <a:solidFill>
                  <a:srgbClr val="464646"/>
                </a:solidFill>
                <a:latin typeface="Inter Medium" pitchFamily="34" charset="0"/>
                <a:ea typeface="Inter Medium" pitchFamily="34" charset="-122"/>
                <a:cs typeface="Inter Medium" pitchFamily="34" charset="-120"/>
              </a:rPr>
              <a:t>STEAM ta'lim konsepsiyasini ta'limning barcha bosqichlariga integratsiyalash muhim ahamiyat kasb etadi. Maktabgacha ta'lim muassasalarida bolalarda ilmiy-tadqiqot ko'nikmalarini erta yoshdan shakllantirishdan boshlab, oliy ta'limda murakkab ilmiy muammolarni hal etishgacha bo'lgan uzluksiz jarayon tashkil etiladi.</a:t>
            </a:r>
            <a:endParaRPr lang="en-US" sz="1650" dirty="0"/>
          </a:p>
        </p:txBody>
      </p:sp>
      <p:sp>
        <p:nvSpPr>
          <p:cNvPr id="18" name="Text 13"/>
          <p:cNvSpPr/>
          <p:nvPr/>
        </p:nvSpPr>
        <p:spPr>
          <a:xfrm>
            <a:off x="735330" y="6978372"/>
            <a:ext cx="13159740" cy="672465"/>
          </a:xfrm>
          <a:prstGeom prst="rect">
            <a:avLst/>
          </a:prstGeom>
          <a:noFill/>
          <a:ln/>
        </p:spPr>
        <p:txBody>
          <a:bodyPr wrap="square" lIns="0" tIns="0" rIns="0" bIns="0" rtlCol="0" anchor="t"/>
          <a:lstStyle/>
          <a:p>
            <a:pPr algn="l" indent="0" marL="0">
              <a:lnSpc>
                <a:spcPts val="2600"/>
              </a:lnSpc>
              <a:buNone/>
            </a:pPr>
            <a:r>
              <a:rPr lang="en-US" sz="1650" dirty="0">
                <a:solidFill>
                  <a:srgbClr val="464646"/>
                </a:solidFill>
                <a:latin typeface="Inter Medium" pitchFamily="34" charset="0"/>
                <a:ea typeface="Inter Medium" pitchFamily="34" charset="-122"/>
                <a:cs typeface="Inter Medium" pitchFamily="34" charset="-120"/>
              </a:rPr>
              <a:t>Har bir ta'lim bosqichi uchun maxsus metodik qo'llanmalar ishlab chiqilgan bo'lib, ular o'qituvchilar va tarbiyachilarga STEAM yondashuvini ta'lim jarayoniga samarali tatbiq etishda yordam beradi.</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29007"/>
            <a:ext cx="7674054" cy="708779"/>
          </a:xfrm>
          <a:prstGeom prst="rect">
            <a:avLst/>
          </a:prstGeom>
          <a:noFill/>
          <a:ln/>
        </p:spPr>
        <p:txBody>
          <a:bodyPr wrap="non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LOYIHA xulosa va istiqbollari</a:t>
            </a:r>
            <a:endParaRPr lang="en-US" sz="4450" dirty="0"/>
          </a:p>
        </p:txBody>
      </p:sp>
      <p:sp>
        <p:nvSpPr>
          <p:cNvPr id="3" name="Shape 1"/>
          <p:cNvSpPr/>
          <p:nvPr/>
        </p:nvSpPr>
        <p:spPr>
          <a:xfrm>
            <a:off x="793790" y="1791414"/>
            <a:ext cx="4196358" cy="3121462"/>
          </a:xfrm>
          <a:prstGeom prst="roundRect">
            <a:avLst>
              <a:gd name="adj" fmla="val 1090"/>
            </a:avLst>
          </a:prstGeom>
          <a:solidFill>
            <a:srgbClr val="F2EEEE"/>
          </a:solidFill>
          <a:ln/>
        </p:spPr>
      </p:sp>
      <p:sp>
        <p:nvSpPr>
          <p:cNvPr id="4" name="Text 2"/>
          <p:cNvSpPr/>
          <p:nvPr/>
        </p:nvSpPr>
        <p:spPr>
          <a:xfrm>
            <a:off x="1020604" y="2018228"/>
            <a:ext cx="2898934" cy="354330"/>
          </a:xfrm>
          <a:prstGeom prst="rect">
            <a:avLst/>
          </a:prstGeom>
          <a:noFill/>
          <a:ln/>
        </p:spPr>
        <p:txBody>
          <a:bodyPr wrap="non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Ta'lim sifatini oshirish</a:t>
            </a:r>
            <a:endParaRPr lang="en-US" sz="2200" dirty="0"/>
          </a:p>
        </p:txBody>
      </p:sp>
      <p:sp>
        <p:nvSpPr>
          <p:cNvPr id="5" name="Text 3"/>
          <p:cNvSpPr/>
          <p:nvPr/>
        </p:nvSpPr>
        <p:spPr>
          <a:xfrm>
            <a:off x="1020604" y="2508647"/>
            <a:ext cx="3742730" cy="2177415"/>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STEAM texnologiyasi orqali o'quvchilarning fanlarni o'zlashtirishdagi motivatsiyasi va qiziqishi ortadi. Bu esa ta'lim sifatining yaxshilanishiga olib keladi.</a:t>
            </a:r>
            <a:endParaRPr lang="en-US" sz="1750" dirty="0"/>
          </a:p>
        </p:txBody>
      </p:sp>
      <p:sp>
        <p:nvSpPr>
          <p:cNvPr id="6" name="Shape 4"/>
          <p:cNvSpPr/>
          <p:nvPr/>
        </p:nvSpPr>
        <p:spPr>
          <a:xfrm>
            <a:off x="5216962" y="1791414"/>
            <a:ext cx="4196358" cy="3121462"/>
          </a:xfrm>
          <a:prstGeom prst="roundRect">
            <a:avLst>
              <a:gd name="adj" fmla="val 1090"/>
            </a:avLst>
          </a:prstGeom>
          <a:solidFill>
            <a:srgbClr val="F2EEEE"/>
          </a:solidFill>
          <a:ln/>
        </p:spPr>
      </p:sp>
      <p:sp>
        <p:nvSpPr>
          <p:cNvPr id="7" name="Text 5"/>
          <p:cNvSpPr/>
          <p:nvPr/>
        </p:nvSpPr>
        <p:spPr>
          <a:xfrm>
            <a:off x="5443776" y="2018228"/>
            <a:ext cx="3742730" cy="708660"/>
          </a:xfrm>
          <a:prstGeom prst="rect">
            <a:avLst/>
          </a:prstGeom>
          <a:noFill/>
          <a:ln/>
        </p:spPr>
        <p:txBody>
          <a:bodyPr wrap="squar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Xalqaro standartlarga moslashish</a:t>
            </a:r>
            <a:endParaRPr lang="en-US" sz="2200" dirty="0"/>
          </a:p>
        </p:txBody>
      </p:sp>
      <p:sp>
        <p:nvSpPr>
          <p:cNvPr id="8" name="Text 6"/>
          <p:cNvSpPr/>
          <p:nvPr/>
        </p:nvSpPr>
        <p:spPr>
          <a:xfrm>
            <a:off x="5443776" y="2862977"/>
            <a:ext cx="3742730" cy="1814513"/>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STEAM ta'limi joriy etish orqali O'zbekiston ta'lim tizimi xalqaro standartlarga yaqinlashadi va global ta'lim makoniga integratsiyalashadi.</a:t>
            </a:r>
            <a:endParaRPr lang="en-US" sz="1750" dirty="0"/>
          </a:p>
        </p:txBody>
      </p:sp>
      <p:sp>
        <p:nvSpPr>
          <p:cNvPr id="9" name="Shape 7"/>
          <p:cNvSpPr/>
          <p:nvPr/>
        </p:nvSpPr>
        <p:spPr>
          <a:xfrm>
            <a:off x="9640133" y="1791414"/>
            <a:ext cx="4196358" cy="3121462"/>
          </a:xfrm>
          <a:prstGeom prst="roundRect">
            <a:avLst>
              <a:gd name="adj" fmla="val 1090"/>
            </a:avLst>
          </a:prstGeom>
          <a:solidFill>
            <a:srgbClr val="F2EEEE"/>
          </a:solidFill>
          <a:ln/>
        </p:spPr>
      </p:sp>
      <p:sp>
        <p:nvSpPr>
          <p:cNvPr id="10" name="Text 8"/>
          <p:cNvSpPr/>
          <p:nvPr/>
        </p:nvSpPr>
        <p:spPr>
          <a:xfrm>
            <a:off x="9866948" y="2018228"/>
            <a:ext cx="3307556" cy="354330"/>
          </a:xfrm>
          <a:prstGeom prst="rect">
            <a:avLst/>
          </a:prstGeom>
          <a:noFill/>
          <a:ln/>
        </p:spPr>
        <p:txBody>
          <a:bodyPr wrap="non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Raqobatbardosh kadrlar</a:t>
            </a:r>
            <a:endParaRPr lang="en-US" sz="2200" dirty="0"/>
          </a:p>
        </p:txBody>
      </p:sp>
      <p:sp>
        <p:nvSpPr>
          <p:cNvPr id="11" name="Text 9"/>
          <p:cNvSpPr/>
          <p:nvPr/>
        </p:nvSpPr>
        <p:spPr>
          <a:xfrm>
            <a:off x="9866948" y="2508647"/>
            <a:ext cx="3742730" cy="2177415"/>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Innovatsion yondashuv orqali tarbiyalangan avlod kelajakda global mehnat bozorida raqobatbardosh kadrlarga aylanadi va mamlakatning iqtisodiy rivojiga hissa qo'shadi.</a:t>
            </a:r>
            <a:endParaRPr lang="en-US" sz="1750" dirty="0"/>
          </a:p>
        </p:txBody>
      </p:sp>
      <p:sp>
        <p:nvSpPr>
          <p:cNvPr id="12" name="Text 10"/>
          <p:cNvSpPr/>
          <p:nvPr/>
        </p:nvSpPr>
        <p:spPr>
          <a:xfrm>
            <a:off x="793790" y="5168027"/>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STEAM texnologiyasi O'zbekiston ta'lim tizimini zamonaviy talablarga moslashtirish va sifatini oshirishda muhim vosita bo'lib xizmat qiladi. Bu texnologiya orqali o'quvchilar nafaqat nazariy bilimlarni, balki hayotda kerak bo'ladigan amaliy ko'nikmalarni ham egallaydilar.</a:t>
            </a:r>
            <a:endParaRPr lang="en-US" sz="1750" dirty="0"/>
          </a:p>
        </p:txBody>
      </p:sp>
      <p:sp>
        <p:nvSpPr>
          <p:cNvPr id="13" name="Text 11"/>
          <p:cNvSpPr/>
          <p:nvPr/>
        </p:nvSpPr>
        <p:spPr>
          <a:xfrm>
            <a:off x="793790" y="6511885"/>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Kelajakda STEAM yondashuvini ta'limning barcha sohalariga keng joriy etish va innovatsion o'qitish metodlarini rivojlantirish rejalashtirilgan. Bu esa mamlakatimizda raqamli iqtisodiyotning rivojlanishiga va innovatsion loyihalarning ko'payishiga zamin yaratadi.</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2025-06-03T12:45:08Z</dcterms:created>
  <dcterms:modified xsi:type="dcterms:W3CDTF">2025-06-03T12:45:08Z</dcterms:modified>
</cp:coreProperties>
</file>