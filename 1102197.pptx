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96" r:id="rId3"/>
    <p:sldId id="297" r:id="rId4"/>
    <p:sldId id="298" r:id="rId5"/>
    <p:sldId id="259" r:id="rId6"/>
    <p:sldId id="278" r:id="rId7"/>
    <p:sldId id="279" r:id="rId8"/>
    <p:sldId id="280" r:id="rId9"/>
    <p:sldId id="281" r:id="rId10"/>
    <p:sldId id="283" r:id="rId11"/>
    <p:sldId id="284" r:id="rId12"/>
    <p:sldId id="285" r:id="rId13"/>
    <p:sldId id="286" r:id="rId14"/>
    <p:sldId id="287" r:id="rId15"/>
    <p:sldId id="295" r:id="rId16"/>
  </p:sldIdLst>
  <p:sldSz cx="9144000" cy="5143500" type="screen16x9"/>
  <p:notesSz cx="6808788" cy="9823450"/>
  <p:embeddedFontLst>
    <p:embeddedFont>
      <p:font typeface="Candara" panose="020E0502030303020204" pitchFamily="3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BuPE2gzEPbBzGlXDQmU7r/EqS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AA492D-C1AF-4751-8AE9-5B94265EB681}">
  <a:tblStyle styleId="{2CAA492D-C1AF-4751-8AE9-5B94265EB6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51163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6038" y="0"/>
            <a:ext cx="295116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31325"/>
            <a:ext cx="2951163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6038" y="9331325"/>
            <a:ext cx="295116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-762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001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5339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4747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342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7351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1796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0487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685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7501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1728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2439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5802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1038" y="4665663"/>
            <a:ext cx="5446712" cy="4421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736600"/>
            <a:ext cx="6548438" cy="3684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376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/>
          <p:nvPr/>
        </p:nvSpPr>
        <p:spPr>
          <a:xfrm>
            <a:off x="228600" y="171450"/>
            <a:ext cx="8695944" cy="4526280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22"/>
          <p:cNvGrpSpPr/>
          <p:nvPr/>
        </p:nvGrpSpPr>
        <p:grpSpPr>
          <a:xfrm>
            <a:off x="211665" y="4015472"/>
            <a:ext cx="8723376" cy="998685"/>
            <a:chOff x="-3905250" y="4294188"/>
            <a:chExt cx="13011150" cy="1892300"/>
          </a:xfrm>
        </p:grpSpPr>
        <p:sp>
          <p:nvSpPr>
            <p:cNvPr id="25" name="Google Shape;25;p22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/>
              <a:rect l="l" t="t" r="r" b="b"/>
              <a:pathLst>
                <a:path w="2706" h="640" extrusionOk="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2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/>
              <a:rect l="l" t="t" r="r" b="b"/>
              <a:pathLst>
                <a:path w="5216" h="762" extrusionOk="0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/>
              <a:rect l="l" t="t" r="r" b="b"/>
              <a:pathLst>
                <a:path w="5144" h="694" extrusionOk="0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2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/>
              <a:rect l="l" t="t" r="r" b="b"/>
              <a:pathLst>
                <a:path w="3112" h="584" extrusionOk="0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2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/>
              <a:rect l="l" t="t" r="r" b="b"/>
              <a:pathLst>
                <a:path w="8196" h="1192" extrusionOk="0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body" idx="1"/>
          </p:nvPr>
        </p:nvSpPr>
        <p:spPr>
          <a:xfrm>
            <a:off x="872068" y="2006600"/>
            <a:ext cx="7408333" cy="258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marL="2743200" lvl="5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/>
          <p:nvPr/>
        </p:nvSpPr>
        <p:spPr>
          <a:xfrm>
            <a:off x="228600" y="171450"/>
            <a:ext cx="8695944" cy="3552444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4"/>
          <p:cNvSpPr/>
          <p:nvPr/>
        </p:nvSpPr>
        <p:spPr>
          <a:xfrm>
            <a:off x="6047439" y="3152694"/>
            <a:ext cx="2876429" cy="535520"/>
          </a:xfrm>
          <a:custGeom>
            <a:avLst/>
            <a:gdLst/>
            <a:ahLst/>
            <a:cxnLst/>
            <a:rect l="l" t="t" r="r" b="b"/>
            <a:pathLst>
              <a:path w="2706" h="640" extrusionOk="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8627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4"/>
          <p:cNvSpPr/>
          <p:nvPr/>
        </p:nvSpPr>
        <p:spPr>
          <a:xfrm>
            <a:off x="2619320" y="3056467"/>
            <a:ext cx="5544515" cy="637604"/>
          </a:xfrm>
          <a:custGeom>
            <a:avLst/>
            <a:gdLst/>
            <a:ahLst/>
            <a:cxnLst/>
            <a:rect l="l" t="t" r="r" b="b"/>
            <a:pathLst>
              <a:path w="5216" h="762" extrusionOk="0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4"/>
          <p:cNvSpPr/>
          <p:nvPr/>
        </p:nvSpPr>
        <p:spPr>
          <a:xfrm>
            <a:off x="2828728" y="3065672"/>
            <a:ext cx="5467980" cy="580704"/>
          </a:xfrm>
          <a:custGeom>
            <a:avLst/>
            <a:gdLst/>
            <a:ahLst/>
            <a:cxnLst/>
            <a:rect l="l" t="t" r="r" b="b"/>
            <a:pathLst>
              <a:path w="5144" h="694" extrusionOk="0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4"/>
          <p:cNvSpPr/>
          <p:nvPr/>
        </p:nvSpPr>
        <p:spPr>
          <a:xfrm>
            <a:off x="5609489" y="3055631"/>
            <a:ext cx="3308000" cy="488662"/>
          </a:xfrm>
          <a:custGeom>
            <a:avLst/>
            <a:gdLst/>
            <a:ahLst/>
            <a:cxnLst/>
            <a:rect l="l" t="t" r="r" b="b"/>
            <a:pathLst>
              <a:path w="3112" h="584" extrusionOk="0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4"/>
          <p:cNvSpPr/>
          <p:nvPr/>
        </p:nvSpPr>
        <p:spPr>
          <a:xfrm>
            <a:off x="211665" y="3043916"/>
            <a:ext cx="8723376" cy="997406"/>
          </a:xfrm>
          <a:custGeom>
            <a:avLst/>
            <a:gdLst/>
            <a:ahLst/>
            <a:cxnLst/>
            <a:rect l="l" t="t" r="r" b="b"/>
            <a:pathLst>
              <a:path w="8196" h="1192" extrusionOk="0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4"/>
          <p:cNvSpPr txBox="1">
            <a:spLocks noGrp="1"/>
          </p:cNvSpPr>
          <p:nvPr>
            <p:ph type="title"/>
          </p:nvPr>
        </p:nvSpPr>
        <p:spPr>
          <a:xfrm>
            <a:off x="690032" y="184767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1"/>
          </p:nvPr>
        </p:nvSpPr>
        <p:spPr>
          <a:xfrm>
            <a:off x="1367365" y="1078086"/>
            <a:ext cx="6417734" cy="70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1"/>
          </p:nvPr>
        </p:nvSpPr>
        <p:spPr>
          <a:xfrm>
            <a:off x="676655" y="2009394"/>
            <a:ext cx="3822192" cy="258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marL="2743200" lvl="5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2"/>
          </p:nvPr>
        </p:nvSpPr>
        <p:spPr>
          <a:xfrm>
            <a:off x="4645152" y="2009394"/>
            <a:ext cx="3822192" cy="258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marL="2743200" lvl="5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1"/>
          </p:nvPr>
        </p:nvSpPr>
        <p:spPr>
          <a:xfrm>
            <a:off x="676656" y="2008585"/>
            <a:ext cx="3822192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body" idx="2"/>
          </p:nvPr>
        </p:nvSpPr>
        <p:spPr>
          <a:xfrm>
            <a:off x="677333" y="2571751"/>
            <a:ext cx="3820055" cy="202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marL="2743200" lvl="5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marL="4114800" lvl="8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3"/>
          </p:nvPr>
        </p:nvSpPr>
        <p:spPr>
          <a:xfrm>
            <a:off x="4648200" y="2008585"/>
            <a:ext cx="3822192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84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body" idx="4"/>
          </p:nvPr>
        </p:nvSpPr>
        <p:spPr>
          <a:xfrm>
            <a:off x="4645025" y="2571751"/>
            <a:ext cx="3822192" cy="202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marL="2743200" lvl="5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marL="4114800" lvl="8" indent="-330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/>
          <p:nvPr/>
        </p:nvSpPr>
        <p:spPr>
          <a:xfrm>
            <a:off x="228600" y="171450"/>
            <a:ext cx="8695944" cy="1069848"/>
          </a:xfrm>
          <a:prstGeom prst="roundRect">
            <a:avLst>
              <a:gd name="adj" fmla="val 7136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28"/>
          <p:cNvGrpSpPr/>
          <p:nvPr/>
        </p:nvGrpSpPr>
        <p:grpSpPr>
          <a:xfrm>
            <a:off x="211665" y="535643"/>
            <a:ext cx="8723376" cy="997406"/>
            <a:chOff x="-3905251" y="4294188"/>
            <a:chExt cx="13027839" cy="1892300"/>
          </a:xfrm>
        </p:grpSpPr>
        <p:sp>
          <p:nvSpPr>
            <p:cNvPr id="77" name="Google Shape;77;p28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/>
              <a:rect l="l" t="t" r="r" b="b"/>
              <a:pathLst>
                <a:path w="2706" h="640" extrusionOk="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/>
              <a:rect l="l" t="t" r="r" b="b"/>
              <a:pathLst>
                <a:path w="5216" h="762" extrusionOk="0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8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/>
              <a:rect l="l" t="t" r="r" b="b"/>
              <a:pathLst>
                <a:path w="5144" h="694" extrusionOk="0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8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/>
              <a:rect l="l" t="t" r="r" b="b"/>
              <a:pathLst>
                <a:path w="3112" h="584" extrusionOk="0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8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/>
              <a:rect l="l" t="t" r="r" b="b"/>
              <a:pathLst>
                <a:path w="8196" h="1192" extrusionOk="0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28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228600" y="171450"/>
            <a:ext cx="8695944" cy="1069848"/>
          </a:xfrm>
          <a:prstGeom prst="roundRect">
            <a:avLst>
              <a:gd name="adj" fmla="val 7136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9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914400" y="2686050"/>
            <a:ext cx="3352800" cy="142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grpSp>
        <p:nvGrpSpPr>
          <p:cNvPr id="91" name="Google Shape;91;p29"/>
          <p:cNvGrpSpPr/>
          <p:nvPr/>
        </p:nvGrpSpPr>
        <p:grpSpPr>
          <a:xfrm>
            <a:off x="211665" y="535643"/>
            <a:ext cx="8723376" cy="998685"/>
            <a:chOff x="-3905250" y="4294188"/>
            <a:chExt cx="13011150" cy="1892300"/>
          </a:xfrm>
        </p:grpSpPr>
        <p:sp>
          <p:nvSpPr>
            <p:cNvPr id="92" name="Google Shape;92;p29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/>
              <a:rect l="l" t="t" r="r" b="b"/>
              <a:pathLst>
                <a:path w="2706" h="640" extrusionOk="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9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/>
              <a:rect l="l" t="t" r="r" b="b"/>
              <a:pathLst>
                <a:path w="5216" h="762" extrusionOk="0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9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/>
              <a:rect l="l" t="t" r="r" b="b"/>
              <a:pathLst>
                <a:path w="5144" h="694" extrusionOk="0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9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/>
              <a:rect l="l" t="t" r="r" b="b"/>
              <a:pathLst>
                <a:path w="3112" h="584" extrusionOk="0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9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/>
              <a:rect l="l" t="t" r="r" b="b"/>
              <a:pathLst>
                <a:path w="8196" h="1192" extrusionOk="0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914400" y="1714500"/>
            <a:ext cx="33528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2"/>
          </p:nvPr>
        </p:nvSpPr>
        <p:spPr>
          <a:xfrm>
            <a:off x="4651962" y="1371600"/>
            <a:ext cx="3904076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marL="2743200" lvl="5" indent="-355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marL="3200400" lvl="6" indent="-355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marL="4114800" lvl="8" indent="-355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/>
          <p:nvPr/>
        </p:nvSpPr>
        <p:spPr>
          <a:xfrm>
            <a:off x="228600" y="171450"/>
            <a:ext cx="8695944" cy="4526280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30"/>
          <p:cNvGrpSpPr/>
          <p:nvPr/>
        </p:nvGrpSpPr>
        <p:grpSpPr>
          <a:xfrm>
            <a:off x="211665" y="4015472"/>
            <a:ext cx="8723376" cy="998685"/>
            <a:chOff x="-3905250" y="4294188"/>
            <a:chExt cx="13011150" cy="1892300"/>
          </a:xfrm>
        </p:grpSpPr>
        <p:sp>
          <p:nvSpPr>
            <p:cNvPr id="102" name="Google Shape;102;p30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/>
              <a:rect l="l" t="t" r="r" b="b"/>
              <a:pathLst>
                <a:path w="2706" h="640" extrusionOk="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0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/>
              <a:rect l="l" t="t" r="r" b="b"/>
              <a:pathLst>
                <a:path w="5216" h="762" extrusionOk="0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0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/>
              <a:rect l="l" t="t" r="r" b="b"/>
              <a:pathLst>
                <a:path w="5144" h="694" extrusionOk="0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0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/>
              <a:rect l="l" t="t" r="r" b="b"/>
              <a:pathLst>
                <a:path w="3112" h="584" extrusionOk="0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/>
              <a:rect l="l" t="t" r="r" b="b"/>
              <a:pathLst>
                <a:path w="8196" h="1192" extrusionOk="0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30"/>
          <p:cNvSpPr txBox="1">
            <a:spLocks noGrp="1"/>
          </p:cNvSpPr>
          <p:nvPr>
            <p:ph type="title"/>
          </p:nvPr>
        </p:nvSpPr>
        <p:spPr>
          <a:xfrm>
            <a:off x="4874156" y="254000"/>
            <a:ext cx="3812645" cy="1822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sz="2800" b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0"/>
          <p:cNvSpPr txBox="1">
            <a:spLocks noGrp="1"/>
          </p:cNvSpPr>
          <p:nvPr>
            <p:ph type="body" idx="1"/>
          </p:nvPr>
        </p:nvSpPr>
        <p:spPr>
          <a:xfrm>
            <a:off x="4868334" y="2089150"/>
            <a:ext cx="3818467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0"/>
          <p:cNvSpPr>
            <a:spLocks noGrp="1"/>
          </p:cNvSpPr>
          <p:nvPr>
            <p:ph type="pic" idx="2"/>
          </p:nvPr>
        </p:nvSpPr>
        <p:spPr>
          <a:xfrm>
            <a:off x="838200" y="1028700"/>
            <a:ext cx="3566160" cy="219456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stA="30000" endPos="30000" dist="5000" dir="5400000" sy="-100000" algn="bl" rotWithShape="0"/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R="0" lvl="6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R="0" lvl="7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R="0" lvl="8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1"/>
          <p:cNvSpPr txBox="1">
            <a:spLocks noGrp="1"/>
          </p:cNvSpPr>
          <p:nvPr>
            <p:ph type="body" idx="1"/>
          </p:nvPr>
        </p:nvSpPr>
        <p:spPr>
          <a:xfrm rot="5400000">
            <a:off x="3282223" y="-403555"/>
            <a:ext cx="2588022" cy="740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marL="2743200" lvl="5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6" name="Google Shape;116;p31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1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1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/>
          <p:nvPr/>
        </p:nvSpPr>
        <p:spPr>
          <a:xfrm>
            <a:off x="228600" y="171450"/>
            <a:ext cx="8695944" cy="1069848"/>
          </a:xfrm>
          <a:prstGeom prst="roundRect">
            <a:avLst>
              <a:gd name="adj" fmla="val 7136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/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4" name="Google Shape;124;p32"/>
          <p:cNvGrpSpPr/>
          <p:nvPr/>
        </p:nvGrpSpPr>
        <p:grpSpPr>
          <a:xfrm>
            <a:off x="211665" y="535643"/>
            <a:ext cx="8723376" cy="998685"/>
            <a:chOff x="-3905250" y="4294188"/>
            <a:chExt cx="13011150" cy="1892300"/>
          </a:xfrm>
        </p:grpSpPr>
        <p:sp>
          <p:nvSpPr>
            <p:cNvPr id="125" name="Google Shape;125;p32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/>
              <a:rect l="l" t="t" r="r" b="b"/>
              <a:pathLst>
                <a:path w="2706" h="640" extrusionOk="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2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/>
              <a:rect l="l" t="t" r="r" b="b"/>
              <a:pathLst>
                <a:path w="5216" h="762" extrusionOk="0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/>
              <a:rect l="l" t="t" r="r" b="b"/>
              <a:pathLst>
                <a:path w="5144" h="694" extrusionOk="0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2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/>
              <a:rect l="l" t="t" r="r" b="b"/>
              <a:pathLst>
                <a:path w="3112" h="584" extrusionOk="0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2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/>
              <a:rect l="l" t="t" r="r" b="b"/>
              <a:pathLst>
                <a:path w="8196" h="1192" extrusionOk="0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 rot="5400000">
            <a:off x="5975350" y="1739900"/>
            <a:ext cx="3365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2"/>
          <p:cNvSpPr txBox="1">
            <a:spLocks noGrp="1"/>
          </p:cNvSpPr>
          <p:nvPr>
            <p:ph type="body" idx="1"/>
          </p:nvPr>
        </p:nvSpPr>
        <p:spPr>
          <a:xfrm rot="5400000">
            <a:off x="1784350" y="-241299"/>
            <a:ext cx="336550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marL="2743200" lvl="5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228600" y="171450"/>
            <a:ext cx="8695944" cy="1851660"/>
          </a:xfrm>
          <a:prstGeom prst="roundRect">
            <a:avLst>
              <a:gd name="adj" fmla="val 3362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1"/>
          <p:cNvGrpSpPr/>
          <p:nvPr/>
        </p:nvGrpSpPr>
        <p:grpSpPr>
          <a:xfrm>
            <a:off x="211665" y="1259572"/>
            <a:ext cx="8723376" cy="997406"/>
            <a:chOff x="-3905251" y="4294188"/>
            <a:chExt cx="13027839" cy="1892300"/>
          </a:xfrm>
        </p:grpSpPr>
        <p:sp>
          <p:nvSpPr>
            <p:cNvPr id="12" name="Google Shape;12;p21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/>
              <a:rect l="l" t="t" r="r" b="b"/>
              <a:pathLst>
                <a:path w="2706" h="640" extrusionOk="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1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/>
              <a:rect l="l" t="t" r="r" b="b"/>
              <a:pathLst>
                <a:path w="5216" h="762" extrusionOk="0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1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/>
              <a:rect l="l" t="t" r="r" b="b"/>
              <a:pathLst>
                <a:path w="5144" h="694" extrusionOk="0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1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/>
              <a:rect l="l" t="t" r="r" b="b"/>
              <a:pathLst>
                <a:path w="3112" h="584" extrusionOk="0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1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/>
              <a:rect l="l" t="t" r="r" b="b"/>
              <a:pathLst>
                <a:path w="8196" h="1192" extrusionOk="0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 b="0" i="0" u="none" strike="noStrike" cap="non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193639" y="4687623"/>
            <a:ext cx="378669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-635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872068" y="2006600"/>
            <a:ext cx="7408333" cy="258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sz="22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sz="20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sz="18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sz="16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611560" y="465516"/>
            <a:ext cx="8001000" cy="444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5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962"/>
              </a:spcBef>
              <a:spcAft>
                <a:spcPts val="0"/>
              </a:spcAft>
              <a:buSzPct val="100000"/>
              <a:buNone/>
            </a:pPr>
            <a:r>
              <a:rPr lang="en-US" sz="5200" b="1" dirty="0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FAN: MATEMATIK MODELLASHTIRISH ASOSLARI </a:t>
            </a:r>
            <a:endParaRPr sz="5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SzPct val="100000"/>
              <a:buNone/>
            </a:pPr>
            <a:endParaRPr sz="3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SzPct val="100000"/>
              <a:buNone/>
            </a:pPr>
            <a:endParaRPr sz="3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SzPct val="100000"/>
              <a:buNone/>
            </a:pPr>
            <a:endParaRPr sz="3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 err="1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Ma'ruzachi</a:t>
            </a:r>
            <a:r>
              <a:rPr lang="en-US" sz="3200" b="1" dirty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200" b="1" dirty="0" err="1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Ro`zaliyev</a:t>
            </a:r>
            <a:r>
              <a:rPr lang="en-US" sz="3200" b="1" dirty="0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Sherzodjon</a:t>
            </a:r>
            <a:r>
              <a:rPr lang="en-US" sz="3200" b="1" dirty="0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Avazjonovich</a:t>
            </a:r>
            <a:r>
              <a:rPr lang="en-US" sz="3200" b="1" dirty="0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 b="1" dirty="0" err="1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Amaliy</a:t>
            </a:r>
            <a:r>
              <a:rPr lang="en-US" sz="3200" b="1" dirty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matematika</a:t>
            </a:r>
            <a:r>
              <a:rPr lang="en-US" sz="3200" b="1" dirty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3200" b="1" dirty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informatika</a:t>
            </a:r>
            <a:r>
              <a:rPr lang="en-US" sz="3200" b="1" dirty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kafedrasi</a:t>
            </a:r>
            <a:r>
              <a:rPr lang="en-US" sz="3200" b="1" dirty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 smtClean="0">
                <a:solidFill>
                  <a:srgbClr val="1D7FFA"/>
                </a:solidFill>
                <a:latin typeface="Arial"/>
                <a:ea typeface="Arial"/>
                <a:cs typeface="Arial"/>
                <a:sym typeface="Arial"/>
              </a:rPr>
              <a:t>o'qituvchisi</a:t>
            </a:r>
            <a:endParaRPr sz="18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endParaRPr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611560" y="465516"/>
            <a:ext cx="8001000" cy="444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5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uz-Cyrl-U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O‘quv f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nining dolzarbligi v</a:t>
            </a:r>
            <a:r>
              <a:rPr lang="x-none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oliy kasbiy ta’limdagi o‘rni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Respublikasining taraqqiy etgan mamlakatlar qatoridan munosib o‘rin egallashi va ijtimoiy-iqtisodiy rivojlanishi 2018 yilda iqtisodiy islohotlarni chuqurlashtirish uchun fuqarolarning, ayniqsa ziyolilarning ma’naviy salohiyati, iqtisodiy o‘zgarishlarini to‘g‘ri talqin qilishlari va bu jarayonlarni boshqara olishlari hamda XXI asr ilmiy-texnika taraqqiyoti talablariga javob bera olishlari uchun o‘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 maskanlarida sifatli kadrlarni etkazib berish masalasi dolzarb hisoblanadi.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endParaRPr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21527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611560" y="465516"/>
            <a:ext cx="8001000" cy="444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5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uz-Cyrl-U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O‘quv fanining maqsadi va vazifasi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</a:t>
            </a:r>
            <a:r>
              <a:rPr lang="en-US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o’q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itishning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uz-Cyrl-UZ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talabalarga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jarayonlarning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elini 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taxlil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molellashtirish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ichlari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onuniyatlarini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rgatish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muayyan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masalalari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echishga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rgatish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ixtisoslik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fanlarini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rganishga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tayyorlashdan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z-Cyrl-UZ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uz-Cyrl-UZ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o’q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itishning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vishfasi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tekshirilishi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lozim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lgan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uyidagi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ketma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ketligini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nazarda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tutadi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o’p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loyixaning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rejasini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tavsiflash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echimining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isoblash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usulini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jixatlarini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sozlash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modelning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adekvatligini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natijalarni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amaliyotga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tadbi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etishdan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endParaRPr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2885808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611560" y="465516"/>
            <a:ext cx="8001000" cy="444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5200"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 b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abalarning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nikma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malakalariga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uyidagi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talablar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qo’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ladi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</a:t>
            </a:r>
            <a:r>
              <a:rPr lang="uz-Cyrl-UZ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turlar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modellasht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yilad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talablar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ichlari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taxlil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ob’ektga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muvofi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lasht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tkaziladigan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tkaz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keluvchi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diskret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tasavvurga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buliish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modellashtirishda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tabiat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onunlarini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nts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llashni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diskret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urishda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tejamkor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isoblash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algoritmlarini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lashn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obekti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rtasida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muvofi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rnatishni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tadbi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masalalarni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aratini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kompyuterda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oshirishni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universalligi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modellasht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rish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ilishni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bilishi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ulardan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foydalana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olshii</a:t>
            </a:r>
            <a:r>
              <a:rPr lang="ru-RU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endParaRPr b="1" dirty="0">
              <a:solidFill>
                <a:srgbClr val="1D7F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6901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31178" y="662730"/>
            <a:ext cx="6669248" cy="4580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Mavzu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Model </a:t>
            </a: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Reja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b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Model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Model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turlari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bosqichlari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.Kompyuterda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mohiyati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1336" y="371148"/>
            <a:ext cx="872455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sz="2100" i="1" dirty="0">
                <a:latin typeface="Times New Roman" panose="02020603050405020304" pitchFamily="18" charset="0"/>
                <a:ea typeface="Calibri" panose="020F0502020204030204" pitchFamily="34" charset="0"/>
              </a:rPr>
              <a:t>Model </a:t>
            </a:r>
            <a:r>
              <a:rPr lang="en-US" sz="21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va</a:t>
            </a:r>
            <a:r>
              <a:rPr lang="en-US" sz="21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modellashtirish</a:t>
            </a:r>
            <a:r>
              <a:rPr lang="en-US" sz="2100" i="1" dirty="0">
                <a:latin typeface="Times New Roman" panose="02020603050405020304" pitchFamily="18" charset="0"/>
                <a:ea typeface="Calibri" panose="020F0502020204030204" pitchFamily="34" charset="0"/>
              </a:rPr>
              <a:t>. Model </a:t>
            </a:r>
            <a:r>
              <a:rPr lang="en-US" sz="210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turlari</a:t>
            </a:r>
            <a:r>
              <a:rPr lang="en-US" sz="21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Model (lat. modulus –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o`lchov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me`yor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) -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biror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ob`ekt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yoki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ob`ektlar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tizimining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obrazi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yoki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namunasidir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b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Masalan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yerning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modeli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globus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osmon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undagi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yulduzlar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modeli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–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planetariy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ekrani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pasportdagi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suratni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shu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pasport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egasining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modeli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deyish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mumkin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Insoniyatni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farovon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hayot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shartsharoitlarini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yaratish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tabiiy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ofatlarni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oldindan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aniqlash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muammolari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qadimdan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qiziqtirib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kelgan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Shuning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uchun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ham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insoniyat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tashqi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dunyoning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turli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hodisalarini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o`rganishi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tabiiy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holdir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b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Aniq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fan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sohasi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mutaxassislari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u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yoki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bu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jarayonning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faqat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ularni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qiziqtirgan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xossalarinigina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o`rganadi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Masalan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geologlar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yerning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rivojlanish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tarixini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ya`ni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qachon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qaerda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qanday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hayvonlar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yashaganligi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o`simliklar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o`sganligi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iqlim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qanday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o`zgarganligini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o`rganadi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 Bu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ularga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foydali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qazilma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konlarini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topishlarida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yordam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beradi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Lekin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yerda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kishilik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jamiyatining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rivojlanish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tarixini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o`rganishmaydi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bu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bilan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tarixchilar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shug`ullanadi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422178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1336" y="117446"/>
            <a:ext cx="8741328" cy="4721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6195" indent="-342900" algn="just">
              <a:lnSpc>
                <a:spcPts val="1850"/>
              </a:lnSpc>
              <a:spcBef>
                <a:spcPts val="4500"/>
              </a:spcBef>
              <a:tabLst>
                <a:tab pos="1202055" algn="l"/>
              </a:tabLst>
            </a:pP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1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Atrofimizdagi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dunyoni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natijasida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noaniq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to‘liq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bo‘lmagan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koinotga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atom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yadrosining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sirini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jamiyatning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rivojlanish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qonunlarini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egallash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boshqalarga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xalaqit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bermaydi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o‘rganilayotgan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hodisa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yaratiladi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Model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xususiyatlarini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qadar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to‘laroq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akslantirishi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zarur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1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Modelning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taqribiylik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xarakteri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ko‘rinishda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namoyon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1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o‘tkazish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mobaynida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foydalaniladigan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asboblarning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aniqligi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olinayotgan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aniqligiga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ta'sir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etadi</a:t>
            </a:r>
            <a:r>
              <a:rPr lang="en-US" sz="2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R="36195" indent="-342900" algn="just">
              <a:lnSpc>
                <a:spcPts val="1850"/>
              </a:lnSpc>
              <a:tabLst>
                <a:tab pos="1202055" algn="l"/>
              </a:tabLst>
            </a:pP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ru-RU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bilish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ob'ektlarini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modellari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tadqiq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predmet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hodisalarning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modellarini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yasash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o‘rganishdir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uslublaridan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fanlarida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foydalanilmoqda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tadqiqot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yengillashtiradi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ba'zi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ob'ektlarni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o‘rganishning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yagona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vositasiga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aylanadi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Mavhum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joylashgan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ob'ektlar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hajmdagi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ob'ektlarni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o‘rganishda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modellashtirishning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uslubidan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astranomiya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biologiya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ijtimoiy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fanlarda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iqtisod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fanlarida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ob'ektlarning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munosabatlarini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aniqlashda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foydalaniladi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7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0668" y="83073"/>
            <a:ext cx="8774884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Uslubiyat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sifatidan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fizika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biologiya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almashtirib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bo‘lmaydi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raqobat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qilmaydi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Aksincha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sintezlash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rolini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ta'kidlamasdan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bo‘lmaydi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uchligini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yondoshuvlar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chiziqsiz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analizidan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tortib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zamonaviy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tillariga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asoslanadi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fanning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yo‘nalishlarini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qo‘shimcha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yangi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rag‘batlantiradi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Masalaga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kengroq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yondoshgan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aytish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mumkinki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mutaxassislar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ijodiy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faoliyatida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uchraydi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tadqiqotchilar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tadbirkorlar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siyosatchilar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harbiy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qo‘mondonlar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sohalarga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fanlarning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joriy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qilinishi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intuitiv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chegaralab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ratsional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qo‘llanilish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maydonini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kengaytirdi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Albatta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samarali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yaxshi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ma'lum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bo‘lgan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professional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talablarga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javob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berishi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tushunchalar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farazlarni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for-mulirovkasi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ishlatilayotgan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adekvatligining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aposterior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analizi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algoritmlari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to‘g‘riligining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kafolatlanishi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h.k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9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388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inson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faktori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ya'ni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murakkab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formallashgan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ob'ektlar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ishtirokida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sistemalarni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haqida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gap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ketganda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yuqoridagi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talablardan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tashqari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maishiy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atamalarni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xil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eshitiluvchi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ammo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ma'noga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farqlash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hodisa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jarayonlarni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o‘rganishga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tayyor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apparatni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ehtiyotkorlik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qo‘llash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qator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talablar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qo‘shiladi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Axborot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jamiyati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muammolarini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etishda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faqatgina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kompyuter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qudratiga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informatikaning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vositalarigagina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ishonib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qolish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unchalik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to‘g‘ri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emas</a:t>
            </a:r>
            <a:r>
              <a:rPr lang="ru-RU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bosqichlarining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doimiy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mukammallashib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borishi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zamonaviy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axborot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sistemalariga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tadbiq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etilishi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metodologik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imperativdir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bajarilishigina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zaruriy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texnologiyali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raqobatbardosh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rang-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barang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moddiy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intellektual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mahsulotga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bo‘lish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Atrofimizdagi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olam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qonunlari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o‘zgarmas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tadqiqotlarda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bundan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samarali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foydalanish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Bu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universalligi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xossasida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aksini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topgan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Shunday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qilib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vositalarining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imkoniyatlaridan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mexanikadan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tortib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sotsiologiya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fanlarida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ijtimoiy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fanlarda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ham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samarali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foydalanish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ekan</a:t>
            </a:r>
            <a:r>
              <a:rPr lang="en-US" sz="2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5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2613" y="0"/>
            <a:ext cx="9001387" cy="5209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6195" indent="-342900" algn="just">
              <a:lnSpc>
                <a:spcPts val="1850"/>
              </a:lnSpc>
              <a:spcBef>
                <a:spcPts val="4500"/>
              </a:spcBef>
              <a:tabLst>
                <a:tab pos="1202055" algn="l"/>
              </a:tabLst>
            </a:pP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9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bosqichlari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ob'ektni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masalasining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qo‘yilishi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harakatlar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rejasini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yuzaga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keltiradi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</a:t>
            </a:r>
            <a:r>
              <a:rPr 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bosqichga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model –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bosqichda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ob'ektning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formada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xossalarini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b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bo‘ysunuvchi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qonunlarni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qismlari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o‘rinli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bog‘liqliklar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h.k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larni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ettiruvchi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ekvivalenti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tanlanadi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quriladi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model (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fragmentlari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ob'ekt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Ikkinchi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bosqich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modelni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kompyuterda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oshiruvchi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quriladi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tanlanadi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sonli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metodlar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qo‘llash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qulay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shaklda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tasvirlanadi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izlanayotgan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kattaliklarni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berilgan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aniqlikda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shartlarda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zaruriy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hisoblash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mantiqiy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operatsiyalar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ketma-ketligi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aniqlanadi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Uchinchi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bosqichda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algoritmni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komyuter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tushunadigan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tilga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o‘giruvchi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yaratiladi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tejamlilik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moslashuvchanlik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talablari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qo‘yiladi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Dasturlarni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bevosita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tajriba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qurilmasi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–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kompyuterda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sinash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yaroqli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bo‘lgan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o‘rganilayotgan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ob'ektning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elektron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ekvivalenti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deb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uchligi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tadqiqotchi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qo‘lida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egiluvchan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arzon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vositaga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aylanib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avvalo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sinov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tajribalarida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to‘g‘rilanadi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testlanadi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Keyin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modelning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berilgan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ob'ektning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barcha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zaruriy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sonli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xossalarini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aniqlovchi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to‘la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sinov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o‘tkaziladi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Modellashtirish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kerak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bo‘lsa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uchlikning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barcha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bo‘g‘inlarini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bosqichlarini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yaxshilash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aniqlashtirish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birga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ru-RU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boriladi</a:t>
            </a:r>
            <a:r>
              <a:rPr lang="ru-RU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9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</a:t>
            </a:r>
            <a:endParaRPr lang="ru-RU" sz="1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7780" y="111353"/>
            <a:ext cx="8883941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6195" indent="-342900" algn="just">
              <a:tabLst>
                <a:tab pos="1202055" algn="l"/>
              </a:tabLst>
            </a:pP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Model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tanlash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vositalariga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qarab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guruhga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ajratish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abstrakt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to‘laroq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mazmuni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tanishtirib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Abstrakt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matematik-mantiqiy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kiradi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kichiklashtirilgan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maketlar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asbob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qurilmalar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trenajyorlar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kiritiladi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R="36195" indent="-342900" algn="just">
              <a:tabLst>
                <a:tab pos="1202055" algn="l"/>
              </a:tabLst>
            </a:pPr>
            <a:r>
              <a:rPr lang="en-US" sz="2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model.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Tekshirilayotgan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tabiati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geometrik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nusxadagidek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ammo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miqdor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o‘lchami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tezligi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ko‘lami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jihatidan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farq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samolyot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avtomobil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poezd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GES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boshqalarning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Fizik-kimyoviy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tuzilish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kimyoviy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vositalar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hosil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qilishdir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R="36195" algn="just">
              <a:tabLst>
                <a:tab pos="1202055" algn="l"/>
              </a:tabLst>
            </a:pPr>
            <a:r>
              <a:rPr lang="en-US" sz="2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Tirik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organizmlarning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o‘zaro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aloqasi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vazifasiga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oid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qonuniyatlarning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mantiqiy-matematik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tavsifidan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iborat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ma'lumotlariga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mantiqiy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so‘ngra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tekshirib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0393" y="409620"/>
            <a:ext cx="85651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6195" indent="-342900" algn="just">
              <a:spcBef>
                <a:spcPts val="4500"/>
              </a:spcBef>
              <a:tabLst>
                <a:tab pos="1202055" algn="l"/>
              </a:tabLs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hodisalarning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kompyuterda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tekshirilayotgan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o‘zgarish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xarakterini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oldindan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bilish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ta'kidlash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kerakki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bunday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jarayonlarni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tashkil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o‘tkazish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ba'zan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qiyin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kechadi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tirik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ob'ektlar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qismlari-molekula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hujayra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organizm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kabilarga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xos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tuzilish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jarayonlarni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modellashda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qo‘llaniladi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Biologiyada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modellardan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foydalaniladi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0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0059" y="155704"/>
            <a:ext cx="868260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Ijtimoiy-iqtisodiy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taxminan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18-asrdan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qo‘llanila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boshlandi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F.Kenening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jadvallar”ida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birinchi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marta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butun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ijtimoiy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takror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ishlab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chiqarish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jarayonining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shakllanishini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ko‘rsatishiga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harakat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qilingan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tizimlarning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faoliyat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yo‘nalishlarini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o‘rganish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xil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modellardan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foydalaniladi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taraqqiyotning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umumiy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qonuniyatlari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xalq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xo‘jaligi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modellari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tekshiriladi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murakkab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ko‘rsatkichlar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jumladan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daromad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bandlik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iste'mol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jamg‘armalar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investitsiya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ko‘rsatkichlarining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dinamikasi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nisbatini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tahlil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oldindan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aytib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berish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katta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qo‘llaniladi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xo‘jalik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vaziyatlarini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tekshirishda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kichik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tizimlardan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murakkab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tizimlarni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tekshirishda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asosan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modellardan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foydalaniladi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90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4225" y="167780"/>
            <a:ext cx="8732939" cy="4881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Mavzuni</a:t>
            </a: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mustahkamlash</a:t>
            </a: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topshiriqlar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Model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deganda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tushunasiz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Model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hodisa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jarayonni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akslantirishi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taqribiylik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xarakteri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ko‘rinishlarda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namoyon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Modellashtirish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uslublaridan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qaerda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foydalaniladi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Modellashtirish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ob'ektlarni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o‘rganishda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ayniqsa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muhim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turlarga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ajratish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Abstrakt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fizik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modellarning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farqi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Biologik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deganda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tushunasiz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36195" indent="-342900" algn="just">
              <a:lnSpc>
                <a:spcPct val="150000"/>
              </a:lnSpc>
              <a:tabLst>
                <a:tab pos="120205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9.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Iqtisodiy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deganda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nimani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tushunasiz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9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3615" y="1335815"/>
            <a:ext cx="8674216" cy="217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6195" indent="-342900" algn="ctr">
              <a:lnSpc>
                <a:spcPct val="150000"/>
              </a:lnSpc>
              <a:spcBef>
                <a:spcPts val="4500"/>
              </a:spcBef>
              <a:tabLst>
                <a:tab pos="1202055" algn="l"/>
              </a:tabLst>
            </a:pPr>
            <a:r>
              <a:rPr lang="en-US" sz="4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E`TIBORINGIZ UCHUN RAXMAT.</a:t>
            </a:r>
            <a:endParaRPr lang="ru-RU" sz="4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86ef3b67b32d8389b854543e559d2c85b800c3"/>
</p:tagLst>
</file>

<file path=ppt/theme/theme1.xml><?xml version="1.0" encoding="utf-8"?>
<a:theme xmlns:a="http://schemas.openxmlformats.org/drawingml/2006/main" name="Волна">
  <a:themeElements>
    <a:clrScheme name="Волна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Волна">
    <a:dk1>
      <a:srgbClr val="000000"/>
    </a:dk1>
    <a:lt1>
      <a:srgbClr val="FFFFFF"/>
    </a:lt1>
    <a:dk2>
      <a:srgbClr val="073E87"/>
    </a:dk2>
    <a:lt2>
      <a:srgbClr val="C6E7FC"/>
    </a:lt2>
    <a:accent1>
      <a:srgbClr val="31B6FD"/>
    </a:accent1>
    <a:accent2>
      <a:srgbClr val="4584D3"/>
    </a:accent2>
    <a:accent3>
      <a:srgbClr val="5BD078"/>
    </a:accent3>
    <a:accent4>
      <a:srgbClr val="A5D028"/>
    </a:accent4>
    <a:accent5>
      <a:srgbClr val="F5C040"/>
    </a:accent5>
    <a:accent6>
      <a:srgbClr val="05E0DB"/>
    </a:accent6>
    <a:hlink>
      <a:srgbClr val="0080FF"/>
    </a:hlink>
    <a:folHlink>
      <a:srgbClr val="5EAE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799</Words>
  <Application>Microsoft Office PowerPoint</Application>
  <PresentationFormat>Экран (16:9)</PresentationFormat>
  <Paragraphs>43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Candara</vt:lpstr>
      <vt:lpstr>Arial</vt:lpstr>
      <vt:lpstr>Times New Roman</vt:lpstr>
      <vt:lpstr>Noto Sans Symbols</vt:lpstr>
      <vt:lpstr>Calibri</vt:lpstr>
      <vt:lpstr>Волна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Raxmatulla</dc:creator>
  <cp:lastModifiedBy>User</cp:lastModifiedBy>
  <cp:revision>17</cp:revision>
  <dcterms:created xsi:type="dcterms:W3CDTF">2010-03-20T07:19:08Z</dcterms:created>
  <dcterms:modified xsi:type="dcterms:W3CDTF">2021-09-09T07:45:33Z</dcterms:modified>
</cp:coreProperties>
</file>