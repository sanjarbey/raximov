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Tomorrow Semi Bold"/>
      <p:regular r:id="rId17"/>
    </p:embeddedFont>
    <p:embeddedFont>
      <p:font typeface="Tomorrow Semi Bold"/>
      <p:regular r:id="rId18"/>
    </p:embeddedFont>
    <p:embeddedFont>
      <p:font typeface="Tomorrow Semi Bold"/>
      <p:regular r:id="rId19"/>
    </p:embeddedFont>
    <p:embeddedFont>
      <p:font typeface="Tomorrow Semi Bold"/>
      <p:regular r:id="rId20"/>
    </p:embeddedFont>
    <p:embeddedFont>
      <p:font typeface="Tomorrow"/>
      <p:regular r:id="rId21"/>
    </p:embeddedFont>
    <p:embeddedFont>
      <p:font typeface="Tomorrow"/>
      <p:regular r:id="rId22"/>
    </p:embeddedFont>
    <p:embeddedFont>
      <p:font typeface="Tomorrow"/>
      <p:regular r:id="rId23"/>
    </p:embeddedFont>
    <p:embeddedFont>
      <p:font typeface="Tomorrow"/>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6.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8.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458278"/>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1D1D1B"/>
                </a:solidFill>
                <a:latin typeface="Tomorrow Semi Bold" pitchFamily="34" charset="0"/>
                <a:ea typeface="Tomorrow Semi Bold" pitchFamily="34" charset="-122"/>
                <a:cs typeface="Tomorrow Semi Bold" pitchFamily="34" charset="-120"/>
              </a:rPr>
              <a:t>Asosiy Miqdorlar va Misollar Yechish</a:t>
            </a:r>
            <a:endParaRPr lang="en-US" sz="4450" dirty="0"/>
          </a:p>
        </p:txBody>
      </p:sp>
      <p:sp>
        <p:nvSpPr>
          <p:cNvPr id="4" name="Text 1"/>
          <p:cNvSpPr/>
          <p:nvPr/>
        </p:nvSpPr>
        <p:spPr>
          <a:xfrm>
            <a:off x="6280190" y="3215997"/>
            <a:ext cx="7556421" cy="2903220"/>
          </a:xfrm>
          <a:prstGeom prst="rect">
            <a:avLst/>
          </a:prstGeom>
          <a:noFill/>
          <a:ln/>
        </p:spPr>
        <p:txBody>
          <a:bodyPr wrap="square" lIns="0" tIns="0" rIns="0" bIns="0" rtlCol="0" anchor="t"/>
          <a:lstStyle/>
          <a:p>
            <a:pPr algn="l" indent="0" marL="0">
              <a:lnSpc>
                <a:spcPts val="2850"/>
              </a:lnSpc>
              <a:buNone/>
            </a:pPr>
            <a:r>
              <a:rPr lang="en-US" sz="1750" dirty="0">
                <a:solidFill>
                  <a:srgbClr val="61615C"/>
                </a:solidFill>
                <a:latin typeface="Tomorrow" pitchFamily="34" charset="0"/>
                <a:ea typeface="Tomorrow" pitchFamily="34" charset="-122"/>
                <a:cs typeface="Tomorrow" pitchFamily="34" charset="-120"/>
              </a:rPr>
              <a:t>Ushbu taqdimotda biz asosiy miqdorlar, ya'ni sonli tengliklar, tengsizliklar va tenglamalarni chuqur o'rganamiz. Matematika darslarida amaliy mashqlar orqali bu tushunchalarni mustahkamlashga qaratilgan bo'lib, o'quvchilar uchun foydali qo'llanma vazifasini bajaradi. Biz har bir mavzuni misollar bilan tushuntirib, ularni yechish usullarini ko'rsatamiz. Taqdimot oxirida esa kundalik hayotda matematikani qanday qo'llash mumkinligini ko'rib chiqamiz.</a:t>
            </a:r>
            <a:endParaRPr lang="en-US" sz="1750" dirty="0"/>
          </a:p>
        </p:txBody>
      </p:sp>
      <p:sp>
        <p:nvSpPr>
          <p:cNvPr id="5" name="Shape 2"/>
          <p:cNvSpPr/>
          <p:nvPr/>
        </p:nvSpPr>
        <p:spPr>
          <a:xfrm>
            <a:off x="6280190" y="6391275"/>
            <a:ext cx="362903" cy="362903"/>
          </a:xfrm>
          <a:prstGeom prst="roundRect">
            <a:avLst>
              <a:gd name="adj" fmla="val 25194296"/>
            </a:avLst>
          </a:prstGeom>
          <a:noFill/>
          <a:ln w="7620">
            <a:solidFill>
              <a:srgbClr val="FFFFFF"/>
            </a:solidFill>
            <a:prstDash val="solid"/>
          </a:ln>
        </p:spPr>
      </p:sp>
      <p:pic>
        <p:nvPicPr>
          <p:cNvPr id="6" name="Image 1" descr="preencoded.png">    </p:cNvPr>
          <p:cNvPicPr>
            <a:picLocks noChangeAspect="1"/>
          </p:cNvPicPr>
          <p:nvPr/>
        </p:nvPicPr>
        <p:blipFill>
          <a:blip r:embed="rId2"/>
          <a:stretch>
            <a:fillRect/>
          </a:stretch>
        </p:blipFill>
        <p:spPr>
          <a:xfrm>
            <a:off x="6287810" y="6398895"/>
            <a:ext cx="347663" cy="347663"/>
          </a:xfrm>
          <a:prstGeom prst="rect">
            <a:avLst/>
          </a:prstGeom>
        </p:spPr>
      </p:pic>
      <p:sp>
        <p:nvSpPr>
          <p:cNvPr id="7" name="Text 3"/>
          <p:cNvSpPr/>
          <p:nvPr/>
        </p:nvSpPr>
        <p:spPr>
          <a:xfrm>
            <a:off x="6756440" y="6374368"/>
            <a:ext cx="5098494" cy="396835"/>
          </a:xfrm>
          <a:prstGeom prst="rect">
            <a:avLst/>
          </a:prstGeom>
          <a:noFill/>
          <a:ln/>
        </p:spPr>
        <p:txBody>
          <a:bodyPr wrap="none" lIns="0" tIns="0" rIns="0" bIns="0" rtlCol="0" anchor="t"/>
          <a:lstStyle/>
          <a:p>
            <a:pPr algn="l" indent="0" marL="0">
              <a:lnSpc>
                <a:spcPts val="3100"/>
              </a:lnSpc>
              <a:buNone/>
            </a:pPr>
            <a:r>
              <a:rPr lang="en-US" sz="2200" b="1" dirty="0">
                <a:solidFill>
                  <a:srgbClr val="61615C"/>
                </a:solidFill>
                <a:latin typeface="Tomorrow Bold" pitchFamily="34" charset="0"/>
                <a:ea typeface="Tomorrow Bold" pitchFamily="34" charset="-122"/>
                <a:cs typeface="Tomorrow Bold" pitchFamily="34" charset="-120"/>
              </a:rPr>
              <a:t>tomonidan Sanjarbek Bekturdiyev</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00061" y="723305"/>
            <a:ext cx="5098137" cy="637223"/>
          </a:xfrm>
          <a:prstGeom prst="rect">
            <a:avLst/>
          </a:prstGeom>
          <a:noFill/>
          <a:ln/>
        </p:spPr>
        <p:txBody>
          <a:bodyPr wrap="none" lIns="0" tIns="0" rIns="0" bIns="0" rtlCol="0" anchor="t"/>
          <a:lstStyle/>
          <a:p>
            <a:pPr algn="l" indent="0" marL="0">
              <a:lnSpc>
                <a:spcPts val="5000"/>
              </a:lnSpc>
              <a:buNone/>
            </a:pPr>
            <a:r>
              <a:rPr lang="en-US" sz="4000" dirty="0">
                <a:solidFill>
                  <a:srgbClr val="1D1D1B"/>
                </a:solidFill>
                <a:latin typeface="Tomorrow Semi Bold" pitchFamily="34" charset="0"/>
                <a:ea typeface="Tomorrow Semi Bold" pitchFamily="34" charset="-122"/>
                <a:cs typeface="Tomorrow Semi Bold" pitchFamily="34" charset="-120"/>
              </a:rPr>
              <a:t>Sonli Tengliklar</a:t>
            </a:r>
            <a:endParaRPr lang="en-US" sz="4000" dirty="0"/>
          </a:p>
        </p:txBody>
      </p:sp>
      <p:sp>
        <p:nvSpPr>
          <p:cNvPr id="4" name="Shape 1"/>
          <p:cNvSpPr/>
          <p:nvPr/>
        </p:nvSpPr>
        <p:spPr>
          <a:xfrm>
            <a:off x="6200061" y="1666399"/>
            <a:ext cx="458748" cy="458748"/>
          </a:xfrm>
          <a:prstGeom prst="roundRect">
            <a:avLst>
              <a:gd name="adj" fmla="val 6668"/>
            </a:avLst>
          </a:prstGeom>
          <a:solidFill>
            <a:srgbClr val="F0EAEA"/>
          </a:solidFill>
          <a:ln/>
        </p:spPr>
      </p:sp>
      <p:sp>
        <p:nvSpPr>
          <p:cNvPr id="5" name="Text 2"/>
          <p:cNvSpPr/>
          <p:nvPr/>
        </p:nvSpPr>
        <p:spPr>
          <a:xfrm>
            <a:off x="6276439" y="1704558"/>
            <a:ext cx="305872" cy="382310"/>
          </a:xfrm>
          <a:prstGeom prst="rect">
            <a:avLst/>
          </a:prstGeom>
          <a:noFill/>
          <a:ln/>
        </p:spPr>
        <p:txBody>
          <a:bodyPr wrap="none" lIns="0" tIns="0" rIns="0" bIns="0" rtlCol="0" anchor="t"/>
          <a:lstStyle/>
          <a:p>
            <a:pPr algn="ctr" indent="0" marL="0">
              <a:lnSpc>
                <a:spcPts val="2400"/>
              </a:lnSpc>
              <a:buNone/>
            </a:pPr>
            <a:r>
              <a:rPr lang="en-US" sz="2400" dirty="0">
                <a:solidFill>
                  <a:srgbClr val="61615C"/>
                </a:solidFill>
                <a:latin typeface="Tomorrow Semi Bold" pitchFamily="34" charset="0"/>
                <a:ea typeface="Tomorrow Semi Bold" pitchFamily="34" charset="-122"/>
                <a:cs typeface="Tomorrow Semi Bold" pitchFamily="34" charset="-120"/>
              </a:rPr>
              <a:t>1</a:t>
            </a:r>
            <a:endParaRPr lang="en-US" sz="2400" dirty="0"/>
          </a:p>
        </p:txBody>
      </p:sp>
      <p:sp>
        <p:nvSpPr>
          <p:cNvPr id="6" name="Text 3"/>
          <p:cNvSpPr/>
          <p:nvPr/>
        </p:nvSpPr>
        <p:spPr>
          <a:xfrm>
            <a:off x="6862643" y="1736408"/>
            <a:ext cx="2549009" cy="318611"/>
          </a:xfrm>
          <a:prstGeom prst="rect">
            <a:avLst/>
          </a:prstGeom>
          <a:noFill/>
          <a:ln/>
        </p:spPr>
        <p:txBody>
          <a:bodyPr wrap="none" lIns="0" tIns="0" rIns="0" bIns="0" rtlCol="0" anchor="t"/>
          <a:lstStyle/>
          <a:p>
            <a:pPr algn="l" indent="0" marL="0">
              <a:lnSpc>
                <a:spcPts val="2500"/>
              </a:lnSpc>
              <a:buNone/>
            </a:pPr>
            <a:r>
              <a:rPr lang="en-US" sz="2000" dirty="0">
                <a:solidFill>
                  <a:srgbClr val="61615C"/>
                </a:solidFill>
                <a:latin typeface="Tomorrow Semi Bold" pitchFamily="34" charset="0"/>
                <a:ea typeface="Tomorrow Semi Bold" pitchFamily="34" charset="-122"/>
                <a:cs typeface="Tomorrow Semi Bold" pitchFamily="34" charset="-120"/>
              </a:rPr>
              <a:t>Ta'rif</a:t>
            </a:r>
            <a:endParaRPr lang="en-US" sz="2000" dirty="0"/>
          </a:p>
        </p:txBody>
      </p:sp>
      <p:sp>
        <p:nvSpPr>
          <p:cNvPr id="7" name="Text 4"/>
          <p:cNvSpPr/>
          <p:nvPr/>
        </p:nvSpPr>
        <p:spPr>
          <a:xfrm>
            <a:off x="6862643" y="2177296"/>
            <a:ext cx="7054096" cy="652462"/>
          </a:xfrm>
          <a:prstGeom prst="rect">
            <a:avLst/>
          </a:prstGeom>
          <a:noFill/>
          <a:ln/>
        </p:spPr>
        <p:txBody>
          <a:bodyPr wrap="square" lIns="0" tIns="0" rIns="0" bIns="0" rtlCol="0" anchor="t"/>
          <a:lstStyle/>
          <a:p>
            <a:pPr algn="l" indent="0" marL="0">
              <a:lnSpc>
                <a:spcPts val="2550"/>
              </a:lnSpc>
              <a:buNone/>
            </a:pPr>
            <a:r>
              <a:rPr lang="en-US" sz="1600" dirty="0">
                <a:solidFill>
                  <a:srgbClr val="61615C"/>
                </a:solidFill>
                <a:latin typeface="Tomorrow" pitchFamily="34" charset="0"/>
                <a:ea typeface="Tomorrow" pitchFamily="34" charset="-122"/>
                <a:cs typeface="Tomorrow" pitchFamily="34" charset="-120"/>
              </a:rPr>
              <a:t>Ikkita ifoda o'rtasida "=" belgisi bo'lsa, bu sonli tenglik deyiladi. Bu belgi chap va o'ng tomonlardagi qiymatlarning bir xil ekanligini anglatadi.</a:t>
            </a:r>
            <a:endParaRPr lang="en-US" sz="1600" dirty="0"/>
          </a:p>
        </p:txBody>
      </p:sp>
      <p:sp>
        <p:nvSpPr>
          <p:cNvPr id="8" name="Shape 5"/>
          <p:cNvSpPr/>
          <p:nvPr/>
        </p:nvSpPr>
        <p:spPr>
          <a:xfrm>
            <a:off x="6200061" y="3237548"/>
            <a:ext cx="458748" cy="458748"/>
          </a:xfrm>
          <a:prstGeom prst="roundRect">
            <a:avLst>
              <a:gd name="adj" fmla="val 6668"/>
            </a:avLst>
          </a:prstGeom>
          <a:solidFill>
            <a:srgbClr val="F0EAEA"/>
          </a:solidFill>
          <a:ln/>
        </p:spPr>
      </p:sp>
      <p:sp>
        <p:nvSpPr>
          <p:cNvPr id="9" name="Text 6"/>
          <p:cNvSpPr/>
          <p:nvPr/>
        </p:nvSpPr>
        <p:spPr>
          <a:xfrm>
            <a:off x="6276439" y="3275707"/>
            <a:ext cx="305872" cy="382310"/>
          </a:xfrm>
          <a:prstGeom prst="rect">
            <a:avLst/>
          </a:prstGeom>
          <a:noFill/>
          <a:ln/>
        </p:spPr>
        <p:txBody>
          <a:bodyPr wrap="none" lIns="0" tIns="0" rIns="0" bIns="0" rtlCol="0" anchor="t"/>
          <a:lstStyle/>
          <a:p>
            <a:pPr algn="ctr" indent="0" marL="0">
              <a:lnSpc>
                <a:spcPts val="2400"/>
              </a:lnSpc>
              <a:buNone/>
            </a:pPr>
            <a:r>
              <a:rPr lang="en-US" sz="2400" dirty="0">
                <a:solidFill>
                  <a:srgbClr val="61615C"/>
                </a:solidFill>
                <a:latin typeface="Tomorrow Semi Bold" pitchFamily="34" charset="0"/>
                <a:ea typeface="Tomorrow Semi Bold" pitchFamily="34" charset="-122"/>
                <a:cs typeface="Tomorrow Semi Bold" pitchFamily="34" charset="-120"/>
              </a:rPr>
              <a:t>2</a:t>
            </a:r>
            <a:endParaRPr lang="en-US" sz="2400" dirty="0"/>
          </a:p>
        </p:txBody>
      </p:sp>
      <p:sp>
        <p:nvSpPr>
          <p:cNvPr id="10" name="Text 7"/>
          <p:cNvSpPr/>
          <p:nvPr/>
        </p:nvSpPr>
        <p:spPr>
          <a:xfrm>
            <a:off x="6862643" y="3307556"/>
            <a:ext cx="2565083" cy="318611"/>
          </a:xfrm>
          <a:prstGeom prst="rect">
            <a:avLst/>
          </a:prstGeom>
          <a:noFill/>
          <a:ln/>
        </p:spPr>
        <p:txBody>
          <a:bodyPr wrap="none" lIns="0" tIns="0" rIns="0" bIns="0" rtlCol="0" anchor="t"/>
          <a:lstStyle/>
          <a:p>
            <a:pPr algn="l" indent="0" marL="0">
              <a:lnSpc>
                <a:spcPts val="2500"/>
              </a:lnSpc>
              <a:buNone/>
            </a:pPr>
            <a:r>
              <a:rPr lang="en-US" sz="2000" dirty="0">
                <a:solidFill>
                  <a:srgbClr val="61615C"/>
                </a:solidFill>
                <a:latin typeface="Tomorrow Semi Bold" pitchFamily="34" charset="0"/>
                <a:ea typeface="Tomorrow Semi Bold" pitchFamily="34" charset="-122"/>
                <a:cs typeface="Tomorrow Semi Bold" pitchFamily="34" charset="-120"/>
              </a:rPr>
              <a:t>To'g'ri Tenglik Misoli</a:t>
            </a:r>
            <a:endParaRPr lang="en-US" sz="2000" dirty="0"/>
          </a:p>
        </p:txBody>
      </p:sp>
      <p:sp>
        <p:nvSpPr>
          <p:cNvPr id="11" name="Text 8"/>
          <p:cNvSpPr/>
          <p:nvPr/>
        </p:nvSpPr>
        <p:spPr>
          <a:xfrm>
            <a:off x="6862643" y="3748445"/>
            <a:ext cx="7054096" cy="652462"/>
          </a:xfrm>
          <a:prstGeom prst="rect">
            <a:avLst/>
          </a:prstGeom>
          <a:noFill/>
          <a:ln/>
        </p:spPr>
        <p:txBody>
          <a:bodyPr wrap="square" lIns="0" tIns="0" rIns="0" bIns="0" rtlCol="0" anchor="t"/>
          <a:lstStyle/>
          <a:p>
            <a:pPr algn="l" indent="0" marL="0">
              <a:lnSpc>
                <a:spcPts val="2550"/>
              </a:lnSpc>
              <a:buNone/>
            </a:pPr>
            <a:r>
              <a:rPr lang="en-US" sz="1600" dirty="0">
                <a:solidFill>
                  <a:srgbClr val="61615C"/>
                </a:solidFill>
                <a:latin typeface="Tomorrow" pitchFamily="34" charset="0"/>
                <a:ea typeface="Tomorrow" pitchFamily="34" charset="-122"/>
                <a:cs typeface="Tomorrow" pitchFamily="34" charset="-120"/>
              </a:rPr>
              <a:t>Misol uchun, 3 + 5 = 8 ifodasi to'g'ri tenglikdir, chunki ikkala tomonning qiymati ham 8 ga teng.</a:t>
            </a:r>
            <a:endParaRPr lang="en-US" sz="1600" dirty="0"/>
          </a:p>
        </p:txBody>
      </p:sp>
      <p:sp>
        <p:nvSpPr>
          <p:cNvPr id="12" name="Shape 9"/>
          <p:cNvSpPr/>
          <p:nvPr/>
        </p:nvSpPr>
        <p:spPr>
          <a:xfrm>
            <a:off x="6200061" y="4808696"/>
            <a:ext cx="458748" cy="458748"/>
          </a:xfrm>
          <a:prstGeom prst="roundRect">
            <a:avLst>
              <a:gd name="adj" fmla="val 6668"/>
            </a:avLst>
          </a:prstGeom>
          <a:solidFill>
            <a:srgbClr val="F0EAEA"/>
          </a:solidFill>
          <a:ln/>
        </p:spPr>
      </p:sp>
      <p:sp>
        <p:nvSpPr>
          <p:cNvPr id="13" name="Text 10"/>
          <p:cNvSpPr/>
          <p:nvPr/>
        </p:nvSpPr>
        <p:spPr>
          <a:xfrm>
            <a:off x="6276439" y="4846856"/>
            <a:ext cx="305872" cy="382310"/>
          </a:xfrm>
          <a:prstGeom prst="rect">
            <a:avLst/>
          </a:prstGeom>
          <a:noFill/>
          <a:ln/>
        </p:spPr>
        <p:txBody>
          <a:bodyPr wrap="none" lIns="0" tIns="0" rIns="0" bIns="0" rtlCol="0" anchor="t"/>
          <a:lstStyle/>
          <a:p>
            <a:pPr algn="ctr" indent="0" marL="0">
              <a:lnSpc>
                <a:spcPts val="2400"/>
              </a:lnSpc>
              <a:buNone/>
            </a:pPr>
            <a:r>
              <a:rPr lang="en-US" sz="2400" dirty="0">
                <a:solidFill>
                  <a:srgbClr val="61615C"/>
                </a:solidFill>
                <a:latin typeface="Tomorrow Semi Bold" pitchFamily="34" charset="0"/>
                <a:ea typeface="Tomorrow Semi Bold" pitchFamily="34" charset="-122"/>
                <a:cs typeface="Tomorrow Semi Bold" pitchFamily="34" charset="-120"/>
              </a:rPr>
              <a:t>3</a:t>
            </a:r>
            <a:endParaRPr lang="en-US" sz="2400" dirty="0"/>
          </a:p>
        </p:txBody>
      </p:sp>
      <p:sp>
        <p:nvSpPr>
          <p:cNvPr id="14" name="Text 11"/>
          <p:cNvSpPr/>
          <p:nvPr/>
        </p:nvSpPr>
        <p:spPr>
          <a:xfrm>
            <a:off x="6862643" y="4878705"/>
            <a:ext cx="2885837" cy="318611"/>
          </a:xfrm>
          <a:prstGeom prst="rect">
            <a:avLst/>
          </a:prstGeom>
          <a:noFill/>
          <a:ln/>
        </p:spPr>
        <p:txBody>
          <a:bodyPr wrap="none" lIns="0" tIns="0" rIns="0" bIns="0" rtlCol="0" anchor="t"/>
          <a:lstStyle/>
          <a:p>
            <a:pPr algn="l" indent="0" marL="0">
              <a:lnSpc>
                <a:spcPts val="2500"/>
              </a:lnSpc>
              <a:buNone/>
            </a:pPr>
            <a:r>
              <a:rPr lang="en-US" sz="2000" dirty="0">
                <a:solidFill>
                  <a:srgbClr val="61615C"/>
                </a:solidFill>
                <a:latin typeface="Tomorrow Semi Bold" pitchFamily="34" charset="0"/>
                <a:ea typeface="Tomorrow Semi Bold" pitchFamily="34" charset="-122"/>
                <a:cs typeface="Tomorrow Semi Bold" pitchFamily="34" charset="-120"/>
              </a:rPr>
              <a:t>Noto'g'ri Tenglik Misoli</a:t>
            </a:r>
            <a:endParaRPr lang="en-US" sz="2000" dirty="0"/>
          </a:p>
        </p:txBody>
      </p:sp>
      <p:sp>
        <p:nvSpPr>
          <p:cNvPr id="15" name="Text 12"/>
          <p:cNvSpPr/>
          <p:nvPr/>
        </p:nvSpPr>
        <p:spPr>
          <a:xfrm>
            <a:off x="6862643" y="5319593"/>
            <a:ext cx="7054096" cy="978694"/>
          </a:xfrm>
          <a:prstGeom prst="rect">
            <a:avLst/>
          </a:prstGeom>
          <a:noFill/>
          <a:ln/>
        </p:spPr>
        <p:txBody>
          <a:bodyPr wrap="square" lIns="0" tIns="0" rIns="0" bIns="0" rtlCol="0" anchor="t"/>
          <a:lstStyle/>
          <a:p>
            <a:pPr algn="l" indent="0" marL="0">
              <a:lnSpc>
                <a:spcPts val="2550"/>
              </a:lnSpc>
              <a:buNone/>
            </a:pPr>
            <a:r>
              <a:rPr lang="en-US" sz="1600" dirty="0">
                <a:solidFill>
                  <a:srgbClr val="61615C"/>
                </a:solidFill>
                <a:latin typeface="Tomorrow" pitchFamily="34" charset="0"/>
                <a:ea typeface="Tomorrow" pitchFamily="34" charset="-122"/>
                <a:cs typeface="Tomorrow" pitchFamily="34" charset="-120"/>
              </a:rPr>
              <a:t>Boshqa tomondan, 7 - 2 = 4 ifodasi noto'g'ri tenglikdir, chunki chap tomon 5 ga, o'ng tomon esa 4 ga teng. Bu sonli tengliklar asosiy matematik tushunchalardan biridir.</a:t>
            </a:r>
            <a:endParaRPr lang="en-US" sz="1600" dirty="0"/>
          </a:p>
        </p:txBody>
      </p:sp>
      <p:sp>
        <p:nvSpPr>
          <p:cNvPr id="16" name="Text 13"/>
          <p:cNvSpPr/>
          <p:nvPr/>
        </p:nvSpPr>
        <p:spPr>
          <a:xfrm>
            <a:off x="6200061" y="6527602"/>
            <a:ext cx="7716679" cy="978694"/>
          </a:xfrm>
          <a:prstGeom prst="rect">
            <a:avLst/>
          </a:prstGeom>
          <a:noFill/>
          <a:ln/>
        </p:spPr>
        <p:txBody>
          <a:bodyPr wrap="square" lIns="0" tIns="0" rIns="0" bIns="0" rtlCol="0" anchor="t"/>
          <a:lstStyle/>
          <a:p>
            <a:pPr algn="l" indent="0" marL="0">
              <a:lnSpc>
                <a:spcPts val="2550"/>
              </a:lnSpc>
              <a:buNone/>
            </a:pPr>
            <a:r>
              <a:rPr lang="en-US" sz="1600" dirty="0">
                <a:solidFill>
                  <a:srgbClr val="61615C"/>
                </a:solidFill>
                <a:latin typeface="Tomorrow" pitchFamily="34" charset="0"/>
                <a:ea typeface="Tomorrow" pitchFamily="34" charset="-122"/>
                <a:cs typeface="Tomorrow" pitchFamily="34" charset="-120"/>
              </a:rPr>
              <a:t>Sonli tengliklarni tushunish va ularning to'g'riligini aniqlash matematika va boshqa fanlarni o'rganishda juda muhim. Bu bizga sonlar orasidagi munosabatlarni aniq tushunishga yordam beradi.</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677228"/>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D1D1B"/>
                </a:solidFill>
                <a:latin typeface="Tomorrow Semi Bold" pitchFamily="34" charset="0"/>
                <a:ea typeface="Tomorrow Semi Bold" pitchFamily="34" charset="-122"/>
                <a:cs typeface="Tomorrow Semi Bold" pitchFamily="34" charset="-120"/>
              </a:rPr>
              <a:t>Sonli Tengsizliklar</a:t>
            </a:r>
            <a:endParaRPr lang="en-US" sz="4450" dirty="0"/>
          </a:p>
        </p:txBody>
      </p:sp>
      <p:sp>
        <p:nvSpPr>
          <p:cNvPr id="3" name="Shape 1"/>
          <p:cNvSpPr/>
          <p:nvPr/>
        </p:nvSpPr>
        <p:spPr>
          <a:xfrm>
            <a:off x="793790" y="1839635"/>
            <a:ext cx="4196358" cy="4731663"/>
          </a:xfrm>
          <a:prstGeom prst="roundRect">
            <a:avLst>
              <a:gd name="adj" fmla="val 811"/>
            </a:avLst>
          </a:prstGeom>
          <a:solidFill>
            <a:srgbClr val="F0EAEA"/>
          </a:solidFill>
          <a:ln/>
        </p:spPr>
      </p:sp>
      <p:sp>
        <p:nvSpPr>
          <p:cNvPr id="4" name="Text 2"/>
          <p:cNvSpPr/>
          <p:nvPr/>
        </p:nvSpPr>
        <p:spPr>
          <a:xfrm>
            <a:off x="1020604" y="206644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61615C"/>
                </a:solidFill>
                <a:latin typeface="Tomorrow Semi Bold" pitchFamily="34" charset="0"/>
                <a:ea typeface="Tomorrow Semi Bold" pitchFamily="34" charset="-122"/>
                <a:cs typeface="Tomorrow Semi Bold" pitchFamily="34" charset="-120"/>
              </a:rPr>
              <a:t>Ta'rif</a:t>
            </a:r>
            <a:endParaRPr lang="en-US" sz="2200" dirty="0"/>
          </a:p>
        </p:txBody>
      </p:sp>
      <p:sp>
        <p:nvSpPr>
          <p:cNvPr id="5" name="Text 3"/>
          <p:cNvSpPr/>
          <p:nvPr/>
        </p:nvSpPr>
        <p:spPr>
          <a:xfrm>
            <a:off x="1020604" y="2556867"/>
            <a:ext cx="3742730" cy="2540318"/>
          </a:xfrm>
          <a:prstGeom prst="rect">
            <a:avLst/>
          </a:prstGeom>
          <a:noFill/>
          <a:ln/>
        </p:spPr>
        <p:txBody>
          <a:bodyPr wrap="square" lIns="0" tIns="0" rIns="0" bIns="0" rtlCol="0" anchor="t"/>
          <a:lstStyle/>
          <a:p>
            <a:pPr algn="l" indent="0" marL="0">
              <a:lnSpc>
                <a:spcPts val="2850"/>
              </a:lnSpc>
              <a:buNone/>
            </a:pPr>
            <a:r>
              <a:rPr lang="en-US" sz="1750" dirty="0">
                <a:solidFill>
                  <a:srgbClr val="61615C"/>
                </a:solidFill>
                <a:latin typeface="Tomorrow" pitchFamily="34" charset="0"/>
                <a:ea typeface="Tomorrow" pitchFamily="34" charset="-122"/>
                <a:cs typeface="Tomorrow" pitchFamily="34" charset="-120"/>
              </a:rPr>
              <a:t>Sonli tengsizliklar ikkita ifoda o'rtasida "&gt;" (katta), "&lt;" (kichik), "≥" (katta yoki teng), "≤" (kichik yoki teng) belgilaridan birining mavjudligini bildiradi. Ular sonlar orasidagi noteng munosabatni ifodalaydi.</a:t>
            </a:r>
            <a:endParaRPr lang="en-US" sz="1750" dirty="0"/>
          </a:p>
        </p:txBody>
      </p:sp>
      <p:sp>
        <p:nvSpPr>
          <p:cNvPr id="6" name="Shape 4"/>
          <p:cNvSpPr/>
          <p:nvPr/>
        </p:nvSpPr>
        <p:spPr>
          <a:xfrm>
            <a:off x="5216962" y="1839635"/>
            <a:ext cx="4196358" cy="4731663"/>
          </a:xfrm>
          <a:prstGeom prst="roundRect">
            <a:avLst>
              <a:gd name="adj" fmla="val 811"/>
            </a:avLst>
          </a:prstGeom>
          <a:solidFill>
            <a:srgbClr val="F0EAEA"/>
          </a:solidFill>
          <a:ln/>
        </p:spPr>
      </p:sp>
      <p:sp>
        <p:nvSpPr>
          <p:cNvPr id="7" name="Text 5"/>
          <p:cNvSpPr/>
          <p:nvPr/>
        </p:nvSpPr>
        <p:spPr>
          <a:xfrm>
            <a:off x="5443776" y="206644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61615C"/>
                </a:solidFill>
                <a:latin typeface="Tomorrow Semi Bold" pitchFamily="34" charset="0"/>
                <a:ea typeface="Tomorrow Semi Bold" pitchFamily="34" charset="-122"/>
                <a:cs typeface="Tomorrow Semi Bold" pitchFamily="34" charset="-120"/>
              </a:rPr>
              <a:t>Misollar</a:t>
            </a:r>
            <a:endParaRPr lang="en-US" sz="2200" dirty="0"/>
          </a:p>
        </p:txBody>
      </p:sp>
      <p:sp>
        <p:nvSpPr>
          <p:cNvPr id="8" name="Text 6"/>
          <p:cNvSpPr/>
          <p:nvPr/>
        </p:nvSpPr>
        <p:spPr>
          <a:xfrm>
            <a:off x="5443776" y="2556867"/>
            <a:ext cx="3742730" cy="108870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61615C"/>
                </a:solidFill>
                <a:latin typeface="Tomorrow" pitchFamily="34" charset="0"/>
                <a:ea typeface="Tomorrow" pitchFamily="34" charset="-122"/>
                <a:cs typeface="Tomorrow" pitchFamily="34" charset="-120"/>
              </a:rPr>
              <a:t>10 &gt; 7 (10 katta 7 dan): Bu tengsizlik 10 ning 7 dan kattaligini anglatadi.</a:t>
            </a:r>
            <a:endParaRPr lang="en-US" sz="1750" dirty="0"/>
          </a:p>
        </p:txBody>
      </p:sp>
      <p:sp>
        <p:nvSpPr>
          <p:cNvPr id="9" name="Text 7"/>
          <p:cNvSpPr/>
          <p:nvPr/>
        </p:nvSpPr>
        <p:spPr>
          <a:xfrm>
            <a:off x="5443776" y="3724870"/>
            <a:ext cx="3742730" cy="108870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61615C"/>
                </a:solidFill>
                <a:latin typeface="Tomorrow" pitchFamily="34" charset="0"/>
                <a:ea typeface="Tomorrow" pitchFamily="34" charset="-122"/>
                <a:cs typeface="Tomorrow" pitchFamily="34" charset="-120"/>
              </a:rPr>
              <a:t>3 &lt; 6 (3 kichik 6 dan): Bu esa 3 ning 6 dan kichikligini ko'rsatadi.</a:t>
            </a:r>
            <a:endParaRPr lang="en-US" sz="1750" dirty="0"/>
          </a:p>
        </p:txBody>
      </p:sp>
      <p:sp>
        <p:nvSpPr>
          <p:cNvPr id="10" name="Text 8"/>
          <p:cNvSpPr/>
          <p:nvPr/>
        </p:nvSpPr>
        <p:spPr>
          <a:xfrm>
            <a:off x="5443776" y="4892873"/>
            <a:ext cx="3742730" cy="1451610"/>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61615C"/>
                </a:solidFill>
                <a:latin typeface="Tomorrow" pitchFamily="34" charset="0"/>
                <a:ea typeface="Tomorrow" pitchFamily="34" charset="-122"/>
                <a:cs typeface="Tomorrow" pitchFamily="34" charset="-120"/>
              </a:rPr>
              <a:t>5 ≥ 5 (5 katta yoki teng 5 ga): Bu tengsizlik 5 ning 5 ga teng yoki undan kattaligini bildiradi, bu holatda tengligi to'g'ri.</a:t>
            </a:r>
            <a:endParaRPr lang="en-US" sz="1750" dirty="0"/>
          </a:p>
        </p:txBody>
      </p:sp>
      <p:sp>
        <p:nvSpPr>
          <p:cNvPr id="11" name="Shape 9"/>
          <p:cNvSpPr/>
          <p:nvPr/>
        </p:nvSpPr>
        <p:spPr>
          <a:xfrm>
            <a:off x="9640133" y="1839635"/>
            <a:ext cx="4196358" cy="4731663"/>
          </a:xfrm>
          <a:prstGeom prst="roundRect">
            <a:avLst>
              <a:gd name="adj" fmla="val 811"/>
            </a:avLst>
          </a:prstGeom>
          <a:solidFill>
            <a:srgbClr val="F0EAEA"/>
          </a:solidFill>
          <a:ln/>
        </p:spPr>
      </p:sp>
      <p:sp>
        <p:nvSpPr>
          <p:cNvPr id="12" name="Text 10"/>
          <p:cNvSpPr/>
          <p:nvPr/>
        </p:nvSpPr>
        <p:spPr>
          <a:xfrm>
            <a:off x="9866948" y="206644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61615C"/>
                </a:solidFill>
                <a:latin typeface="Tomorrow Semi Bold" pitchFamily="34" charset="0"/>
                <a:ea typeface="Tomorrow Semi Bold" pitchFamily="34" charset="-122"/>
                <a:cs typeface="Tomorrow Semi Bold" pitchFamily="34" charset="-120"/>
              </a:rPr>
              <a:t>Vazifa</a:t>
            </a:r>
            <a:endParaRPr lang="en-US" sz="2200" dirty="0"/>
          </a:p>
        </p:txBody>
      </p:sp>
      <p:sp>
        <p:nvSpPr>
          <p:cNvPr id="13" name="Text 11"/>
          <p:cNvSpPr/>
          <p:nvPr/>
        </p:nvSpPr>
        <p:spPr>
          <a:xfrm>
            <a:off x="9866948" y="2556867"/>
            <a:ext cx="3742730" cy="2177415"/>
          </a:xfrm>
          <a:prstGeom prst="rect">
            <a:avLst/>
          </a:prstGeom>
          <a:noFill/>
          <a:ln/>
        </p:spPr>
        <p:txBody>
          <a:bodyPr wrap="square" lIns="0" tIns="0" rIns="0" bIns="0" rtlCol="0" anchor="t"/>
          <a:lstStyle/>
          <a:p>
            <a:pPr algn="l" indent="0" marL="0">
              <a:lnSpc>
                <a:spcPts val="2850"/>
              </a:lnSpc>
              <a:buNone/>
            </a:pPr>
            <a:r>
              <a:rPr lang="en-US" sz="1750" dirty="0">
                <a:solidFill>
                  <a:srgbClr val="61615C"/>
                </a:solidFill>
                <a:latin typeface="Tomorrow" pitchFamily="34" charset="0"/>
                <a:ea typeface="Tomorrow" pitchFamily="34" charset="-122"/>
                <a:cs typeface="Tomorrow" pitchFamily="34" charset="-120"/>
              </a:rPr>
              <a:t>O'quvchilarning vazifasi tengsizliklarni to'g'ri aniqlash va ularning haqiqiyligini tekshirishdir. Bu ko'nikma murakkabroq matematik masalalarni yechishda muhim ahamiyatga ega.</a:t>
            </a:r>
            <a:endParaRPr lang="en-US" sz="1750" dirty="0"/>
          </a:p>
        </p:txBody>
      </p:sp>
      <p:sp>
        <p:nvSpPr>
          <p:cNvPr id="14" name="Text 12"/>
          <p:cNvSpPr/>
          <p:nvPr/>
        </p:nvSpPr>
        <p:spPr>
          <a:xfrm>
            <a:off x="793790" y="6826448"/>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61615C"/>
                </a:solidFill>
                <a:latin typeface="Tomorrow" pitchFamily="34" charset="0"/>
                <a:ea typeface="Tomorrow" pitchFamily="34" charset="-122"/>
                <a:cs typeface="Tomorrow" pitchFamily="34" charset="-120"/>
              </a:rPr>
              <a:t>Tengsizliklarni tushunish, har xil qiymatlarni solishtirish va qaror qabul qilishda katta yordam beradi. Ular fan va kundalik hayotda ko'p qo'llaniladi.</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142167"/>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D1D1B"/>
                </a:solidFill>
                <a:latin typeface="Tomorrow Semi Bold" pitchFamily="34" charset="0"/>
                <a:ea typeface="Tomorrow Semi Bold" pitchFamily="34" charset="-122"/>
                <a:cs typeface="Tomorrow Semi Bold" pitchFamily="34" charset="-120"/>
              </a:rPr>
              <a:t>Tenglamalar</a:t>
            </a:r>
            <a:endParaRPr lang="en-US" sz="4450" dirty="0"/>
          </a:p>
        </p:txBody>
      </p:sp>
      <p:sp>
        <p:nvSpPr>
          <p:cNvPr id="3" name="Text 1"/>
          <p:cNvSpPr/>
          <p:nvPr/>
        </p:nvSpPr>
        <p:spPr>
          <a:xfrm>
            <a:off x="793790" y="241792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D1D1B"/>
                </a:solidFill>
                <a:latin typeface="Tomorrow Semi Bold" pitchFamily="34" charset="0"/>
                <a:ea typeface="Tomorrow Semi Bold" pitchFamily="34" charset="-122"/>
                <a:cs typeface="Tomorrow Semi Bold" pitchFamily="34" charset="-120"/>
              </a:rPr>
              <a:t>Ta'rif</a:t>
            </a:r>
            <a:endParaRPr lang="en-US" sz="2200" dirty="0"/>
          </a:p>
        </p:txBody>
      </p:sp>
      <p:sp>
        <p:nvSpPr>
          <p:cNvPr id="4" name="Text 2"/>
          <p:cNvSpPr/>
          <p:nvPr/>
        </p:nvSpPr>
        <p:spPr>
          <a:xfrm>
            <a:off x="793790" y="2999065"/>
            <a:ext cx="3978116" cy="1814513"/>
          </a:xfrm>
          <a:prstGeom prst="rect">
            <a:avLst/>
          </a:prstGeom>
          <a:noFill/>
          <a:ln/>
        </p:spPr>
        <p:txBody>
          <a:bodyPr wrap="square" lIns="0" tIns="0" rIns="0" bIns="0" rtlCol="0" anchor="t"/>
          <a:lstStyle/>
          <a:p>
            <a:pPr algn="l" indent="0" marL="0">
              <a:lnSpc>
                <a:spcPts val="2850"/>
              </a:lnSpc>
              <a:buNone/>
            </a:pPr>
            <a:r>
              <a:rPr lang="en-US" sz="1750" dirty="0">
                <a:solidFill>
                  <a:srgbClr val="61615C"/>
                </a:solidFill>
                <a:latin typeface="Tomorrow" pitchFamily="34" charset="0"/>
                <a:ea typeface="Tomorrow" pitchFamily="34" charset="-122"/>
                <a:cs typeface="Tomorrow" pitchFamily="34" charset="-120"/>
              </a:rPr>
              <a:t>Tenglama bu noma'lum qiymatni o'z ichiga olgan tenglikdir. Noma'lum odatda lotin harflari (masalan, x, y, z) bilan belgilanadi va uning qiymatini topish tenglamani yechish deyiladi.</a:t>
            </a:r>
            <a:endParaRPr lang="en-US" sz="1750" dirty="0"/>
          </a:p>
        </p:txBody>
      </p:sp>
      <p:sp>
        <p:nvSpPr>
          <p:cNvPr id="5" name="Text 3"/>
          <p:cNvSpPr/>
          <p:nvPr/>
        </p:nvSpPr>
        <p:spPr>
          <a:xfrm>
            <a:off x="5332928" y="241792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D1D1B"/>
                </a:solidFill>
                <a:latin typeface="Tomorrow Semi Bold" pitchFamily="34" charset="0"/>
                <a:ea typeface="Tomorrow Semi Bold" pitchFamily="34" charset="-122"/>
                <a:cs typeface="Tomorrow Semi Bold" pitchFamily="34" charset="-120"/>
              </a:rPr>
              <a:t>Misollar</a:t>
            </a:r>
            <a:endParaRPr lang="en-US" sz="2200" dirty="0"/>
          </a:p>
        </p:txBody>
      </p:sp>
      <p:sp>
        <p:nvSpPr>
          <p:cNvPr id="6" name="Text 4"/>
          <p:cNvSpPr/>
          <p:nvPr/>
        </p:nvSpPr>
        <p:spPr>
          <a:xfrm>
            <a:off x="5332928" y="2999065"/>
            <a:ext cx="3978116" cy="1451610"/>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61615C"/>
                </a:solidFill>
                <a:latin typeface="Tomorrow" pitchFamily="34" charset="0"/>
                <a:ea typeface="Tomorrow" pitchFamily="34" charset="-122"/>
                <a:cs typeface="Tomorrow" pitchFamily="34" charset="-120"/>
              </a:rPr>
              <a:t>x + 3 = 7:</a:t>
            </a:r>
            <a:pPr algn="l" indent="0" marL="0">
              <a:lnSpc>
                <a:spcPts val="2850"/>
              </a:lnSpc>
              <a:buNone/>
            </a:pPr>
            <a:r>
              <a:rPr lang="en-US" sz="1750" dirty="0">
                <a:solidFill>
                  <a:srgbClr val="61615C"/>
                </a:solidFill>
                <a:latin typeface="Tomorrow" pitchFamily="34" charset="0"/>
                <a:ea typeface="Tomorrow" pitchFamily="34" charset="-122"/>
                <a:cs typeface="Tomorrow" pitchFamily="34" charset="-120"/>
              </a:rPr>
              <a:t> Bu yerda biz x ning qiymatini topishimiz kerak. x bu tenglamani to'g'ri qiladigan yagona sondir.</a:t>
            </a:r>
            <a:endParaRPr lang="en-US" sz="1750" dirty="0"/>
          </a:p>
        </p:txBody>
      </p:sp>
      <p:sp>
        <p:nvSpPr>
          <p:cNvPr id="7" name="Text 5"/>
          <p:cNvSpPr/>
          <p:nvPr/>
        </p:nvSpPr>
        <p:spPr>
          <a:xfrm>
            <a:off x="5332928" y="4529971"/>
            <a:ext cx="3978116" cy="1451610"/>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61615C"/>
                </a:solidFill>
                <a:latin typeface="Tomorrow" pitchFamily="34" charset="0"/>
                <a:ea typeface="Tomorrow" pitchFamily="34" charset="-122"/>
                <a:cs typeface="Tomorrow" pitchFamily="34" charset="-120"/>
              </a:rPr>
              <a:t>2y - 5 = 9:</a:t>
            </a:r>
            <a:pPr algn="l" indent="0" marL="0">
              <a:lnSpc>
                <a:spcPts val="2850"/>
              </a:lnSpc>
              <a:buNone/>
            </a:pPr>
            <a:r>
              <a:rPr lang="en-US" sz="1750" dirty="0">
                <a:solidFill>
                  <a:srgbClr val="61615C"/>
                </a:solidFill>
                <a:latin typeface="Tomorrow" pitchFamily="34" charset="0"/>
                <a:ea typeface="Tomorrow" pitchFamily="34" charset="-122"/>
                <a:cs typeface="Tomorrow" pitchFamily="34" charset="-120"/>
              </a:rPr>
              <a:t> Bu tenglamada y ning qiymatini aniqlash talab qilinadi. Bunday tenglamalar algebra asosini tashkil etadi.</a:t>
            </a:r>
            <a:endParaRPr lang="en-US" sz="1750" dirty="0"/>
          </a:p>
        </p:txBody>
      </p:sp>
      <p:sp>
        <p:nvSpPr>
          <p:cNvPr id="8" name="Text 6"/>
          <p:cNvSpPr/>
          <p:nvPr/>
        </p:nvSpPr>
        <p:spPr>
          <a:xfrm>
            <a:off x="9872067" y="2417921"/>
            <a:ext cx="2885361" cy="354330"/>
          </a:xfrm>
          <a:prstGeom prst="rect">
            <a:avLst/>
          </a:prstGeom>
          <a:noFill/>
          <a:ln/>
        </p:spPr>
        <p:txBody>
          <a:bodyPr wrap="none" lIns="0" tIns="0" rIns="0" bIns="0" rtlCol="0" anchor="t"/>
          <a:lstStyle/>
          <a:p>
            <a:pPr algn="l" indent="0" marL="0">
              <a:lnSpc>
                <a:spcPts val="2750"/>
              </a:lnSpc>
              <a:buNone/>
            </a:pPr>
            <a:r>
              <a:rPr lang="en-US" sz="2200" dirty="0">
                <a:solidFill>
                  <a:srgbClr val="1D1D1B"/>
                </a:solidFill>
                <a:latin typeface="Tomorrow Semi Bold" pitchFamily="34" charset="0"/>
                <a:ea typeface="Tomorrow Semi Bold" pitchFamily="34" charset="-122"/>
                <a:cs typeface="Tomorrow Semi Bold" pitchFamily="34" charset="-120"/>
              </a:rPr>
              <a:t>Tenglamani Yechish</a:t>
            </a:r>
            <a:endParaRPr lang="en-US" sz="2200" dirty="0"/>
          </a:p>
        </p:txBody>
      </p:sp>
      <p:sp>
        <p:nvSpPr>
          <p:cNvPr id="9" name="Text 7"/>
          <p:cNvSpPr/>
          <p:nvPr/>
        </p:nvSpPr>
        <p:spPr>
          <a:xfrm>
            <a:off x="9872067" y="2999065"/>
            <a:ext cx="3978116" cy="2903220"/>
          </a:xfrm>
          <a:prstGeom prst="rect">
            <a:avLst/>
          </a:prstGeom>
          <a:noFill/>
          <a:ln/>
        </p:spPr>
        <p:txBody>
          <a:bodyPr wrap="square" lIns="0" tIns="0" rIns="0" bIns="0" rtlCol="0" anchor="t"/>
          <a:lstStyle/>
          <a:p>
            <a:pPr algn="l" indent="0" marL="0">
              <a:lnSpc>
                <a:spcPts val="2850"/>
              </a:lnSpc>
              <a:buNone/>
            </a:pPr>
            <a:r>
              <a:rPr lang="en-US" sz="1750" dirty="0">
                <a:solidFill>
                  <a:srgbClr val="61615C"/>
                </a:solidFill>
                <a:latin typeface="Tomorrow" pitchFamily="34" charset="0"/>
                <a:ea typeface="Tomorrow" pitchFamily="34" charset="-122"/>
                <a:cs typeface="Tomorrow" pitchFamily="34" charset="-120"/>
              </a:rPr>
              <a:t>Tenglamani yechish noma'lum qiymatni topish jarayonidir. Bu jarayon ifodalarni soddalashtirish va teskari amallarni qo'llash orqali amalga oshiriladi. Tenglamalarni yechish bizga muammolarni aniq va mantiqiy tarzda hal qilishga yordam beradi.</a:t>
            </a:r>
            <a:endParaRPr lang="en-US" sz="1750" dirty="0"/>
          </a:p>
        </p:txBody>
      </p:sp>
      <p:sp>
        <p:nvSpPr>
          <p:cNvPr id="10" name="Text 8"/>
          <p:cNvSpPr/>
          <p:nvPr/>
        </p:nvSpPr>
        <p:spPr>
          <a:xfrm>
            <a:off x="793790" y="6361509"/>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61615C"/>
                </a:solidFill>
                <a:latin typeface="Tomorrow" pitchFamily="34" charset="0"/>
                <a:ea typeface="Tomorrow" pitchFamily="34" charset="-122"/>
                <a:cs typeface="Tomorrow" pitchFamily="34" charset="-120"/>
              </a:rPr>
              <a:t>Tenglamalar matematika, fizika, muhandislik va iqtisodiyot kabi ko'plab sohalarda qo'llaniladi. Ular real hayotiy muammolarni matematik modelga aylantirish va yechish imkonini beradi.</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53745" y="697944"/>
            <a:ext cx="7472243" cy="595908"/>
          </a:xfrm>
          <a:prstGeom prst="rect">
            <a:avLst/>
          </a:prstGeom>
          <a:noFill/>
          <a:ln/>
        </p:spPr>
        <p:txBody>
          <a:bodyPr wrap="none" lIns="0" tIns="0" rIns="0" bIns="0" rtlCol="0" anchor="t"/>
          <a:lstStyle/>
          <a:p>
            <a:pPr algn="l" indent="0" marL="0">
              <a:lnSpc>
                <a:spcPts val="4650"/>
              </a:lnSpc>
              <a:buNone/>
            </a:pPr>
            <a:r>
              <a:rPr lang="en-US" sz="3750" dirty="0">
                <a:solidFill>
                  <a:srgbClr val="1D1D1B"/>
                </a:solidFill>
                <a:latin typeface="Tomorrow Semi Bold" pitchFamily="34" charset="0"/>
                <a:ea typeface="Tomorrow Semi Bold" pitchFamily="34" charset="-122"/>
                <a:cs typeface="Tomorrow Semi Bold" pitchFamily="34" charset="-120"/>
              </a:rPr>
              <a:t>Tenglamalarni Yechish Usullari</a:t>
            </a:r>
            <a:endParaRPr lang="en-US" sz="3750" dirty="0"/>
          </a:p>
        </p:txBody>
      </p:sp>
      <p:pic>
        <p:nvPicPr>
          <p:cNvPr id="4" name="Image 1" descr="preencoded.png">    </p:cNvPr>
          <p:cNvPicPr>
            <a:picLocks noChangeAspect="1"/>
          </p:cNvPicPr>
          <p:nvPr/>
        </p:nvPicPr>
        <p:blipFill>
          <a:blip r:embed="rId2"/>
          <a:stretch>
            <a:fillRect/>
          </a:stretch>
        </p:blipFill>
        <p:spPr>
          <a:xfrm>
            <a:off x="6153745" y="1579840"/>
            <a:ext cx="953453" cy="1403866"/>
          </a:xfrm>
          <a:prstGeom prst="rect">
            <a:avLst/>
          </a:prstGeom>
        </p:spPr>
      </p:pic>
      <p:sp>
        <p:nvSpPr>
          <p:cNvPr id="5" name="Text 1"/>
          <p:cNvSpPr/>
          <p:nvPr/>
        </p:nvSpPr>
        <p:spPr>
          <a:xfrm>
            <a:off x="7297817" y="1770459"/>
            <a:ext cx="2383750" cy="297894"/>
          </a:xfrm>
          <a:prstGeom prst="rect">
            <a:avLst/>
          </a:prstGeom>
          <a:noFill/>
          <a:ln/>
        </p:spPr>
        <p:txBody>
          <a:bodyPr wrap="none" lIns="0" tIns="0" rIns="0" bIns="0" rtlCol="0" anchor="t"/>
          <a:lstStyle/>
          <a:p>
            <a:pPr algn="l" indent="0" marL="0">
              <a:lnSpc>
                <a:spcPts val="2300"/>
              </a:lnSpc>
              <a:buNone/>
            </a:pPr>
            <a:r>
              <a:rPr lang="en-US" sz="1850" dirty="0">
                <a:solidFill>
                  <a:srgbClr val="61615C"/>
                </a:solidFill>
                <a:latin typeface="Tomorrow Semi Bold" pitchFamily="34" charset="0"/>
                <a:ea typeface="Tomorrow Semi Bold" pitchFamily="34" charset="-122"/>
                <a:cs typeface="Tomorrow Semi Bold" pitchFamily="34" charset="-120"/>
              </a:rPr>
              <a:t>Soddalashtirish</a:t>
            </a:r>
            <a:endParaRPr lang="en-US" sz="1850" dirty="0"/>
          </a:p>
        </p:txBody>
      </p:sp>
      <p:sp>
        <p:nvSpPr>
          <p:cNvPr id="6" name="Text 2"/>
          <p:cNvSpPr/>
          <p:nvPr/>
        </p:nvSpPr>
        <p:spPr>
          <a:xfrm>
            <a:off x="7297817" y="2182773"/>
            <a:ext cx="6665238" cy="610314"/>
          </a:xfrm>
          <a:prstGeom prst="rect">
            <a:avLst/>
          </a:prstGeom>
          <a:noFill/>
          <a:ln/>
        </p:spPr>
        <p:txBody>
          <a:bodyPr wrap="square" lIns="0" tIns="0" rIns="0" bIns="0" rtlCol="0" anchor="t"/>
          <a:lstStyle/>
          <a:p>
            <a:pPr algn="l" indent="0" marL="0">
              <a:lnSpc>
                <a:spcPts val="2400"/>
              </a:lnSpc>
              <a:buNone/>
            </a:pPr>
            <a:r>
              <a:rPr lang="en-US" sz="1500" dirty="0">
                <a:solidFill>
                  <a:srgbClr val="61615C"/>
                </a:solidFill>
                <a:latin typeface="Tomorrow" pitchFamily="34" charset="0"/>
                <a:ea typeface="Tomorrow" pitchFamily="34" charset="-122"/>
                <a:cs typeface="Tomorrow" pitchFamily="34" charset="-120"/>
              </a:rPr>
              <a:t>Tenglamaning har ikki tomonidagi ifodalarni soddalashtirish. Bu qavslarni ochish, o'xshash hadlarni birlashtirish va hisoblashni o'z ichiga oladi.</a:t>
            </a:r>
            <a:endParaRPr lang="en-US" sz="1500" dirty="0"/>
          </a:p>
        </p:txBody>
      </p:sp>
      <p:pic>
        <p:nvPicPr>
          <p:cNvPr id="7" name="Image 2" descr="preencoded.png">    </p:cNvPr>
          <p:cNvPicPr>
            <a:picLocks noChangeAspect="1"/>
          </p:cNvPicPr>
          <p:nvPr/>
        </p:nvPicPr>
        <p:blipFill>
          <a:blip r:embed="rId3"/>
          <a:stretch>
            <a:fillRect/>
          </a:stretch>
        </p:blipFill>
        <p:spPr>
          <a:xfrm>
            <a:off x="6153745" y="2983706"/>
            <a:ext cx="953453" cy="1709023"/>
          </a:xfrm>
          <a:prstGeom prst="rect">
            <a:avLst/>
          </a:prstGeom>
        </p:spPr>
      </p:pic>
      <p:sp>
        <p:nvSpPr>
          <p:cNvPr id="8" name="Text 3"/>
          <p:cNvSpPr/>
          <p:nvPr/>
        </p:nvSpPr>
        <p:spPr>
          <a:xfrm>
            <a:off x="7297817" y="3174325"/>
            <a:ext cx="2383750" cy="297894"/>
          </a:xfrm>
          <a:prstGeom prst="rect">
            <a:avLst/>
          </a:prstGeom>
          <a:noFill/>
          <a:ln/>
        </p:spPr>
        <p:txBody>
          <a:bodyPr wrap="none" lIns="0" tIns="0" rIns="0" bIns="0" rtlCol="0" anchor="t"/>
          <a:lstStyle/>
          <a:p>
            <a:pPr algn="l" indent="0" marL="0">
              <a:lnSpc>
                <a:spcPts val="2300"/>
              </a:lnSpc>
              <a:buNone/>
            </a:pPr>
            <a:r>
              <a:rPr lang="en-US" sz="1850" dirty="0">
                <a:solidFill>
                  <a:srgbClr val="61615C"/>
                </a:solidFill>
                <a:latin typeface="Tomorrow Semi Bold" pitchFamily="34" charset="0"/>
                <a:ea typeface="Tomorrow Semi Bold" pitchFamily="34" charset="-122"/>
                <a:cs typeface="Tomorrow Semi Bold" pitchFamily="34" charset="-120"/>
              </a:rPr>
              <a:t>Izolyatsiya</a:t>
            </a:r>
            <a:endParaRPr lang="en-US" sz="1850" dirty="0"/>
          </a:p>
        </p:txBody>
      </p:sp>
      <p:sp>
        <p:nvSpPr>
          <p:cNvPr id="9" name="Text 4"/>
          <p:cNvSpPr/>
          <p:nvPr/>
        </p:nvSpPr>
        <p:spPr>
          <a:xfrm>
            <a:off x="7297817" y="3586639"/>
            <a:ext cx="6665238" cy="915472"/>
          </a:xfrm>
          <a:prstGeom prst="rect">
            <a:avLst/>
          </a:prstGeom>
          <a:noFill/>
          <a:ln/>
        </p:spPr>
        <p:txBody>
          <a:bodyPr wrap="square" lIns="0" tIns="0" rIns="0" bIns="0" rtlCol="0" anchor="t"/>
          <a:lstStyle/>
          <a:p>
            <a:pPr algn="l" indent="0" marL="0">
              <a:lnSpc>
                <a:spcPts val="2400"/>
              </a:lnSpc>
              <a:buNone/>
            </a:pPr>
            <a:r>
              <a:rPr lang="en-US" sz="1500" dirty="0">
                <a:solidFill>
                  <a:srgbClr val="61615C"/>
                </a:solidFill>
                <a:latin typeface="Tomorrow" pitchFamily="34" charset="0"/>
                <a:ea typeface="Tomorrow" pitchFamily="34" charset="-122"/>
                <a:cs typeface="Tomorrow" pitchFamily="34" charset="-120"/>
              </a:rPr>
              <a:t>Noma'lum qiymatni tenglamaning bir tomoniga o'tkazish. Bu tenglikning har ikki tomoniga bir xil sonni qo'shish yoki ayirish orqali amalga oshiriladi.</a:t>
            </a:r>
            <a:endParaRPr lang="en-US" sz="1500" dirty="0"/>
          </a:p>
        </p:txBody>
      </p:sp>
      <p:pic>
        <p:nvPicPr>
          <p:cNvPr id="10" name="Image 3" descr="preencoded.png">    </p:cNvPr>
          <p:cNvPicPr>
            <a:picLocks noChangeAspect="1"/>
          </p:cNvPicPr>
          <p:nvPr/>
        </p:nvPicPr>
        <p:blipFill>
          <a:blip r:embed="rId4"/>
          <a:stretch>
            <a:fillRect/>
          </a:stretch>
        </p:blipFill>
        <p:spPr>
          <a:xfrm>
            <a:off x="6153745" y="4692729"/>
            <a:ext cx="953453" cy="1709023"/>
          </a:xfrm>
          <a:prstGeom prst="rect">
            <a:avLst/>
          </a:prstGeom>
        </p:spPr>
      </p:pic>
      <p:sp>
        <p:nvSpPr>
          <p:cNvPr id="11" name="Text 5"/>
          <p:cNvSpPr/>
          <p:nvPr/>
        </p:nvSpPr>
        <p:spPr>
          <a:xfrm>
            <a:off x="7297817" y="4883348"/>
            <a:ext cx="2383750" cy="297894"/>
          </a:xfrm>
          <a:prstGeom prst="rect">
            <a:avLst/>
          </a:prstGeom>
          <a:noFill/>
          <a:ln/>
        </p:spPr>
        <p:txBody>
          <a:bodyPr wrap="none" lIns="0" tIns="0" rIns="0" bIns="0" rtlCol="0" anchor="t"/>
          <a:lstStyle/>
          <a:p>
            <a:pPr algn="l" indent="0" marL="0">
              <a:lnSpc>
                <a:spcPts val="2300"/>
              </a:lnSpc>
              <a:buNone/>
            </a:pPr>
            <a:r>
              <a:rPr lang="en-US" sz="1850" dirty="0">
                <a:solidFill>
                  <a:srgbClr val="61615C"/>
                </a:solidFill>
                <a:latin typeface="Tomorrow Semi Bold" pitchFamily="34" charset="0"/>
                <a:ea typeface="Tomorrow Semi Bold" pitchFamily="34" charset="-122"/>
                <a:cs typeface="Tomorrow Semi Bold" pitchFamily="34" charset="-120"/>
              </a:rPr>
              <a:t>Teskari Amallar</a:t>
            </a:r>
            <a:endParaRPr lang="en-US" sz="1850" dirty="0"/>
          </a:p>
        </p:txBody>
      </p:sp>
      <p:sp>
        <p:nvSpPr>
          <p:cNvPr id="12" name="Text 6"/>
          <p:cNvSpPr/>
          <p:nvPr/>
        </p:nvSpPr>
        <p:spPr>
          <a:xfrm>
            <a:off x="7297817" y="5295662"/>
            <a:ext cx="6665238" cy="915472"/>
          </a:xfrm>
          <a:prstGeom prst="rect">
            <a:avLst/>
          </a:prstGeom>
          <a:noFill/>
          <a:ln/>
        </p:spPr>
        <p:txBody>
          <a:bodyPr wrap="square" lIns="0" tIns="0" rIns="0" bIns="0" rtlCol="0" anchor="t"/>
          <a:lstStyle/>
          <a:p>
            <a:pPr algn="l" indent="0" marL="0">
              <a:lnSpc>
                <a:spcPts val="2400"/>
              </a:lnSpc>
              <a:buNone/>
            </a:pPr>
            <a:r>
              <a:rPr lang="en-US" sz="1500" dirty="0">
                <a:solidFill>
                  <a:srgbClr val="61615C"/>
                </a:solidFill>
                <a:latin typeface="Tomorrow" pitchFamily="34" charset="0"/>
                <a:ea typeface="Tomorrow" pitchFamily="34" charset="-122"/>
                <a:cs typeface="Tomorrow" pitchFamily="34" charset="-120"/>
              </a:rPr>
              <a:t>Noma'lumga ta'sir qiluvchi teskari amallarni (qo'shish/ayirish, ko'paytirish/bo'lish) qo'llash. Masalan, agar tenglamada qo'shish bo'lsa, ayirishdan foydalanamiz.</a:t>
            </a:r>
            <a:endParaRPr lang="en-US" sz="1500" dirty="0"/>
          </a:p>
        </p:txBody>
      </p:sp>
      <p:sp>
        <p:nvSpPr>
          <p:cNvPr id="13" name="Text 7"/>
          <p:cNvSpPr/>
          <p:nvPr/>
        </p:nvSpPr>
        <p:spPr>
          <a:xfrm>
            <a:off x="6153745" y="6616184"/>
            <a:ext cx="7809309" cy="915472"/>
          </a:xfrm>
          <a:prstGeom prst="rect">
            <a:avLst/>
          </a:prstGeom>
          <a:noFill/>
          <a:ln/>
        </p:spPr>
        <p:txBody>
          <a:bodyPr wrap="square" lIns="0" tIns="0" rIns="0" bIns="0" rtlCol="0" anchor="t"/>
          <a:lstStyle/>
          <a:p>
            <a:pPr algn="l" indent="0" marL="0">
              <a:lnSpc>
                <a:spcPts val="2400"/>
              </a:lnSpc>
              <a:buNone/>
            </a:pPr>
            <a:r>
              <a:rPr lang="en-US" sz="1500" dirty="0">
                <a:solidFill>
                  <a:srgbClr val="61615C"/>
                </a:solidFill>
                <a:latin typeface="Tomorrow" pitchFamily="34" charset="0"/>
                <a:ea typeface="Tomorrow" pitchFamily="34" charset="-122"/>
                <a:cs typeface="Tomorrow" pitchFamily="34" charset="-120"/>
              </a:rPr>
              <a:t>Bu usullar har qanday murakkablikdagi tenglamalarni yechish uchun asos bo'lib xizmat qiladi. Ularni o'zlashtirish, matematik muammolarni samarali hal qilish uchun zarurdir.</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63178" y="522684"/>
            <a:ext cx="4737021" cy="592098"/>
          </a:xfrm>
          <a:prstGeom prst="rect">
            <a:avLst/>
          </a:prstGeom>
          <a:noFill/>
          <a:ln/>
        </p:spPr>
        <p:txBody>
          <a:bodyPr wrap="none" lIns="0" tIns="0" rIns="0" bIns="0" rtlCol="0" anchor="t"/>
          <a:lstStyle/>
          <a:p>
            <a:pPr algn="l" indent="0" marL="0">
              <a:lnSpc>
                <a:spcPts val="4650"/>
              </a:lnSpc>
              <a:buNone/>
            </a:pPr>
            <a:r>
              <a:rPr lang="en-US" sz="3700" dirty="0">
                <a:solidFill>
                  <a:srgbClr val="1D1D1B"/>
                </a:solidFill>
                <a:latin typeface="Tomorrow Semi Bold" pitchFamily="34" charset="0"/>
                <a:ea typeface="Tomorrow Semi Bold" pitchFamily="34" charset="-122"/>
                <a:cs typeface="Tomorrow Semi Bold" pitchFamily="34" charset="-120"/>
              </a:rPr>
              <a:t>Misol: x + 5 = 12</a:t>
            </a:r>
            <a:endParaRPr lang="en-US" sz="3700" dirty="0"/>
          </a:p>
        </p:txBody>
      </p:sp>
      <p:sp>
        <p:nvSpPr>
          <p:cNvPr id="4" name="Shape 1"/>
          <p:cNvSpPr/>
          <p:nvPr/>
        </p:nvSpPr>
        <p:spPr>
          <a:xfrm>
            <a:off x="663178" y="1398984"/>
            <a:ext cx="189428" cy="1136809"/>
          </a:xfrm>
          <a:prstGeom prst="roundRect">
            <a:avLst>
              <a:gd name="adj" fmla="val 15004"/>
            </a:avLst>
          </a:prstGeom>
          <a:solidFill>
            <a:srgbClr val="F0EAEA"/>
          </a:solidFill>
          <a:ln/>
        </p:spPr>
      </p:sp>
      <p:sp>
        <p:nvSpPr>
          <p:cNvPr id="5" name="Text 2"/>
          <p:cNvSpPr/>
          <p:nvPr/>
        </p:nvSpPr>
        <p:spPr>
          <a:xfrm>
            <a:off x="1042035" y="1588413"/>
            <a:ext cx="2368510" cy="295989"/>
          </a:xfrm>
          <a:prstGeom prst="rect">
            <a:avLst/>
          </a:prstGeom>
          <a:noFill/>
          <a:ln/>
        </p:spPr>
        <p:txBody>
          <a:bodyPr wrap="none" lIns="0" tIns="0" rIns="0" bIns="0" rtlCol="0" anchor="t"/>
          <a:lstStyle/>
          <a:p>
            <a:pPr algn="l" indent="0" marL="0">
              <a:lnSpc>
                <a:spcPts val="2300"/>
              </a:lnSpc>
              <a:buNone/>
            </a:pPr>
            <a:r>
              <a:rPr lang="en-US" sz="1850" dirty="0">
                <a:solidFill>
                  <a:srgbClr val="61615C"/>
                </a:solidFill>
                <a:latin typeface="Tomorrow Semi Bold" pitchFamily="34" charset="0"/>
                <a:ea typeface="Tomorrow Semi Bold" pitchFamily="34" charset="-122"/>
                <a:cs typeface="Tomorrow Semi Bold" pitchFamily="34" charset="-120"/>
              </a:rPr>
              <a:t>Tenglamani yozish</a:t>
            </a:r>
            <a:endParaRPr lang="en-US" sz="1850" dirty="0"/>
          </a:p>
        </p:txBody>
      </p:sp>
      <p:sp>
        <p:nvSpPr>
          <p:cNvPr id="6" name="Text 3"/>
          <p:cNvSpPr/>
          <p:nvPr/>
        </p:nvSpPr>
        <p:spPr>
          <a:xfrm>
            <a:off x="1042035" y="1997988"/>
            <a:ext cx="7438787" cy="303014"/>
          </a:xfrm>
          <a:prstGeom prst="rect">
            <a:avLst/>
          </a:prstGeom>
          <a:noFill/>
          <a:ln/>
        </p:spPr>
        <p:txBody>
          <a:bodyPr wrap="none" lIns="0" tIns="0" rIns="0" bIns="0" rtlCol="0" anchor="t"/>
          <a:lstStyle/>
          <a:p>
            <a:pPr algn="l" indent="0" marL="0">
              <a:lnSpc>
                <a:spcPts val="2350"/>
              </a:lnSpc>
              <a:buNone/>
            </a:pPr>
            <a:r>
              <a:rPr lang="en-US" sz="1450" dirty="0">
                <a:solidFill>
                  <a:srgbClr val="61615C"/>
                </a:solidFill>
                <a:latin typeface="Tomorrow" pitchFamily="34" charset="0"/>
                <a:ea typeface="Tomorrow" pitchFamily="34" charset="-122"/>
                <a:cs typeface="Tomorrow" pitchFamily="34" charset="-120"/>
              </a:rPr>
              <a:t>Berilgan tenglama: x + 5 = 12. Bizning maqsadimiz "x" noma'lumini topishdir.</a:t>
            </a:r>
            <a:endParaRPr lang="en-US" sz="1450" dirty="0"/>
          </a:p>
        </p:txBody>
      </p:sp>
      <p:sp>
        <p:nvSpPr>
          <p:cNvPr id="7" name="Shape 4"/>
          <p:cNvSpPr/>
          <p:nvPr/>
        </p:nvSpPr>
        <p:spPr>
          <a:xfrm>
            <a:off x="947380" y="2677835"/>
            <a:ext cx="189428" cy="1394460"/>
          </a:xfrm>
          <a:prstGeom prst="roundRect">
            <a:avLst>
              <a:gd name="adj" fmla="val 15004"/>
            </a:avLst>
          </a:prstGeom>
          <a:solidFill>
            <a:srgbClr val="F0EAEA"/>
          </a:solidFill>
          <a:ln/>
        </p:spPr>
      </p:sp>
      <p:sp>
        <p:nvSpPr>
          <p:cNvPr id="8" name="Text 5"/>
          <p:cNvSpPr/>
          <p:nvPr/>
        </p:nvSpPr>
        <p:spPr>
          <a:xfrm>
            <a:off x="1326237" y="2867263"/>
            <a:ext cx="2368510" cy="295989"/>
          </a:xfrm>
          <a:prstGeom prst="rect">
            <a:avLst/>
          </a:prstGeom>
          <a:noFill/>
          <a:ln/>
        </p:spPr>
        <p:txBody>
          <a:bodyPr wrap="none" lIns="0" tIns="0" rIns="0" bIns="0" rtlCol="0" anchor="t"/>
          <a:lstStyle/>
          <a:p>
            <a:pPr algn="l" indent="0" marL="0">
              <a:lnSpc>
                <a:spcPts val="2300"/>
              </a:lnSpc>
              <a:buNone/>
            </a:pPr>
            <a:r>
              <a:rPr lang="en-US" sz="1850" dirty="0">
                <a:solidFill>
                  <a:srgbClr val="61615C"/>
                </a:solidFill>
                <a:latin typeface="Tomorrow Semi Bold" pitchFamily="34" charset="0"/>
                <a:ea typeface="Tomorrow Semi Bold" pitchFamily="34" charset="-122"/>
                <a:cs typeface="Tomorrow Semi Bold" pitchFamily="34" charset="-120"/>
              </a:rPr>
              <a:t>Yechish</a:t>
            </a:r>
            <a:endParaRPr lang="en-US" sz="1850" dirty="0"/>
          </a:p>
        </p:txBody>
      </p:sp>
      <p:sp>
        <p:nvSpPr>
          <p:cNvPr id="9" name="Text 6"/>
          <p:cNvSpPr/>
          <p:nvPr/>
        </p:nvSpPr>
        <p:spPr>
          <a:xfrm>
            <a:off x="1326237" y="3276838"/>
            <a:ext cx="7154585" cy="606028"/>
          </a:xfrm>
          <a:prstGeom prst="rect">
            <a:avLst/>
          </a:prstGeom>
          <a:noFill/>
          <a:ln/>
        </p:spPr>
        <p:txBody>
          <a:bodyPr wrap="square" lIns="0" tIns="0" rIns="0" bIns="0" rtlCol="0" anchor="t"/>
          <a:lstStyle/>
          <a:p>
            <a:pPr algn="l" indent="0" marL="0">
              <a:lnSpc>
                <a:spcPts val="2350"/>
              </a:lnSpc>
              <a:buNone/>
            </a:pPr>
            <a:r>
              <a:rPr lang="en-US" sz="1450" dirty="0">
                <a:solidFill>
                  <a:srgbClr val="61615C"/>
                </a:solidFill>
                <a:latin typeface="Tomorrow" pitchFamily="34" charset="0"/>
                <a:ea typeface="Tomorrow" pitchFamily="34" charset="-122"/>
                <a:cs typeface="Tomorrow" pitchFamily="34" charset="-120"/>
              </a:rPr>
              <a:t>x ni izolyatsiya qilish uchun tenglamaning har ikki tomonidan 5 ni ayiramiz: x = 12 - 5.</a:t>
            </a:r>
            <a:endParaRPr lang="en-US" sz="1450" dirty="0"/>
          </a:p>
        </p:txBody>
      </p:sp>
      <p:sp>
        <p:nvSpPr>
          <p:cNvPr id="10" name="Shape 7"/>
          <p:cNvSpPr/>
          <p:nvPr/>
        </p:nvSpPr>
        <p:spPr>
          <a:xfrm>
            <a:off x="1231583" y="4214336"/>
            <a:ext cx="189428" cy="1136809"/>
          </a:xfrm>
          <a:prstGeom prst="roundRect">
            <a:avLst>
              <a:gd name="adj" fmla="val 15004"/>
            </a:avLst>
          </a:prstGeom>
          <a:solidFill>
            <a:srgbClr val="F0EAEA"/>
          </a:solidFill>
          <a:ln/>
        </p:spPr>
      </p:sp>
      <p:sp>
        <p:nvSpPr>
          <p:cNvPr id="11" name="Text 8"/>
          <p:cNvSpPr/>
          <p:nvPr/>
        </p:nvSpPr>
        <p:spPr>
          <a:xfrm>
            <a:off x="1610439" y="4403765"/>
            <a:ext cx="2368510" cy="295989"/>
          </a:xfrm>
          <a:prstGeom prst="rect">
            <a:avLst/>
          </a:prstGeom>
          <a:noFill/>
          <a:ln/>
        </p:spPr>
        <p:txBody>
          <a:bodyPr wrap="none" lIns="0" tIns="0" rIns="0" bIns="0" rtlCol="0" anchor="t"/>
          <a:lstStyle/>
          <a:p>
            <a:pPr algn="l" indent="0" marL="0">
              <a:lnSpc>
                <a:spcPts val="2300"/>
              </a:lnSpc>
              <a:buNone/>
            </a:pPr>
            <a:r>
              <a:rPr lang="en-US" sz="1850" dirty="0">
                <a:solidFill>
                  <a:srgbClr val="61615C"/>
                </a:solidFill>
                <a:latin typeface="Tomorrow Semi Bold" pitchFamily="34" charset="0"/>
                <a:ea typeface="Tomorrow Semi Bold" pitchFamily="34" charset="-122"/>
                <a:cs typeface="Tomorrow Semi Bold" pitchFamily="34" charset="-120"/>
              </a:rPr>
              <a:t>Javob</a:t>
            </a:r>
            <a:endParaRPr lang="en-US" sz="1850" dirty="0"/>
          </a:p>
        </p:txBody>
      </p:sp>
      <p:sp>
        <p:nvSpPr>
          <p:cNvPr id="12" name="Text 9"/>
          <p:cNvSpPr/>
          <p:nvPr/>
        </p:nvSpPr>
        <p:spPr>
          <a:xfrm>
            <a:off x="1610439" y="4813340"/>
            <a:ext cx="6870382" cy="303014"/>
          </a:xfrm>
          <a:prstGeom prst="rect">
            <a:avLst/>
          </a:prstGeom>
          <a:noFill/>
          <a:ln/>
        </p:spPr>
        <p:txBody>
          <a:bodyPr wrap="none" lIns="0" tIns="0" rIns="0" bIns="0" rtlCol="0" anchor="t"/>
          <a:lstStyle/>
          <a:p>
            <a:pPr algn="l" indent="0" marL="0">
              <a:lnSpc>
                <a:spcPts val="2350"/>
              </a:lnSpc>
              <a:buNone/>
            </a:pPr>
            <a:r>
              <a:rPr lang="en-US" sz="1450" dirty="0">
                <a:solidFill>
                  <a:srgbClr val="61615C"/>
                </a:solidFill>
                <a:latin typeface="Tomorrow" pitchFamily="34" charset="0"/>
                <a:ea typeface="Tomorrow" pitchFamily="34" charset="-122"/>
                <a:cs typeface="Tomorrow" pitchFamily="34" charset="-120"/>
              </a:rPr>
              <a:t>Hisoblash natijasi: x = 7.</a:t>
            </a:r>
            <a:endParaRPr lang="en-US" sz="1450" dirty="0"/>
          </a:p>
        </p:txBody>
      </p:sp>
      <p:sp>
        <p:nvSpPr>
          <p:cNvPr id="13" name="Shape 10"/>
          <p:cNvSpPr/>
          <p:nvPr/>
        </p:nvSpPr>
        <p:spPr>
          <a:xfrm>
            <a:off x="1515785" y="5493187"/>
            <a:ext cx="189428" cy="1394460"/>
          </a:xfrm>
          <a:prstGeom prst="roundRect">
            <a:avLst>
              <a:gd name="adj" fmla="val 15004"/>
            </a:avLst>
          </a:prstGeom>
          <a:solidFill>
            <a:srgbClr val="F0EAEA"/>
          </a:solidFill>
          <a:ln/>
        </p:spPr>
      </p:sp>
      <p:sp>
        <p:nvSpPr>
          <p:cNvPr id="14" name="Text 11"/>
          <p:cNvSpPr/>
          <p:nvPr/>
        </p:nvSpPr>
        <p:spPr>
          <a:xfrm>
            <a:off x="1894642" y="5682615"/>
            <a:ext cx="2368510" cy="295989"/>
          </a:xfrm>
          <a:prstGeom prst="rect">
            <a:avLst/>
          </a:prstGeom>
          <a:noFill/>
          <a:ln/>
        </p:spPr>
        <p:txBody>
          <a:bodyPr wrap="none" lIns="0" tIns="0" rIns="0" bIns="0" rtlCol="0" anchor="t"/>
          <a:lstStyle/>
          <a:p>
            <a:pPr algn="l" indent="0" marL="0">
              <a:lnSpc>
                <a:spcPts val="2300"/>
              </a:lnSpc>
              <a:buNone/>
            </a:pPr>
            <a:r>
              <a:rPr lang="en-US" sz="1850" dirty="0">
                <a:solidFill>
                  <a:srgbClr val="61615C"/>
                </a:solidFill>
                <a:latin typeface="Tomorrow Semi Bold" pitchFamily="34" charset="0"/>
                <a:ea typeface="Tomorrow Semi Bold" pitchFamily="34" charset="-122"/>
                <a:cs typeface="Tomorrow Semi Bold" pitchFamily="34" charset="-120"/>
              </a:rPr>
              <a:t>Tekshirish</a:t>
            </a:r>
            <a:endParaRPr lang="en-US" sz="1850" dirty="0"/>
          </a:p>
        </p:txBody>
      </p:sp>
      <p:sp>
        <p:nvSpPr>
          <p:cNvPr id="15" name="Text 12"/>
          <p:cNvSpPr/>
          <p:nvPr/>
        </p:nvSpPr>
        <p:spPr>
          <a:xfrm>
            <a:off x="1894642" y="6092190"/>
            <a:ext cx="6586180" cy="606028"/>
          </a:xfrm>
          <a:prstGeom prst="rect">
            <a:avLst/>
          </a:prstGeom>
          <a:noFill/>
          <a:ln/>
        </p:spPr>
        <p:txBody>
          <a:bodyPr wrap="square" lIns="0" tIns="0" rIns="0" bIns="0" rtlCol="0" anchor="t"/>
          <a:lstStyle/>
          <a:p>
            <a:pPr algn="l" indent="0" marL="0">
              <a:lnSpc>
                <a:spcPts val="2350"/>
              </a:lnSpc>
              <a:buNone/>
            </a:pPr>
            <a:r>
              <a:rPr lang="en-US" sz="1450" dirty="0">
                <a:solidFill>
                  <a:srgbClr val="61615C"/>
                </a:solidFill>
                <a:latin typeface="Tomorrow" pitchFamily="34" charset="0"/>
                <a:ea typeface="Tomorrow" pitchFamily="34" charset="-122"/>
                <a:cs typeface="Tomorrow" pitchFamily="34" charset="-120"/>
              </a:rPr>
              <a:t>x ning qiymatini asl tenglamaga qo'yamiz: 7 + 5 = 12. Bu to'g'ri, demak yechimimiz haqiqiy.</a:t>
            </a:r>
            <a:endParaRPr lang="en-US" sz="1450" dirty="0"/>
          </a:p>
        </p:txBody>
      </p:sp>
      <p:sp>
        <p:nvSpPr>
          <p:cNvPr id="16" name="Text 13"/>
          <p:cNvSpPr/>
          <p:nvPr/>
        </p:nvSpPr>
        <p:spPr>
          <a:xfrm>
            <a:off x="663178" y="7100768"/>
            <a:ext cx="7817644" cy="606028"/>
          </a:xfrm>
          <a:prstGeom prst="rect">
            <a:avLst/>
          </a:prstGeom>
          <a:noFill/>
          <a:ln/>
        </p:spPr>
        <p:txBody>
          <a:bodyPr wrap="square" lIns="0" tIns="0" rIns="0" bIns="0" rtlCol="0" anchor="t"/>
          <a:lstStyle/>
          <a:p>
            <a:pPr algn="l" indent="0" marL="0">
              <a:lnSpc>
                <a:spcPts val="2350"/>
              </a:lnSpc>
              <a:buNone/>
            </a:pPr>
            <a:r>
              <a:rPr lang="en-US" sz="1450" dirty="0">
                <a:solidFill>
                  <a:srgbClr val="61615C"/>
                </a:solidFill>
                <a:latin typeface="Tomorrow" pitchFamily="34" charset="0"/>
                <a:ea typeface="Tomorrow" pitchFamily="34" charset="-122"/>
                <a:cs typeface="Tomorrow" pitchFamily="34" charset="-120"/>
              </a:rPr>
              <a:t>Bu misol oddiy qo'shish tenglamasini yechishning to'liq jarayonini ko'rsatadi, u barcha matematik tenglamalarni yechish uchun asos bo'ladi.</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760571"/>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D1D1B"/>
                </a:solidFill>
                <a:latin typeface="Tomorrow Semi Bold" pitchFamily="34" charset="0"/>
                <a:ea typeface="Tomorrow Semi Bold" pitchFamily="34" charset="-122"/>
                <a:cs typeface="Tomorrow Semi Bold" pitchFamily="34" charset="-120"/>
              </a:rPr>
              <a:t>Misol: 3y - 2 = 10</a:t>
            </a:r>
            <a:endParaRPr lang="en-US" sz="4450" dirty="0"/>
          </a:p>
        </p:txBody>
      </p:sp>
      <p:sp>
        <p:nvSpPr>
          <p:cNvPr id="3" name="Text 1"/>
          <p:cNvSpPr/>
          <p:nvPr/>
        </p:nvSpPr>
        <p:spPr>
          <a:xfrm>
            <a:off x="1857256" y="2552462"/>
            <a:ext cx="2835235" cy="354330"/>
          </a:xfrm>
          <a:prstGeom prst="rect">
            <a:avLst/>
          </a:prstGeom>
          <a:noFill/>
          <a:ln/>
        </p:spPr>
        <p:txBody>
          <a:bodyPr wrap="none" lIns="0" tIns="0" rIns="0" bIns="0" rtlCol="0" anchor="t"/>
          <a:lstStyle/>
          <a:p>
            <a:pPr algn="r" indent="0" marL="0">
              <a:lnSpc>
                <a:spcPts val="2750"/>
              </a:lnSpc>
              <a:buNone/>
            </a:pPr>
            <a:r>
              <a:rPr lang="en-US" sz="2200" dirty="0">
                <a:solidFill>
                  <a:srgbClr val="61615C"/>
                </a:solidFill>
                <a:latin typeface="Tomorrow Semi Bold" pitchFamily="34" charset="0"/>
                <a:ea typeface="Tomorrow Semi Bold" pitchFamily="34" charset="-122"/>
                <a:cs typeface="Tomorrow Semi Bold" pitchFamily="34" charset="-120"/>
              </a:rPr>
              <a:t>Tenglamani yozish</a:t>
            </a:r>
            <a:endParaRPr lang="en-US" sz="2200" dirty="0"/>
          </a:p>
        </p:txBody>
      </p:sp>
      <p:sp>
        <p:nvSpPr>
          <p:cNvPr id="4" name="Text 2"/>
          <p:cNvSpPr/>
          <p:nvPr/>
        </p:nvSpPr>
        <p:spPr>
          <a:xfrm>
            <a:off x="793790" y="3042880"/>
            <a:ext cx="3898702" cy="362903"/>
          </a:xfrm>
          <a:prstGeom prst="rect">
            <a:avLst/>
          </a:prstGeom>
          <a:noFill/>
          <a:ln/>
        </p:spPr>
        <p:txBody>
          <a:bodyPr wrap="none" lIns="0" tIns="0" rIns="0" bIns="0" rtlCol="0" anchor="t"/>
          <a:lstStyle/>
          <a:p>
            <a:pPr algn="r" indent="0" marL="0">
              <a:lnSpc>
                <a:spcPts val="2850"/>
              </a:lnSpc>
              <a:buNone/>
            </a:pPr>
            <a:r>
              <a:rPr lang="en-US" sz="1750" dirty="0">
                <a:solidFill>
                  <a:srgbClr val="61615C"/>
                </a:solidFill>
                <a:latin typeface="Tomorrow" pitchFamily="34" charset="0"/>
                <a:ea typeface="Tomorrow" pitchFamily="34" charset="-122"/>
                <a:cs typeface="Tomorrow" pitchFamily="34" charset="-120"/>
              </a:rPr>
              <a:t>Berilgan tenglama: 3y - 2 = 10.</a:t>
            </a:r>
            <a:endParaRPr lang="en-US" sz="1750" dirty="0"/>
          </a:p>
        </p:txBody>
      </p:sp>
      <p:pic>
        <p:nvPicPr>
          <p:cNvPr id="5" name="Image 0" descr="preencoded.png">    </p:cNvPr>
          <p:cNvPicPr>
            <a:picLocks noChangeAspect="1"/>
          </p:cNvPicPr>
          <p:nvPr/>
        </p:nvPicPr>
        <p:blipFill>
          <a:blip r:embed="rId1"/>
          <a:stretch>
            <a:fillRect/>
          </a:stretch>
        </p:blipFill>
        <p:spPr>
          <a:xfrm>
            <a:off x="5032653" y="1922978"/>
            <a:ext cx="4564975" cy="4564975"/>
          </a:xfrm>
          <a:prstGeom prst="rect">
            <a:avLst/>
          </a:prstGeom>
        </p:spPr>
      </p:pic>
      <p:pic>
        <p:nvPicPr>
          <p:cNvPr id="6" name="Image 1" descr="preencoded.png">    </p:cNvPr>
          <p:cNvPicPr>
            <a:picLocks noChangeAspect="1"/>
          </p:cNvPicPr>
          <p:nvPr/>
        </p:nvPicPr>
        <p:blipFill>
          <a:blip r:embed="rId2"/>
          <a:stretch>
            <a:fillRect/>
          </a:stretch>
        </p:blipFill>
        <p:spPr>
          <a:xfrm>
            <a:off x="6226731" y="2686050"/>
            <a:ext cx="339328" cy="424220"/>
          </a:xfrm>
          <a:prstGeom prst="rect">
            <a:avLst/>
          </a:prstGeom>
        </p:spPr>
      </p:pic>
      <p:sp>
        <p:nvSpPr>
          <p:cNvPr id="7" name="Text 3"/>
          <p:cNvSpPr/>
          <p:nvPr/>
        </p:nvSpPr>
        <p:spPr>
          <a:xfrm>
            <a:off x="9937790" y="2008108"/>
            <a:ext cx="3029307" cy="354330"/>
          </a:xfrm>
          <a:prstGeom prst="rect">
            <a:avLst/>
          </a:prstGeom>
          <a:noFill/>
          <a:ln/>
        </p:spPr>
        <p:txBody>
          <a:bodyPr wrap="none" lIns="0" tIns="0" rIns="0" bIns="0" rtlCol="0" anchor="t"/>
          <a:lstStyle/>
          <a:p>
            <a:pPr algn="l" indent="0" marL="0">
              <a:lnSpc>
                <a:spcPts val="2750"/>
              </a:lnSpc>
              <a:buNone/>
            </a:pPr>
            <a:r>
              <a:rPr lang="en-US" sz="2200" dirty="0">
                <a:solidFill>
                  <a:srgbClr val="61615C"/>
                </a:solidFill>
                <a:latin typeface="Tomorrow Semi Bold" pitchFamily="34" charset="0"/>
                <a:ea typeface="Tomorrow Semi Bold" pitchFamily="34" charset="-122"/>
                <a:cs typeface="Tomorrow Semi Bold" pitchFamily="34" charset="-120"/>
              </a:rPr>
              <a:t>Ayirishni bekor qilish</a:t>
            </a:r>
            <a:endParaRPr lang="en-US" sz="2200" dirty="0"/>
          </a:p>
        </p:txBody>
      </p:sp>
      <p:sp>
        <p:nvSpPr>
          <p:cNvPr id="8" name="Text 4"/>
          <p:cNvSpPr/>
          <p:nvPr/>
        </p:nvSpPr>
        <p:spPr>
          <a:xfrm>
            <a:off x="9937790" y="2498527"/>
            <a:ext cx="3898821" cy="1451610"/>
          </a:xfrm>
          <a:prstGeom prst="rect">
            <a:avLst/>
          </a:prstGeom>
          <a:noFill/>
          <a:ln/>
        </p:spPr>
        <p:txBody>
          <a:bodyPr wrap="square" lIns="0" tIns="0" rIns="0" bIns="0" rtlCol="0" anchor="t"/>
          <a:lstStyle/>
          <a:p>
            <a:pPr algn="l" indent="0" marL="0">
              <a:lnSpc>
                <a:spcPts val="2850"/>
              </a:lnSpc>
              <a:buNone/>
            </a:pPr>
            <a:r>
              <a:rPr lang="en-US" sz="1750" dirty="0">
                <a:solidFill>
                  <a:srgbClr val="61615C"/>
                </a:solidFill>
                <a:latin typeface="Tomorrow" pitchFamily="34" charset="0"/>
                <a:ea typeface="Tomorrow" pitchFamily="34" charset="-122"/>
                <a:cs typeface="Tomorrow" pitchFamily="34" charset="-120"/>
              </a:rPr>
              <a:t>Avval -2 ni yo'qotish uchun tenglamaning har ikki tomoniga 2 ni qo'shamiz: 3y = 10 + 2. Bu 3y = 12 ni beradi.</a:t>
            </a:r>
            <a:endParaRPr lang="en-US" sz="1750" dirty="0"/>
          </a:p>
        </p:txBody>
      </p:sp>
      <p:pic>
        <p:nvPicPr>
          <p:cNvPr id="9" name="Image 2" descr="preencoded.png">    </p:cNvPr>
          <p:cNvPicPr>
            <a:picLocks noChangeAspect="1"/>
          </p:cNvPicPr>
          <p:nvPr/>
        </p:nvPicPr>
        <p:blipFill>
          <a:blip r:embed="rId3"/>
          <a:stretch>
            <a:fillRect/>
          </a:stretch>
        </p:blipFill>
        <p:spPr>
          <a:xfrm>
            <a:off x="5032653" y="1922978"/>
            <a:ext cx="4564975" cy="4564975"/>
          </a:xfrm>
          <a:prstGeom prst="rect">
            <a:avLst/>
          </a:prstGeom>
        </p:spPr>
      </p:pic>
      <p:pic>
        <p:nvPicPr>
          <p:cNvPr id="10" name="Image 3" descr="preencoded.png">    </p:cNvPr>
          <p:cNvPicPr>
            <a:picLocks noChangeAspect="1"/>
          </p:cNvPicPr>
          <p:nvPr/>
        </p:nvPicPr>
        <p:blipFill>
          <a:blip r:embed="rId4"/>
          <a:stretch>
            <a:fillRect/>
          </a:stretch>
        </p:blipFill>
        <p:spPr>
          <a:xfrm>
            <a:off x="8452604" y="3074551"/>
            <a:ext cx="339328" cy="424220"/>
          </a:xfrm>
          <a:prstGeom prst="rect">
            <a:avLst/>
          </a:prstGeom>
        </p:spPr>
      </p:pic>
      <p:sp>
        <p:nvSpPr>
          <p:cNvPr id="11" name="Text 5"/>
          <p:cNvSpPr/>
          <p:nvPr/>
        </p:nvSpPr>
        <p:spPr>
          <a:xfrm>
            <a:off x="9937790" y="4460677"/>
            <a:ext cx="3739991" cy="354330"/>
          </a:xfrm>
          <a:prstGeom prst="rect">
            <a:avLst/>
          </a:prstGeom>
          <a:noFill/>
          <a:ln/>
        </p:spPr>
        <p:txBody>
          <a:bodyPr wrap="none" lIns="0" tIns="0" rIns="0" bIns="0" rtlCol="0" anchor="t"/>
          <a:lstStyle/>
          <a:p>
            <a:pPr algn="l" indent="0" marL="0">
              <a:lnSpc>
                <a:spcPts val="2750"/>
              </a:lnSpc>
              <a:buNone/>
            </a:pPr>
            <a:r>
              <a:rPr lang="en-US" sz="2200" dirty="0">
                <a:solidFill>
                  <a:srgbClr val="61615C"/>
                </a:solidFill>
                <a:latin typeface="Tomorrow Semi Bold" pitchFamily="34" charset="0"/>
                <a:ea typeface="Tomorrow Semi Bold" pitchFamily="34" charset="-122"/>
                <a:cs typeface="Tomorrow Semi Bold" pitchFamily="34" charset="-120"/>
              </a:rPr>
              <a:t>Ko'paytirishni bekor qilish</a:t>
            </a:r>
            <a:endParaRPr lang="en-US" sz="2200" dirty="0"/>
          </a:p>
        </p:txBody>
      </p:sp>
      <p:sp>
        <p:nvSpPr>
          <p:cNvPr id="12" name="Text 6"/>
          <p:cNvSpPr/>
          <p:nvPr/>
        </p:nvSpPr>
        <p:spPr>
          <a:xfrm>
            <a:off x="9937790" y="4951095"/>
            <a:ext cx="3898821" cy="1451610"/>
          </a:xfrm>
          <a:prstGeom prst="rect">
            <a:avLst/>
          </a:prstGeom>
          <a:noFill/>
          <a:ln/>
        </p:spPr>
        <p:txBody>
          <a:bodyPr wrap="square" lIns="0" tIns="0" rIns="0" bIns="0" rtlCol="0" anchor="t"/>
          <a:lstStyle/>
          <a:p>
            <a:pPr algn="l" indent="0" marL="0">
              <a:lnSpc>
                <a:spcPts val="2850"/>
              </a:lnSpc>
              <a:buNone/>
            </a:pPr>
            <a:r>
              <a:rPr lang="en-US" sz="1750" dirty="0">
                <a:solidFill>
                  <a:srgbClr val="61615C"/>
                </a:solidFill>
                <a:latin typeface="Tomorrow" pitchFamily="34" charset="0"/>
                <a:ea typeface="Tomorrow" pitchFamily="34" charset="-122"/>
                <a:cs typeface="Tomorrow" pitchFamily="34" charset="-120"/>
              </a:rPr>
              <a:t>Keyin, 3y ni bo'lish amali orqali y ni topishimiz kerak, shuning uchun ikkala tomonni 3 ga bo'lamiz: y = 12 / 3.</a:t>
            </a:r>
            <a:endParaRPr lang="en-US" sz="1750" dirty="0"/>
          </a:p>
        </p:txBody>
      </p:sp>
      <p:pic>
        <p:nvPicPr>
          <p:cNvPr id="13" name="Image 4" descr="preencoded.png">    </p:cNvPr>
          <p:cNvPicPr>
            <a:picLocks noChangeAspect="1"/>
          </p:cNvPicPr>
          <p:nvPr/>
        </p:nvPicPr>
        <p:blipFill>
          <a:blip r:embed="rId5"/>
          <a:stretch>
            <a:fillRect/>
          </a:stretch>
        </p:blipFill>
        <p:spPr>
          <a:xfrm>
            <a:off x="5032653" y="1922978"/>
            <a:ext cx="4564975" cy="4564975"/>
          </a:xfrm>
          <a:prstGeom prst="rect">
            <a:avLst/>
          </a:prstGeom>
        </p:spPr>
      </p:pic>
      <p:pic>
        <p:nvPicPr>
          <p:cNvPr id="14" name="Image 5" descr="preencoded.png">    </p:cNvPr>
          <p:cNvPicPr>
            <a:picLocks noChangeAspect="1"/>
          </p:cNvPicPr>
          <p:nvPr/>
        </p:nvPicPr>
        <p:blipFill>
          <a:blip r:embed="rId6"/>
          <a:stretch>
            <a:fillRect/>
          </a:stretch>
        </p:blipFill>
        <p:spPr>
          <a:xfrm>
            <a:off x="8064103" y="5300424"/>
            <a:ext cx="339328" cy="424220"/>
          </a:xfrm>
          <a:prstGeom prst="rect">
            <a:avLst/>
          </a:prstGeom>
        </p:spPr>
      </p:pic>
      <p:sp>
        <p:nvSpPr>
          <p:cNvPr id="15" name="Text 7"/>
          <p:cNvSpPr/>
          <p:nvPr/>
        </p:nvSpPr>
        <p:spPr>
          <a:xfrm>
            <a:off x="1857256" y="5005030"/>
            <a:ext cx="2835235" cy="354330"/>
          </a:xfrm>
          <a:prstGeom prst="rect">
            <a:avLst/>
          </a:prstGeom>
          <a:noFill/>
          <a:ln/>
        </p:spPr>
        <p:txBody>
          <a:bodyPr wrap="none" lIns="0" tIns="0" rIns="0" bIns="0" rtlCol="0" anchor="t"/>
          <a:lstStyle/>
          <a:p>
            <a:pPr algn="r" indent="0" marL="0">
              <a:lnSpc>
                <a:spcPts val="2750"/>
              </a:lnSpc>
              <a:buNone/>
            </a:pPr>
            <a:r>
              <a:rPr lang="en-US" sz="2200" dirty="0">
                <a:solidFill>
                  <a:srgbClr val="61615C"/>
                </a:solidFill>
                <a:latin typeface="Tomorrow Semi Bold" pitchFamily="34" charset="0"/>
                <a:ea typeface="Tomorrow Semi Bold" pitchFamily="34" charset="-122"/>
                <a:cs typeface="Tomorrow Semi Bold" pitchFamily="34" charset="-120"/>
              </a:rPr>
              <a:t>Javob</a:t>
            </a:r>
            <a:endParaRPr lang="en-US" sz="2200" dirty="0"/>
          </a:p>
        </p:txBody>
      </p:sp>
      <p:sp>
        <p:nvSpPr>
          <p:cNvPr id="16" name="Text 8"/>
          <p:cNvSpPr/>
          <p:nvPr/>
        </p:nvSpPr>
        <p:spPr>
          <a:xfrm>
            <a:off x="793790" y="5495449"/>
            <a:ext cx="3898702" cy="362903"/>
          </a:xfrm>
          <a:prstGeom prst="rect">
            <a:avLst/>
          </a:prstGeom>
          <a:noFill/>
          <a:ln/>
        </p:spPr>
        <p:txBody>
          <a:bodyPr wrap="none" lIns="0" tIns="0" rIns="0" bIns="0" rtlCol="0" anchor="t"/>
          <a:lstStyle/>
          <a:p>
            <a:pPr algn="r" indent="0" marL="0">
              <a:lnSpc>
                <a:spcPts val="2850"/>
              </a:lnSpc>
              <a:buNone/>
            </a:pPr>
            <a:r>
              <a:rPr lang="en-US" sz="1750" dirty="0">
                <a:solidFill>
                  <a:srgbClr val="61615C"/>
                </a:solidFill>
                <a:latin typeface="Tomorrow" pitchFamily="34" charset="0"/>
                <a:ea typeface="Tomorrow" pitchFamily="34" charset="-122"/>
                <a:cs typeface="Tomorrow" pitchFamily="34" charset="-120"/>
              </a:rPr>
              <a:t>Yakuniy javob: y = 4.</a:t>
            </a:r>
            <a:endParaRPr lang="en-US" sz="1750" dirty="0"/>
          </a:p>
        </p:txBody>
      </p:sp>
      <p:pic>
        <p:nvPicPr>
          <p:cNvPr id="17" name="Image 6" descr="preencoded.png">    </p:cNvPr>
          <p:cNvPicPr>
            <a:picLocks noChangeAspect="1"/>
          </p:cNvPicPr>
          <p:nvPr/>
        </p:nvPicPr>
        <p:blipFill>
          <a:blip r:embed="rId7"/>
          <a:stretch>
            <a:fillRect/>
          </a:stretch>
        </p:blipFill>
        <p:spPr>
          <a:xfrm>
            <a:off x="5032653" y="1922978"/>
            <a:ext cx="4564975" cy="4564975"/>
          </a:xfrm>
          <a:prstGeom prst="rect">
            <a:avLst/>
          </a:prstGeom>
        </p:spPr>
      </p:pic>
      <p:pic>
        <p:nvPicPr>
          <p:cNvPr id="18" name="Image 7" descr="preencoded.png">    </p:cNvPr>
          <p:cNvPicPr>
            <a:picLocks noChangeAspect="1"/>
          </p:cNvPicPr>
          <p:nvPr/>
        </p:nvPicPr>
        <p:blipFill>
          <a:blip r:embed="rId8"/>
          <a:stretch>
            <a:fillRect/>
          </a:stretch>
        </p:blipFill>
        <p:spPr>
          <a:xfrm>
            <a:off x="5838230" y="4911923"/>
            <a:ext cx="339328" cy="424220"/>
          </a:xfrm>
          <a:prstGeom prst="rect">
            <a:avLst/>
          </a:prstGeom>
        </p:spPr>
      </p:pic>
      <p:sp>
        <p:nvSpPr>
          <p:cNvPr id="19" name="Text 9"/>
          <p:cNvSpPr/>
          <p:nvPr/>
        </p:nvSpPr>
        <p:spPr>
          <a:xfrm>
            <a:off x="793790" y="6743105"/>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61615C"/>
                </a:solidFill>
                <a:latin typeface="Tomorrow" pitchFamily="34" charset="0"/>
                <a:ea typeface="Tomorrow" pitchFamily="34" charset="-122"/>
                <a:cs typeface="Tomorrow" pitchFamily="34" charset="-120"/>
              </a:rPr>
              <a:t>Bu misol murakkabroq, ikki amalli tenglamani yechish jarayonini ko'rsatadi. Bu bizga noma'lumni topish uchun to'g'ri teskari amallar ketma-ketligini qo'llash muhimligini o'rgatadi.</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86276" y="539591"/>
            <a:ext cx="4901922" cy="612696"/>
          </a:xfrm>
          <a:prstGeom prst="rect">
            <a:avLst/>
          </a:prstGeom>
          <a:noFill/>
          <a:ln/>
        </p:spPr>
        <p:txBody>
          <a:bodyPr wrap="none" lIns="0" tIns="0" rIns="0" bIns="0" rtlCol="0" anchor="t"/>
          <a:lstStyle/>
          <a:p>
            <a:pPr algn="l" indent="0" marL="0">
              <a:lnSpc>
                <a:spcPts val="4800"/>
              </a:lnSpc>
              <a:buNone/>
            </a:pPr>
            <a:r>
              <a:rPr lang="en-US" sz="3850" dirty="0">
                <a:solidFill>
                  <a:srgbClr val="1D1D1B"/>
                </a:solidFill>
                <a:latin typeface="Tomorrow Semi Bold" pitchFamily="34" charset="0"/>
                <a:ea typeface="Tomorrow Semi Bold" pitchFamily="34" charset="-122"/>
                <a:cs typeface="Tomorrow Semi Bold" pitchFamily="34" charset="-120"/>
              </a:rPr>
              <a:t>Amaliy Mashqlar</a:t>
            </a:r>
            <a:endParaRPr lang="en-US" sz="3850" dirty="0"/>
          </a:p>
        </p:txBody>
      </p:sp>
      <p:sp>
        <p:nvSpPr>
          <p:cNvPr id="4" name="Shape 1"/>
          <p:cNvSpPr/>
          <p:nvPr/>
        </p:nvSpPr>
        <p:spPr>
          <a:xfrm>
            <a:off x="906780" y="1446371"/>
            <a:ext cx="22860" cy="5081826"/>
          </a:xfrm>
          <a:prstGeom prst="roundRect">
            <a:avLst>
              <a:gd name="adj" fmla="val 128662"/>
            </a:avLst>
          </a:prstGeom>
          <a:solidFill>
            <a:srgbClr val="D6D0D0"/>
          </a:solidFill>
          <a:ln/>
        </p:spPr>
      </p:sp>
      <p:sp>
        <p:nvSpPr>
          <p:cNvPr id="5" name="Shape 2"/>
          <p:cNvSpPr/>
          <p:nvPr/>
        </p:nvSpPr>
        <p:spPr>
          <a:xfrm>
            <a:off x="1104483" y="1655445"/>
            <a:ext cx="588169" cy="22860"/>
          </a:xfrm>
          <a:prstGeom prst="roundRect">
            <a:avLst>
              <a:gd name="adj" fmla="val 128662"/>
            </a:avLst>
          </a:prstGeom>
          <a:solidFill>
            <a:srgbClr val="D6D0D0"/>
          </a:solidFill>
          <a:ln/>
        </p:spPr>
      </p:sp>
      <p:sp>
        <p:nvSpPr>
          <p:cNvPr id="6" name="Shape 3"/>
          <p:cNvSpPr/>
          <p:nvPr/>
        </p:nvSpPr>
        <p:spPr>
          <a:xfrm>
            <a:off x="686217" y="1446371"/>
            <a:ext cx="441127" cy="441127"/>
          </a:xfrm>
          <a:prstGeom prst="roundRect">
            <a:avLst>
              <a:gd name="adj" fmla="val 6667"/>
            </a:avLst>
          </a:prstGeom>
          <a:solidFill>
            <a:srgbClr val="F0EAEA"/>
          </a:solidFill>
          <a:ln/>
        </p:spPr>
      </p:sp>
      <p:sp>
        <p:nvSpPr>
          <p:cNvPr id="7" name="Text 4"/>
          <p:cNvSpPr/>
          <p:nvPr/>
        </p:nvSpPr>
        <p:spPr>
          <a:xfrm>
            <a:off x="759678" y="1483102"/>
            <a:ext cx="294084" cy="367546"/>
          </a:xfrm>
          <a:prstGeom prst="rect">
            <a:avLst/>
          </a:prstGeom>
          <a:noFill/>
          <a:ln/>
        </p:spPr>
        <p:txBody>
          <a:bodyPr wrap="none" lIns="0" tIns="0" rIns="0" bIns="0" rtlCol="0" anchor="t"/>
          <a:lstStyle/>
          <a:p>
            <a:pPr algn="ctr" indent="0" marL="0">
              <a:lnSpc>
                <a:spcPts val="2300"/>
              </a:lnSpc>
              <a:buNone/>
            </a:pPr>
            <a:r>
              <a:rPr lang="en-US" sz="2300" dirty="0">
                <a:solidFill>
                  <a:srgbClr val="61615C"/>
                </a:solidFill>
                <a:latin typeface="Tomorrow Semi Bold" pitchFamily="34" charset="0"/>
                <a:ea typeface="Tomorrow Semi Bold" pitchFamily="34" charset="-122"/>
                <a:cs typeface="Tomorrow Semi Bold" pitchFamily="34" charset="-120"/>
              </a:rPr>
              <a:t>1</a:t>
            </a:r>
            <a:endParaRPr lang="en-US" sz="2300" dirty="0"/>
          </a:p>
        </p:txBody>
      </p:sp>
      <p:sp>
        <p:nvSpPr>
          <p:cNvPr id="8" name="Text 5"/>
          <p:cNvSpPr/>
          <p:nvPr/>
        </p:nvSpPr>
        <p:spPr>
          <a:xfrm>
            <a:off x="1887260" y="1513761"/>
            <a:ext cx="4260652" cy="306348"/>
          </a:xfrm>
          <a:prstGeom prst="rect">
            <a:avLst/>
          </a:prstGeom>
          <a:noFill/>
          <a:ln/>
        </p:spPr>
        <p:txBody>
          <a:bodyPr wrap="none" lIns="0" tIns="0" rIns="0" bIns="0" rtlCol="0" anchor="t"/>
          <a:lstStyle/>
          <a:p>
            <a:pPr algn="l" indent="0" marL="0">
              <a:lnSpc>
                <a:spcPts val="2400"/>
              </a:lnSpc>
              <a:buNone/>
            </a:pPr>
            <a:r>
              <a:rPr lang="en-US" sz="1900" dirty="0">
                <a:solidFill>
                  <a:srgbClr val="61615C"/>
                </a:solidFill>
                <a:latin typeface="Tomorrow Semi Bold" pitchFamily="34" charset="0"/>
                <a:ea typeface="Tomorrow Semi Bold" pitchFamily="34" charset="-122"/>
                <a:cs typeface="Tomorrow Semi Bold" pitchFamily="34" charset="-120"/>
              </a:rPr>
              <a:t>Tenglik va Tengsizliklarni Aniqlash</a:t>
            </a:r>
            <a:endParaRPr lang="en-US" sz="1900" dirty="0"/>
          </a:p>
        </p:txBody>
      </p:sp>
      <p:sp>
        <p:nvSpPr>
          <p:cNvPr id="9" name="Text 6"/>
          <p:cNvSpPr/>
          <p:nvPr/>
        </p:nvSpPr>
        <p:spPr>
          <a:xfrm>
            <a:off x="1887260" y="1937742"/>
            <a:ext cx="6570464" cy="941189"/>
          </a:xfrm>
          <a:prstGeom prst="rect">
            <a:avLst/>
          </a:prstGeom>
          <a:noFill/>
          <a:ln/>
        </p:spPr>
        <p:txBody>
          <a:bodyPr wrap="square" lIns="0" tIns="0" rIns="0" bIns="0" rtlCol="0" anchor="t"/>
          <a:lstStyle/>
          <a:p>
            <a:pPr algn="l" indent="0" marL="0">
              <a:lnSpc>
                <a:spcPts val="2450"/>
              </a:lnSpc>
              <a:buNone/>
            </a:pPr>
            <a:r>
              <a:rPr lang="en-US" sz="1500" dirty="0">
                <a:solidFill>
                  <a:srgbClr val="61615C"/>
                </a:solidFill>
                <a:latin typeface="Tomorrow" pitchFamily="34" charset="0"/>
                <a:ea typeface="Tomorrow" pitchFamily="34" charset="-122"/>
                <a:cs typeface="Tomorrow" pitchFamily="34" charset="-120"/>
              </a:rPr>
              <a:t>O'quvchilar sonli tengliklar va tengsizliklarni o'zaro farqlashni va ularning to'g'riligini aniqlashni o'rganadilar. Bu ularning matematik mantiqini rivojlantiradi.</a:t>
            </a:r>
            <a:endParaRPr lang="en-US" sz="1500" dirty="0"/>
          </a:p>
        </p:txBody>
      </p:sp>
      <p:sp>
        <p:nvSpPr>
          <p:cNvPr id="10" name="Shape 7"/>
          <p:cNvSpPr/>
          <p:nvPr/>
        </p:nvSpPr>
        <p:spPr>
          <a:xfrm>
            <a:off x="1104483" y="3480078"/>
            <a:ext cx="588169" cy="22860"/>
          </a:xfrm>
          <a:prstGeom prst="roundRect">
            <a:avLst>
              <a:gd name="adj" fmla="val 128662"/>
            </a:avLst>
          </a:prstGeom>
          <a:solidFill>
            <a:srgbClr val="D6D0D0"/>
          </a:solidFill>
          <a:ln/>
        </p:spPr>
      </p:sp>
      <p:sp>
        <p:nvSpPr>
          <p:cNvPr id="11" name="Shape 8"/>
          <p:cNvSpPr/>
          <p:nvPr/>
        </p:nvSpPr>
        <p:spPr>
          <a:xfrm>
            <a:off x="686217" y="3271004"/>
            <a:ext cx="441127" cy="441127"/>
          </a:xfrm>
          <a:prstGeom prst="roundRect">
            <a:avLst>
              <a:gd name="adj" fmla="val 6667"/>
            </a:avLst>
          </a:prstGeom>
          <a:solidFill>
            <a:srgbClr val="F0EAEA"/>
          </a:solidFill>
          <a:ln/>
        </p:spPr>
      </p:sp>
      <p:sp>
        <p:nvSpPr>
          <p:cNvPr id="12" name="Text 9"/>
          <p:cNvSpPr/>
          <p:nvPr/>
        </p:nvSpPr>
        <p:spPr>
          <a:xfrm>
            <a:off x="759678" y="3307735"/>
            <a:ext cx="294084" cy="367546"/>
          </a:xfrm>
          <a:prstGeom prst="rect">
            <a:avLst/>
          </a:prstGeom>
          <a:noFill/>
          <a:ln/>
        </p:spPr>
        <p:txBody>
          <a:bodyPr wrap="none" lIns="0" tIns="0" rIns="0" bIns="0" rtlCol="0" anchor="t"/>
          <a:lstStyle/>
          <a:p>
            <a:pPr algn="ctr" indent="0" marL="0">
              <a:lnSpc>
                <a:spcPts val="2300"/>
              </a:lnSpc>
              <a:buNone/>
            </a:pPr>
            <a:r>
              <a:rPr lang="en-US" sz="2300" dirty="0">
                <a:solidFill>
                  <a:srgbClr val="61615C"/>
                </a:solidFill>
                <a:latin typeface="Tomorrow Semi Bold" pitchFamily="34" charset="0"/>
                <a:ea typeface="Tomorrow Semi Bold" pitchFamily="34" charset="-122"/>
                <a:cs typeface="Tomorrow Semi Bold" pitchFamily="34" charset="-120"/>
              </a:rPr>
              <a:t>2</a:t>
            </a:r>
            <a:endParaRPr lang="en-US" sz="2300" dirty="0"/>
          </a:p>
        </p:txBody>
      </p:sp>
      <p:sp>
        <p:nvSpPr>
          <p:cNvPr id="13" name="Text 10"/>
          <p:cNvSpPr/>
          <p:nvPr/>
        </p:nvSpPr>
        <p:spPr>
          <a:xfrm>
            <a:off x="1887260" y="3338393"/>
            <a:ext cx="3607594" cy="306348"/>
          </a:xfrm>
          <a:prstGeom prst="rect">
            <a:avLst/>
          </a:prstGeom>
          <a:noFill/>
          <a:ln/>
        </p:spPr>
        <p:txBody>
          <a:bodyPr wrap="none" lIns="0" tIns="0" rIns="0" bIns="0" rtlCol="0" anchor="t"/>
          <a:lstStyle/>
          <a:p>
            <a:pPr algn="l" indent="0" marL="0">
              <a:lnSpc>
                <a:spcPts val="2400"/>
              </a:lnSpc>
              <a:buNone/>
            </a:pPr>
            <a:r>
              <a:rPr lang="en-US" sz="1900" dirty="0">
                <a:solidFill>
                  <a:srgbClr val="61615C"/>
                </a:solidFill>
                <a:latin typeface="Tomorrow Semi Bold" pitchFamily="34" charset="0"/>
                <a:ea typeface="Tomorrow Semi Bold" pitchFamily="34" charset="-122"/>
                <a:cs typeface="Tomorrow Semi Bold" pitchFamily="34" charset="-120"/>
              </a:rPr>
              <a:t>Oddiy Tenglamalarni Yechish</a:t>
            </a:r>
            <a:endParaRPr lang="en-US" sz="1900" dirty="0"/>
          </a:p>
        </p:txBody>
      </p:sp>
      <p:sp>
        <p:nvSpPr>
          <p:cNvPr id="14" name="Text 11"/>
          <p:cNvSpPr/>
          <p:nvPr/>
        </p:nvSpPr>
        <p:spPr>
          <a:xfrm>
            <a:off x="1887260" y="3762375"/>
            <a:ext cx="6570464" cy="941189"/>
          </a:xfrm>
          <a:prstGeom prst="rect">
            <a:avLst/>
          </a:prstGeom>
          <a:noFill/>
          <a:ln/>
        </p:spPr>
        <p:txBody>
          <a:bodyPr wrap="square" lIns="0" tIns="0" rIns="0" bIns="0" rtlCol="0" anchor="t"/>
          <a:lstStyle/>
          <a:p>
            <a:pPr algn="l" indent="0" marL="0">
              <a:lnSpc>
                <a:spcPts val="2450"/>
              </a:lnSpc>
              <a:buNone/>
            </a:pPr>
            <a:r>
              <a:rPr lang="en-US" sz="1500" dirty="0">
                <a:solidFill>
                  <a:srgbClr val="61615C"/>
                </a:solidFill>
                <a:latin typeface="Tomorrow" pitchFamily="34" charset="0"/>
                <a:ea typeface="Tomorrow" pitchFamily="34" charset="-122"/>
                <a:cs typeface="Tomorrow" pitchFamily="34" charset="-120"/>
              </a:rPr>
              <a:t>Bir bosqichli oddiy tenglamalarni yechish ko'nikmalari mustahkamlanadi. Bu ko'nikmalar murakkabroq masalalarni yechish uchun asos bo'ladi.</a:t>
            </a:r>
            <a:endParaRPr lang="en-US" sz="1500" dirty="0"/>
          </a:p>
        </p:txBody>
      </p:sp>
      <p:sp>
        <p:nvSpPr>
          <p:cNvPr id="15" name="Shape 12"/>
          <p:cNvSpPr/>
          <p:nvPr/>
        </p:nvSpPr>
        <p:spPr>
          <a:xfrm>
            <a:off x="1104483" y="5304711"/>
            <a:ext cx="588169" cy="22860"/>
          </a:xfrm>
          <a:prstGeom prst="roundRect">
            <a:avLst>
              <a:gd name="adj" fmla="val 128662"/>
            </a:avLst>
          </a:prstGeom>
          <a:solidFill>
            <a:srgbClr val="D6D0D0"/>
          </a:solidFill>
          <a:ln/>
        </p:spPr>
      </p:sp>
      <p:sp>
        <p:nvSpPr>
          <p:cNvPr id="16" name="Shape 13"/>
          <p:cNvSpPr/>
          <p:nvPr/>
        </p:nvSpPr>
        <p:spPr>
          <a:xfrm>
            <a:off x="686217" y="5095637"/>
            <a:ext cx="441127" cy="441127"/>
          </a:xfrm>
          <a:prstGeom prst="roundRect">
            <a:avLst>
              <a:gd name="adj" fmla="val 6667"/>
            </a:avLst>
          </a:prstGeom>
          <a:solidFill>
            <a:srgbClr val="F0EAEA"/>
          </a:solidFill>
          <a:ln/>
        </p:spPr>
      </p:sp>
      <p:sp>
        <p:nvSpPr>
          <p:cNvPr id="17" name="Text 14"/>
          <p:cNvSpPr/>
          <p:nvPr/>
        </p:nvSpPr>
        <p:spPr>
          <a:xfrm>
            <a:off x="759678" y="5132368"/>
            <a:ext cx="294084" cy="367546"/>
          </a:xfrm>
          <a:prstGeom prst="rect">
            <a:avLst/>
          </a:prstGeom>
          <a:noFill/>
          <a:ln/>
        </p:spPr>
        <p:txBody>
          <a:bodyPr wrap="none" lIns="0" tIns="0" rIns="0" bIns="0" rtlCol="0" anchor="t"/>
          <a:lstStyle/>
          <a:p>
            <a:pPr algn="ctr" indent="0" marL="0">
              <a:lnSpc>
                <a:spcPts val="2300"/>
              </a:lnSpc>
              <a:buNone/>
            </a:pPr>
            <a:r>
              <a:rPr lang="en-US" sz="2300" dirty="0">
                <a:solidFill>
                  <a:srgbClr val="61615C"/>
                </a:solidFill>
                <a:latin typeface="Tomorrow Semi Bold" pitchFamily="34" charset="0"/>
                <a:ea typeface="Tomorrow Semi Bold" pitchFamily="34" charset="-122"/>
                <a:cs typeface="Tomorrow Semi Bold" pitchFamily="34" charset="-120"/>
              </a:rPr>
              <a:t>3</a:t>
            </a:r>
            <a:endParaRPr lang="en-US" sz="2300" dirty="0"/>
          </a:p>
        </p:txBody>
      </p:sp>
      <p:sp>
        <p:nvSpPr>
          <p:cNvPr id="18" name="Text 15"/>
          <p:cNvSpPr/>
          <p:nvPr/>
        </p:nvSpPr>
        <p:spPr>
          <a:xfrm>
            <a:off x="1887260" y="5163026"/>
            <a:ext cx="4527471" cy="306348"/>
          </a:xfrm>
          <a:prstGeom prst="rect">
            <a:avLst/>
          </a:prstGeom>
          <a:noFill/>
          <a:ln/>
        </p:spPr>
        <p:txBody>
          <a:bodyPr wrap="none" lIns="0" tIns="0" rIns="0" bIns="0" rtlCol="0" anchor="t"/>
          <a:lstStyle/>
          <a:p>
            <a:pPr algn="l" indent="0" marL="0">
              <a:lnSpc>
                <a:spcPts val="2400"/>
              </a:lnSpc>
              <a:buNone/>
            </a:pPr>
            <a:r>
              <a:rPr lang="en-US" sz="1900" dirty="0">
                <a:solidFill>
                  <a:srgbClr val="61615C"/>
                </a:solidFill>
                <a:latin typeface="Tomorrow Semi Bold" pitchFamily="34" charset="0"/>
                <a:ea typeface="Tomorrow Semi Bold" pitchFamily="34" charset="-122"/>
                <a:cs typeface="Tomorrow Semi Bold" pitchFamily="34" charset="-120"/>
              </a:rPr>
              <a:t>Murakkabroq Tenglamalarni Yechish</a:t>
            </a:r>
            <a:endParaRPr lang="en-US" sz="1900" dirty="0"/>
          </a:p>
        </p:txBody>
      </p:sp>
      <p:sp>
        <p:nvSpPr>
          <p:cNvPr id="19" name="Text 16"/>
          <p:cNvSpPr/>
          <p:nvPr/>
        </p:nvSpPr>
        <p:spPr>
          <a:xfrm>
            <a:off x="1887260" y="5587008"/>
            <a:ext cx="6570464" cy="941189"/>
          </a:xfrm>
          <a:prstGeom prst="rect">
            <a:avLst/>
          </a:prstGeom>
          <a:noFill/>
          <a:ln/>
        </p:spPr>
        <p:txBody>
          <a:bodyPr wrap="square" lIns="0" tIns="0" rIns="0" bIns="0" rtlCol="0" anchor="t"/>
          <a:lstStyle/>
          <a:p>
            <a:pPr algn="l" indent="0" marL="0">
              <a:lnSpc>
                <a:spcPts val="2450"/>
              </a:lnSpc>
              <a:buNone/>
            </a:pPr>
            <a:r>
              <a:rPr lang="en-US" sz="1500" dirty="0">
                <a:solidFill>
                  <a:srgbClr val="61615C"/>
                </a:solidFill>
                <a:latin typeface="Tomorrow" pitchFamily="34" charset="0"/>
                <a:ea typeface="Tomorrow" pitchFamily="34" charset="-122"/>
                <a:cs typeface="Tomorrow" pitchFamily="34" charset="-120"/>
              </a:rPr>
              <a:t>Bir nechta amallar talab qilinadigan tenglamalarni yechish mashqlari bajariladi. Bu jarayon mantiqiy fikrlash va muammolarni bosqichma-bosqich hal qilish qobiliyatini oshiradi.</a:t>
            </a:r>
            <a:endParaRPr lang="en-US" sz="1500" dirty="0"/>
          </a:p>
        </p:txBody>
      </p:sp>
      <p:sp>
        <p:nvSpPr>
          <p:cNvPr id="20" name="Text 17"/>
          <p:cNvSpPr/>
          <p:nvPr/>
        </p:nvSpPr>
        <p:spPr>
          <a:xfrm>
            <a:off x="686276" y="6748701"/>
            <a:ext cx="7771448" cy="941189"/>
          </a:xfrm>
          <a:prstGeom prst="rect">
            <a:avLst/>
          </a:prstGeom>
          <a:noFill/>
          <a:ln/>
        </p:spPr>
        <p:txBody>
          <a:bodyPr wrap="square" lIns="0" tIns="0" rIns="0" bIns="0" rtlCol="0" anchor="t"/>
          <a:lstStyle/>
          <a:p>
            <a:pPr algn="l" indent="0" marL="0">
              <a:lnSpc>
                <a:spcPts val="2450"/>
              </a:lnSpc>
              <a:buNone/>
            </a:pPr>
            <a:r>
              <a:rPr lang="en-US" sz="1500" dirty="0">
                <a:solidFill>
                  <a:srgbClr val="61615C"/>
                </a:solidFill>
                <a:latin typeface="Tomorrow" pitchFamily="34" charset="0"/>
                <a:ea typeface="Tomorrow" pitchFamily="34" charset="-122"/>
                <a:cs typeface="Tomorrow" pitchFamily="34" charset="-120"/>
              </a:rPr>
              <a:t>Amaliy mashqlar orqali o'quvchilar nazariy bilimlarni amaliyotda qo'llashni o'rganadilar, bu esa ularning tushunchalarini chuqurlashtiradi va ishonchini oshiradi.</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374815"/>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D1D1B"/>
                </a:solidFill>
                <a:latin typeface="Tomorrow Semi Bold" pitchFamily="34" charset="0"/>
                <a:ea typeface="Tomorrow Semi Bold" pitchFamily="34" charset="-122"/>
                <a:cs typeface="Tomorrow Semi Bold" pitchFamily="34" charset="-120"/>
              </a:rPr>
              <a:t>Masalalar</a:t>
            </a:r>
            <a:endParaRPr lang="en-US" sz="4450" dirty="0"/>
          </a:p>
        </p:txBody>
      </p:sp>
      <p:sp>
        <p:nvSpPr>
          <p:cNvPr id="4" name="Text 1"/>
          <p:cNvSpPr/>
          <p:nvPr/>
        </p:nvSpPr>
        <p:spPr>
          <a:xfrm>
            <a:off x="793790" y="2537103"/>
            <a:ext cx="2329815" cy="748427"/>
          </a:xfrm>
          <a:prstGeom prst="rect">
            <a:avLst/>
          </a:prstGeom>
          <a:noFill/>
          <a:ln/>
        </p:spPr>
        <p:txBody>
          <a:bodyPr wrap="none" lIns="0" tIns="0" rIns="0" bIns="0" rtlCol="0" anchor="t"/>
          <a:lstStyle/>
          <a:p>
            <a:pPr algn="ctr" indent="0" marL="0">
              <a:lnSpc>
                <a:spcPts val="5850"/>
              </a:lnSpc>
              <a:buNone/>
            </a:pPr>
            <a:r>
              <a:rPr lang="en-US" sz="5850" dirty="0">
                <a:solidFill>
                  <a:srgbClr val="61615C"/>
                </a:solidFill>
                <a:latin typeface="Tomorrow Semi Bold" pitchFamily="34" charset="0"/>
                <a:ea typeface="Tomorrow Semi Bold" pitchFamily="34" charset="-122"/>
                <a:cs typeface="Tomorrow Semi Bold" pitchFamily="34" charset="-120"/>
              </a:rPr>
              <a:t>x</a:t>
            </a:r>
            <a:endParaRPr lang="en-US" sz="5850" dirty="0"/>
          </a:p>
        </p:txBody>
      </p:sp>
      <p:sp>
        <p:nvSpPr>
          <p:cNvPr id="5" name="Text 2"/>
          <p:cNvSpPr/>
          <p:nvPr/>
        </p:nvSpPr>
        <p:spPr>
          <a:xfrm>
            <a:off x="793790" y="3568898"/>
            <a:ext cx="2329815" cy="354330"/>
          </a:xfrm>
          <a:prstGeom prst="rect">
            <a:avLst/>
          </a:prstGeom>
          <a:noFill/>
          <a:ln/>
        </p:spPr>
        <p:txBody>
          <a:bodyPr wrap="none" lIns="0" tIns="0" rIns="0" bIns="0" rtlCol="0" anchor="t"/>
          <a:lstStyle/>
          <a:p>
            <a:pPr algn="ctr" indent="0" marL="0">
              <a:lnSpc>
                <a:spcPts val="2750"/>
              </a:lnSpc>
              <a:buNone/>
            </a:pPr>
            <a:r>
              <a:rPr lang="en-US" sz="2200" dirty="0">
                <a:solidFill>
                  <a:srgbClr val="61615C"/>
                </a:solidFill>
                <a:latin typeface="Tomorrow Semi Bold" pitchFamily="34" charset="0"/>
                <a:ea typeface="Tomorrow Semi Bold" pitchFamily="34" charset="-122"/>
                <a:cs typeface="Tomorrow Semi Bold" pitchFamily="34" charset="-120"/>
              </a:rPr>
              <a:t>Kitob Narxi</a:t>
            </a:r>
            <a:endParaRPr lang="en-US" sz="2200" dirty="0"/>
          </a:p>
        </p:txBody>
      </p:sp>
      <p:sp>
        <p:nvSpPr>
          <p:cNvPr id="6" name="Text 3"/>
          <p:cNvSpPr/>
          <p:nvPr/>
        </p:nvSpPr>
        <p:spPr>
          <a:xfrm>
            <a:off x="793790" y="4059317"/>
            <a:ext cx="2329815" cy="1088708"/>
          </a:xfrm>
          <a:prstGeom prst="rect">
            <a:avLst/>
          </a:prstGeom>
          <a:noFill/>
          <a:ln/>
        </p:spPr>
        <p:txBody>
          <a:bodyPr wrap="square" lIns="0" tIns="0" rIns="0" bIns="0" rtlCol="0" anchor="t"/>
          <a:lstStyle/>
          <a:p>
            <a:pPr algn="ctr" indent="0" marL="0">
              <a:lnSpc>
                <a:spcPts val="2850"/>
              </a:lnSpc>
              <a:buNone/>
            </a:pPr>
            <a:r>
              <a:rPr lang="en-US" sz="1750" dirty="0">
                <a:solidFill>
                  <a:srgbClr val="61615C"/>
                </a:solidFill>
                <a:latin typeface="Tomorrow" pitchFamily="34" charset="0"/>
                <a:ea typeface="Tomorrow" pitchFamily="34" charset="-122"/>
                <a:cs typeface="Tomorrow" pitchFamily="34" charset="-120"/>
              </a:rPr>
              <a:t>Kitob narxi x so'm. 3 ta kitob narxi 21 so'm. x ni toping.</a:t>
            </a:r>
            <a:endParaRPr lang="en-US" sz="1750" dirty="0"/>
          </a:p>
        </p:txBody>
      </p:sp>
      <p:sp>
        <p:nvSpPr>
          <p:cNvPr id="7" name="Text 4"/>
          <p:cNvSpPr/>
          <p:nvPr/>
        </p:nvSpPr>
        <p:spPr>
          <a:xfrm>
            <a:off x="3407093" y="2537103"/>
            <a:ext cx="2329815" cy="748427"/>
          </a:xfrm>
          <a:prstGeom prst="rect">
            <a:avLst/>
          </a:prstGeom>
          <a:noFill/>
          <a:ln/>
        </p:spPr>
        <p:txBody>
          <a:bodyPr wrap="none" lIns="0" tIns="0" rIns="0" bIns="0" rtlCol="0" anchor="t"/>
          <a:lstStyle/>
          <a:p>
            <a:pPr algn="ctr" indent="0" marL="0">
              <a:lnSpc>
                <a:spcPts val="5850"/>
              </a:lnSpc>
              <a:buNone/>
            </a:pPr>
            <a:r>
              <a:rPr lang="en-US" sz="5850" dirty="0">
                <a:solidFill>
                  <a:srgbClr val="61615C"/>
                </a:solidFill>
                <a:latin typeface="Tomorrow Semi Bold" pitchFamily="34" charset="0"/>
                <a:ea typeface="Tomorrow Semi Bold" pitchFamily="34" charset="-122"/>
                <a:cs typeface="Tomorrow Semi Bold" pitchFamily="34" charset="-120"/>
              </a:rPr>
              <a:t>y</a:t>
            </a:r>
            <a:endParaRPr lang="en-US" sz="5850" dirty="0"/>
          </a:p>
        </p:txBody>
      </p:sp>
      <p:sp>
        <p:nvSpPr>
          <p:cNvPr id="8" name="Text 5"/>
          <p:cNvSpPr/>
          <p:nvPr/>
        </p:nvSpPr>
        <p:spPr>
          <a:xfrm>
            <a:off x="3407093" y="3568898"/>
            <a:ext cx="2329815" cy="354330"/>
          </a:xfrm>
          <a:prstGeom prst="rect">
            <a:avLst/>
          </a:prstGeom>
          <a:noFill/>
          <a:ln/>
        </p:spPr>
        <p:txBody>
          <a:bodyPr wrap="none" lIns="0" tIns="0" rIns="0" bIns="0" rtlCol="0" anchor="t"/>
          <a:lstStyle/>
          <a:p>
            <a:pPr algn="ctr" indent="0" marL="0">
              <a:lnSpc>
                <a:spcPts val="2750"/>
              </a:lnSpc>
              <a:buNone/>
            </a:pPr>
            <a:r>
              <a:rPr lang="en-US" sz="2200" dirty="0">
                <a:solidFill>
                  <a:srgbClr val="61615C"/>
                </a:solidFill>
                <a:latin typeface="Tomorrow Semi Bold" pitchFamily="34" charset="0"/>
                <a:ea typeface="Tomorrow Semi Bold" pitchFamily="34" charset="-122"/>
                <a:cs typeface="Tomorrow Semi Bold" pitchFamily="34" charset="-120"/>
              </a:rPr>
              <a:t>Olma Vazni</a:t>
            </a:r>
            <a:endParaRPr lang="en-US" sz="2200" dirty="0"/>
          </a:p>
        </p:txBody>
      </p:sp>
      <p:sp>
        <p:nvSpPr>
          <p:cNvPr id="9" name="Text 6"/>
          <p:cNvSpPr/>
          <p:nvPr/>
        </p:nvSpPr>
        <p:spPr>
          <a:xfrm>
            <a:off x="3407093" y="4059317"/>
            <a:ext cx="2329815" cy="1088708"/>
          </a:xfrm>
          <a:prstGeom prst="rect">
            <a:avLst/>
          </a:prstGeom>
          <a:noFill/>
          <a:ln/>
        </p:spPr>
        <p:txBody>
          <a:bodyPr wrap="square" lIns="0" tIns="0" rIns="0" bIns="0" rtlCol="0" anchor="t"/>
          <a:lstStyle/>
          <a:p>
            <a:pPr algn="ctr" indent="0" marL="0">
              <a:lnSpc>
                <a:spcPts val="2850"/>
              </a:lnSpc>
              <a:buNone/>
            </a:pPr>
            <a:r>
              <a:rPr lang="en-US" sz="1750" dirty="0">
                <a:solidFill>
                  <a:srgbClr val="61615C"/>
                </a:solidFill>
                <a:latin typeface="Tomorrow" pitchFamily="34" charset="0"/>
                <a:ea typeface="Tomorrow" pitchFamily="34" charset="-122"/>
                <a:cs typeface="Tomorrow" pitchFamily="34" charset="-120"/>
              </a:rPr>
              <a:t>Olma vazni y gramm. 5 ta olma vazni 500 gramm. y ni toping.</a:t>
            </a:r>
            <a:endParaRPr lang="en-US" sz="1750" dirty="0"/>
          </a:p>
        </p:txBody>
      </p:sp>
      <p:sp>
        <p:nvSpPr>
          <p:cNvPr id="10" name="Text 7"/>
          <p:cNvSpPr/>
          <p:nvPr/>
        </p:nvSpPr>
        <p:spPr>
          <a:xfrm>
            <a:off x="6020395" y="2537103"/>
            <a:ext cx="2329815" cy="748427"/>
          </a:xfrm>
          <a:prstGeom prst="rect">
            <a:avLst/>
          </a:prstGeom>
          <a:noFill/>
          <a:ln/>
        </p:spPr>
        <p:txBody>
          <a:bodyPr wrap="none" lIns="0" tIns="0" rIns="0" bIns="0" rtlCol="0" anchor="t"/>
          <a:lstStyle/>
          <a:p>
            <a:pPr algn="ctr" indent="0" marL="0">
              <a:lnSpc>
                <a:spcPts val="5850"/>
              </a:lnSpc>
              <a:buNone/>
            </a:pPr>
            <a:r>
              <a:rPr lang="en-US" sz="5850" dirty="0">
                <a:solidFill>
                  <a:srgbClr val="61615C"/>
                </a:solidFill>
                <a:latin typeface="Tomorrow Semi Bold" pitchFamily="34" charset="0"/>
                <a:ea typeface="Tomorrow Semi Bold" pitchFamily="34" charset="-122"/>
                <a:cs typeface="Tomorrow Semi Bold" pitchFamily="34" charset="-120"/>
              </a:rPr>
              <a:t>z</a:t>
            </a:r>
            <a:endParaRPr lang="en-US" sz="5850" dirty="0"/>
          </a:p>
        </p:txBody>
      </p:sp>
      <p:sp>
        <p:nvSpPr>
          <p:cNvPr id="11" name="Text 8"/>
          <p:cNvSpPr/>
          <p:nvPr/>
        </p:nvSpPr>
        <p:spPr>
          <a:xfrm>
            <a:off x="6020395" y="3568898"/>
            <a:ext cx="2329815" cy="354330"/>
          </a:xfrm>
          <a:prstGeom prst="rect">
            <a:avLst/>
          </a:prstGeom>
          <a:noFill/>
          <a:ln/>
        </p:spPr>
        <p:txBody>
          <a:bodyPr wrap="none" lIns="0" tIns="0" rIns="0" bIns="0" rtlCol="0" anchor="t"/>
          <a:lstStyle/>
          <a:p>
            <a:pPr algn="ctr" indent="0" marL="0">
              <a:lnSpc>
                <a:spcPts val="2750"/>
              </a:lnSpc>
              <a:buNone/>
            </a:pPr>
            <a:r>
              <a:rPr lang="en-US" sz="2200" dirty="0">
                <a:solidFill>
                  <a:srgbClr val="61615C"/>
                </a:solidFill>
                <a:latin typeface="Tomorrow Semi Bold" pitchFamily="34" charset="0"/>
                <a:ea typeface="Tomorrow Semi Bold" pitchFamily="34" charset="-122"/>
                <a:cs typeface="Tomorrow Semi Bold" pitchFamily="34" charset="-120"/>
              </a:rPr>
              <a:t>Tovuqlar Soni</a:t>
            </a:r>
            <a:endParaRPr lang="en-US" sz="2200" dirty="0"/>
          </a:p>
        </p:txBody>
      </p:sp>
      <p:sp>
        <p:nvSpPr>
          <p:cNvPr id="12" name="Text 9"/>
          <p:cNvSpPr/>
          <p:nvPr/>
        </p:nvSpPr>
        <p:spPr>
          <a:xfrm>
            <a:off x="6020395" y="4059317"/>
            <a:ext cx="2329815" cy="1451610"/>
          </a:xfrm>
          <a:prstGeom prst="rect">
            <a:avLst/>
          </a:prstGeom>
          <a:noFill/>
          <a:ln/>
        </p:spPr>
        <p:txBody>
          <a:bodyPr wrap="square" lIns="0" tIns="0" rIns="0" bIns="0" rtlCol="0" anchor="t"/>
          <a:lstStyle/>
          <a:p>
            <a:pPr algn="ctr" indent="0" marL="0">
              <a:lnSpc>
                <a:spcPts val="2850"/>
              </a:lnSpc>
              <a:buNone/>
            </a:pPr>
            <a:r>
              <a:rPr lang="en-US" sz="1750" dirty="0">
                <a:solidFill>
                  <a:srgbClr val="61615C"/>
                </a:solidFill>
                <a:latin typeface="Tomorrow" pitchFamily="34" charset="0"/>
                <a:ea typeface="Tomorrow" pitchFamily="34" charset="-122"/>
                <a:cs typeface="Tomorrow" pitchFamily="34" charset="-120"/>
              </a:rPr>
              <a:t>Fermerda z ta tovuq bor. Agar 10 ta tovuq sotsa, 25 ta tovuq qoladi. z ni toping.</a:t>
            </a:r>
            <a:endParaRPr lang="en-US" sz="1750" dirty="0"/>
          </a:p>
        </p:txBody>
      </p:sp>
      <p:sp>
        <p:nvSpPr>
          <p:cNvPr id="13" name="Text 10"/>
          <p:cNvSpPr/>
          <p:nvPr/>
        </p:nvSpPr>
        <p:spPr>
          <a:xfrm>
            <a:off x="793790" y="5766078"/>
            <a:ext cx="7556421" cy="1088708"/>
          </a:xfrm>
          <a:prstGeom prst="rect">
            <a:avLst/>
          </a:prstGeom>
          <a:noFill/>
          <a:ln/>
        </p:spPr>
        <p:txBody>
          <a:bodyPr wrap="square" lIns="0" tIns="0" rIns="0" bIns="0" rtlCol="0" anchor="t"/>
          <a:lstStyle/>
          <a:p>
            <a:pPr algn="l" indent="0" marL="0">
              <a:lnSpc>
                <a:spcPts val="2850"/>
              </a:lnSpc>
              <a:buNone/>
            </a:pPr>
            <a:r>
              <a:rPr lang="en-US" sz="1750" dirty="0">
                <a:solidFill>
                  <a:srgbClr val="61615C"/>
                </a:solidFill>
                <a:latin typeface="Tomorrow" pitchFamily="34" charset="0"/>
                <a:ea typeface="Tomorrow" pitchFamily="34" charset="-122"/>
                <a:cs typeface="Tomorrow" pitchFamily="34" charset="-120"/>
              </a:rPr>
              <a:t>Ushbu masalalar real hayotiy vaziyatlarni matematik tenglamalar orqali yechishni o'rgatadi. Bu o'quvchilarga matematikani kundalik hayotda qo'llash ko'nikmalarini rivojlantirishga yordam beradi.</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35925" y="578882"/>
            <a:ext cx="5256848" cy="656987"/>
          </a:xfrm>
          <a:prstGeom prst="rect">
            <a:avLst/>
          </a:prstGeom>
          <a:noFill/>
          <a:ln/>
        </p:spPr>
        <p:txBody>
          <a:bodyPr wrap="none" lIns="0" tIns="0" rIns="0" bIns="0" rtlCol="0" anchor="t"/>
          <a:lstStyle/>
          <a:p>
            <a:pPr algn="l" indent="0" marL="0">
              <a:lnSpc>
                <a:spcPts val="5150"/>
              </a:lnSpc>
              <a:buNone/>
            </a:pPr>
            <a:r>
              <a:rPr lang="en-US" sz="4100" dirty="0">
                <a:solidFill>
                  <a:srgbClr val="1D1D1B"/>
                </a:solidFill>
                <a:latin typeface="Tomorrow Semi Bold" pitchFamily="34" charset="0"/>
                <a:ea typeface="Tomorrow Semi Bold" pitchFamily="34" charset="-122"/>
                <a:cs typeface="Tomorrow Semi Bold" pitchFamily="34" charset="-120"/>
              </a:rPr>
              <a:t>Xulosa</a:t>
            </a:r>
            <a:endParaRPr lang="en-US" sz="4100" dirty="0"/>
          </a:p>
        </p:txBody>
      </p:sp>
      <p:pic>
        <p:nvPicPr>
          <p:cNvPr id="3" name="Image 0" descr="preencoded.png">    </p:cNvPr>
          <p:cNvPicPr>
            <a:picLocks noChangeAspect="1"/>
          </p:cNvPicPr>
          <p:nvPr/>
        </p:nvPicPr>
        <p:blipFill>
          <a:blip r:embed="rId1"/>
          <a:stretch>
            <a:fillRect/>
          </a:stretch>
        </p:blipFill>
        <p:spPr>
          <a:xfrm>
            <a:off x="2939891" y="1656397"/>
            <a:ext cx="2171105" cy="1547932"/>
          </a:xfrm>
          <a:prstGeom prst="rect">
            <a:avLst/>
          </a:prstGeom>
        </p:spPr>
      </p:pic>
      <p:sp>
        <p:nvSpPr>
          <p:cNvPr id="4" name="Text 1"/>
          <p:cNvSpPr/>
          <p:nvPr/>
        </p:nvSpPr>
        <p:spPr>
          <a:xfrm>
            <a:off x="3877627" y="2446139"/>
            <a:ext cx="295632" cy="369570"/>
          </a:xfrm>
          <a:prstGeom prst="rect">
            <a:avLst/>
          </a:prstGeom>
          <a:noFill/>
          <a:ln/>
        </p:spPr>
        <p:txBody>
          <a:bodyPr wrap="none" lIns="0" tIns="0" rIns="0" bIns="0" rtlCol="0" anchor="t"/>
          <a:lstStyle/>
          <a:p>
            <a:pPr algn="ctr" indent="0" marL="0">
              <a:lnSpc>
                <a:spcPts val="3700"/>
              </a:lnSpc>
              <a:buNone/>
            </a:pPr>
            <a:r>
              <a:rPr lang="en-US" sz="2300" dirty="0">
                <a:solidFill>
                  <a:srgbClr val="61615C"/>
                </a:solidFill>
                <a:latin typeface="Tomorrow Semi Bold" pitchFamily="34" charset="0"/>
                <a:ea typeface="Tomorrow Semi Bold" pitchFamily="34" charset="-122"/>
                <a:cs typeface="Tomorrow Semi Bold" pitchFamily="34" charset="-120"/>
              </a:rPr>
              <a:t>1</a:t>
            </a:r>
            <a:endParaRPr lang="en-US" sz="2300" dirty="0"/>
          </a:p>
        </p:txBody>
      </p:sp>
      <p:sp>
        <p:nvSpPr>
          <p:cNvPr id="5" name="Text 2"/>
          <p:cNvSpPr/>
          <p:nvPr/>
        </p:nvSpPr>
        <p:spPr>
          <a:xfrm>
            <a:off x="5321260" y="2034778"/>
            <a:ext cx="2628424" cy="328613"/>
          </a:xfrm>
          <a:prstGeom prst="rect">
            <a:avLst/>
          </a:prstGeom>
          <a:noFill/>
          <a:ln/>
        </p:spPr>
        <p:txBody>
          <a:bodyPr wrap="none" lIns="0" tIns="0" rIns="0" bIns="0" rtlCol="0" anchor="t"/>
          <a:lstStyle/>
          <a:p>
            <a:pPr algn="l" indent="0" marL="0">
              <a:lnSpc>
                <a:spcPts val="2550"/>
              </a:lnSpc>
              <a:buNone/>
            </a:pPr>
            <a:r>
              <a:rPr lang="en-US" sz="2050" dirty="0">
                <a:solidFill>
                  <a:srgbClr val="61615C"/>
                </a:solidFill>
                <a:latin typeface="Tomorrow Semi Bold" pitchFamily="34" charset="0"/>
                <a:ea typeface="Tomorrow Semi Bold" pitchFamily="34" charset="-122"/>
                <a:cs typeface="Tomorrow Semi Bold" pitchFamily="34" charset="-120"/>
              </a:rPr>
              <a:t>Matematika</a:t>
            </a:r>
            <a:endParaRPr lang="en-US" sz="2050" dirty="0"/>
          </a:p>
        </p:txBody>
      </p:sp>
      <p:sp>
        <p:nvSpPr>
          <p:cNvPr id="6" name="Text 3"/>
          <p:cNvSpPr/>
          <p:nvPr/>
        </p:nvSpPr>
        <p:spPr>
          <a:xfrm>
            <a:off x="5321260" y="2489478"/>
            <a:ext cx="5835610" cy="336352"/>
          </a:xfrm>
          <a:prstGeom prst="rect">
            <a:avLst/>
          </a:prstGeom>
          <a:noFill/>
          <a:ln/>
        </p:spPr>
        <p:txBody>
          <a:bodyPr wrap="none" lIns="0" tIns="0" rIns="0" bIns="0" rtlCol="0" anchor="t"/>
          <a:lstStyle/>
          <a:p>
            <a:pPr algn="l" indent="0" marL="0">
              <a:lnSpc>
                <a:spcPts val="2600"/>
              </a:lnSpc>
              <a:buNone/>
            </a:pPr>
            <a:r>
              <a:rPr lang="en-US" sz="1650" dirty="0">
                <a:solidFill>
                  <a:srgbClr val="61615C"/>
                </a:solidFill>
                <a:latin typeface="Tomorrow" pitchFamily="34" charset="0"/>
                <a:ea typeface="Tomorrow" pitchFamily="34" charset="-122"/>
                <a:cs typeface="Tomorrow" pitchFamily="34" charset="-120"/>
              </a:rPr>
              <a:t>Kundalik hayotda qo'llash, mantiqiy fikrlashni rivojlantirish.</a:t>
            </a:r>
            <a:endParaRPr lang="en-US" sz="1650" dirty="0"/>
          </a:p>
        </p:txBody>
      </p:sp>
      <p:sp>
        <p:nvSpPr>
          <p:cNvPr id="7" name="Shape 4"/>
          <p:cNvSpPr/>
          <p:nvPr/>
        </p:nvSpPr>
        <p:spPr>
          <a:xfrm>
            <a:off x="5163503" y="3220998"/>
            <a:ext cx="8678466" cy="11430"/>
          </a:xfrm>
          <a:prstGeom prst="roundRect">
            <a:avLst>
              <a:gd name="adj" fmla="val 275956"/>
            </a:avLst>
          </a:prstGeom>
          <a:solidFill>
            <a:srgbClr val="D6D0D0"/>
          </a:solidFill>
          <a:ln/>
        </p:spPr>
      </p:sp>
      <p:pic>
        <p:nvPicPr>
          <p:cNvPr id="8" name="Image 1" descr="preencoded.png">    </p:cNvPr>
          <p:cNvPicPr>
            <a:picLocks noChangeAspect="1"/>
          </p:cNvPicPr>
          <p:nvPr/>
        </p:nvPicPr>
        <p:blipFill>
          <a:blip r:embed="rId2"/>
          <a:stretch>
            <a:fillRect/>
          </a:stretch>
        </p:blipFill>
        <p:spPr>
          <a:xfrm>
            <a:off x="1854398" y="3256836"/>
            <a:ext cx="4342209" cy="1547932"/>
          </a:xfrm>
          <a:prstGeom prst="rect">
            <a:avLst/>
          </a:prstGeom>
        </p:spPr>
      </p:pic>
      <p:sp>
        <p:nvSpPr>
          <p:cNvPr id="9" name="Text 5"/>
          <p:cNvSpPr/>
          <p:nvPr/>
        </p:nvSpPr>
        <p:spPr>
          <a:xfrm>
            <a:off x="3877627" y="3845957"/>
            <a:ext cx="295632" cy="369570"/>
          </a:xfrm>
          <a:prstGeom prst="rect">
            <a:avLst/>
          </a:prstGeom>
          <a:noFill/>
          <a:ln/>
        </p:spPr>
        <p:txBody>
          <a:bodyPr wrap="none" lIns="0" tIns="0" rIns="0" bIns="0" rtlCol="0" anchor="t"/>
          <a:lstStyle/>
          <a:p>
            <a:pPr algn="ctr" indent="0" marL="0">
              <a:lnSpc>
                <a:spcPts val="3700"/>
              </a:lnSpc>
              <a:buNone/>
            </a:pPr>
            <a:r>
              <a:rPr lang="en-US" sz="2300" dirty="0">
                <a:solidFill>
                  <a:srgbClr val="61615C"/>
                </a:solidFill>
                <a:latin typeface="Tomorrow Semi Bold" pitchFamily="34" charset="0"/>
                <a:ea typeface="Tomorrow Semi Bold" pitchFamily="34" charset="-122"/>
                <a:cs typeface="Tomorrow Semi Bold" pitchFamily="34" charset="-120"/>
              </a:rPr>
              <a:t>2</a:t>
            </a:r>
            <a:endParaRPr lang="en-US" sz="2300" dirty="0"/>
          </a:p>
        </p:txBody>
      </p:sp>
      <p:sp>
        <p:nvSpPr>
          <p:cNvPr id="10" name="Text 6"/>
          <p:cNvSpPr/>
          <p:nvPr/>
        </p:nvSpPr>
        <p:spPr>
          <a:xfrm>
            <a:off x="6406872" y="3635216"/>
            <a:ext cx="2628424" cy="328613"/>
          </a:xfrm>
          <a:prstGeom prst="rect">
            <a:avLst/>
          </a:prstGeom>
          <a:noFill/>
          <a:ln/>
        </p:spPr>
        <p:txBody>
          <a:bodyPr wrap="none" lIns="0" tIns="0" rIns="0" bIns="0" rtlCol="0" anchor="t"/>
          <a:lstStyle/>
          <a:p>
            <a:pPr algn="l" indent="0" marL="0">
              <a:lnSpc>
                <a:spcPts val="2550"/>
              </a:lnSpc>
              <a:buNone/>
            </a:pPr>
            <a:r>
              <a:rPr lang="en-US" sz="2050" dirty="0">
                <a:solidFill>
                  <a:srgbClr val="61615C"/>
                </a:solidFill>
                <a:latin typeface="Tomorrow Semi Bold" pitchFamily="34" charset="0"/>
                <a:ea typeface="Tomorrow Semi Bold" pitchFamily="34" charset="-122"/>
                <a:cs typeface="Tomorrow Semi Bold" pitchFamily="34" charset="-120"/>
              </a:rPr>
              <a:t>Misollar yechish</a:t>
            </a:r>
            <a:endParaRPr lang="en-US" sz="2050" dirty="0"/>
          </a:p>
        </p:txBody>
      </p:sp>
      <p:sp>
        <p:nvSpPr>
          <p:cNvPr id="11" name="Text 7"/>
          <p:cNvSpPr/>
          <p:nvPr/>
        </p:nvSpPr>
        <p:spPr>
          <a:xfrm>
            <a:off x="6406872" y="4089916"/>
            <a:ext cx="6983849" cy="336352"/>
          </a:xfrm>
          <a:prstGeom prst="rect">
            <a:avLst/>
          </a:prstGeom>
          <a:noFill/>
          <a:ln/>
        </p:spPr>
        <p:txBody>
          <a:bodyPr wrap="none" lIns="0" tIns="0" rIns="0" bIns="0" rtlCol="0" anchor="t"/>
          <a:lstStyle/>
          <a:p>
            <a:pPr algn="l" indent="0" marL="0">
              <a:lnSpc>
                <a:spcPts val="2600"/>
              </a:lnSpc>
              <a:buNone/>
            </a:pPr>
            <a:r>
              <a:rPr lang="en-US" sz="1650" dirty="0">
                <a:solidFill>
                  <a:srgbClr val="61615C"/>
                </a:solidFill>
                <a:latin typeface="Tomorrow" pitchFamily="34" charset="0"/>
                <a:ea typeface="Tomorrow" pitchFamily="34" charset="-122"/>
                <a:cs typeface="Tomorrow" pitchFamily="34" charset="-120"/>
              </a:rPr>
              <a:t>Amaliy ko'nikmalarni rivojlantirish va tushunchalarni mustahkamlash.</a:t>
            </a:r>
            <a:endParaRPr lang="en-US" sz="1650" dirty="0"/>
          </a:p>
        </p:txBody>
      </p:sp>
      <p:sp>
        <p:nvSpPr>
          <p:cNvPr id="12" name="Shape 8"/>
          <p:cNvSpPr/>
          <p:nvPr/>
        </p:nvSpPr>
        <p:spPr>
          <a:xfrm>
            <a:off x="6249114" y="4821436"/>
            <a:ext cx="7592854" cy="11430"/>
          </a:xfrm>
          <a:prstGeom prst="roundRect">
            <a:avLst>
              <a:gd name="adj" fmla="val 275956"/>
            </a:avLst>
          </a:prstGeom>
          <a:solidFill>
            <a:srgbClr val="D6D0D0"/>
          </a:solidFill>
          <a:ln/>
        </p:spPr>
      </p:sp>
      <p:pic>
        <p:nvPicPr>
          <p:cNvPr id="13" name="Image 2" descr="preencoded.png">    </p:cNvPr>
          <p:cNvPicPr>
            <a:picLocks noChangeAspect="1"/>
          </p:cNvPicPr>
          <p:nvPr/>
        </p:nvPicPr>
        <p:blipFill>
          <a:blip r:embed="rId3"/>
          <a:stretch>
            <a:fillRect/>
          </a:stretch>
        </p:blipFill>
        <p:spPr>
          <a:xfrm>
            <a:off x="768787" y="4857274"/>
            <a:ext cx="6513433" cy="1547932"/>
          </a:xfrm>
          <a:prstGeom prst="rect">
            <a:avLst/>
          </a:prstGeom>
        </p:spPr>
      </p:pic>
      <p:sp>
        <p:nvSpPr>
          <p:cNvPr id="14" name="Text 9"/>
          <p:cNvSpPr/>
          <p:nvPr/>
        </p:nvSpPr>
        <p:spPr>
          <a:xfrm>
            <a:off x="3877627" y="5446395"/>
            <a:ext cx="295632" cy="369570"/>
          </a:xfrm>
          <a:prstGeom prst="rect">
            <a:avLst/>
          </a:prstGeom>
          <a:noFill/>
          <a:ln/>
        </p:spPr>
        <p:txBody>
          <a:bodyPr wrap="none" lIns="0" tIns="0" rIns="0" bIns="0" rtlCol="0" anchor="t"/>
          <a:lstStyle/>
          <a:p>
            <a:pPr algn="ctr" indent="0" marL="0">
              <a:lnSpc>
                <a:spcPts val="3700"/>
              </a:lnSpc>
              <a:buNone/>
            </a:pPr>
            <a:r>
              <a:rPr lang="en-US" sz="2300" dirty="0">
                <a:solidFill>
                  <a:srgbClr val="61615C"/>
                </a:solidFill>
                <a:latin typeface="Tomorrow Semi Bold" pitchFamily="34" charset="0"/>
                <a:ea typeface="Tomorrow Semi Bold" pitchFamily="34" charset="-122"/>
                <a:cs typeface="Tomorrow Semi Bold" pitchFamily="34" charset="-120"/>
              </a:rPr>
              <a:t>3</a:t>
            </a:r>
            <a:endParaRPr lang="en-US" sz="2300" dirty="0"/>
          </a:p>
        </p:txBody>
      </p:sp>
      <p:sp>
        <p:nvSpPr>
          <p:cNvPr id="15" name="Text 10"/>
          <p:cNvSpPr/>
          <p:nvPr/>
        </p:nvSpPr>
        <p:spPr>
          <a:xfrm>
            <a:off x="7492484" y="5067538"/>
            <a:ext cx="2628424" cy="328613"/>
          </a:xfrm>
          <a:prstGeom prst="rect">
            <a:avLst/>
          </a:prstGeom>
          <a:noFill/>
          <a:ln/>
        </p:spPr>
        <p:txBody>
          <a:bodyPr wrap="none" lIns="0" tIns="0" rIns="0" bIns="0" rtlCol="0" anchor="t"/>
          <a:lstStyle/>
          <a:p>
            <a:pPr algn="l" indent="0" marL="0">
              <a:lnSpc>
                <a:spcPts val="2550"/>
              </a:lnSpc>
              <a:buNone/>
            </a:pPr>
            <a:r>
              <a:rPr lang="en-US" sz="2050" dirty="0">
                <a:solidFill>
                  <a:srgbClr val="61615C"/>
                </a:solidFill>
                <a:latin typeface="Tomorrow Semi Bold" pitchFamily="34" charset="0"/>
                <a:ea typeface="Tomorrow Semi Bold" pitchFamily="34" charset="-122"/>
                <a:cs typeface="Tomorrow Semi Bold" pitchFamily="34" charset="-120"/>
              </a:rPr>
              <a:t>Asosiy miqdorlar</a:t>
            </a:r>
            <a:endParaRPr lang="en-US" sz="2050" dirty="0"/>
          </a:p>
        </p:txBody>
      </p:sp>
      <p:sp>
        <p:nvSpPr>
          <p:cNvPr id="16" name="Text 11"/>
          <p:cNvSpPr/>
          <p:nvPr/>
        </p:nvSpPr>
        <p:spPr>
          <a:xfrm>
            <a:off x="7492484" y="5522238"/>
            <a:ext cx="6191726" cy="672703"/>
          </a:xfrm>
          <a:prstGeom prst="rect">
            <a:avLst/>
          </a:prstGeom>
          <a:noFill/>
          <a:ln/>
        </p:spPr>
        <p:txBody>
          <a:bodyPr wrap="square" lIns="0" tIns="0" rIns="0" bIns="0" rtlCol="0" anchor="t"/>
          <a:lstStyle/>
          <a:p>
            <a:pPr algn="l" indent="0" marL="0">
              <a:lnSpc>
                <a:spcPts val="2600"/>
              </a:lnSpc>
              <a:buNone/>
            </a:pPr>
            <a:r>
              <a:rPr lang="en-US" sz="1650" dirty="0">
                <a:solidFill>
                  <a:srgbClr val="61615C"/>
                </a:solidFill>
                <a:latin typeface="Tomorrow" pitchFamily="34" charset="0"/>
                <a:ea typeface="Tomorrow" pitchFamily="34" charset="-122"/>
                <a:cs typeface="Tomorrow" pitchFamily="34" charset="-120"/>
              </a:rPr>
              <a:t>Tenglik, tengsizlik va tenglama – matematik tushunchalarning asosi.</a:t>
            </a:r>
            <a:endParaRPr lang="en-US" sz="1650" dirty="0"/>
          </a:p>
        </p:txBody>
      </p:sp>
      <p:sp>
        <p:nvSpPr>
          <p:cNvPr id="17" name="Text 12"/>
          <p:cNvSpPr/>
          <p:nvPr/>
        </p:nvSpPr>
        <p:spPr>
          <a:xfrm>
            <a:off x="735925" y="6641663"/>
            <a:ext cx="13158549" cy="1009055"/>
          </a:xfrm>
          <a:prstGeom prst="rect">
            <a:avLst/>
          </a:prstGeom>
          <a:noFill/>
          <a:ln/>
        </p:spPr>
        <p:txBody>
          <a:bodyPr wrap="square" lIns="0" tIns="0" rIns="0" bIns="0" rtlCol="0" anchor="t"/>
          <a:lstStyle/>
          <a:p>
            <a:pPr algn="l" indent="0" marL="0">
              <a:lnSpc>
                <a:spcPts val="2600"/>
              </a:lnSpc>
              <a:buNone/>
            </a:pPr>
            <a:r>
              <a:rPr lang="en-US" sz="1650" dirty="0">
                <a:solidFill>
                  <a:srgbClr val="61615C"/>
                </a:solidFill>
                <a:latin typeface="Tomorrow" pitchFamily="34" charset="0"/>
                <a:ea typeface="Tomorrow" pitchFamily="34" charset="-122"/>
                <a:cs typeface="Tomorrow" pitchFamily="34" charset="-120"/>
              </a:rPr>
              <a:t>Ushbu taqdimot davomida biz asosiy matematik miqdorlarni o'rgandik va ularni misollar orqali qanday yechishni ko'rib chiqdik. Bu ko'nikmalar nafaqat matematika darslarida, balki kundalik hayotdagi turli vaziyatlarda ham juda muhimdir. Matematikani tushunish va qo'llash, muammolarni hal qilish va mantiqiy fikrlash qobiliyatimizni oshiradi.</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2025-06-11T04:01:37Z</dcterms:created>
  <dcterms:modified xsi:type="dcterms:W3CDTF">2025-06-11T04:01:37Z</dcterms:modified>
</cp:coreProperties>
</file>