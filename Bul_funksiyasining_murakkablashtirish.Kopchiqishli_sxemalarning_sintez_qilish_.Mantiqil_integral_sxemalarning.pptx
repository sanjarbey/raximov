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Lst>
  <p:sldSz cx="14630400" cy="8229600"/>
  <p:notesSz cx="8229600" cy="14630400"/>
  <p:embeddedFontLst>
    <p:embeddedFont>
      <p:font typeface="Alice" pitchFamily="34" charset="0"/>
      <p:regular r:id="rId15"/>
    </p:embeddedFont>
    <p:embeddedFont>
      <p:font typeface="Alice" pitchFamily="34" charset="-122"/>
      <p:regular r:id="rId16"/>
    </p:embeddedFont>
    <p:embeddedFont>
      <p:font typeface="Alice" pitchFamily="34" charset="-120"/>
      <p:regular r:id="rId17"/>
    </p:embeddedFont>
    <p:embeddedFont>
      <p:font typeface="Lora" pitchFamily="34" charset="0"/>
      <p:bold r:id="rId18"/>
    </p:embeddedFont>
    <p:embeddedFont>
      <p:font typeface="Lora" pitchFamily="34" charset="-122"/>
      <p:bold r:id="rId19"/>
    </p:embeddedFont>
    <p:embeddedFont>
      <p:font typeface="Lora" pitchFamily="34" charset="-120"/>
      <p:bold r:id="rId20"/>
    </p:embeddedFont>
    <p:embeddedFont>
      <p:font typeface="Calibri" panose="020F0502020204030204" charset="0"/>
      <p:regular r:id="rId21"/>
      <p:bold r:id="rId22"/>
      <p:italic r:id="rId23"/>
      <p:boldItalic r:id="rId24"/>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font" Target="fonts/font10.fntdata"/><Relationship Id="rId23" Type="http://schemas.openxmlformats.org/officeDocument/2006/relationships/font" Target="fonts/font9.fntdata"/><Relationship Id="rId22" Type="http://schemas.openxmlformats.org/officeDocument/2006/relationships/font" Target="fonts/font8.fntdata"/><Relationship Id="rId21" Type="http://schemas.openxmlformats.org/officeDocument/2006/relationships/font" Target="fonts/font7.fntdata"/><Relationship Id="rId20" Type="http://schemas.openxmlformats.org/officeDocument/2006/relationships/font" Target="fonts/font6.fntdata"/><Relationship Id="rId2" Type="http://schemas.openxmlformats.org/officeDocument/2006/relationships/theme" Target="theme/theme1.xml"/><Relationship Id="rId19" Type="http://schemas.openxmlformats.org/officeDocument/2006/relationships/font" Target="fonts/font5.fntdata"/><Relationship Id="rId18" Type="http://schemas.openxmlformats.org/officeDocument/2006/relationships/font" Target="fonts/font4.fntdata"/><Relationship Id="rId17" Type="http://schemas.openxmlformats.org/officeDocument/2006/relationships/font" Target="fonts/font3.fntdata"/><Relationship Id="rId16" Type="http://schemas.openxmlformats.org/officeDocument/2006/relationships/font" Target="fonts/font2.fntdata"/><Relationship Id="rId15" Type="http://schemas.openxmlformats.org/officeDocument/2006/relationships/font" Target="fonts/font1.fntdata"/><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1F2DE"/>
          </a:solidFill>
        </p:spPr>
      </p:sp>
      <p:sp>
        <p:nvSpPr>
          <p:cNvPr id="3" name="Shape 1"/>
          <p:cNvSpPr/>
          <p:nvPr/>
        </p:nvSpPr>
        <p:spPr>
          <a:xfrm>
            <a:off x="0" y="0"/>
            <a:ext cx="14630400" cy="8229600"/>
          </a:xfrm>
          <a:prstGeom prst="rect">
            <a:avLst/>
          </a:prstGeom>
          <a:solidFill>
            <a:srgbClr val="FCFBF8"/>
          </a:solidFill>
        </p:spPr>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4.xml"/><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6" Type="http://schemas.openxmlformats.org/officeDocument/2006/relationships/notesSlide" Target="../notesSlides/notesSlide4.xml"/><Relationship Id="rId5" Type="http://schemas.openxmlformats.org/officeDocument/2006/relationships/slideLayout" Target="../slideLayouts/slideLayout5.xml"/><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8.xml"/><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9.xml"/><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50" y="542925"/>
            <a:ext cx="7556500" cy="4283710"/>
          </a:xfrm>
          <a:prstGeom prst="rect">
            <a:avLst/>
          </a:prstGeom>
          <a:noFill/>
        </p:spPr>
        <p:txBody>
          <a:bodyPr wrap="square" lIns="0" tIns="0" rIns="0" bIns="0" rtlCol="0" anchor="t"/>
          <a:lstStyle/>
          <a:p>
            <a:pPr marL="0" indent="0" algn="ctr">
              <a:lnSpc>
                <a:spcPct val="100000"/>
              </a:lnSpc>
              <a:buNone/>
            </a:pPr>
            <a:r>
              <a:rPr lang="en-US" altLang="ru-RU" sz="2800" b="1" dirty="0">
                <a:latin typeface="Times New Roman" panose="02020603050405020304" charset="0"/>
                <a:cs typeface="Times New Roman" panose="02020603050405020304" charset="0"/>
              </a:rPr>
              <a:t>Bul funksiyasining murakkablashtirish.Ko'pchiqishli sxemalarning sintez qilish .Mantiqil integral sxemalarning negiz elementlari .Karno kartalari yordamida mantiqiy funksiyalarni minimallashtirish .</a:t>
            </a:r>
            <a:endParaRPr lang="en-US" altLang="ru-RU" sz="2800" b="1" dirty="0">
              <a:latin typeface="Times New Roman" panose="02020603050405020304" charset="0"/>
              <a:cs typeface="Times New Roman" panose="02020603050405020304" charset="0"/>
            </a:endParaRPr>
          </a:p>
          <a:p>
            <a:pPr marL="0" indent="0" algn="ctr">
              <a:lnSpc>
                <a:spcPct val="100000"/>
              </a:lnSpc>
              <a:buNone/>
            </a:pPr>
            <a:r>
              <a:rPr lang="en-US" altLang="ru-RU" sz="2800" b="1" dirty="0">
                <a:latin typeface="Times New Roman" panose="02020603050405020304" charset="0"/>
                <a:cs typeface="Times New Roman" panose="02020603050405020304" charset="0"/>
              </a:rPr>
              <a:t>REJA:</a:t>
            </a:r>
            <a:endParaRPr lang="en-US" altLang="ru-RU" sz="2800" b="1" dirty="0">
              <a:latin typeface="Times New Roman" panose="02020603050405020304" charset="0"/>
              <a:cs typeface="Times New Roman" panose="02020603050405020304" charset="0"/>
            </a:endParaRPr>
          </a:p>
          <a:p>
            <a:pPr marL="0" indent="0" algn="ctr">
              <a:lnSpc>
                <a:spcPct val="100000"/>
              </a:lnSpc>
              <a:buNone/>
            </a:pPr>
            <a:r>
              <a:rPr lang="en-US" altLang="ru-RU" sz="2800" b="1" dirty="0">
                <a:latin typeface="Times New Roman" panose="02020603050405020304" charset="0"/>
                <a:cs typeface="Times New Roman" panose="02020603050405020304" charset="0"/>
              </a:rPr>
              <a:t>1.</a:t>
            </a:r>
            <a:r>
              <a:rPr lang="en-US" sz="2800" dirty="0">
                <a:solidFill>
                  <a:srgbClr val="233E32"/>
                </a:solidFill>
                <a:latin typeface="Alice" pitchFamily="34" charset="0"/>
                <a:ea typeface="Alice" pitchFamily="34" charset="-122"/>
                <a:cs typeface="Alice" pitchFamily="34" charset="-120"/>
                <a:sym typeface="+mn-ea"/>
              </a:rPr>
              <a:t>Bul funksiyasini murakkablashtirish</a:t>
            </a:r>
            <a:endParaRPr lang="en-US" sz="2800" dirty="0"/>
          </a:p>
          <a:p>
            <a:pPr marL="0" indent="0" algn="ctr">
              <a:lnSpc>
                <a:spcPct val="100000"/>
              </a:lnSpc>
              <a:buNone/>
            </a:pPr>
            <a:r>
              <a:rPr lang="en-US" altLang="ru-RU" sz="2800" b="1" dirty="0">
                <a:latin typeface="Times New Roman" panose="02020603050405020304" charset="0"/>
                <a:cs typeface="Times New Roman" panose="02020603050405020304" charset="0"/>
              </a:rPr>
              <a:t>2.</a:t>
            </a:r>
            <a:r>
              <a:rPr lang="en-US" sz="2800" dirty="0">
                <a:solidFill>
                  <a:srgbClr val="233E32"/>
                </a:solidFill>
                <a:latin typeface="Alice" pitchFamily="34" charset="0"/>
                <a:ea typeface="Alice" pitchFamily="34" charset="-122"/>
                <a:cs typeface="Alice" pitchFamily="34" charset="-120"/>
                <a:sym typeface="+mn-ea"/>
              </a:rPr>
              <a:t>Mantiqiy integral sxemalarning negiz elementlari</a:t>
            </a:r>
            <a:endParaRPr lang="en-US" sz="2800" dirty="0"/>
          </a:p>
          <a:p>
            <a:pPr marL="0" indent="0" algn="ctr">
              <a:lnSpc>
                <a:spcPct val="100000"/>
              </a:lnSpc>
              <a:buNone/>
            </a:pPr>
            <a:r>
              <a:rPr lang="en-US" altLang="ru-RU" sz="2800" b="1" dirty="0">
                <a:latin typeface="Times New Roman" panose="02020603050405020304" charset="0"/>
                <a:cs typeface="Times New Roman" panose="02020603050405020304" charset="0"/>
              </a:rPr>
              <a:t>3.</a:t>
            </a:r>
            <a:r>
              <a:rPr lang="en-US" sz="2800" dirty="0">
                <a:solidFill>
                  <a:srgbClr val="233E32"/>
                </a:solidFill>
                <a:latin typeface="Alice" pitchFamily="34" charset="0"/>
                <a:ea typeface="Alice" pitchFamily="34" charset="-122"/>
                <a:cs typeface="Alice" pitchFamily="34" charset="-120"/>
                <a:sym typeface="+mn-ea"/>
              </a:rPr>
              <a:t>Karno kartalari.Mantiqiy funksiyani minimallashtirish</a:t>
            </a:r>
            <a:endParaRPr lang="en-US" sz="2800" dirty="0"/>
          </a:p>
          <a:p>
            <a:pPr marL="0" indent="0" algn="ctr">
              <a:lnSpc>
                <a:spcPct val="100000"/>
              </a:lnSpc>
              <a:buNone/>
            </a:pPr>
            <a:endParaRPr lang="en-US" altLang="ru-RU" sz="2800" b="1" dirty="0">
              <a:latin typeface="Times New Roman" panose="02020603050405020304" charset="0"/>
              <a:cs typeface="Times New Roman" panose="02020603050405020304" charset="0"/>
            </a:endParaRPr>
          </a:p>
        </p:txBody>
      </p:sp>
      <p:sp>
        <p:nvSpPr>
          <p:cNvPr id="4" name="Text 1"/>
          <p:cNvSpPr/>
          <p:nvPr/>
        </p:nvSpPr>
        <p:spPr>
          <a:xfrm>
            <a:off x="793790" y="5166598"/>
            <a:ext cx="7556421" cy="362903"/>
          </a:xfrm>
          <a:prstGeom prst="rect">
            <a:avLst/>
          </a:prstGeom>
          <a:noFill/>
        </p:spPr>
        <p:txBody>
          <a:bodyPr wrap="none" lIns="0" tIns="0" rIns="0" bIns="0" rtlCol="0" anchor="t"/>
          <a:lstStyle/>
          <a:p>
            <a:pPr marL="0" indent="0">
              <a:lnSpc>
                <a:spcPts val="2850"/>
              </a:lnSpc>
              <a:buNone/>
            </a:pP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63628" y="605195"/>
            <a:ext cx="7789545" cy="1209675"/>
          </a:xfrm>
          <a:prstGeom prst="rect">
            <a:avLst/>
          </a:prstGeom>
          <a:noFill/>
        </p:spPr>
        <p:txBody>
          <a:bodyPr wrap="square" lIns="0" tIns="0" rIns="0" bIns="0" rtlCol="0" anchor="t"/>
          <a:lstStyle/>
          <a:p>
            <a:pPr marL="0" indent="0">
              <a:lnSpc>
                <a:spcPts val="4750"/>
              </a:lnSpc>
              <a:buNone/>
            </a:pPr>
            <a:r>
              <a:rPr lang="en-US" sz="3800" dirty="0">
                <a:solidFill>
                  <a:srgbClr val="233E32"/>
                </a:solidFill>
                <a:latin typeface="Alice" pitchFamily="34" charset="0"/>
                <a:ea typeface="Alice" pitchFamily="34" charset="-122"/>
                <a:cs typeface="Alice" pitchFamily="34" charset="-120"/>
              </a:rPr>
              <a:t>Bul funksiyasini murakkablashtirish</a:t>
            </a:r>
            <a:endParaRPr lang="en-US" sz="3800" dirty="0"/>
          </a:p>
        </p:txBody>
      </p:sp>
      <p:sp>
        <p:nvSpPr>
          <p:cNvPr id="4" name="Shape 1"/>
          <p:cNvSpPr/>
          <p:nvPr/>
        </p:nvSpPr>
        <p:spPr>
          <a:xfrm>
            <a:off x="6163628" y="2105144"/>
            <a:ext cx="3798094" cy="3591520"/>
          </a:xfrm>
          <a:prstGeom prst="roundRect">
            <a:avLst>
              <a:gd name="adj" fmla="val 808"/>
            </a:avLst>
          </a:prstGeom>
          <a:solidFill>
            <a:srgbClr val="F0EDE6"/>
          </a:solidFill>
        </p:spPr>
      </p:sp>
      <p:sp>
        <p:nvSpPr>
          <p:cNvPr id="5" name="Text 2"/>
          <p:cNvSpPr/>
          <p:nvPr/>
        </p:nvSpPr>
        <p:spPr>
          <a:xfrm>
            <a:off x="6357104" y="2298621"/>
            <a:ext cx="2418993" cy="302419"/>
          </a:xfrm>
          <a:prstGeom prst="rect">
            <a:avLst/>
          </a:prstGeom>
          <a:noFill/>
        </p:spPr>
        <p:txBody>
          <a:bodyPr wrap="none" lIns="0" tIns="0" rIns="0" bIns="0" rtlCol="0" anchor="t"/>
          <a:lstStyle/>
          <a:p>
            <a:pPr marL="0" indent="0">
              <a:lnSpc>
                <a:spcPts val="2350"/>
              </a:lnSpc>
              <a:buNone/>
            </a:pPr>
            <a:r>
              <a:rPr lang="en-US" sz="1900" dirty="0">
                <a:solidFill>
                  <a:srgbClr val="2C2821"/>
                </a:solidFill>
                <a:latin typeface="Alice" pitchFamily="34" charset="0"/>
                <a:ea typeface="Alice" pitchFamily="34" charset="-122"/>
                <a:cs typeface="Alice" pitchFamily="34" charset="-120"/>
              </a:rPr>
              <a:t>Bul algebrasi asoslari</a:t>
            </a:r>
            <a:endParaRPr lang="en-US" sz="1900" dirty="0"/>
          </a:p>
        </p:txBody>
      </p:sp>
      <p:sp>
        <p:nvSpPr>
          <p:cNvPr id="6" name="Text 3"/>
          <p:cNvSpPr/>
          <p:nvPr/>
        </p:nvSpPr>
        <p:spPr>
          <a:xfrm>
            <a:off x="6357104" y="2717125"/>
            <a:ext cx="3411141" cy="2786062"/>
          </a:xfrm>
          <a:prstGeom prst="rect">
            <a:avLst/>
          </a:prstGeom>
          <a:noFill/>
        </p:spPr>
        <p:txBody>
          <a:bodyPr wrap="square" lIns="0" tIns="0" rIns="0" bIns="0" rtlCol="0" anchor="t"/>
          <a:lstStyle/>
          <a:p>
            <a:pPr marL="0" indent="0">
              <a:lnSpc>
                <a:spcPts val="2400"/>
              </a:lnSpc>
              <a:buNone/>
            </a:pPr>
            <a:r>
              <a:rPr lang="en-US" sz="1500" dirty="0">
                <a:solidFill>
                  <a:srgbClr val="2C2821"/>
                </a:solidFill>
                <a:latin typeface="Lora" pitchFamily="34" charset="0"/>
                <a:ea typeface="Lora" pitchFamily="34" charset="-122"/>
                <a:cs typeface="Lora" pitchFamily="34" charset="-120"/>
              </a:rPr>
              <a:t>Bul algebrasi - bu mantiqiy operatsiyalar (VA, YOKI, EMAS) va ular ustida amallar bajarish qoidalarini o'rganadigan matematika sohasi. Bul algebrasi ikki qiymatli (0 va 1) mantiqiy o'zgaruvchilar ustida amallar bajaradi va raqamli qurilmalarning ishlash prinsipi asosida yotadi.</a:t>
            </a:r>
            <a:endParaRPr lang="en-US" sz="1500" dirty="0"/>
          </a:p>
        </p:txBody>
      </p:sp>
      <p:sp>
        <p:nvSpPr>
          <p:cNvPr id="7" name="Shape 4"/>
          <p:cNvSpPr/>
          <p:nvPr/>
        </p:nvSpPr>
        <p:spPr>
          <a:xfrm>
            <a:off x="10155198" y="2105144"/>
            <a:ext cx="3798094" cy="3591520"/>
          </a:xfrm>
          <a:prstGeom prst="roundRect">
            <a:avLst>
              <a:gd name="adj" fmla="val 808"/>
            </a:avLst>
          </a:prstGeom>
          <a:solidFill>
            <a:srgbClr val="F0EDE6"/>
          </a:solidFill>
        </p:spPr>
      </p:sp>
      <p:sp>
        <p:nvSpPr>
          <p:cNvPr id="8" name="Text 5"/>
          <p:cNvSpPr/>
          <p:nvPr/>
        </p:nvSpPr>
        <p:spPr>
          <a:xfrm>
            <a:off x="10348674" y="2298621"/>
            <a:ext cx="3016687" cy="302419"/>
          </a:xfrm>
          <a:prstGeom prst="rect">
            <a:avLst/>
          </a:prstGeom>
          <a:noFill/>
        </p:spPr>
        <p:txBody>
          <a:bodyPr wrap="none" lIns="0" tIns="0" rIns="0" bIns="0" rtlCol="0" anchor="t"/>
          <a:lstStyle/>
          <a:p>
            <a:pPr marL="0" indent="0">
              <a:lnSpc>
                <a:spcPts val="2350"/>
              </a:lnSpc>
              <a:buNone/>
            </a:pPr>
            <a:r>
              <a:rPr lang="en-US" sz="1900" dirty="0">
                <a:solidFill>
                  <a:srgbClr val="2C2821"/>
                </a:solidFill>
                <a:latin typeface="Alice" pitchFamily="34" charset="0"/>
                <a:ea typeface="Alice" pitchFamily="34" charset="-122"/>
                <a:cs typeface="Alice" pitchFamily="34" charset="-120"/>
              </a:rPr>
              <a:t>Murakkablashtirish usullari</a:t>
            </a:r>
            <a:endParaRPr lang="en-US" sz="1900" dirty="0"/>
          </a:p>
        </p:txBody>
      </p:sp>
      <p:sp>
        <p:nvSpPr>
          <p:cNvPr id="9" name="Text 6"/>
          <p:cNvSpPr/>
          <p:nvPr/>
        </p:nvSpPr>
        <p:spPr>
          <a:xfrm>
            <a:off x="10348674" y="2717125"/>
            <a:ext cx="3411141" cy="2476500"/>
          </a:xfrm>
          <a:prstGeom prst="rect">
            <a:avLst/>
          </a:prstGeom>
          <a:noFill/>
        </p:spPr>
        <p:txBody>
          <a:bodyPr wrap="square" lIns="0" tIns="0" rIns="0" bIns="0" rtlCol="0" anchor="t"/>
          <a:lstStyle/>
          <a:p>
            <a:pPr marL="0" indent="0">
              <a:lnSpc>
                <a:spcPts val="2400"/>
              </a:lnSpc>
              <a:buNone/>
            </a:pPr>
            <a:r>
              <a:rPr lang="en-US" sz="1500" dirty="0">
                <a:solidFill>
                  <a:srgbClr val="2C2821"/>
                </a:solidFill>
                <a:latin typeface="Lora" pitchFamily="34" charset="0"/>
                <a:ea typeface="Lora" pitchFamily="34" charset="-122"/>
                <a:cs typeface="Lora" pitchFamily="34" charset="-120"/>
              </a:rPr>
              <a:t>Bul funksiyasini murakkablashtirish bu - berilgan funktsiyani yanada murakkab ko'rinishga o'tkazish jarayoni. Bu jarayon algebraik o'zgartirishlar, qo'shimcha o'zgaruvchilar kiritish, yoki funksiyani boshqa mantiqiy operatorlar orqali ifodalash orqali amalga oshiriladi.</a:t>
            </a:r>
            <a:endParaRPr lang="en-US" sz="1500" dirty="0"/>
          </a:p>
        </p:txBody>
      </p:sp>
      <p:sp>
        <p:nvSpPr>
          <p:cNvPr id="10" name="Shape 7"/>
          <p:cNvSpPr/>
          <p:nvPr/>
        </p:nvSpPr>
        <p:spPr>
          <a:xfrm>
            <a:off x="6163628" y="5890141"/>
            <a:ext cx="7789545" cy="1734145"/>
          </a:xfrm>
          <a:prstGeom prst="roundRect">
            <a:avLst>
              <a:gd name="adj" fmla="val 1674"/>
            </a:avLst>
          </a:prstGeom>
          <a:solidFill>
            <a:srgbClr val="F0EDE6"/>
          </a:solidFill>
        </p:spPr>
      </p:sp>
      <p:sp>
        <p:nvSpPr>
          <p:cNvPr id="11" name="Text 8"/>
          <p:cNvSpPr/>
          <p:nvPr/>
        </p:nvSpPr>
        <p:spPr>
          <a:xfrm>
            <a:off x="6357104" y="6083618"/>
            <a:ext cx="2418993" cy="302419"/>
          </a:xfrm>
          <a:prstGeom prst="rect">
            <a:avLst/>
          </a:prstGeom>
          <a:noFill/>
        </p:spPr>
        <p:txBody>
          <a:bodyPr wrap="none" lIns="0" tIns="0" rIns="0" bIns="0" rtlCol="0" anchor="t"/>
          <a:lstStyle/>
          <a:p>
            <a:pPr marL="0" indent="0">
              <a:lnSpc>
                <a:spcPts val="2350"/>
              </a:lnSpc>
              <a:buNone/>
            </a:pPr>
            <a:r>
              <a:rPr lang="en-US" sz="1900" dirty="0">
                <a:solidFill>
                  <a:srgbClr val="2C2821"/>
                </a:solidFill>
                <a:latin typeface="Alice" pitchFamily="34" charset="0"/>
                <a:ea typeface="Alice" pitchFamily="34" charset="-122"/>
                <a:cs typeface="Alice" pitchFamily="34" charset="-120"/>
              </a:rPr>
              <a:t>Amaliy misollar</a:t>
            </a:r>
            <a:endParaRPr lang="en-US" sz="1900" dirty="0"/>
          </a:p>
        </p:txBody>
      </p:sp>
      <p:sp>
        <p:nvSpPr>
          <p:cNvPr id="12" name="Text 9"/>
          <p:cNvSpPr/>
          <p:nvPr/>
        </p:nvSpPr>
        <p:spPr>
          <a:xfrm>
            <a:off x="6357104" y="6502122"/>
            <a:ext cx="7402592" cy="928687"/>
          </a:xfrm>
          <a:prstGeom prst="rect">
            <a:avLst/>
          </a:prstGeom>
          <a:noFill/>
        </p:spPr>
        <p:txBody>
          <a:bodyPr wrap="square" lIns="0" tIns="0" rIns="0" bIns="0" rtlCol="0" anchor="t"/>
          <a:lstStyle/>
          <a:p>
            <a:pPr marL="0" indent="0">
              <a:lnSpc>
                <a:spcPts val="2400"/>
              </a:lnSpc>
              <a:buNone/>
            </a:pPr>
            <a:r>
              <a:rPr lang="en-US" sz="1500" dirty="0">
                <a:solidFill>
                  <a:srgbClr val="2C2821"/>
                </a:solidFill>
                <a:latin typeface="Lora" pitchFamily="34" charset="0"/>
                <a:ea typeface="Lora" pitchFamily="34" charset="-122"/>
                <a:cs typeface="Lora" pitchFamily="34" charset="-120"/>
              </a:rPr>
              <a:t>Masalan, F = A + B funksiyasini F = A + (A·B) + (¬A·B) ko'rinishida murakkablashtirish mumkin. Bu usul raqamli qurilmalarni sinovdan o'tkazish va tasdiqlash jarayonida muhim rol o'ynaydi.</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76248" y="543520"/>
            <a:ext cx="7764304" cy="1231821"/>
          </a:xfrm>
          <a:prstGeom prst="rect">
            <a:avLst/>
          </a:prstGeom>
          <a:noFill/>
        </p:spPr>
        <p:txBody>
          <a:bodyPr wrap="square" lIns="0" tIns="0" rIns="0" bIns="0" rtlCol="0" anchor="t"/>
          <a:lstStyle/>
          <a:p>
            <a:pPr marL="0" indent="0">
              <a:lnSpc>
                <a:spcPts val="4850"/>
              </a:lnSpc>
              <a:buNone/>
            </a:pPr>
            <a:r>
              <a:rPr lang="en-US" sz="3850" dirty="0">
                <a:solidFill>
                  <a:srgbClr val="233E32"/>
                </a:solidFill>
                <a:latin typeface="Alice" pitchFamily="34" charset="0"/>
                <a:ea typeface="Alice" pitchFamily="34" charset="-122"/>
                <a:cs typeface="Alice" pitchFamily="34" charset="-120"/>
              </a:rPr>
              <a:t>Ko'p chiqishli sxemalarni sintez qilish</a:t>
            </a:r>
            <a:endParaRPr lang="en-US" sz="3850" dirty="0"/>
          </a:p>
        </p:txBody>
      </p:sp>
      <p:pic>
        <p:nvPicPr>
          <p:cNvPr id="4" name="Image 1" descr="preencoded.png"/>
          <p:cNvPicPr>
            <a:picLocks noChangeAspect="1"/>
          </p:cNvPicPr>
          <p:nvPr/>
        </p:nvPicPr>
        <p:blipFill>
          <a:blip r:embed="rId2"/>
          <a:stretch>
            <a:fillRect/>
          </a:stretch>
        </p:blipFill>
        <p:spPr>
          <a:xfrm>
            <a:off x="6176248" y="2070973"/>
            <a:ext cx="985599" cy="1766530"/>
          </a:xfrm>
          <a:prstGeom prst="rect">
            <a:avLst/>
          </a:prstGeom>
        </p:spPr>
      </p:pic>
      <p:sp>
        <p:nvSpPr>
          <p:cNvPr id="5" name="Text 1"/>
          <p:cNvSpPr/>
          <p:nvPr/>
        </p:nvSpPr>
        <p:spPr>
          <a:xfrm>
            <a:off x="7457480" y="2268022"/>
            <a:ext cx="2463998" cy="308015"/>
          </a:xfrm>
          <a:prstGeom prst="rect">
            <a:avLst/>
          </a:prstGeom>
          <a:noFill/>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Tushuncha</a:t>
            </a:r>
            <a:endParaRPr lang="en-US" sz="1900" dirty="0"/>
          </a:p>
        </p:txBody>
      </p:sp>
      <p:sp>
        <p:nvSpPr>
          <p:cNvPr id="6" name="Text 2"/>
          <p:cNvSpPr/>
          <p:nvPr/>
        </p:nvSpPr>
        <p:spPr>
          <a:xfrm>
            <a:off x="7457480" y="2694265"/>
            <a:ext cx="6483072" cy="946190"/>
          </a:xfrm>
          <a:prstGeom prst="rect">
            <a:avLst/>
          </a:prstGeom>
          <a:noFill/>
        </p:spPr>
        <p:txBody>
          <a:bodyPr wrap="square" lIns="0" tIns="0" rIns="0" bIns="0" rtlCol="0" anchor="t"/>
          <a:lstStyle/>
          <a:p>
            <a:pPr marL="0" indent="0" algn="l">
              <a:lnSpc>
                <a:spcPts val="2450"/>
              </a:lnSpc>
              <a:buNone/>
            </a:pPr>
            <a:r>
              <a:rPr lang="en-US" sz="1550" dirty="0">
                <a:solidFill>
                  <a:srgbClr val="2C2821"/>
                </a:solidFill>
                <a:latin typeface="Lora" pitchFamily="34" charset="0"/>
                <a:ea typeface="Lora" pitchFamily="34" charset="-122"/>
                <a:cs typeface="Lora" pitchFamily="34" charset="-120"/>
              </a:rPr>
              <a:t>Ko'p chiqishli sxemalar - bir nechta kirish signallarini qayta ishlab, bir nechta chiqish signallarini hosil qiladigan mantiqiy qurilmalar. Ular murakkab boshqaruv tizimlarida keng qo'llaniladi.</a:t>
            </a:r>
            <a:endParaRPr lang="en-US" sz="1550" dirty="0"/>
          </a:p>
        </p:txBody>
      </p:sp>
      <p:pic>
        <p:nvPicPr>
          <p:cNvPr id="7" name="Image 2" descr="preencoded.png"/>
          <p:cNvPicPr>
            <a:picLocks noChangeAspect="1"/>
          </p:cNvPicPr>
          <p:nvPr/>
        </p:nvPicPr>
        <p:blipFill>
          <a:blip r:embed="rId3"/>
          <a:stretch>
            <a:fillRect/>
          </a:stretch>
        </p:blipFill>
        <p:spPr>
          <a:xfrm>
            <a:off x="6176248" y="3837503"/>
            <a:ext cx="985599" cy="2081927"/>
          </a:xfrm>
          <a:prstGeom prst="rect">
            <a:avLst/>
          </a:prstGeom>
        </p:spPr>
      </p:pic>
      <p:sp>
        <p:nvSpPr>
          <p:cNvPr id="8" name="Text 3"/>
          <p:cNvSpPr/>
          <p:nvPr/>
        </p:nvSpPr>
        <p:spPr>
          <a:xfrm>
            <a:off x="7457480" y="4034552"/>
            <a:ext cx="2463998" cy="308015"/>
          </a:xfrm>
          <a:prstGeom prst="rect">
            <a:avLst/>
          </a:prstGeom>
          <a:noFill/>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Sintez bosqichlari</a:t>
            </a:r>
            <a:endParaRPr lang="en-US" sz="1900" dirty="0"/>
          </a:p>
        </p:txBody>
      </p:sp>
      <p:sp>
        <p:nvSpPr>
          <p:cNvPr id="9" name="Text 4"/>
          <p:cNvSpPr/>
          <p:nvPr/>
        </p:nvSpPr>
        <p:spPr>
          <a:xfrm>
            <a:off x="7457480" y="4460796"/>
            <a:ext cx="6483072" cy="1261586"/>
          </a:xfrm>
          <a:prstGeom prst="rect">
            <a:avLst/>
          </a:prstGeom>
          <a:noFill/>
        </p:spPr>
        <p:txBody>
          <a:bodyPr wrap="square" lIns="0" tIns="0" rIns="0" bIns="0" rtlCol="0" anchor="t"/>
          <a:lstStyle/>
          <a:p>
            <a:pPr marL="0" indent="0" algn="l">
              <a:lnSpc>
                <a:spcPts val="2450"/>
              </a:lnSpc>
              <a:buNone/>
            </a:pPr>
            <a:r>
              <a:rPr lang="en-US" sz="1550" dirty="0">
                <a:solidFill>
                  <a:srgbClr val="2C2821"/>
                </a:solidFill>
                <a:latin typeface="Lora" pitchFamily="34" charset="0"/>
                <a:ea typeface="Lora" pitchFamily="34" charset="-122"/>
                <a:cs typeface="Lora" pitchFamily="34" charset="-120"/>
              </a:rPr>
              <a:t>Sintez jarayoni mantiqiy funksiyalarni aniqlash, har bir chiqish uchun Bul funksiyalarini tuzish, va bu funksiyalarni optimallashtirishni o'z ichiga oladi. Chiqishlar orasidagi bog'liqliklarni hisobga olish muhim ahamiyatga ega.</a:t>
            </a:r>
            <a:endParaRPr lang="en-US" sz="1550" dirty="0"/>
          </a:p>
        </p:txBody>
      </p:sp>
      <p:pic>
        <p:nvPicPr>
          <p:cNvPr id="10" name="Image 3" descr="preencoded.png"/>
          <p:cNvPicPr>
            <a:picLocks noChangeAspect="1"/>
          </p:cNvPicPr>
          <p:nvPr/>
        </p:nvPicPr>
        <p:blipFill>
          <a:blip r:embed="rId4"/>
          <a:stretch>
            <a:fillRect/>
          </a:stretch>
        </p:blipFill>
        <p:spPr>
          <a:xfrm>
            <a:off x="6176248" y="5919430"/>
            <a:ext cx="985599" cy="1766530"/>
          </a:xfrm>
          <a:prstGeom prst="rect">
            <a:avLst/>
          </a:prstGeom>
        </p:spPr>
      </p:pic>
      <p:sp>
        <p:nvSpPr>
          <p:cNvPr id="11" name="Text 5"/>
          <p:cNvSpPr/>
          <p:nvPr/>
        </p:nvSpPr>
        <p:spPr>
          <a:xfrm>
            <a:off x="7457480" y="6116479"/>
            <a:ext cx="2463998" cy="308015"/>
          </a:xfrm>
          <a:prstGeom prst="rect">
            <a:avLst/>
          </a:prstGeom>
          <a:noFill/>
        </p:spPr>
        <p:txBody>
          <a:bodyPr wrap="none" lIns="0" tIns="0" rIns="0" bIns="0" rtlCol="0" anchor="t"/>
          <a:lstStyle/>
          <a:p>
            <a:pPr marL="0" indent="0" algn="l">
              <a:lnSpc>
                <a:spcPts val="2400"/>
              </a:lnSpc>
              <a:buNone/>
            </a:pPr>
            <a:r>
              <a:rPr lang="en-US" sz="1900" dirty="0">
                <a:solidFill>
                  <a:srgbClr val="2C2821"/>
                </a:solidFill>
                <a:latin typeface="Alice" pitchFamily="34" charset="0"/>
                <a:ea typeface="Alice" pitchFamily="34" charset="-122"/>
                <a:cs typeface="Alice" pitchFamily="34" charset="-120"/>
              </a:rPr>
              <a:t>Optimallashtirish</a:t>
            </a:r>
            <a:endParaRPr lang="en-US" sz="1900" dirty="0"/>
          </a:p>
        </p:txBody>
      </p:sp>
      <p:sp>
        <p:nvSpPr>
          <p:cNvPr id="12" name="Text 6"/>
          <p:cNvSpPr/>
          <p:nvPr/>
        </p:nvSpPr>
        <p:spPr>
          <a:xfrm>
            <a:off x="7457480" y="6542723"/>
            <a:ext cx="6483072" cy="946190"/>
          </a:xfrm>
          <a:prstGeom prst="rect">
            <a:avLst/>
          </a:prstGeom>
          <a:noFill/>
        </p:spPr>
        <p:txBody>
          <a:bodyPr wrap="square" lIns="0" tIns="0" rIns="0" bIns="0" rtlCol="0" anchor="t"/>
          <a:lstStyle/>
          <a:p>
            <a:pPr marL="0" indent="0" algn="l">
              <a:lnSpc>
                <a:spcPts val="2450"/>
              </a:lnSpc>
              <a:buNone/>
            </a:pPr>
            <a:r>
              <a:rPr lang="en-US" sz="1550" dirty="0">
                <a:solidFill>
                  <a:srgbClr val="2C2821"/>
                </a:solidFill>
                <a:latin typeface="Lora" pitchFamily="34" charset="0"/>
                <a:ea typeface="Lora" pitchFamily="34" charset="-122"/>
                <a:cs typeface="Lora" pitchFamily="34" charset="-120"/>
              </a:rPr>
              <a:t>Ko'p chiqishli sxemalarni optimallashtirish - elementlar sonini kamaytirish, kechikish vaqtini qisqartirish va energiya sarfini kamaytirish maqsadida amalga oshiriladi.</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54341" y="854035"/>
            <a:ext cx="7808119" cy="1193006"/>
          </a:xfrm>
          <a:prstGeom prst="rect">
            <a:avLst/>
          </a:prstGeom>
          <a:noFill/>
        </p:spPr>
        <p:txBody>
          <a:bodyPr wrap="square" lIns="0" tIns="0" rIns="0" bIns="0" rtlCol="0" anchor="t"/>
          <a:lstStyle/>
          <a:p>
            <a:pPr marL="0" indent="0">
              <a:lnSpc>
                <a:spcPts val="4650"/>
              </a:lnSpc>
              <a:buNone/>
            </a:pPr>
            <a:r>
              <a:rPr lang="en-US" sz="3750" dirty="0">
                <a:solidFill>
                  <a:srgbClr val="233E32"/>
                </a:solidFill>
                <a:latin typeface="Alice" pitchFamily="34" charset="0"/>
                <a:ea typeface="Alice" pitchFamily="34" charset="-122"/>
                <a:cs typeface="Alice" pitchFamily="34" charset="-120"/>
              </a:rPr>
              <a:t>Mantiqiy integral sxemalarning negiz elementlari</a:t>
            </a:r>
            <a:endParaRPr lang="en-US" sz="3750" dirty="0"/>
          </a:p>
        </p:txBody>
      </p:sp>
      <p:pic>
        <p:nvPicPr>
          <p:cNvPr id="4" name="Image 1" descr="preencoded.png"/>
          <p:cNvPicPr>
            <a:picLocks noChangeAspect="1"/>
          </p:cNvPicPr>
          <p:nvPr/>
        </p:nvPicPr>
        <p:blipFill>
          <a:blip r:embed="rId2"/>
          <a:stretch>
            <a:fillRect/>
          </a:stretch>
        </p:blipFill>
        <p:spPr>
          <a:xfrm>
            <a:off x="6154341" y="2333268"/>
            <a:ext cx="477083" cy="477083"/>
          </a:xfrm>
          <a:prstGeom prst="rect">
            <a:avLst/>
          </a:prstGeom>
        </p:spPr>
      </p:pic>
      <p:sp>
        <p:nvSpPr>
          <p:cNvPr id="5" name="Text 1"/>
          <p:cNvSpPr/>
          <p:nvPr/>
        </p:nvSpPr>
        <p:spPr>
          <a:xfrm>
            <a:off x="6154341" y="3001208"/>
            <a:ext cx="2411849" cy="596503"/>
          </a:xfrm>
          <a:prstGeom prst="rect">
            <a:avLst/>
          </a:prstGeom>
          <a:noFill/>
        </p:spPr>
        <p:txBody>
          <a:bodyPr wrap="square" lIns="0" tIns="0" rIns="0" bIns="0" rtlCol="0" anchor="t"/>
          <a:lstStyle/>
          <a:p>
            <a:pPr marL="0" indent="0" algn="l">
              <a:lnSpc>
                <a:spcPts val="2300"/>
              </a:lnSpc>
              <a:buNone/>
            </a:pPr>
            <a:r>
              <a:rPr lang="en-US" sz="1850" dirty="0">
                <a:solidFill>
                  <a:srgbClr val="2C2821"/>
                </a:solidFill>
                <a:latin typeface="Alice" pitchFamily="34" charset="0"/>
                <a:ea typeface="Alice" pitchFamily="34" charset="-122"/>
                <a:cs typeface="Alice" pitchFamily="34" charset="-120"/>
              </a:rPr>
              <a:t>AND, OR, NOT elementlari</a:t>
            </a:r>
            <a:endParaRPr lang="en-US" sz="1850" dirty="0"/>
          </a:p>
        </p:txBody>
      </p:sp>
      <p:sp>
        <p:nvSpPr>
          <p:cNvPr id="6" name="Text 2"/>
          <p:cNvSpPr/>
          <p:nvPr/>
        </p:nvSpPr>
        <p:spPr>
          <a:xfrm>
            <a:off x="6154341" y="3712131"/>
            <a:ext cx="2411849" cy="3663315"/>
          </a:xfrm>
          <a:prstGeom prst="rect">
            <a:avLst/>
          </a:prstGeom>
          <a:noFill/>
        </p:spPr>
        <p:txBody>
          <a:bodyPr wrap="square" lIns="0" tIns="0" rIns="0" bIns="0" rtlCol="0" anchor="t"/>
          <a:lstStyle/>
          <a:p>
            <a:pPr marL="0" indent="0" algn="l">
              <a:lnSpc>
                <a:spcPts val="2400"/>
              </a:lnSpc>
              <a:buNone/>
            </a:pPr>
            <a:r>
              <a:rPr lang="en-US" sz="1500" dirty="0">
                <a:solidFill>
                  <a:srgbClr val="2C2821"/>
                </a:solidFill>
                <a:latin typeface="Lora" pitchFamily="34" charset="0"/>
                <a:ea typeface="Lora" pitchFamily="34" charset="-122"/>
                <a:cs typeface="Lora" pitchFamily="34" charset="-120"/>
              </a:rPr>
              <a:t>AND (VA) elementi barcha kirishlar 1 bo'lganda 1 chiqishini beradi. OR (YOKI) elementi hech bo'lmaganda bitta kirish 1 bo'lganda 1 chiqishini beradi. NOT (EMAS) elementi kirishning inversiyasini hosil qiladi. Bu elementlar asosiy mantiqiy operatsiyalarni amalga oshiradi.</a:t>
            </a:r>
            <a:endParaRPr lang="en-US" sz="1500" dirty="0"/>
          </a:p>
        </p:txBody>
      </p:sp>
      <p:pic>
        <p:nvPicPr>
          <p:cNvPr id="7" name="Image 2" descr="preencoded.png"/>
          <p:cNvPicPr>
            <a:picLocks noChangeAspect="1"/>
          </p:cNvPicPr>
          <p:nvPr/>
        </p:nvPicPr>
        <p:blipFill>
          <a:blip r:embed="rId3"/>
          <a:stretch>
            <a:fillRect/>
          </a:stretch>
        </p:blipFill>
        <p:spPr>
          <a:xfrm>
            <a:off x="8852416" y="2333268"/>
            <a:ext cx="477083" cy="477083"/>
          </a:xfrm>
          <a:prstGeom prst="rect">
            <a:avLst/>
          </a:prstGeom>
        </p:spPr>
      </p:pic>
      <p:sp>
        <p:nvSpPr>
          <p:cNvPr id="8" name="Text 3"/>
          <p:cNvSpPr/>
          <p:nvPr/>
        </p:nvSpPr>
        <p:spPr>
          <a:xfrm>
            <a:off x="8852416" y="3001208"/>
            <a:ext cx="2411849" cy="596503"/>
          </a:xfrm>
          <a:prstGeom prst="rect">
            <a:avLst/>
          </a:prstGeom>
          <a:noFill/>
        </p:spPr>
        <p:txBody>
          <a:bodyPr wrap="square" lIns="0" tIns="0" rIns="0" bIns="0" rtlCol="0" anchor="t"/>
          <a:lstStyle/>
          <a:p>
            <a:pPr marL="0" indent="0" algn="l">
              <a:lnSpc>
                <a:spcPts val="2300"/>
              </a:lnSpc>
              <a:buNone/>
            </a:pPr>
            <a:r>
              <a:rPr lang="en-US" sz="1850" dirty="0">
                <a:solidFill>
                  <a:srgbClr val="2C2821"/>
                </a:solidFill>
                <a:latin typeface="Alice" pitchFamily="34" charset="0"/>
                <a:ea typeface="Alice" pitchFamily="34" charset="-122"/>
                <a:cs typeface="Alice" pitchFamily="34" charset="-120"/>
              </a:rPr>
              <a:t>NAND va NOR universal elementlari</a:t>
            </a:r>
            <a:endParaRPr lang="en-US" sz="1850" dirty="0"/>
          </a:p>
        </p:txBody>
      </p:sp>
      <p:sp>
        <p:nvSpPr>
          <p:cNvPr id="9" name="Text 4"/>
          <p:cNvSpPr/>
          <p:nvPr/>
        </p:nvSpPr>
        <p:spPr>
          <a:xfrm>
            <a:off x="8852416" y="3712131"/>
            <a:ext cx="2411849" cy="2747486"/>
          </a:xfrm>
          <a:prstGeom prst="rect">
            <a:avLst/>
          </a:prstGeom>
          <a:noFill/>
        </p:spPr>
        <p:txBody>
          <a:bodyPr wrap="square" lIns="0" tIns="0" rIns="0" bIns="0" rtlCol="0" anchor="t"/>
          <a:lstStyle/>
          <a:p>
            <a:pPr marL="0" indent="0" algn="l">
              <a:lnSpc>
                <a:spcPts val="2400"/>
              </a:lnSpc>
              <a:buNone/>
            </a:pPr>
            <a:r>
              <a:rPr lang="en-US" sz="1500" dirty="0">
                <a:solidFill>
                  <a:srgbClr val="2C2821"/>
                </a:solidFill>
                <a:latin typeface="Lora" pitchFamily="34" charset="0"/>
                <a:ea typeface="Lora" pitchFamily="34" charset="-122"/>
                <a:cs typeface="Lora" pitchFamily="34" charset="-120"/>
              </a:rPr>
              <a:t>NAND (VA-EMAS) va NOR (YOKI-EMAS) elementlari universal hisoblanadi, chunki ular yordamida barcha boshqa mantiqiy elementlarni hosil qilish mumkin. Ular zamonaviy integral mikrosxemalarda keng qo'llaniladi.</a:t>
            </a:r>
            <a:endParaRPr lang="en-US" sz="1500" dirty="0"/>
          </a:p>
        </p:txBody>
      </p:sp>
      <p:pic>
        <p:nvPicPr>
          <p:cNvPr id="10" name="Image 3" descr="preencoded.png"/>
          <p:cNvPicPr>
            <a:picLocks noChangeAspect="1"/>
          </p:cNvPicPr>
          <p:nvPr/>
        </p:nvPicPr>
        <p:blipFill>
          <a:blip r:embed="rId4"/>
          <a:stretch>
            <a:fillRect/>
          </a:stretch>
        </p:blipFill>
        <p:spPr>
          <a:xfrm>
            <a:off x="11550491" y="2333268"/>
            <a:ext cx="477083" cy="477083"/>
          </a:xfrm>
          <a:prstGeom prst="rect">
            <a:avLst/>
          </a:prstGeom>
        </p:spPr>
      </p:pic>
      <p:sp>
        <p:nvSpPr>
          <p:cNvPr id="11" name="Text 5"/>
          <p:cNvSpPr/>
          <p:nvPr/>
        </p:nvSpPr>
        <p:spPr>
          <a:xfrm>
            <a:off x="11550491" y="3001208"/>
            <a:ext cx="2411968" cy="596503"/>
          </a:xfrm>
          <a:prstGeom prst="rect">
            <a:avLst/>
          </a:prstGeom>
          <a:noFill/>
        </p:spPr>
        <p:txBody>
          <a:bodyPr wrap="square" lIns="0" tIns="0" rIns="0" bIns="0" rtlCol="0" anchor="t"/>
          <a:lstStyle/>
          <a:p>
            <a:pPr marL="0" indent="0" algn="l">
              <a:lnSpc>
                <a:spcPts val="2300"/>
              </a:lnSpc>
              <a:buNone/>
            </a:pPr>
            <a:r>
              <a:rPr lang="en-US" sz="1850" dirty="0">
                <a:solidFill>
                  <a:srgbClr val="2C2821"/>
                </a:solidFill>
                <a:latin typeface="Alice" pitchFamily="34" charset="0"/>
                <a:ea typeface="Alice" pitchFamily="34" charset="-122"/>
                <a:cs typeface="Alice" pitchFamily="34" charset="-120"/>
              </a:rPr>
              <a:t>Flip-floplar va registrlar</a:t>
            </a:r>
            <a:endParaRPr lang="en-US" sz="1850" dirty="0"/>
          </a:p>
        </p:txBody>
      </p:sp>
      <p:sp>
        <p:nvSpPr>
          <p:cNvPr id="12" name="Text 6"/>
          <p:cNvSpPr/>
          <p:nvPr/>
        </p:nvSpPr>
        <p:spPr>
          <a:xfrm>
            <a:off x="11550491" y="3712131"/>
            <a:ext cx="2411968" cy="2442210"/>
          </a:xfrm>
          <a:prstGeom prst="rect">
            <a:avLst/>
          </a:prstGeom>
          <a:noFill/>
        </p:spPr>
        <p:txBody>
          <a:bodyPr wrap="square" lIns="0" tIns="0" rIns="0" bIns="0" rtlCol="0" anchor="t"/>
          <a:lstStyle/>
          <a:p>
            <a:pPr marL="0" indent="0" algn="l">
              <a:lnSpc>
                <a:spcPts val="2400"/>
              </a:lnSpc>
              <a:buNone/>
            </a:pPr>
            <a:r>
              <a:rPr lang="en-US" sz="1500" dirty="0">
                <a:solidFill>
                  <a:srgbClr val="2C2821"/>
                </a:solidFill>
                <a:latin typeface="Lora" pitchFamily="34" charset="0"/>
                <a:ea typeface="Lora" pitchFamily="34" charset="-122"/>
                <a:cs typeface="Lora" pitchFamily="34" charset="-120"/>
              </a:rPr>
              <a:t>Flip-floplar ma'lumotni saqlash uchun ishlatiladigan asosiy xotira elementlaridir. Ular raqamli qurilmalarda registrlar, hisoblagichlar va xotira sxemalarini yaratish uchun qo'llaniladi.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814745"/>
            <a:ext cx="13042821" cy="1417558"/>
          </a:xfrm>
          <a:prstGeom prst="rect">
            <a:avLst/>
          </a:prstGeom>
          <a:noFill/>
        </p:spPr>
        <p:txBody>
          <a:bodyPr wrap="square" lIns="0" tIns="0" rIns="0" bIns="0" rtlCol="0" anchor="t"/>
          <a:lstStyle/>
          <a:p>
            <a:pPr marL="0" indent="0">
              <a:lnSpc>
                <a:spcPts val="5550"/>
              </a:lnSpc>
              <a:buNone/>
            </a:pPr>
            <a:r>
              <a:rPr lang="en-US" sz="4450" dirty="0">
                <a:solidFill>
                  <a:srgbClr val="233E32"/>
                </a:solidFill>
                <a:latin typeface="Alice" pitchFamily="34" charset="0"/>
                <a:ea typeface="Alice" pitchFamily="34" charset="-122"/>
                <a:cs typeface="Alice" pitchFamily="34" charset="-120"/>
              </a:rPr>
              <a:t>Karno kartalari.Mantiqiy funksiyani minimallashtirish</a:t>
            </a:r>
            <a:endParaRPr lang="en-US" sz="4450" dirty="0"/>
          </a:p>
        </p:txBody>
      </p:sp>
      <p:sp>
        <p:nvSpPr>
          <p:cNvPr id="3" name="Shape 1"/>
          <p:cNvSpPr/>
          <p:nvPr/>
        </p:nvSpPr>
        <p:spPr>
          <a:xfrm>
            <a:off x="793790" y="2941082"/>
            <a:ext cx="510302" cy="510302"/>
          </a:xfrm>
          <a:prstGeom prst="roundRect">
            <a:avLst>
              <a:gd name="adj" fmla="val 6667"/>
            </a:avLst>
          </a:prstGeom>
          <a:solidFill>
            <a:srgbClr val="F0EDE6"/>
          </a:solidFill>
        </p:spPr>
      </p:sp>
      <p:sp>
        <p:nvSpPr>
          <p:cNvPr id="4" name="Text 2"/>
          <p:cNvSpPr/>
          <p:nvPr/>
        </p:nvSpPr>
        <p:spPr>
          <a:xfrm>
            <a:off x="878860" y="2983587"/>
            <a:ext cx="340162" cy="425291"/>
          </a:xfrm>
          <a:prstGeom prst="rect">
            <a:avLst/>
          </a:prstGeom>
          <a:noFill/>
        </p:spPr>
        <p:txBody>
          <a:bodyPr wrap="none" lIns="0" tIns="0" rIns="0" bIns="0" rtlCol="0" anchor="t"/>
          <a:lstStyle/>
          <a:p>
            <a:pPr marL="0" indent="0" algn="ctr">
              <a:lnSpc>
                <a:spcPts val="2650"/>
              </a:lnSpc>
              <a:buNone/>
            </a:pPr>
            <a:r>
              <a:rPr lang="en-US" sz="2650" dirty="0">
                <a:solidFill>
                  <a:srgbClr val="2C2821"/>
                </a:solidFill>
                <a:latin typeface="Alice" pitchFamily="34" charset="0"/>
                <a:ea typeface="Alice" pitchFamily="34" charset="-122"/>
                <a:cs typeface="Alice" pitchFamily="34" charset="-120"/>
              </a:rPr>
              <a:t>1</a:t>
            </a:r>
            <a:endParaRPr lang="en-US" sz="2650" dirty="0"/>
          </a:p>
        </p:txBody>
      </p:sp>
      <p:sp>
        <p:nvSpPr>
          <p:cNvPr id="5" name="Text 3"/>
          <p:cNvSpPr/>
          <p:nvPr/>
        </p:nvSpPr>
        <p:spPr>
          <a:xfrm>
            <a:off x="1530906" y="2941082"/>
            <a:ext cx="3459242" cy="708660"/>
          </a:xfrm>
          <a:prstGeom prst="rect">
            <a:avLst/>
          </a:prstGeom>
          <a:noFill/>
        </p:spPr>
        <p:txBody>
          <a:bodyPr wrap="square" lIns="0" tIns="0" rIns="0" bIns="0" rtlCol="0" anchor="t"/>
          <a:lstStyle/>
          <a:p>
            <a:pPr marL="0" indent="0">
              <a:lnSpc>
                <a:spcPts val="2750"/>
              </a:lnSpc>
              <a:buNone/>
            </a:pPr>
            <a:r>
              <a:rPr lang="en-US" sz="2200" dirty="0">
                <a:solidFill>
                  <a:srgbClr val="2C2821"/>
                </a:solidFill>
                <a:latin typeface="Alice" pitchFamily="34" charset="0"/>
                <a:ea typeface="Alice" pitchFamily="34" charset="-122"/>
                <a:cs typeface="Alice" pitchFamily="34" charset="-120"/>
              </a:rPr>
              <a:t>Karno kartalarining maqsadi</a:t>
            </a:r>
            <a:endParaRPr lang="en-US" sz="2200" dirty="0"/>
          </a:p>
        </p:txBody>
      </p:sp>
      <p:sp>
        <p:nvSpPr>
          <p:cNvPr id="6" name="Text 4"/>
          <p:cNvSpPr/>
          <p:nvPr/>
        </p:nvSpPr>
        <p:spPr>
          <a:xfrm>
            <a:off x="1530906" y="3785830"/>
            <a:ext cx="3459242" cy="3629025"/>
          </a:xfrm>
          <a:prstGeom prst="rect">
            <a:avLst/>
          </a:prstGeom>
          <a:noFill/>
        </p:spPr>
        <p:txBody>
          <a:bodyPr wrap="square" lIns="0" tIns="0" rIns="0" bIns="0" rtlCol="0" anchor="t"/>
          <a:lstStyle/>
          <a:p>
            <a:pPr marL="0" indent="0">
              <a:lnSpc>
                <a:spcPts val="2850"/>
              </a:lnSpc>
              <a:buNone/>
            </a:pPr>
            <a:r>
              <a:rPr lang="en-US" sz="1750" dirty="0">
                <a:solidFill>
                  <a:srgbClr val="2C2821"/>
                </a:solidFill>
                <a:latin typeface="Lora" pitchFamily="34" charset="0"/>
                <a:ea typeface="Lora" pitchFamily="34" charset="-122"/>
                <a:cs typeface="Lora" pitchFamily="34" charset="-120"/>
              </a:rPr>
              <a:t>Karno kartalari Bul funksiyalarini minimallashtirishning grafik usulidir. Ular yordamida ortiqcha mantiqiy operatsiyalarni bartaraf etish va sxemaning murakkabligini kamaytirish mumkin. Bu usul ayniqsa 2-4 o'zgaruvchili funksiyalar uchun qulay va ko'rgazmali hisoblanadi.</a:t>
            </a:r>
            <a:endParaRPr lang="en-US" sz="1750" dirty="0"/>
          </a:p>
        </p:txBody>
      </p:sp>
      <p:sp>
        <p:nvSpPr>
          <p:cNvPr id="7" name="Shape 5"/>
          <p:cNvSpPr/>
          <p:nvPr/>
        </p:nvSpPr>
        <p:spPr>
          <a:xfrm>
            <a:off x="5216962" y="2941082"/>
            <a:ext cx="510302" cy="510302"/>
          </a:xfrm>
          <a:prstGeom prst="roundRect">
            <a:avLst>
              <a:gd name="adj" fmla="val 6667"/>
            </a:avLst>
          </a:prstGeom>
          <a:solidFill>
            <a:srgbClr val="F0EDE6"/>
          </a:solidFill>
        </p:spPr>
      </p:sp>
      <p:sp>
        <p:nvSpPr>
          <p:cNvPr id="8" name="Text 6"/>
          <p:cNvSpPr/>
          <p:nvPr/>
        </p:nvSpPr>
        <p:spPr>
          <a:xfrm>
            <a:off x="5302032" y="2983587"/>
            <a:ext cx="340162" cy="425291"/>
          </a:xfrm>
          <a:prstGeom prst="rect">
            <a:avLst/>
          </a:prstGeom>
          <a:noFill/>
        </p:spPr>
        <p:txBody>
          <a:bodyPr wrap="none" lIns="0" tIns="0" rIns="0" bIns="0" rtlCol="0" anchor="t"/>
          <a:lstStyle/>
          <a:p>
            <a:pPr marL="0" indent="0" algn="ctr">
              <a:lnSpc>
                <a:spcPts val="2650"/>
              </a:lnSpc>
              <a:buNone/>
            </a:pPr>
            <a:r>
              <a:rPr lang="en-US" sz="2650" dirty="0">
                <a:solidFill>
                  <a:srgbClr val="2C2821"/>
                </a:solidFill>
                <a:latin typeface="Alice" pitchFamily="34" charset="0"/>
                <a:ea typeface="Alice" pitchFamily="34" charset="-122"/>
                <a:cs typeface="Alice" pitchFamily="34" charset="-120"/>
              </a:rPr>
              <a:t>2</a:t>
            </a:r>
            <a:endParaRPr lang="en-US" sz="2650" dirty="0"/>
          </a:p>
        </p:txBody>
      </p:sp>
      <p:sp>
        <p:nvSpPr>
          <p:cNvPr id="9" name="Text 7"/>
          <p:cNvSpPr/>
          <p:nvPr/>
        </p:nvSpPr>
        <p:spPr>
          <a:xfrm>
            <a:off x="5954078" y="2941082"/>
            <a:ext cx="2835235" cy="354330"/>
          </a:xfrm>
          <a:prstGeom prst="rect">
            <a:avLst/>
          </a:prstGeom>
          <a:noFill/>
        </p:spPr>
        <p:txBody>
          <a:bodyPr wrap="none" lIns="0" tIns="0" rIns="0" bIns="0" rtlCol="0" anchor="t"/>
          <a:lstStyle/>
          <a:p>
            <a:pPr marL="0" indent="0">
              <a:lnSpc>
                <a:spcPts val="2750"/>
              </a:lnSpc>
              <a:buNone/>
            </a:pPr>
            <a:r>
              <a:rPr lang="en-US" sz="2200" dirty="0">
                <a:solidFill>
                  <a:srgbClr val="2C2821"/>
                </a:solidFill>
                <a:latin typeface="Alice" pitchFamily="34" charset="0"/>
                <a:ea typeface="Alice" pitchFamily="34" charset="-122"/>
                <a:cs typeface="Alice" pitchFamily="34" charset="-120"/>
              </a:rPr>
              <a:t>Karta tuzish qoidalari</a:t>
            </a:r>
            <a:endParaRPr lang="en-US" sz="2200" dirty="0"/>
          </a:p>
        </p:txBody>
      </p:sp>
      <p:sp>
        <p:nvSpPr>
          <p:cNvPr id="10" name="Text 8"/>
          <p:cNvSpPr/>
          <p:nvPr/>
        </p:nvSpPr>
        <p:spPr>
          <a:xfrm>
            <a:off x="5954078" y="3431500"/>
            <a:ext cx="3459242" cy="2903220"/>
          </a:xfrm>
          <a:prstGeom prst="rect">
            <a:avLst/>
          </a:prstGeom>
          <a:noFill/>
        </p:spPr>
        <p:txBody>
          <a:bodyPr wrap="square" lIns="0" tIns="0" rIns="0" bIns="0" rtlCol="0" anchor="t"/>
          <a:lstStyle/>
          <a:p>
            <a:pPr marL="0" indent="0">
              <a:lnSpc>
                <a:spcPts val="2850"/>
              </a:lnSpc>
              <a:buNone/>
            </a:pPr>
            <a:r>
              <a:rPr lang="en-US" sz="1750" dirty="0">
                <a:solidFill>
                  <a:srgbClr val="2C2821"/>
                </a:solidFill>
                <a:latin typeface="Lora" pitchFamily="34" charset="0"/>
                <a:ea typeface="Lora" pitchFamily="34" charset="-122"/>
                <a:cs typeface="Lora" pitchFamily="34" charset="-120"/>
              </a:rPr>
              <a:t>Karno kartasi Bul funksiyasining haqiqiylik jadvalini ikki o'lchamli ko'rinishda tasvirlaydi. Karno kartasining har bir katagi funksiyaning bir qiymatiga mos keladi. Qo'shni kataklar faqat bitta o'zgaruvchi qiymati bilan farqlanadi.</a:t>
            </a:r>
            <a:endParaRPr lang="en-US" sz="1750" dirty="0"/>
          </a:p>
        </p:txBody>
      </p:sp>
      <p:sp>
        <p:nvSpPr>
          <p:cNvPr id="11" name="Shape 9"/>
          <p:cNvSpPr/>
          <p:nvPr/>
        </p:nvSpPr>
        <p:spPr>
          <a:xfrm>
            <a:off x="9640133" y="2941082"/>
            <a:ext cx="510302" cy="510302"/>
          </a:xfrm>
          <a:prstGeom prst="roundRect">
            <a:avLst>
              <a:gd name="adj" fmla="val 6667"/>
            </a:avLst>
          </a:prstGeom>
          <a:solidFill>
            <a:srgbClr val="F0EDE6"/>
          </a:solidFill>
        </p:spPr>
      </p:sp>
      <p:sp>
        <p:nvSpPr>
          <p:cNvPr id="12" name="Text 10"/>
          <p:cNvSpPr/>
          <p:nvPr/>
        </p:nvSpPr>
        <p:spPr>
          <a:xfrm>
            <a:off x="9725204" y="2983587"/>
            <a:ext cx="340162" cy="425291"/>
          </a:xfrm>
          <a:prstGeom prst="rect">
            <a:avLst/>
          </a:prstGeom>
          <a:noFill/>
        </p:spPr>
        <p:txBody>
          <a:bodyPr wrap="none" lIns="0" tIns="0" rIns="0" bIns="0" rtlCol="0" anchor="t"/>
          <a:lstStyle/>
          <a:p>
            <a:pPr marL="0" indent="0" algn="ctr">
              <a:lnSpc>
                <a:spcPts val="2650"/>
              </a:lnSpc>
              <a:buNone/>
            </a:pPr>
            <a:r>
              <a:rPr lang="en-US" sz="2650" dirty="0">
                <a:solidFill>
                  <a:srgbClr val="2C2821"/>
                </a:solidFill>
                <a:latin typeface="Alice" pitchFamily="34" charset="0"/>
                <a:ea typeface="Alice" pitchFamily="34" charset="-122"/>
                <a:cs typeface="Alice" pitchFamily="34" charset="-120"/>
              </a:rPr>
              <a:t>3</a:t>
            </a:r>
            <a:endParaRPr lang="en-US" sz="2650" dirty="0"/>
          </a:p>
        </p:txBody>
      </p:sp>
      <p:sp>
        <p:nvSpPr>
          <p:cNvPr id="13" name="Text 11"/>
          <p:cNvSpPr/>
          <p:nvPr/>
        </p:nvSpPr>
        <p:spPr>
          <a:xfrm>
            <a:off x="10377249" y="2941082"/>
            <a:ext cx="3459242" cy="708660"/>
          </a:xfrm>
          <a:prstGeom prst="rect">
            <a:avLst/>
          </a:prstGeom>
          <a:noFill/>
        </p:spPr>
        <p:txBody>
          <a:bodyPr wrap="square" lIns="0" tIns="0" rIns="0" bIns="0" rtlCol="0" anchor="t"/>
          <a:lstStyle/>
          <a:p>
            <a:pPr marL="0" indent="0">
              <a:lnSpc>
                <a:spcPts val="2750"/>
              </a:lnSpc>
              <a:buNone/>
            </a:pPr>
            <a:r>
              <a:rPr lang="en-US" sz="2200" dirty="0">
                <a:solidFill>
                  <a:srgbClr val="2C2821"/>
                </a:solidFill>
                <a:latin typeface="Alice" pitchFamily="34" charset="0"/>
                <a:ea typeface="Alice" pitchFamily="34" charset="-122"/>
                <a:cs typeface="Alice" pitchFamily="34" charset="-120"/>
              </a:rPr>
              <a:t>2, 3 va 4 o'zgaruvchili kartalar</a:t>
            </a:r>
            <a:endParaRPr lang="en-US" sz="2200" dirty="0"/>
          </a:p>
        </p:txBody>
      </p:sp>
      <p:sp>
        <p:nvSpPr>
          <p:cNvPr id="14" name="Text 12"/>
          <p:cNvSpPr/>
          <p:nvPr/>
        </p:nvSpPr>
        <p:spPr>
          <a:xfrm>
            <a:off x="10377249" y="3785830"/>
            <a:ext cx="3459242" cy="3266123"/>
          </a:xfrm>
          <a:prstGeom prst="rect">
            <a:avLst/>
          </a:prstGeom>
          <a:noFill/>
        </p:spPr>
        <p:txBody>
          <a:bodyPr wrap="square" lIns="0" tIns="0" rIns="0" bIns="0" rtlCol="0" anchor="t"/>
          <a:lstStyle/>
          <a:p>
            <a:pPr marL="0" indent="0">
              <a:lnSpc>
                <a:spcPts val="2850"/>
              </a:lnSpc>
              <a:buNone/>
            </a:pPr>
            <a:r>
              <a:rPr lang="en-US" sz="1750" dirty="0">
                <a:solidFill>
                  <a:srgbClr val="2C2821"/>
                </a:solidFill>
                <a:latin typeface="Lora" pitchFamily="34" charset="0"/>
                <a:ea typeface="Lora" pitchFamily="34" charset="-122"/>
                <a:cs typeface="Lora" pitchFamily="34" charset="-120"/>
              </a:rPr>
              <a:t>O'zgaruvchilar soni ortishi bilan karta murakkablashadi. 2 o'zgaruvchi uchun 2×2 katakli, 3 o'zgaruvchi uchun 2×4 katakli, 4 o'zgaruvchi uchun 4×4 katakli Karno kartalari ishlatiladi. 5 va undan ortiq o'zgaruvchilar uchun Karno kartalari samaradorligi pasayadi.</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1644" y="1128713"/>
            <a:ext cx="12979360" cy="689015"/>
          </a:xfrm>
          <a:prstGeom prst="rect">
            <a:avLst/>
          </a:prstGeom>
          <a:noFill/>
        </p:spPr>
        <p:txBody>
          <a:bodyPr wrap="none" lIns="0" tIns="0" rIns="0" bIns="0" rtlCol="0" anchor="t"/>
          <a:lstStyle/>
          <a:p>
            <a:pPr marL="0" indent="0">
              <a:lnSpc>
                <a:spcPts val="5400"/>
              </a:lnSpc>
              <a:buNone/>
            </a:pPr>
            <a:r>
              <a:rPr lang="en-US" sz="4300" dirty="0">
                <a:solidFill>
                  <a:srgbClr val="233E32"/>
                </a:solidFill>
                <a:latin typeface="Alice" pitchFamily="34" charset="0"/>
                <a:ea typeface="Alice" pitchFamily="34" charset="-122"/>
                <a:cs typeface="Alice" pitchFamily="34" charset="-120"/>
              </a:rPr>
              <a:t>Amaliy misol: Mantiqiy funksiyani minimallashtirish</a:t>
            </a:r>
            <a:endParaRPr lang="en-US" sz="4300" dirty="0"/>
          </a:p>
        </p:txBody>
      </p:sp>
      <p:sp>
        <p:nvSpPr>
          <p:cNvPr id="3" name="Shape 1"/>
          <p:cNvSpPr/>
          <p:nvPr/>
        </p:nvSpPr>
        <p:spPr>
          <a:xfrm>
            <a:off x="771644" y="3250763"/>
            <a:ext cx="3023711" cy="220385"/>
          </a:xfrm>
          <a:prstGeom prst="roundRect">
            <a:avLst>
              <a:gd name="adj" fmla="val 15008"/>
            </a:avLst>
          </a:prstGeom>
          <a:solidFill>
            <a:srgbClr val="F0EDE6"/>
          </a:solidFill>
        </p:spPr>
      </p:sp>
      <p:sp>
        <p:nvSpPr>
          <p:cNvPr id="4" name="Text 2"/>
          <p:cNvSpPr/>
          <p:nvPr/>
        </p:nvSpPr>
        <p:spPr>
          <a:xfrm>
            <a:off x="771644" y="3801785"/>
            <a:ext cx="2756178" cy="344448"/>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Boshlang'ich funksiya</a:t>
            </a:r>
            <a:endParaRPr lang="en-US" sz="2150" dirty="0"/>
          </a:p>
        </p:txBody>
      </p:sp>
      <p:sp>
        <p:nvSpPr>
          <p:cNvPr id="5" name="Text 3"/>
          <p:cNvSpPr/>
          <p:nvPr/>
        </p:nvSpPr>
        <p:spPr>
          <a:xfrm>
            <a:off x="771644" y="4278511"/>
            <a:ext cx="3023711" cy="2822258"/>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Misol uchun F(A,B,C,D) = ∑m(0,1,2,5,8,9,10) funksiyasini minimallashtirish jarayonini ko'rib chiqamiz. Bu yerda ∑m belgisi mintermlar yig'indisini bildiradi, qavs ichidagi raqamlar esa mintermlar indekslari.</a:t>
            </a:r>
            <a:endParaRPr lang="en-US" sz="1700" dirty="0"/>
          </a:p>
        </p:txBody>
      </p:sp>
      <p:sp>
        <p:nvSpPr>
          <p:cNvPr id="6" name="Shape 4"/>
          <p:cNvSpPr/>
          <p:nvPr/>
        </p:nvSpPr>
        <p:spPr>
          <a:xfrm>
            <a:off x="4125992" y="2920008"/>
            <a:ext cx="3023830" cy="220385"/>
          </a:xfrm>
          <a:prstGeom prst="roundRect">
            <a:avLst>
              <a:gd name="adj" fmla="val 15008"/>
            </a:avLst>
          </a:prstGeom>
          <a:solidFill>
            <a:srgbClr val="F0EDE6"/>
          </a:solidFill>
        </p:spPr>
      </p:sp>
      <p:sp>
        <p:nvSpPr>
          <p:cNvPr id="7" name="Text 5"/>
          <p:cNvSpPr/>
          <p:nvPr/>
        </p:nvSpPr>
        <p:spPr>
          <a:xfrm>
            <a:off x="4125992" y="3471029"/>
            <a:ext cx="2756178" cy="344448"/>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Karno kartasini tuzish</a:t>
            </a:r>
            <a:endParaRPr lang="en-US" sz="2150" dirty="0"/>
          </a:p>
        </p:txBody>
      </p:sp>
      <p:sp>
        <p:nvSpPr>
          <p:cNvPr id="8" name="Text 6"/>
          <p:cNvSpPr/>
          <p:nvPr/>
        </p:nvSpPr>
        <p:spPr>
          <a:xfrm>
            <a:off x="4125992" y="3947755"/>
            <a:ext cx="3023830" cy="2822258"/>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4 ta o'zgaruvchi uchun 4×4 katakli Karno kartasi tuziladi. Mintermlar indekslari mos keladigan kataklarga 1 qo'yiladi, qolgan kataklarga 0 qo'yiladi. Funksiya qiymatini saqlaydigan guruhlashlar aniqlanadi.</a:t>
            </a:r>
            <a:endParaRPr lang="en-US" sz="1700" dirty="0"/>
          </a:p>
        </p:txBody>
      </p:sp>
      <p:sp>
        <p:nvSpPr>
          <p:cNvPr id="9" name="Shape 7"/>
          <p:cNvSpPr/>
          <p:nvPr/>
        </p:nvSpPr>
        <p:spPr>
          <a:xfrm>
            <a:off x="7480459" y="2589252"/>
            <a:ext cx="3023830" cy="220385"/>
          </a:xfrm>
          <a:prstGeom prst="roundRect">
            <a:avLst>
              <a:gd name="adj" fmla="val 15008"/>
            </a:avLst>
          </a:prstGeom>
          <a:solidFill>
            <a:srgbClr val="F0EDE6"/>
          </a:solidFill>
        </p:spPr>
      </p:sp>
      <p:sp>
        <p:nvSpPr>
          <p:cNvPr id="10" name="Text 8"/>
          <p:cNvSpPr/>
          <p:nvPr/>
        </p:nvSpPr>
        <p:spPr>
          <a:xfrm>
            <a:off x="7480459" y="3140273"/>
            <a:ext cx="2756178" cy="344448"/>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Minimallashtirish</a:t>
            </a:r>
            <a:endParaRPr lang="en-US" sz="2150" dirty="0"/>
          </a:p>
        </p:txBody>
      </p:sp>
      <p:sp>
        <p:nvSpPr>
          <p:cNvPr id="11" name="Text 9"/>
          <p:cNvSpPr/>
          <p:nvPr/>
        </p:nvSpPr>
        <p:spPr>
          <a:xfrm>
            <a:off x="7480459" y="3617000"/>
            <a:ext cx="3023830" cy="2822258"/>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Karno kartasida 1 qiymatli kataklar maksimal guruhlarga birlashtiriladi. Har bir guruh minimal ko'rinishdagi ko'paytmani beradi. Bu ko'paytmalar yig'indisi minimallashtirish natijasi hisoblanadi.</a:t>
            </a:r>
            <a:endParaRPr lang="en-US" sz="1700" dirty="0"/>
          </a:p>
        </p:txBody>
      </p:sp>
      <p:sp>
        <p:nvSpPr>
          <p:cNvPr id="12" name="Shape 10"/>
          <p:cNvSpPr/>
          <p:nvPr/>
        </p:nvSpPr>
        <p:spPr>
          <a:xfrm>
            <a:off x="10834926" y="2258616"/>
            <a:ext cx="3023830" cy="220385"/>
          </a:xfrm>
          <a:prstGeom prst="roundRect">
            <a:avLst>
              <a:gd name="adj" fmla="val 15008"/>
            </a:avLst>
          </a:prstGeom>
          <a:solidFill>
            <a:srgbClr val="F0EDE6"/>
          </a:solidFill>
        </p:spPr>
      </p:sp>
      <p:sp>
        <p:nvSpPr>
          <p:cNvPr id="13" name="Text 11"/>
          <p:cNvSpPr/>
          <p:nvPr/>
        </p:nvSpPr>
        <p:spPr>
          <a:xfrm>
            <a:off x="10834926" y="2809637"/>
            <a:ext cx="2756178" cy="344448"/>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Natija tahlili</a:t>
            </a:r>
            <a:endParaRPr lang="en-US" sz="2150" dirty="0"/>
          </a:p>
        </p:txBody>
      </p:sp>
      <p:sp>
        <p:nvSpPr>
          <p:cNvPr id="14" name="Text 12"/>
          <p:cNvSpPr/>
          <p:nvPr/>
        </p:nvSpPr>
        <p:spPr>
          <a:xfrm>
            <a:off x="10834926" y="3286363"/>
            <a:ext cx="3023830" cy="2469475"/>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Minimallashtirish natijasida hosil bo'lgan ifoda F = Ā·C̄ + Ā·B·D̄ + B̄·C̄·D ko'rinishiga ega bo'ladi. Bu ifoda boshlang'ich funksiya bilan mantiqan ekvivalent, ammo mantiqiy elementlar soni kamroq.</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73073" y="608648"/>
            <a:ext cx="5522357" cy="690205"/>
          </a:xfrm>
          <a:prstGeom prst="rect">
            <a:avLst/>
          </a:prstGeom>
          <a:noFill/>
        </p:spPr>
        <p:txBody>
          <a:bodyPr wrap="none" lIns="0" tIns="0" rIns="0" bIns="0" rtlCol="0" anchor="t"/>
          <a:lstStyle/>
          <a:p>
            <a:pPr marL="0" indent="0">
              <a:lnSpc>
                <a:spcPts val="5400"/>
              </a:lnSpc>
              <a:buNone/>
            </a:pPr>
            <a:r>
              <a:rPr lang="en-US" sz="4300" dirty="0">
                <a:solidFill>
                  <a:srgbClr val="233E32"/>
                </a:solidFill>
                <a:latin typeface="Alice" pitchFamily="34" charset="0"/>
                <a:ea typeface="Alice" pitchFamily="34" charset="-122"/>
                <a:cs typeface="Alice" pitchFamily="34" charset="-120"/>
              </a:rPr>
              <a:t>Xulosa</a:t>
            </a:r>
            <a:endParaRPr lang="en-US" sz="4300" dirty="0"/>
          </a:p>
        </p:txBody>
      </p:sp>
      <p:sp>
        <p:nvSpPr>
          <p:cNvPr id="3" name="Text 1"/>
          <p:cNvSpPr/>
          <p:nvPr/>
        </p:nvSpPr>
        <p:spPr>
          <a:xfrm>
            <a:off x="1882378" y="3381732"/>
            <a:ext cx="2761178" cy="345043"/>
          </a:xfrm>
          <a:prstGeom prst="rect">
            <a:avLst/>
          </a:prstGeom>
          <a:noFill/>
        </p:spPr>
        <p:txBody>
          <a:bodyPr wrap="none" lIns="0" tIns="0" rIns="0" bIns="0" rtlCol="0" anchor="t"/>
          <a:lstStyle/>
          <a:p>
            <a:pPr marL="0" indent="0" algn="r">
              <a:lnSpc>
                <a:spcPts val="2700"/>
              </a:lnSpc>
              <a:buNone/>
            </a:pPr>
            <a:r>
              <a:rPr lang="en-US" sz="2150" dirty="0">
                <a:solidFill>
                  <a:srgbClr val="2C2821"/>
                </a:solidFill>
                <a:latin typeface="Alice" pitchFamily="34" charset="0"/>
                <a:ea typeface="Alice" pitchFamily="34" charset="-122"/>
                <a:cs typeface="Alice" pitchFamily="34" charset="-120"/>
              </a:rPr>
              <a:t>Nazariy ahamiyati</a:t>
            </a:r>
            <a:endParaRPr lang="en-US" sz="2150" dirty="0"/>
          </a:p>
        </p:txBody>
      </p:sp>
      <p:sp>
        <p:nvSpPr>
          <p:cNvPr id="4" name="Text 2"/>
          <p:cNvSpPr/>
          <p:nvPr/>
        </p:nvSpPr>
        <p:spPr>
          <a:xfrm>
            <a:off x="773073" y="3859292"/>
            <a:ext cx="3870484" cy="2120265"/>
          </a:xfrm>
          <a:prstGeom prst="rect">
            <a:avLst/>
          </a:prstGeom>
          <a:noFill/>
        </p:spPr>
        <p:txBody>
          <a:bodyPr wrap="square" lIns="0" tIns="0" rIns="0" bIns="0" rtlCol="0" anchor="t"/>
          <a:lstStyle/>
          <a:p>
            <a:pPr marL="0" indent="0" algn="r">
              <a:lnSpc>
                <a:spcPts val="2750"/>
              </a:lnSpc>
              <a:buNone/>
            </a:pPr>
            <a:r>
              <a:rPr lang="en-US" sz="1700" dirty="0">
                <a:solidFill>
                  <a:srgbClr val="2C2821"/>
                </a:solidFill>
                <a:latin typeface="Lora" pitchFamily="34" charset="0"/>
                <a:ea typeface="Lora" pitchFamily="34" charset="-122"/>
                <a:cs typeface="Lora" pitchFamily="34" charset="-120"/>
              </a:rPr>
              <a:t>Bul funksiyalari va ularni minimallashtirish usullari raqamli boshqaruv tizimlarining nazariy asosini tashkil etadi. Bu bilimlar mantiqiy sxemalarni tushunish va tahlil qilish uchun zarur.</a:t>
            </a:r>
            <a:endParaRPr lang="en-US" sz="1700" dirty="0"/>
          </a:p>
        </p:txBody>
      </p:sp>
      <p:pic>
        <p:nvPicPr>
          <p:cNvPr id="5" name="Image 0" descr="preencoded.png"/>
          <p:cNvPicPr>
            <a:picLocks noChangeAspect="1"/>
          </p:cNvPicPr>
          <p:nvPr/>
        </p:nvPicPr>
        <p:blipFill>
          <a:blip r:embed="rId1"/>
          <a:stretch>
            <a:fillRect/>
          </a:stretch>
        </p:blipFill>
        <p:spPr>
          <a:xfrm>
            <a:off x="5085278" y="2450783"/>
            <a:ext cx="4459724" cy="4459724"/>
          </a:xfrm>
          <a:prstGeom prst="rect">
            <a:avLst/>
          </a:prstGeom>
        </p:spPr>
      </p:pic>
      <p:sp>
        <p:nvSpPr>
          <p:cNvPr id="6" name="Text 3"/>
          <p:cNvSpPr/>
          <p:nvPr/>
        </p:nvSpPr>
        <p:spPr>
          <a:xfrm>
            <a:off x="5588913" y="4474012"/>
            <a:ext cx="330398" cy="413028"/>
          </a:xfrm>
          <a:prstGeom prst="rect">
            <a:avLst/>
          </a:prstGeom>
          <a:noFill/>
        </p:spPr>
        <p:txBody>
          <a:bodyPr wrap="none" lIns="0" tIns="0" rIns="0" bIns="0" rtlCol="0" anchor="t"/>
          <a:lstStyle/>
          <a:p>
            <a:pPr marL="0" indent="0">
              <a:lnSpc>
                <a:spcPts val="4150"/>
              </a:lnSpc>
              <a:buNone/>
            </a:pPr>
            <a:r>
              <a:rPr lang="en-US" sz="2600" dirty="0">
                <a:solidFill>
                  <a:srgbClr val="2C2821"/>
                </a:solidFill>
                <a:latin typeface="Alice" pitchFamily="34" charset="0"/>
                <a:ea typeface="Alice" pitchFamily="34" charset="-122"/>
                <a:cs typeface="Alice" pitchFamily="34" charset="-120"/>
              </a:rPr>
              <a:t>1</a:t>
            </a:r>
            <a:endParaRPr lang="en-US" sz="2600" dirty="0"/>
          </a:p>
        </p:txBody>
      </p:sp>
      <p:sp>
        <p:nvSpPr>
          <p:cNvPr id="7" name="Text 4"/>
          <p:cNvSpPr/>
          <p:nvPr/>
        </p:nvSpPr>
        <p:spPr>
          <a:xfrm>
            <a:off x="9876234" y="1740575"/>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Amaliy qo'llanilishi</a:t>
            </a:r>
            <a:endParaRPr lang="en-US" sz="2150" dirty="0"/>
          </a:p>
        </p:txBody>
      </p:sp>
      <p:sp>
        <p:nvSpPr>
          <p:cNvPr id="8" name="Text 5"/>
          <p:cNvSpPr/>
          <p:nvPr/>
        </p:nvSpPr>
        <p:spPr>
          <a:xfrm>
            <a:off x="9876234" y="2218134"/>
            <a:ext cx="3981093" cy="2473643"/>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O'rganilgan usullar kompyuter tizimlari, mikroprotsessorlar, avtomatika qurilmalari va boshqa raqamli tizimlarni loyihalashda keng qo'llaniladi. Ular qurilmalarning ishonchliligini, tezligini va samaradorligini oshiradi.</a:t>
            </a:r>
            <a:endParaRPr lang="en-US" sz="1700" dirty="0"/>
          </a:p>
        </p:txBody>
      </p:sp>
      <p:pic>
        <p:nvPicPr>
          <p:cNvPr id="9" name="Image 1" descr="preencoded.png"/>
          <p:cNvPicPr>
            <a:picLocks noChangeAspect="1"/>
          </p:cNvPicPr>
          <p:nvPr/>
        </p:nvPicPr>
        <p:blipFill>
          <a:blip r:embed="rId2"/>
          <a:stretch>
            <a:fillRect/>
          </a:stretch>
        </p:blipFill>
        <p:spPr>
          <a:xfrm>
            <a:off x="5085278" y="2450783"/>
            <a:ext cx="4459724" cy="4459724"/>
          </a:xfrm>
          <a:prstGeom prst="rect">
            <a:avLst/>
          </a:prstGeom>
        </p:spPr>
      </p:pic>
      <p:sp>
        <p:nvSpPr>
          <p:cNvPr id="10" name="Text 6"/>
          <p:cNvSpPr/>
          <p:nvPr/>
        </p:nvSpPr>
        <p:spPr>
          <a:xfrm>
            <a:off x="7930277" y="3122176"/>
            <a:ext cx="330398" cy="413028"/>
          </a:xfrm>
          <a:prstGeom prst="rect">
            <a:avLst/>
          </a:prstGeom>
          <a:noFill/>
        </p:spPr>
        <p:txBody>
          <a:bodyPr wrap="none" lIns="0" tIns="0" rIns="0" bIns="0" rtlCol="0" anchor="t"/>
          <a:lstStyle/>
          <a:p>
            <a:pPr marL="0" indent="0">
              <a:lnSpc>
                <a:spcPts val="4150"/>
              </a:lnSpc>
              <a:buNone/>
            </a:pPr>
            <a:r>
              <a:rPr lang="en-US" sz="2600" dirty="0">
                <a:solidFill>
                  <a:srgbClr val="2C2821"/>
                </a:solidFill>
                <a:latin typeface="Alice" pitchFamily="34" charset="0"/>
                <a:ea typeface="Alice" pitchFamily="34" charset="-122"/>
                <a:cs typeface="Alice" pitchFamily="34" charset="-120"/>
              </a:rPr>
              <a:t>2</a:t>
            </a:r>
            <a:endParaRPr lang="en-US" sz="2600" dirty="0"/>
          </a:p>
        </p:txBody>
      </p:sp>
      <p:sp>
        <p:nvSpPr>
          <p:cNvPr id="11" name="Text 7"/>
          <p:cNvSpPr/>
          <p:nvPr/>
        </p:nvSpPr>
        <p:spPr>
          <a:xfrm>
            <a:off x="9876234" y="5023009"/>
            <a:ext cx="2761178" cy="345043"/>
          </a:xfrm>
          <a:prstGeom prst="rect">
            <a:avLst/>
          </a:prstGeom>
          <a:noFill/>
        </p:spPr>
        <p:txBody>
          <a:bodyPr wrap="none" lIns="0" tIns="0" rIns="0" bIns="0" rtlCol="0" anchor="t"/>
          <a:lstStyle/>
          <a:p>
            <a:pPr marL="0" indent="0" algn="l">
              <a:lnSpc>
                <a:spcPts val="2700"/>
              </a:lnSpc>
              <a:buNone/>
            </a:pPr>
            <a:r>
              <a:rPr lang="en-US" sz="2150" dirty="0">
                <a:solidFill>
                  <a:srgbClr val="2C2821"/>
                </a:solidFill>
                <a:latin typeface="Alice" pitchFamily="34" charset="0"/>
                <a:ea typeface="Alice" pitchFamily="34" charset="-122"/>
                <a:cs typeface="Alice" pitchFamily="34" charset="-120"/>
              </a:rPr>
              <a:t>Kelajak istiqbollari</a:t>
            </a:r>
            <a:endParaRPr lang="en-US" sz="2150" dirty="0"/>
          </a:p>
        </p:txBody>
      </p:sp>
      <p:sp>
        <p:nvSpPr>
          <p:cNvPr id="12" name="Text 8"/>
          <p:cNvSpPr/>
          <p:nvPr/>
        </p:nvSpPr>
        <p:spPr>
          <a:xfrm>
            <a:off x="9876234" y="5500568"/>
            <a:ext cx="3981093" cy="2120265"/>
          </a:xfrm>
          <a:prstGeom prst="rect">
            <a:avLst/>
          </a:prstGeom>
          <a:noFill/>
        </p:spPr>
        <p:txBody>
          <a:bodyPr wrap="square" lIns="0" tIns="0" rIns="0" bIns="0" rtlCol="0" anchor="t"/>
          <a:lstStyle/>
          <a:p>
            <a:pPr marL="0" indent="0" algn="l">
              <a:lnSpc>
                <a:spcPts val="2750"/>
              </a:lnSpc>
              <a:buNone/>
            </a:pPr>
            <a:r>
              <a:rPr lang="en-US" sz="1700" dirty="0">
                <a:solidFill>
                  <a:srgbClr val="2C2821"/>
                </a:solidFill>
                <a:latin typeface="Lora" pitchFamily="34" charset="0"/>
                <a:ea typeface="Lora" pitchFamily="34" charset="-122"/>
                <a:cs typeface="Lora" pitchFamily="34" charset="-120"/>
              </a:rPr>
              <a:t>Mantiqiy funksiyalar va minimallashtirishning yangi usullari murakkab tizimlarni loyihalashda, sun'iy intellekt, kvant hisoblashlari va boshqa zamonaviy texnologiyalarda qo'llanilishi mumkin.</a:t>
            </a:r>
            <a:endParaRPr lang="en-US" sz="1700" dirty="0"/>
          </a:p>
        </p:txBody>
      </p:sp>
      <p:pic>
        <p:nvPicPr>
          <p:cNvPr id="13" name="Image 2" descr="preencoded.png"/>
          <p:cNvPicPr>
            <a:picLocks noChangeAspect="1"/>
          </p:cNvPicPr>
          <p:nvPr/>
        </p:nvPicPr>
        <p:blipFill>
          <a:blip r:embed="rId3"/>
          <a:stretch>
            <a:fillRect/>
          </a:stretch>
        </p:blipFill>
        <p:spPr>
          <a:xfrm>
            <a:off x="5085278" y="2450783"/>
            <a:ext cx="4459724" cy="4459724"/>
          </a:xfrm>
          <a:prstGeom prst="rect">
            <a:avLst/>
          </a:prstGeom>
        </p:spPr>
      </p:pic>
      <p:sp>
        <p:nvSpPr>
          <p:cNvPr id="14" name="Text 9"/>
          <p:cNvSpPr/>
          <p:nvPr/>
        </p:nvSpPr>
        <p:spPr>
          <a:xfrm>
            <a:off x="7930277" y="5825847"/>
            <a:ext cx="330398" cy="413028"/>
          </a:xfrm>
          <a:prstGeom prst="rect">
            <a:avLst/>
          </a:prstGeom>
          <a:noFill/>
        </p:spPr>
        <p:txBody>
          <a:bodyPr wrap="none" lIns="0" tIns="0" rIns="0" bIns="0" rtlCol="0" anchor="t"/>
          <a:lstStyle/>
          <a:p>
            <a:pPr marL="0" indent="0">
              <a:lnSpc>
                <a:spcPts val="4150"/>
              </a:lnSpc>
              <a:buNone/>
            </a:pPr>
            <a:r>
              <a:rPr lang="en-US" sz="2600" dirty="0">
                <a:solidFill>
                  <a:srgbClr val="2C2821"/>
                </a:solidFill>
                <a:latin typeface="Alice" pitchFamily="34" charset="0"/>
                <a:ea typeface="Alice" pitchFamily="34" charset="-122"/>
                <a:cs typeface="Alice" pitchFamily="34" charset="-120"/>
              </a:rPr>
              <a:t>3</a:t>
            </a:r>
            <a:endParaRPr lang="en-US" sz="2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00432" y="632341"/>
            <a:ext cx="4289108" cy="536019"/>
          </a:xfrm>
          <a:prstGeom prst="rect">
            <a:avLst/>
          </a:prstGeom>
          <a:noFill/>
        </p:spPr>
        <p:txBody>
          <a:bodyPr wrap="none" lIns="0" tIns="0" rIns="0" bIns="0" rtlCol="0" anchor="t"/>
          <a:lstStyle/>
          <a:p>
            <a:pPr marL="0" indent="0">
              <a:lnSpc>
                <a:spcPts val="4200"/>
              </a:lnSpc>
              <a:buNone/>
            </a:pPr>
            <a:r>
              <a:rPr lang="en-US" sz="3350" dirty="0">
                <a:solidFill>
                  <a:srgbClr val="233E32"/>
                </a:solidFill>
                <a:latin typeface="Alice" pitchFamily="34" charset="0"/>
                <a:ea typeface="Alice" pitchFamily="34" charset="-122"/>
                <a:cs typeface="Alice" pitchFamily="34" charset="-120"/>
              </a:rPr>
              <a:t>Adabiyotlar</a:t>
            </a:r>
            <a:endParaRPr lang="en-US" sz="3350" dirty="0"/>
          </a:p>
        </p:txBody>
      </p:sp>
      <p:sp>
        <p:nvSpPr>
          <p:cNvPr id="4" name="Shape 1"/>
          <p:cNvSpPr/>
          <p:nvPr/>
        </p:nvSpPr>
        <p:spPr>
          <a:xfrm>
            <a:off x="600432" y="1425654"/>
            <a:ext cx="7943136" cy="4413409"/>
          </a:xfrm>
          <a:prstGeom prst="roundRect">
            <a:avLst>
              <a:gd name="adj" fmla="val 583"/>
            </a:avLst>
          </a:prstGeom>
          <a:noFill/>
          <a:ln w="7620">
            <a:solidFill>
              <a:srgbClr val="000000">
                <a:alpha val="8000"/>
              </a:srgbClr>
            </a:solidFill>
            <a:prstDash val="solid"/>
          </a:ln>
        </p:spPr>
      </p:sp>
      <p:sp>
        <p:nvSpPr>
          <p:cNvPr id="5" name="Shape 2"/>
          <p:cNvSpPr/>
          <p:nvPr/>
        </p:nvSpPr>
        <p:spPr>
          <a:xfrm>
            <a:off x="608052" y="1433274"/>
            <a:ext cx="7927896" cy="495419"/>
          </a:xfrm>
          <a:prstGeom prst="rect">
            <a:avLst/>
          </a:prstGeom>
          <a:solidFill>
            <a:srgbClr val="FFFFFF">
              <a:alpha val="4000"/>
            </a:srgbClr>
          </a:solidFill>
        </p:spPr>
      </p:sp>
      <p:sp>
        <p:nvSpPr>
          <p:cNvPr id="6" name="Text 3"/>
          <p:cNvSpPr/>
          <p:nvPr/>
        </p:nvSpPr>
        <p:spPr>
          <a:xfrm>
            <a:off x="779740" y="1543764"/>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Avtorlar</a:t>
            </a:r>
            <a:endParaRPr lang="en-US" sz="1350" dirty="0"/>
          </a:p>
        </p:txBody>
      </p:sp>
      <p:sp>
        <p:nvSpPr>
          <p:cNvPr id="7" name="Text 4"/>
          <p:cNvSpPr/>
          <p:nvPr/>
        </p:nvSpPr>
        <p:spPr>
          <a:xfrm>
            <a:off x="2765465" y="1543764"/>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Kitob nomi</a:t>
            </a:r>
            <a:endParaRPr lang="en-US" sz="1350" dirty="0"/>
          </a:p>
        </p:txBody>
      </p:sp>
      <p:sp>
        <p:nvSpPr>
          <p:cNvPr id="8" name="Text 5"/>
          <p:cNvSpPr/>
          <p:nvPr/>
        </p:nvSpPr>
        <p:spPr>
          <a:xfrm>
            <a:off x="4747379" y="1543764"/>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Nashriyot</a:t>
            </a:r>
            <a:endParaRPr lang="en-US" sz="1350" dirty="0"/>
          </a:p>
        </p:txBody>
      </p:sp>
      <p:sp>
        <p:nvSpPr>
          <p:cNvPr id="9" name="Text 6"/>
          <p:cNvSpPr/>
          <p:nvPr/>
        </p:nvSpPr>
        <p:spPr>
          <a:xfrm>
            <a:off x="6729293" y="1543764"/>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Yil</a:t>
            </a:r>
            <a:endParaRPr lang="en-US" sz="1350" dirty="0"/>
          </a:p>
        </p:txBody>
      </p:sp>
      <p:sp>
        <p:nvSpPr>
          <p:cNvPr id="10" name="Shape 7"/>
          <p:cNvSpPr/>
          <p:nvPr/>
        </p:nvSpPr>
        <p:spPr>
          <a:xfrm>
            <a:off x="608052" y="1928693"/>
            <a:ext cx="7927896" cy="1044297"/>
          </a:xfrm>
          <a:prstGeom prst="rect">
            <a:avLst/>
          </a:prstGeom>
          <a:solidFill>
            <a:srgbClr val="000000">
              <a:alpha val="4000"/>
            </a:srgbClr>
          </a:solidFill>
        </p:spPr>
      </p:sp>
      <p:sp>
        <p:nvSpPr>
          <p:cNvPr id="11" name="Text 8"/>
          <p:cNvSpPr/>
          <p:nvPr/>
        </p:nvSpPr>
        <p:spPr>
          <a:xfrm>
            <a:off x="779740" y="2039183"/>
            <a:ext cx="1635204" cy="548878"/>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Brown S., Vranesic Z.</a:t>
            </a:r>
            <a:endParaRPr lang="en-US" sz="1350" dirty="0"/>
          </a:p>
        </p:txBody>
      </p:sp>
      <p:sp>
        <p:nvSpPr>
          <p:cNvPr id="12" name="Text 9"/>
          <p:cNvSpPr/>
          <p:nvPr/>
        </p:nvSpPr>
        <p:spPr>
          <a:xfrm>
            <a:off x="2765465" y="2039183"/>
            <a:ext cx="1631394" cy="823317"/>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Fundamentals of Digital Logic with VHDL Design</a:t>
            </a:r>
            <a:endParaRPr lang="en-US" sz="1350" dirty="0"/>
          </a:p>
        </p:txBody>
      </p:sp>
      <p:sp>
        <p:nvSpPr>
          <p:cNvPr id="13" name="Text 10"/>
          <p:cNvSpPr/>
          <p:nvPr/>
        </p:nvSpPr>
        <p:spPr>
          <a:xfrm>
            <a:off x="4747379" y="2039183"/>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McGraw-Hill</a:t>
            </a:r>
            <a:endParaRPr lang="en-US" sz="1350" dirty="0"/>
          </a:p>
        </p:txBody>
      </p:sp>
      <p:sp>
        <p:nvSpPr>
          <p:cNvPr id="14" name="Text 11"/>
          <p:cNvSpPr/>
          <p:nvPr/>
        </p:nvSpPr>
        <p:spPr>
          <a:xfrm>
            <a:off x="6729293" y="2039183"/>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2019</a:t>
            </a:r>
            <a:endParaRPr lang="en-US" sz="1350" dirty="0"/>
          </a:p>
        </p:txBody>
      </p:sp>
      <p:sp>
        <p:nvSpPr>
          <p:cNvPr id="15" name="Shape 12"/>
          <p:cNvSpPr/>
          <p:nvPr/>
        </p:nvSpPr>
        <p:spPr>
          <a:xfrm>
            <a:off x="608052" y="2972991"/>
            <a:ext cx="7927896" cy="1044297"/>
          </a:xfrm>
          <a:prstGeom prst="rect">
            <a:avLst/>
          </a:prstGeom>
          <a:solidFill>
            <a:srgbClr val="FFFFFF">
              <a:alpha val="4000"/>
            </a:srgbClr>
          </a:solidFill>
        </p:spPr>
      </p:sp>
      <p:sp>
        <p:nvSpPr>
          <p:cNvPr id="16" name="Text 13"/>
          <p:cNvSpPr/>
          <p:nvPr/>
        </p:nvSpPr>
        <p:spPr>
          <a:xfrm>
            <a:off x="779740" y="3083481"/>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Tocci R., Widmer N.</a:t>
            </a:r>
            <a:endParaRPr lang="en-US" sz="1350" dirty="0"/>
          </a:p>
        </p:txBody>
      </p:sp>
      <p:sp>
        <p:nvSpPr>
          <p:cNvPr id="17" name="Text 14"/>
          <p:cNvSpPr/>
          <p:nvPr/>
        </p:nvSpPr>
        <p:spPr>
          <a:xfrm>
            <a:off x="2765465" y="3083481"/>
            <a:ext cx="1631394" cy="823317"/>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Digital Systems: Principles and Applications</a:t>
            </a:r>
            <a:endParaRPr lang="en-US" sz="1350" dirty="0"/>
          </a:p>
        </p:txBody>
      </p:sp>
      <p:sp>
        <p:nvSpPr>
          <p:cNvPr id="18" name="Text 15"/>
          <p:cNvSpPr/>
          <p:nvPr/>
        </p:nvSpPr>
        <p:spPr>
          <a:xfrm>
            <a:off x="4747379" y="3083481"/>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Pearson</a:t>
            </a:r>
            <a:endParaRPr lang="en-US" sz="1350" dirty="0"/>
          </a:p>
        </p:txBody>
      </p:sp>
      <p:sp>
        <p:nvSpPr>
          <p:cNvPr id="19" name="Text 16"/>
          <p:cNvSpPr/>
          <p:nvPr/>
        </p:nvSpPr>
        <p:spPr>
          <a:xfrm>
            <a:off x="6729293" y="3083481"/>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2017</a:t>
            </a:r>
            <a:endParaRPr lang="en-US" sz="1350" dirty="0"/>
          </a:p>
        </p:txBody>
      </p:sp>
      <p:sp>
        <p:nvSpPr>
          <p:cNvPr id="20" name="Shape 17"/>
          <p:cNvSpPr/>
          <p:nvPr/>
        </p:nvSpPr>
        <p:spPr>
          <a:xfrm>
            <a:off x="608052" y="4017288"/>
            <a:ext cx="7927896" cy="1044297"/>
          </a:xfrm>
          <a:prstGeom prst="rect">
            <a:avLst/>
          </a:prstGeom>
          <a:solidFill>
            <a:srgbClr val="000000">
              <a:alpha val="4000"/>
            </a:srgbClr>
          </a:solidFill>
        </p:spPr>
      </p:sp>
      <p:sp>
        <p:nvSpPr>
          <p:cNvPr id="21" name="Text 18"/>
          <p:cNvSpPr/>
          <p:nvPr/>
        </p:nvSpPr>
        <p:spPr>
          <a:xfrm>
            <a:off x="779740" y="4127778"/>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Harris D., Harris S.</a:t>
            </a:r>
            <a:endParaRPr lang="en-US" sz="1350" dirty="0"/>
          </a:p>
        </p:txBody>
      </p:sp>
      <p:sp>
        <p:nvSpPr>
          <p:cNvPr id="22" name="Text 19"/>
          <p:cNvSpPr/>
          <p:nvPr/>
        </p:nvSpPr>
        <p:spPr>
          <a:xfrm>
            <a:off x="2765465" y="4127778"/>
            <a:ext cx="1631394" cy="823317"/>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Digital Design and Computer Architecture</a:t>
            </a:r>
            <a:endParaRPr lang="en-US" sz="1350" dirty="0"/>
          </a:p>
        </p:txBody>
      </p:sp>
      <p:sp>
        <p:nvSpPr>
          <p:cNvPr id="23" name="Text 20"/>
          <p:cNvSpPr/>
          <p:nvPr/>
        </p:nvSpPr>
        <p:spPr>
          <a:xfrm>
            <a:off x="4747379" y="4127778"/>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Morgan Kaufmann</a:t>
            </a:r>
            <a:endParaRPr lang="en-US" sz="1350" dirty="0"/>
          </a:p>
        </p:txBody>
      </p:sp>
      <p:sp>
        <p:nvSpPr>
          <p:cNvPr id="24" name="Text 21"/>
          <p:cNvSpPr/>
          <p:nvPr/>
        </p:nvSpPr>
        <p:spPr>
          <a:xfrm>
            <a:off x="6729293" y="4127778"/>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2016</a:t>
            </a:r>
            <a:endParaRPr lang="en-US" sz="1350" dirty="0"/>
          </a:p>
        </p:txBody>
      </p:sp>
      <p:sp>
        <p:nvSpPr>
          <p:cNvPr id="25" name="Shape 22"/>
          <p:cNvSpPr/>
          <p:nvPr/>
        </p:nvSpPr>
        <p:spPr>
          <a:xfrm>
            <a:off x="608052" y="5061585"/>
            <a:ext cx="7927896" cy="769858"/>
          </a:xfrm>
          <a:prstGeom prst="rect">
            <a:avLst/>
          </a:prstGeom>
          <a:solidFill>
            <a:srgbClr val="FFFFFF">
              <a:alpha val="4000"/>
            </a:srgbClr>
          </a:solidFill>
        </p:spPr>
      </p:sp>
      <p:sp>
        <p:nvSpPr>
          <p:cNvPr id="26" name="Text 23"/>
          <p:cNvSpPr/>
          <p:nvPr/>
        </p:nvSpPr>
        <p:spPr>
          <a:xfrm>
            <a:off x="779740" y="5172075"/>
            <a:ext cx="1635204" cy="548878"/>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G'ulomov S., Shomirzayev B.</a:t>
            </a:r>
            <a:endParaRPr lang="en-US" sz="1350" dirty="0"/>
          </a:p>
        </p:txBody>
      </p:sp>
      <p:sp>
        <p:nvSpPr>
          <p:cNvPr id="27" name="Text 24"/>
          <p:cNvSpPr/>
          <p:nvPr/>
        </p:nvSpPr>
        <p:spPr>
          <a:xfrm>
            <a:off x="2765465" y="5172075"/>
            <a:ext cx="1631394" cy="548878"/>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Raqamli boshqaruv tizimlari</a:t>
            </a:r>
            <a:endParaRPr lang="en-US" sz="1350" dirty="0"/>
          </a:p>
        </p:txBody>
      </p:sp>
      <p:sp>
        <p:nvSpPr>
          <p:cNvPr id="28" name="Text 25"/>
          <p:cNvSpPr/>
          <p:nvPr/>
        </p:nvSpPr>
        <p:spPr>
          <a:xfrm>
            <a:off x="4747379" y="5172075"/>
            <a:ext cx="163139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Toshkent</a:t>
            </a:r>
            <a:endParaRPr lang="en-US" sz="1350" dirty="0"/>
          </a:p>
        </p:txBody>
      </p:sp>
      <p:sp>
        <p:nvSpPr>
          <p:cNvPr id="29" name="Text 26"/>
          <p:cNvSpPr/>
          <p:nvPr/>
        </p:nvSpPr>
        <p:spPr>
          <a:xfrm>
            <a:off x="6729293" y="5172075"/>
            <a:ext cx="1635204" cy="274439"/>
          </a:xfrm>
          <a:prstGeom prst="rect">
            <a:avLst/>
          </a:prstGeom>
          <a:noFill/>
        </p:spPr>
        <p:txBody>
          <a:bodyPr wrap="non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2020</a:t>
            </a:r>
            <a:endParaRPr lang="en-US" sz="1350" dirty="0"/>
          </a:p>
        </p:txBody>
      </p:sp>
      <p:sp>
        <p:nvSpPr>
          <p:cNvPr id="30" name="Text 27"/>
          <p:cNvSpPr/>
          <p:nvPr/>
        </p:nvSpPr>
        <p:spPr>
          <a:xfrm>
            <a:off x="600432" y="6032063"/>
            <a:ext cx="7943136" cy="823317"/>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Ushbu adabiyotlar Bul algebrasi, mantiqiy funksiyalarni minimallashtirish va raqamli boshqaruv tizimlari bo'yicha chuqur ma'lumotlar beradi. Talabalar uchun amaliy mashg'ulotlar o'tkazishda va loyiha ishlarini bajarishda foydali qo'llanma vazifasini o'taydi.</a:t>
            </a:r>
            <a:endParaRPr lang="en-US" sz="1350" dirty="0"/>
          </a:p>
        </p:txBody>
      </p:sp>
      <p:sp>
        <p:nvSpPr>
          <p:cNvPr id="31" name="Text 28"/>
          <p:cNvSpPr/>
          <p:nvPr/>
        </p:nvSpPr>
        <p:spPr>
          <a:xfrm>
            <a:off x="600432" y="7048381"/>
            <a:ext cx="7943136" cy="548878"/>
          </a:xfrm>
          <a:prstGeom prst="rect">
            <a:avLst/>
          </a:prstGeom>
          <a:noFill/>
        </p:spPr>
        <p:txBody>
          <a:bodyPr wrap="square" lIns="0" tIns="0" rIns="0" bIns="0" rtlCol="0" anchor="t"/>
          <a:lstStyle/>
          <a:p>
            <a:pPr marL="0" indent="0">
              <a:lnSpc>
                <a:spcPts val="2150"/>
              </a:lnSpc>
              <a:buNone/>
            </a:pPr>
            <a:r>
              <a:rPr lang="en-US" sz="1350" dirty="0">
                <a:solidFill>
                  <a:srgbClr val="2C2821"/>
                </a:solidFill>
                <a:latin typeface="Lora" pitchFamily="34" charset="0"/>
                <a:ea typeface="Lora" pitchFamily="34" charset="-122"/>
                <a:cs typeface="Lora" pitchFamily="34" charset="-120"/>
              </a:rPr>
              <a:t>Qo'shimcha ma'lumotlar va yangilangan adabiyotlar ro'yxati doimo fakultet kutubxonasida mavjud. Elektron resurslar va onlayn kurslar ham tavsiya etiladi.</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5895</Words>
  <Application>WPS Presentation</Application>
  <PresentationFormat>On-screen Show (16:9)</PresentationFormat>
  <Paragraphs>153</Paragraphs>
  <Slides>8</Slides>
  <Notes>8</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8</vt:i4>
      </vt:variant>
    </vt:vector>
  </HeadingPairs>
  <TitlesOfParts>
    <vt:vector size="22" baseType="lpstr">
      <vt:lpstr>Arial</vt:lpstr>
      <vt:lpstr>SimSun</vt:lpstr>
      <vt:lpstr>Wingdings</vt:lpstr>
      <vt:lpstr>Alice</vt:lpstr>
      <vt:lpstr>Alice</vt:lpstr>
      <vt:lpstr>Alice</vt:lpstr>
      <vt:lpstr>Lora</vt:lpstr>
      <vt:lpstr>Lora</vt:lpstr>
      <vt:lpstr>Lora</vt:lpstr>
      <vt:lpstr>Calibri</vt:lpstr>
      <vt:lpstr>Microsoft YaHei</vt:lpstr>
      <vt:lpstr>Arial Unicode MS</vt:lpstr>
      <vt:lpstr>Times New Roman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User</cp:lastModifiedBy>
  <cp:revision>2</cp:revision>
  <dcterms:created xsi:type="dcterms:W3CDTF">2025-03-14T04:44:00Z</dcterms:created>
  <dcterms:modified xsi:type="dcterms:W3CDTF">2025-03-14T04:46:42Z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A31CBA0DB90A4B458976B09F3847FC19_13</vt:lpwstr>
  </property>
  <property fmtid="{D5CDD505-2E9C-101B-9397-08002B2CF9AE}" pid="3" name="KSOProductBuildVer">
    <vt:lpwstr>1049-12.2.0.20326</vt:lpwstr>
  </property>
</Properties>
</file>